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Apresente a aula como uma ponte entre a modelagem conceitual e a implementação em um SGBD relacional. Reforce que “tabela” é a representação mais comum, mas a ideia formal é a de relação. Explique que a qualidade do banco depende não apenas de armazenar dados, mas de estabelecer regras que impeçam estados inválidos. Antecipe que a parte prática será realizada com DBeaver Community e SQLite.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este slide para explicitar o contrato didático da aula. A avaliação pode explorar tanto a terminologia quanto a aplicação: dado um pequeno caso, o aluno deve conseguir propor tabelas, indicar chaves e justificar restrições. Mostre que SQL aparecerá como mecanismo de implementação, mas o foco conceitual é o modelo relacional.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Contextualize brevemente as abordagens anteriores. O objetivo não é aprofundar modelos hierárquico e de rede, mas mostrar o problema que Codd procurou resolver: aplicações não deveriam depender da organização física dos arquivos. Relacione isso ao conceito de independência de dados. O material anexado também destaca a evolução até o modelo relacional e sua base em teoria de conjuntos.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 que “n-ária” significa uma relação com n atributos. Evite transformar este momento em aula de matemática: basta destacar que relações vêm da teoria de conjuntos e que essa base formal ajuda a definir propriedades e operações com precisão. O artigo de 1970 é uma referência histórica essencial e está disponível na página da IBM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Mostre que, embora seja comum dizer “relação = tabela”, tecnicamente a relação é um conceito lógico e a tabela é sua representação. Explique que uma relação tem nome, atributos definidos e um conjunto de tuplas. Use ALUNO como exemplo, mantendo a mesma estrutura para todas as linhas.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Essa distinção costuma aparecer em provas e é importante para compreender DDL e DML. DDL altera o esquema; INSERT, UPDATE e DELETE alteram a instância. Dê um exemplo temporal: hoje a tabela possui 30 alunos, amanhã 31; o esquema pode continuar exatamente o mesmo.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Diferencie atributo do valor do atributo. “nome” é o atributo; “Ana Lima” é um valor desse atributo em uma tupla. Lembre que o material anexado também apresenta a ideia de atributo como característica de uma entidade e destaca a importância da padronização de nomes. Faça o aluno pensar em significado, não apenas em tipo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Mostre que domínio não é sinônimo de tipo de dado. INTEGER limita a representação, mas não impede uma idade negativa. O domínio conceitual pode ser mais restrito do que o tipo físico. Essa distinção prepara o aluno para CHECK, ENUM, tabelas de domínio e validações complementares.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ensino introdutório, associe tupla a linha. Depois faça a ressalva formal: relações são conjuntos e, matematicamente, não possuem ordem de linhas. Em SGBDs, a ordem exibida também não deve ser assumida sem ORDER BY. Isso evita um erro conceitual muito comum.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palavra cardinalidade também aparece no modelo entidade-relacionamento com outro uso, como 1:N. Destaque a diferença explicitamente. No modelo relacional, quando falamos da cardinalidade de uma relação, referimo-nos ao número de tuplas presentes. O grau é determinado pelo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 que alguns SGBDs permitem duplicidade de linhas em tabelas sem chave, mas isso não é um bom desenho relacional. A teoria trabalha com conjuntos. Na prática, chaves e restrições ajudam a aproximar a tabela de uma relação bem definida. Reforce que SELECT sem ORDER BY não garante uma ordem específica.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Exemplifique: telefone opcional pode ser NULL; salário obrigatório não deveria ser. Explique que `email = NULL` não é a comparação adequada em SQL; usa-se `IS NULL`. Não é necessário aprofundar lógica ternária, apenas deixar claro que NULL influencia consultas e restrições.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Apresente as chaves como uma família de conceitos, não como sinônimos. Use o diagrama de conjuntos: toda chave candidata é superchave; a chave primária é uma candidata escolhida. A chave estrangeira cumpre outro papel, pois representa referência entre relações.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exemplos para mostrar minimalidade. Pergunte: se eu retirar um atributo, continua identificando? Se sim, o conjunto não é mínimo. Essa ideia leva naturalmente à chave candidata. Evite confundir “super” com “melhor”; uma superchave pode ter atributos redundantes.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Mostre que candidatas são possibilidades válidas, não chaves “temporárias”. Se o email puder mudar ou se regras de negócio permitirem compartilhamento, ele pode deixar de ser adequado. Discuta a diferença entre unicidade lógica e conveniência operacional.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Conecte teoria e SQL: no PostgreSQL, PRIMARY KEY implica unicidade e NOT NULL e normalmente cria um índice B-tree único. Explique que “uma chave primária” não significa “uma coluna”; uma PK pode ser composta. A regra principal é identificar cada linha de maneira inequívoca.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Dê o exemplo de CLIENTE: id artificial como PK e CPF como UNIQUE, se o domínio realmente exigir unicidade. Explique que criar id não resolve duplicidade de CPF por si só. A chave substituta facilita joins e mudanças de dados naturais, mas as regras de negócio precisam continuar explícitas.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Relacione este exemplo à resolução de relacionamentos M:N. O objeto associativo costuma usar uma chave composta formada pelas chaves das entidades de origem. Mostre que uma chave composta pode ser PRIMARY KEY ou UNIQUE, dependendo do desenho escolhido.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expressão “tabela pai” e “tabela filha” apenas como apoio didático, sem exagerar. Mostre que FK não precisa ter o mesmo nome da PK referenciada, mas deve ter domínio compatível. O material anexado explica a migração da chave em relacionamentos 1:N, colocando a referência no lado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Mostre que integridade não é apenas “não perder dados”. Trata-se de impedir estados logicamente inválidos. Regras no SGBD protegem os dados mesmo quando várias aplicações acessam a mesma base. Essa é uma vantagem importante em relação a validar tudo apenas na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Peça exemplos aos alunos: idade, preço, data de matrícula, sigla de estado. Em seguida, converta as regras para SQL mentalmente: tipo, NOT NULL, CHECK. Explique que validações de formato muito complexas podem ser melhor tratadas em outras camadas, mas regras essenciais de consistência devem estar próximas dos dados.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Mostre um problema concreto: duas linhas sem identificador ou com identificador nulo tornam difícil dizer qual registro deve ser alterado. Reforce que PRIMARY KEY materializa essa regra. Uma tabela operacional sem identificador costuma sinalizar desenho inadequado, mesmo que o SGBD tecnicamente permita sua criação.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Faça o teste mental: o que acontece se tentarmos apagar um curso que ainda possui alunos? O SGBD precisará aplicar a ação referencial definida ou bloquear a operação. Isso prepara o próximo slide sobre ON DELETE e ON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 que DEFAULT não é, por si só, uma restrição de integridade: ele define um valor padrão, mas aparece junto das definições de coluna. No PostgreSQL atual, a documentação agrupa os principais tipos de constraints e explica detalhes como UNIQUE, NULL e FOREIGN KEY. Use o link como material de consulta posterior.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Dê exemplos: apagar um curso com alunos normalmente deve ser bloqueado; apagar um pedido pode, dependendo do sistema, apagar seus itens em cascata. Destaque que CASCADE não é “melhor” nem “pior”; é uma decisão semântica e deve ser usada de forma consciente.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caso será reutilizado na prática. Pergunte aos alunos quais domínios e restrições seriam adequados. Possíveis respostas: id inteiro positivo, nome não nulo, email único, curso_id obrigatório ou opcional conforme regra institucional. Essa discussão mostra como o modelo relacional registra decisões do negócio.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Relacione com os materiais anexados, que apresentam modelo conceitual, lógico e físico e destacam a migração de chaves nos relacionamentos. Evite aprofundar todas as regras de mapeamento; o objetivo é posicionar o modelo relacional no fluxo de projeto de banco de dados.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material em PowerPoint anexado já introduz DDL, CREATE, ALTER, DROP e constraints. Nesta aula, use esses comandos apenas para demonstrar como conceitos formais se transformam em estrutura executável. Diferencie DDL de DML: DDL define estrutura; DML manipula dados.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Leia o script por camadas. Primeiro tabela e colunas; depois tipos; depois constraints. Explique que a sintaxe exata pode variar entre SGBDs, mas os conceitos são estáveis. No exemplo prático com SQLite, lembre de ativar a verificação de chaves estrangeiras na conexão.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é um enriquecimento contemporâneo, não conteúdo obrigatório para a avaliação inicial. Explique em um minuto que sistemas reais podem precisar garantir que períodos de validade não se sobreponham. Isso mostra que “constraints” não são um tema antigo; permanecem ativas na evolução dos SGBDs.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 a passo: 1) instalar DBeaver Community; 2) Database &gt; New Database Connection; 3) selecionar SQLite; 4) apontar para um novo arquivo aula_relacional.db; 5) concluir a conexão. Se o driver for solicitado, permita o download. A ferramenta é multiplataforma e suporta diversos SGBDs. A mesma atividade pode ser adaptada para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 por que a ordem de criação facilita a leitura: CURSO é referenciado por ALUNO. No SQLite, foreign keys precisam ser habilitadas por conexão com PRAGMA foreign_keys = ON. Mostre como executar um comando isolado e como executar o script inteiro no DBeaver.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Peça aos alunos para inspecionarem as colunas e constraints na interface. A intenção é conectar o desenho conceitual ao catálogo do banco. Se houver erro de sintaxe, leia a mensagem e identifique a linha. Não avance para inserções até todos terem as duas tabelas.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Sugestão de dados: CURSO (1, Sistemas de Informação) e (2, Engenharia da Computação); ALUNO (101, Ana, ana@exemplo.br, 20, 1). Mostre que o banco aceita porque todas as restrições são satisfeitas. Use esse sucesso como base para os testes de falha do próximo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Essa é a parte mais importante da prática. O objetivo não é apenas “fazer funcionar”, mas observar o SGBD atuar como guardião da integridade. Faça uma tabela no quadro com tentativa, constraint violada e conceito associado. Se a FK não falhar no SQLite, confirme se PRAGMA foreign_keys = ON foi executado na conexão atual.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`SELECT a.nome, c.nome AS curso FROM aluno a JOIN curso c ON c.id = a.curso_id;`. Explique que a chave estrangeira fornece a ligação lógica, e o JOIN usa essa ligação em uma consulta. Esta é uma boa transição para aulas futuras sobre álgebra relacional e SQL de consulta.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Peça aos alunos que indiquem o risco de cada erro. Exemplo: tudo como VARCHAR enfraquece domínio; nome como PK dificulta mudanças e pode duplicar; copiar nome do curso para ALUNO introduz redundância e inconsistência. Conecte a discussão à normalização, que pode ser aprofundada em outra aula.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Dê de 10 a 15 minutos em duplas. Uma solução possível inclui USUARIO(id, nome, email), TITULO(id, isbn, titulo), EXEMPLAR(id, titulo_id) e EMPRESTIMO(id ou chave composta, usuario_id, exemplar_id, data_emprestimo, data_devolucao). Não apresente a solução imediatamente; primeiro peça justificativas para as escolhas.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como revisão oral ou atividade rápida. Avalie a precisão da linguagem. Se o aluno responder “FK liga tabelas”, peça que detalhe: ela exige que os valores referenciados existam em uma chave candidata/única da outra tabela, com regras específicas para NULL e ações de atualização/exclusão.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Finalize retomando o mapa conceitual. O aluno deve perceber uma sequência: primeiro definimos o que a relação representa, depois seus atributos e domínios, depois como identificar tuplas, depois como relações se referenciam e, por fim, quais regras o SGBD deve garantir.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Reforce que documentação oficial deve ser consultada junto ao material didático. O DBeaver Community está em evolução contínua e é gratuito/open source. O vídeo oficial de CREATE TABLE é útil para alunos que aprendem melhor acompanhando uma demonstração visual. Links estão clicáveis no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Referências principais: CODD, E. F. A Relational Model of Data for Large Shared Data Banks. CACM, 1970. PostgreSQL 18 Documentation — Constraints e Release 18. DBeaver Community — site e documentação. SQLite — Foreign Key Support. ROMANO, Simone M. V. Banco de Dados I, 2011. PICHETTI, R. F.; VIDA, E. S.; CORTES, V. S. M. P. Banco de dados. Grupo A, 2021. Materiais acessados em agosto de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463EB"/>
          </a:solidFill>
          <a:ln w="12700">
            <a:solidFill>
              <a:srgbClr val="2463EB"/>
            </a:solidFill>
            <a:prstDash val="solid"/>
          </a:ln>
        </p:spPr>
      </p:sp>
      <p:sp>
        <p:nvSpPr>
          <p:cNvPr id="3" name="Shape 1"/>
          <p:cNvSpPr/>
          <p:nvPr/>
        </p:nvSpPr>
        <p:spPr>
          <a:xfrm>
            <a:off x="0" y="6583680"/>
            <a:ext cx="12191695" cy="274320"/>
          </a:xfrm>
          <a:prstGeom prst="rect">
            <a:avLst/>
          </a:prstGeom>
          <a:solidFill>
            <a:srgbClr val="0B1F33"/>
          </a:solidFill>
          <a:ln w="12700">
            <a:solidFill>
              <a:srgbClr val="0B1F33"/>
            </a:solidFill>
            <a:prstDash val="solid"/>
          </a:ln>
        </p:spPr>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research.ibm.com/publications/a-relational-model-of-data-for-large-shared-data-banks" TargetMode="Externa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www.postgresql.org/docs/18/ddl-constraints.html" TargetMode="External"/><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www.postgresql.org/docs/18/release-18.html" TargetMode="Externa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dbeaver.io/download/" TargetMode="External"/><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www.sqlite.org/foreignkeys.html" TargetMode="External"/><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hyperlink" Target="https://www.youtube.com/watch?v=ch4h-y_-9u4" TargetMode="External"/><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hyperlink" Target="https://research.ibm.com/publications/a-relational-model-of-data-for-large-shared-data-banks" TargetMode="External"/><Relationship Id="rId2" Type="http://schemas.openxmlformats.org/officeDocument/2006/relationships/hyperlink" Target="https://www.postgresql.org/docs/18/ddl-constraints.html" TargetMode="External"/><Relationship Id="rId3" Type="http://schemas.openxmlformats.org/officeDocument/2006/relationships/hyperlink" Target="https://dbeaver.io/" TargetMode="External"/><Relationship Id="rId4" Type="http://schemas.openxmlformats.org/officeDocument/2006/relationships/hyperlink" Target="https://www.sqlite.org/foreignkeys.html" TargetMode="External"/><Relationship Id="rId5" Type="http://schemas.openxmlformats.org/officeDocument/2006/relationships/slideLayout" Target="../slideLayouts/slideLayout2.xml"/><Relationship Id="rId6"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Modelo Relacional</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RELAÇÕES, ATRIBUTOS, DOMÍNIOS, TUPLAS, CHAVES E INTEGRIDADE</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- 01</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O modelo relacional organiza os dados por meio de relações, normalmente visualizadas como tabelas. Nesta aula, vamos compreender os elementos que formam essas relações, como atributos, domínios e tuplas, e veremos por que chaves e restrições de integridade são essenciais para manter os dados corretos, consistentes e relacionados.</a:t>
            </a:r>
            <a:endParaRPr lang="en-US" sz="2400" dirty="0"/>
          </a:p>
        </p:txBody>
      </p:sp>
      <p:sp>
        <p:nvSpPr>
          <p:cNvPr id="7" name="Shape 5"/>
          <p:cNvSpPr/>
          <p:nvPr/>
        </p:nvSpPr>
        <p:spPr>
          <a:xfrm>
            <a:off x="8366760" y="1417320"/>
            <a:ext cx="1325880" cy="1234440"/>
          </a:xfrm>
          <a:prstGeom prst="roundRect">
            <a:avLst>
              <a:gd name="adj" fmla="val 5926"/>
            </a:avLst>
          </a:prstGeom>
          <a:solidFill>
            <a:srgbClr val="EAF1FF"/>
          </a:solidFill>
          <a:ln w="12700">
            <a:solidFill>
              <a:srgbClr val="C6D2E1"/>
            </a:solidFill>
            <a:prstDash val="solid"/>
          </a:ln>
        </p:spPr>
      </p:sp>
      <p:sp>
        <p:nvSpPr>
          <p:cNvPr id="8" name="Shape 6"/>
          <p:cNvSpPr/>
          <p:nvPr/>
        </p:nvSpPr>
        <p:spPr>
          <a:xfrm>
            <a:off x="8385048" y="1435608"/>
            <a:ext cx="73152" cy="1197864"/>
          </a:xfrm>
          <a:prstGeom prst="rect">
            <a:avLst/>
          </a:prstGeom>
          <a:solidFill>
            <a:srgbClr val="2463EB"/>
          </a:solidFill>
          <a:ln w="12700">
            <a:solidFill>
              <a:srgbClr val="2463EB"/>
            </a:solidFill>
            <a:prstDash val="solid"/>
          </a:ln>
        </p:spPr>
      </p:sp>
      <p:sp>
        <p:nvSpPr>
          <p:cNvPr id="9" name="Text 7"/>
          <p:cNvSpPr/>
          <p:nvPr/>
        </p:nvSpPr>
        <p:spPr>
          <a:xfrm>
            <a:off x="8567928" y="1581912"/>
            <a:ext cx="978408" cy="256032"/>
          </a:xfrm>
          <a:prstGeom prst="rect">
            <a:avLst/>
          </a:prstGeom>
          <a:noFill/>
          <a:ln/>
        </p:spPr>
        <p:txBody>
          <a:bodyPr wrap="square" lIns="0" tIns="0" rIns="0" bIns="0" rtlCol="0" anchor="ctr"/>
          <a:lstStyle/>
          <a:p>
            <a:pPr indent="0" marL="0">
              <a:buNone/>
            </a:pPr>
            <a:r>
              <a:rPr lang="en-US" sz="1600" b="1" dirty="0">
                <a:solidFill>
                  <a:srgbClr val="0B1F33"/>
                </a:solidFill>
              </a:rPr>
              <a:t>RELAÇÃO</a:t>
            </a:r>
            <a:endParaRPr lang="en-US" sz="1600" dirty="0"/>
          </a:p>
        </p:txBody>
      </p:sp>
      <p:sp>
        <p:nvSpPr>
          <p:cNvPr id="10" name="Shape 8"/>
          <p:cNvSpPr/>
          <p:nvPr/>
        </p:nvSpPr>
        <p:spPr>
          <a:xfrm>
            <a:off x="9802368" y="1417320"/>
            <a:ext cx="1325880" cy="1234440"/>
          </a:xfrm>
          <a:prstGeom prst="roundRect">
            <a:avLst>
              <a:gd name="adj" fmla="val 5926"/>
            </a:avLst>
          </a:prstGeom>
          <a:solidFill>
            <a:srgbClr val="E7F7F5"/>
          </a:solidFill>
          <a:ln w="12700">
            <a:solidFill>
              <a:srgbClr val="C6D2E1"/>
            </a:solidFill>
            <a:prstDash val="solid"/>
          </a:ln>
        </p:spPr>
      </p:sp>
      <p:sp>
        <p:nvSpPr>
          <p:cNvPr id="11" name="Shape 9"/>
          <p:cNvSpPr/>
          <p:nvPr/>
        </p:nvSpPr>
        <p:spPr>
          <a:xfrm>
            <a:off x="9820656" y="1435608"/>
            <a:ext cx="73152" cy="1197864"/>
          </a:xfrm>
          <a:prstGeom prst="rect">
            <a:avLst/>
          </a:prstGeom>
          <a:solidFill>
            <a:srgbClr val="0F766E"/>
          </a:solidFill>
          <a:ln w="12700">
            <a:solidFill>
              <a:srgbClr val="0F766E"/>
            </a:solidFill>
            <a:prstDash val="solid"/>
          </a:ln>
        </p:spPr>
      </p:sp>
      <p:sp>
        <p:nvSpPr>
          <p:cNvPr id="12" name="Text 10"/>
          <p:cNvSpPr/>
          <p:nvPr/>
        </p:nvSpPr>
        <p:spPr>
          <a:xfrm>
            <a:off x="10003536" y="1581912"/>
            <a:ext cx="978408" cy="256032"/>
          </a:xfrm>
          <a:prstGeom prst="rect">
            <a:avLst/>
          </a:prstGeom>
          <a:noFill/>
          <a:ln/>
        </p:spPr>
        <p:txBody>
          <a:bodyPr wrap="square" lIns="0" tIns="0" rIns="0" bIns="0" rtlCol="0" anchor="ctr"/>
          <a:lstStyle/>
          <a:p>
            <a:pPr indent="0" marL="0">
              <a:buNone/>
            </a:pPr>
            <a:r>
              <a:rPr lang="en-US" sz="1600" b="1" dirty="0">
                <a:solidFill>
                  <a:srgbClr val="0B1F33"/>
                </a:solidFill>
              </a:rPr>
              <a:t>ATRIBUTO</a:t>
            </a:r>
            <a:endParaRPr lang="en-US" sz="1600" dirty="0"/>
          </a:p>
        </p:txBody>
      </p:sp>
      <p:sp>
        <p:nvSpPr>
          <p:cNvPr id="13" name="Shape 11"/>
          <p:cNvSpPr/>
          <p:nvPr/>
        </p:nvSpPr>
        <p:spPr>
          <a:xfrm>
            <a:off x="8366760" y="3749040"/>
            <a:ext cx="1325880" cy="1234440"/>
          </a:xfrm>
          <a:prstGeom prst="roundRect">
            <a:avLst>
              <a:gd name="adj" fmla="val 5926"/>
            </a:avLst>
          </a:prstGeom>
          <a:solidFill>
            <a:srgbClr val="FFF4D6"/>
          </a:solidFill>
          <a:ln w="12700">
            <a:solidFill>
              <a:srgbClr val="C6D2E1"/>
            </a:solidFill>
            <a:prstDash val="solid"/>
          </a:ln>
        </p:spPr>
      </p:sp>
      <p:sp>
        <p:nvSpPr>
          <p:cNvPr id="14" name="Shape 12"/>
          <p:cNvSpPr/>
          <p:nvPr/>
        </p:nvSpPr>
        <p:spPr>
          <a:xfrm>
            <a:off x="8385048" y="3767328"/>
            <a:ext cx="73152" cy="1197864"/>
          </a:xfrm>
          <a:prstGeom prst="rect">
            <a:avLst/>
          </a:prstGeom>
          <a:solidFill>
            <a:srgbClr val="F59E0B"/>
          </a:solidFill>
          <a:ln w="12700">
            <a:solidFill>
              <a:srgbClr val="F59E0B"/>
            </a:solidFill>
            <a:prstDash val="solid"/>
          </a:ln>
        </p:spPr>
      </p:sp>
      <p:sp>
        <p:nvSpPr>
          <p:cNvPr id="15" name="Text 13"/>
          <p:cNvSpPr/>
          <p:nvPr/>
        </p:nvSpPr>
        <p:spPr>
          <a:xfrm>
            <a:off x="8567928" y="3913632"/>
            <a:ext cx="978408" cy="256032"/>
          </a:xfrm>
          <a:prstGeom prst="rect">
            <a:avLst/>
          </a:prstGeom>
          <a:noFill/>
          <a:ln/>
        </p:spPr>
        <p:txBody>
          <a:bodyPr wrap="square" lIns="0" tIns="0" rIns="0" bIns="0" rtlCol="0" anchor="ctr"/>
          <a:lstStyle/>
          <a:p>
            <a:pPr indent="0" marL="0">
              <a:buNone/>
            </a:pPr>
            <a:r>
              <a:rPr lang="en-US" sz="1600" b="1" dirty="0">
                <a:solidFill>
                  <a:srgbClr val="0B1F33"/>
                </a:solidFill>
              </a:rPr>
              <a:t>TUPLA</a:t>
            </a:r>
            <a:endParaRPr lang="en-US" sz="1600" dirty="0"/>
          </a:p>
        </p:txBody>
      </p:sp>
      <p:sp>
        <p:nvSpPr>
          <p:cNvPr id="16" name="Shape 14"/>
          <p:cNvSpPr/>
          <p:nvPr/>
        </p:nvSpPr>
        <p:spPr>
          <a:xfrm>
            <a:off x="9802368" y="3749040"/>
            <a:ext cx="1325880" cy="1234440"/>
          </a:xfrm>
          <a:prstGeom prst="roundRect">
            <a:avLst>
              <a:gd name="adj" fmla="val 5926"/>
            </a:avLst>
          </a:prstGeom>
          <a:solidFill>
            <a:srgbClr val="F2F4F8"/>
          </a:solidFill>
          <a:ln w="12700">
            <a:solidFill>
              <a:srgbClr val="C6D2E1"/>
            </a:solidFill>
            <a:prstDash val="solid"/>
          </a:ln>
        </p:spPr>
      </p:sp>
      <p:sp>
        <p:nvSpPr>
          <p:cNvPr id="17" name="Shape 15"/>
          <p:cNvSpPr/>
          <p:nvPr/>
        </p:nvSpPr>
        <p:spPr>
          <a:xfrm>
            <a:off x="9820656" y="3767328"/>
            <a:ext cx="73152" cy="1197864"/>
          </a:xfrm>
          <a:prstGeom prst="rect">
            <a:avLst/>
          </a:prstGeom>
          <a:solidFill>
            <a:srgbClr val="0B1F33"/>
          </a:solidFill>
          <a:ln w="12700">
            <a:solidFill>
              <a:srgbClr val="0B1F33"/>
            </a:solidFill>
            <a:prstDash val="solid"/>
          </a:ln>
        </p:spPr>
      </p:sp>
      <p:sp>
        <p:nvSpPr>
          <p:cNvPr id="18" name="Text 16"/>
          <p:cNvSpPr/>
          <p:nvPr/>
        </p:nvSpPr>
        <p:spPr>
          <a:xfrm>
            <a:off x="10003536" y="3913632"/>
            <a:ext cx="978408" cy="256032"/>
          </a:xfrm>
          <a:prstGeom prst="rect">
            <a:avLst/>
          </a:prstGeom>
          <a:noFill/>
          <a:ln/>
        </p:spPr>
        <p:txBody>
          <a:bodyPr wrap="square" lIns="0" tIns="0" rIns="0" bIns="0" rtlCol="0" anchor="ctr"/>
          <a:lstStyle/>
          <a:p>
            <a:pPr indent="0" marL="0">
              <a:buNone/>
            </a:pPr>
            <a:r>
              <a:rPr lang="en-US" sz="1600" b="1" dirty="0">
                <a:solidFill>
                  <a:srgbClr val="0B1F33"/>
                </a:solidFill>
              </a:rPr>
              <a:t>DOMÍNIO</a:t>
            </a:r>
            <a:endParaRPr lang="en-US" sz="1600" dirty="0"/>
          </a:p>
        </p:txBody>
      </p:sp>
      <p:sp>
        <p:nvSpPr>
          <p:cNvPr id="19" name="Shape 17"/>
          <p:cNvSpPr/>
          <p:nvPr/>
        </p:nvSpPr>
        <p:spPr>
          <a:xfrm>
            <a:off x="9272016" y="2788920"/>
            <a:ext cx="1325880" cy="685800"/>
          </a:xfrm>
          <a:prstGeom prst="ellipse">
            <a:avLst/>
          </a:prstGeom>
          <a:solidFill>
            <a:srgbClr val="0B1F33"/>
          </a:solidFill>
          <a:ln w="12700">
            <a:solidFill>
              <a:srgbClr val="0B1F33"/>
            </a:solidFill>
            <a:prstDash val="solid"/>
          </a:ln>
        </p:spPr>
      </p:sp>
      <p:sp>
        <p:nvSpPr>
          <p:cNvPr id="20" name="Text 18"/>
          <p:cNvSpPr/>
          <p:nvPr/>
        </p:nvSpPr>
        <p:spPr>
          <a:xfrm>
            <a:off x="9326880" y="2944368"/>
            <a:ext cx="1207008" cy="310896"/>
          </a:xfrm>
          <a:prstGeom prst="rect">
            <a:avLst/>
          </a:prstGeom>
          <a:noFill/>
          <a:ln/>
        </p:spPr>
        <p:txBody>
          <a:bodyPr wrap="square" lIns="0" tIns="0" rIns="0" bIns="0" rtlCol="0" anchor="ctr"/>
          <a:lstStyle/>
          <a:p>
            <a:pPr algn="ctr" indent="0" marL="0">
              <a:buNone/>
            </a:pPr>
            <a:r>
              <a:rPr lang="en-US" sz="1300" b="1" dirty="0">
                <a:solidFill>
                  <a:srgbClr val="FFFFFF"/>
                </a:solidFill>
              </a:rPr>
              <a:t>MODELO</a:t>
            </a:r>
            <a:endParaRPr lang="en-US" sz="1300" dirty="0"/>
          </a:p>
          <a:p>
            <a:pPr algn="ctr" indent="0" marL="0">
              <a:buNone/>
            </a:pPr>
            <a:r>
              <a:rPr lang="en-US" sz="1300" b="1" dirty="0">
                <a:solidFill>
                  <a:srgbClr val="FFFFFF"/>
                </a:solidFill>
              </a:rPr>
              <a:t>RELACIONAL</a:t>
            </a:r>
            <a:endParaRPr lang="en-US" sz="13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Objetivos de aprendizagem</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O QUE O ESTUDANTE DEVERÁ DOMINAR</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- 02</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Ao final, o estudante deverá identificar relações, atributos, domínios e tuplas; diferenciar esquema de instância; reconhecer superchaves, chaves candidatas, primárias, alternativas, compostas e estrangeiras; e aplicar restrições de domínio, entidade e integridade referencial. Também deverá relacionar esses conceitos às declarações SQL usadas na criação de tabelas.</a:t>
            </a:r>
            <a:endParaRPr lang="en-US" sz="2400" dirty="0"/>
          </a:p>
        </p:txBody>
      </p:sp>
      <p:sp>
        <p:nvSpPr>
          <p:cNvPr id="7" name="Shape 5"/>
          <p:cNvSpPr/>
          <p:nvPr/>
        </p:nvSpPr>
        <p:spPr>
          <a:xfrm>
            <a:off x="8321040" y="1280160"/>
            <a:ext cx="1508760" cy="841248"/>
          </a:xfrm>
          <a:prstGeom prst="roundRect">
            <a:avLst/>
          </a:prstGeom>
          <a:solidFill>
            <a:srgbClr val="FFFFFF"/>
          </a:solidFill>
          <a:ln w="12700">
            <a:solidFill>
              <a:srgbClr val="2463EB"/>
            </a:solidFill>
            <a:prstDash val="solid"/>
          </a:ln>
        </p:spPr>
      </p:sp>
      <p:sp>
        <p:nvSpPr>
          <p:cNvPr id="8" name="Text 6"/>
          <p:cNvSpPr/>
          <p:nvPr/>
        </p:nvSpPr>
        <p:spPr>
          <a:xfrm>
            <a:off x="8394192" y="1563624"/>
            <a:ext cx="1362456" cy="201168"/>
          </a:xfrm>
          <a:prstGeom prst="rect">
            <a:avLst/>
          </a:prstGeom>
          <a:noFill/>
          <a:ln/>
        </p:spPr>
        <p:txBody>
          <a:bodyPr wrap="square" lIns="0" tIns="0" rIns="0" bIns="0" rtlCol="0" anchor="ctr"/>
          <a:lstStyle/>
          <a:p>
            <a:pPr algn="ctr" indent="0" marL="0">
              <a:buNone/>
            </a:pPr>
            <a:r>
              <a:rPr lang="en-US" sz="1400" b="1" dirty="0">
                <a:solidFill>
                  <a:srgbClr val="2463EB"/>
                </a:solidFill>
              </a:rPr>
              <a:t>Relação</a:t>
            </a:r>
            <a:endParaRPr lang="en-US" sz="1400" dirty="0"/>
          </a:p>
        </p:txBody>
      </p:sp>
      <p:sp>
        <p:nvSpPr>
          <p:cNvPr id="9" name="Shape 7"/>
          <p:cNvSpPr/>
          <p:nvPr/>
        </p:nvSpPr>
        <p:spPr>
          <a:xfrm>
            <a:off x="10058400" y="1280160"/>
            <a:ext cx="1508760" cy="841248"/>
          </a:xfrm>
          <a:prstGeom prst="roundRect">
            <a:avLst/>
          </a:prstGeom>
          <a:solidFill>
            <a:srgbClr val="FFFFFF"/>
          </a:solidFill>
          <a:ln w="12700">
            <a:solidFill>
              <a:srgbClr val="0F766E"/>
            </a:solidFill>
            <a:prstDash val="solid"/>
          </a:ln>
        </p:spPr>
      </p:sp>
      <p:sp>
        <p:nvSpPr>
          <p:cNvPr id="10" name="Text 8"/>
          <p:cNvSpPr/>
          <p:nvPr/>
        </p:nvSpPr>
        <p:spPr>
          <a:xfrm>
            <a:off x="10131552" y="1563624"/>
            <a:ext cx="1362456" cy="201168"/>
          </a:xfrm>
          <a:prstGeom prst="rect">
            <a:avLst/>
          </a:prstGeom>
          <a:noFill/>
          <a:ln/>
        </p:spPr>
        <p:txBody>
          <a:bodyPr wrap="square" lIns="0" tIns="0" rIns="0" bIns="0" rtlCol="0" anchor="ctr"/>
          <a:lstStyle/>
          <a:p>
            <a:pPr algn="ctr" indent="0" marL="0">
              <a:buNone/>
            </a:pPr>
            <a:r>
              <a:rPr lang="en-US" sz="1400" b="1" dirty="0">
                <a:solidFill>
                  <a:srgbClr val="0F766E"/>
                </a:solidFill>
              </a:rPr>
              <a:t>Atributo</a:t>
            </a:r>
            <a:endParaRPr lang="en-US" sz="1400" dirty="0"/>
          </a:p>
        </p:txBody>
      </p:sp>
      <p:sp>
        <p:nvSpPr>
          <p:cNvPr id="11" name="Shape 9"/>
          <p:cNvSpPr/>
          <p:nvPr/>
        </p:nvSpPr>
        <p:spPr>
          <a:xfrm>
            <a:off x="8321040" y="2926080"/>
            <a:ext cx="1508760" cy="841248"/>
          </a:xfrm>
          <a:prstGeom prst="roundRect">
            <a:avLst/>
          </a:prstGeom>
          <a:solidFill>
            <a:srgbClr val="FFFFFF"/>
          </a:solidFill>
          <a:ln w="12700">
            <a:solidFill>
              <a:srgbClr val="F59E0B"/>
            </a:solidFill>
            <a:prstDash val="solid"/>
          </a:ln>
        </p:spPr>
      </p:sp>
      <p:sp>
        <p:nvSpPr>
          <p:cNvPr id="12" name="Text 10"/>
          <p:cNvSpPr/>
          <p:nvPr/>
        </p:nvSpPr>
        <p:spPr>
          <a:xfrm>
            <a:off x="8394192" y="3209544"/>
            <a:ext cx="1362456" cy="201168"/>
          </a:xfrm>
          <a:prstGeom prst="rect">
            <a:avLst/>
          </a:prstGeom>
          <a:noFill/>
          <a:ln/>
        </p:spPr>
        <p:txBody>
          <a:bodyPr wrap="square" lIns="0" tIns="0" rIns="0" bIns="0" rtlCol="0" anchor="ctr"/>
          <a:lstStyle/>
          <a:p>
            <a:pPr algn="ctr" indent="0" marL="0">
              <a:buNone/>
            </a:pPr>
            <a:r>
              <a:rPr lang="en-US" sz="1400" b="1" dirty="0">
                <a:solidFill>
                  <a:srgbClr val="F59E0B"/>
                </a:solidFill>
              </a:rPr>
              <a:t>Tupla</a:t>
            </a:r>
            <a:endParaRPr lang="en-US" sz="1400" dirty="0"/>
          </a:p>
        </p:txBody>
      </p:sp>
      <p:sp>
        <p:nvSpPr>
          <p:cNvPr id="13" name="Shape 11"/>
          <p:cNvSpPr/>
          <p:nvPr/>
        </p:nvSpPr>
        <p:spPr>
          <a:xfrm>
            <a:off x="10058400" y="2926080"/>
            <a:ext cx="1508760" cy="841248"/>
          </a:xfrm>
          <a:prstGeom prst="roundRect">
            <a:avLst/>
          </a:prstGeom>
          <a:solidFill>
            <a:srgbClr val="FFFFFF"/>
          </a:solidFill>
          <a:ln w="12700">
            <a:solidFill>
              <a:srgbClr val="0B1F33"/>
            </a:solidFill>
            <a:prstDash val="solid"/>
          </a:ln>
        </p:spPr>
      </p:sp>
      <p:sp>
        <p:nvSpPr>
          <p:cNvPr id="14" name="Text 12"/>
          <p:cNvSpPr/>
          <p:nvPr/>
        </p:nvSpPr>
        <p:spPr>
          <a:xfrm>
            <a:off x="10131552" y="3209544"/>
            <a:ext cx="1362456" cy="201168"/>
          </a:xfrm>
          <a:prstGeom prst="rect">
            <a:avLst/>
          </a:prstGeom>
          <a:noFill/>
          <a:ln/>
        </p:spPr>
        <p:txBody>
          <a:bodyPr wrap="square" lIns="0" tIns="0" rIns="0" bIns="0" rtlCol="0" anchor="ctr"/>
          <a:lstStyle/>
          <a:p>
            <a:pPr algn="ctr" indent="0" marL="0">
              <a:buNone/>
            </a:pPr>
            <a:r>
              <a:rPr lang="en-US" sz="1400" b="1" dirty="0">
                <a:solidFill>
                  <a:srgbClr val="0B1F33"/>
                </a:solidFill>
              </a:rPr>
              <a:t>Domínio</a:t>
            </a:r>
            <a:endParaRPr lang="en-US" sz="1400" dirty="0"/>
          </a:p>
        </p:txBody>
      </p:sp>
      <p:sp>
        <p:nvSpPr>
          <p:cNvPr id="15" name="Shape 13"/>
          <p:cNvSpPr/>
          <p:nvPr/>
        </p:nvSpPr>
        <p:spPr>
          <a:xfrm>
            <a:off x="8321040" y="4572000"/>
            <a:ext cx="1508760" cy="841248"/>
          </a:xfrm>
          <a:prstGeom prst="roundRect">
            <a:avLst/>
          </a:prstGeom>
          <a:solidFill>
            <a:srgbClr val="FFFFFF"/>
          </a:solidFill>
          <a:ln w="12700">
            <a:solidFill>
              <a:srgbClr val="0891B2"/>
            </a:solidFill>
            <a:prstDash val="solid"/>
          </a:ln>
        </p:spPr>
      </p:sp>
      <p:sp>
        <p:nvSpPr>
          <p:cNvPr id="16" name="Text 14"/>
          <p:cNvSpPr/>
          <p:nvPr/>
        </p:nvSpPr>
        <p:spPr>
          <a:xfrm>
            <a:off x="8394192" y="4855464"/>
            <a:ext cx="1362456" cy="201168"/>
          </a:xfrm>
          <a:prstGeom prst="rect">
            <a:avLst/>
          </a:prstGeom>
          <a:noFill/>
          <a:ln/>
        </p:spPr>
        <p:txBody>
          <a:bodyPr wrap="square" lIns="0" tIns="0" rIns="0" bIns="0" rtlCol="0" anchor="ctr"/>
          <a:lstStyle/>
          <a:p>
            <a:pPr algn="ctr" indent="0" marL="0">
              <a:buNone/>
            </a:pPr>
            <a:r>
              <a:rPr lang="en-US" sz="1400" b="1" dirty="0">
                <a:solidFill>
                  <a:srgbClr val="0891B2"/>
                </a:solidFill>
              </a:rPr>
              <a:t>Chaves</a:t>
            </a:r>
            <a:endParaRPr lang="en-US" sz="1400" dirty="0"/>
          </a:p>
        </p:txBody>
      </p:sp>
      <p:sp>
        <p:nvSpPr>
          <p:cNvPr id="17" name="Shape 15"/>
          <p:cNvSpPr/>
          <p:nvPr/>
        </p:nvSpPr>
        <p:spPr>
          <a:xfrm>
            <a:off x="10058400" y="4572000"/>
            <a:ext cx="1508760" cy="841248"/>
          </a:xfrm>
          <a:prstGeom prst="roundRect">
            <a:avLst/>
          </a:prstGeom>
          <a:solidFill>
            <a:srgbClr val="FFFFFF"/>
          </a:solidFill>
          <a:ln w="12700">
            <a:solidFill>
              <a:srgbClr val="15803D"/>
            </a:solidFill>
            <a:prstDash val="solid"/>
          </a:ln>
        </p:spPr>
      </p:sp>
      <p:sp>
        <p:nvSpPr>
          <p:cNvPr id="18" name="Text 16"/>
          <p:cNvSpPr/>
          <p:nvPr/>
        </p:nvSpPr>
        <p:spPr>
          <a:xfrm>
            <a:off x="10131552" y="4855464"/>
            <a:ext cx="1362456" cy="201168"/>
          </a:xfrm>
          <a:prstGeom prst="rect">
            <a:avLst/>
          </a:prstGeom>
          <a:noFill/>
          <a:ln/>
        </p:spPr>
        <p:txBody>
          <a:bodyPr wrap="square" lIns="0" tIns="0" rIns="0" bIns="0" rtlCol="0" anchor="ctr"/>
          <a:lstStyle/>
          <a:p>
            <a:pPr algn="ctr" indent="0" marL="0">
              <a:buNone/>
            </a:pPr>
            <a:r>
              <a:rPr lang="en-US" sz="1400" b="1" dirty="0">
                <a:solidFill>
                  <a:srgbClr val="15803D"/>
                </a:solidFill>
              </a:rPr>
              <a:t>Integridade</a:t>
            </a:r>
            <a:endParaRPr lang="en-US" sz="14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Por que o modelo relacional?</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SIMPLICIDADE LÓGICA E INDEPENDÊNCIA DOS DADOS</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- 03</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Antes do modelo relacional, estruturas hierárquicas e em rede exigiam que aplicações conhecessem caminhos de navegação. A proposta relacional separou a visão lógica dos dados de detalhes físicos de armazenamento. Isso favorece consultas declarativas, manutenção, evolução do esquema e maior clareza na representação de entidades e relacionamentos do domínio.</a:t>
            </a:r>
            <a:endParaRPr lang="en-US" sz="2400" dirty="0"/>
          </a:p>
        </p:txBody>
      </p:sp>
      <p:sp>
        <p:nvSpPr>
          <p:cNvPr id="7" name="Shape 5"/>
          <p:cNvSpPr/>
          <p:nvPr/>
        </p:nvSpPr>
        <p:spPr>
          <a:xfrm>
            <a:off x="8275320" y="1234440"/>
            <a:ext cx="3429000" cy="1051560"/>
          </a:xfrm>
          <a:prstGeom prst="roundRect">
            <a:avLst>
              <a:gd name="adj" fmla="val 6957"/>
            </a:avLst>
          </a:prstGeom>
          <a:solidFill>
            <a:srgbClr val="F2F4F8"/>
          </a:solidFill>
          <a:ln w="12700">
            <a:solidFill>
              <a:srgbClr val="C6D2E1"/>
            </a:solidFill>
            <a:prstDash val="solid"/>
          </a:ln>
        </p:spPr>
      </p:sp>
      <p:sp>
        <p:nvSpPr>
          <p:cNvPr id="8" name="Shape 6"/>
          <p:cNvSpPr/>
          <p:nvPr/>
        </p:nvSpPr>
        <p:spPr>
          <a:xfrm>
            <a:off x="8293608" y="1252728"/>
            <a:ext cx="73152" cy="1014984"/>
          </a:xfrm>
          <a:prstGeom prst="rect">
            <a:avLst/>
          </a:prstGeom>
          <a:solidFill>
            <a:srgbClr val="0B1F33"/>
          </a:solidFill>
          <a:ln w="12700">
            <a:solidFill>
              <a:srgbClr val="0B1F33"/>
            </a:solidFill>
            <a:prstDash val="solid"/>
          </a:ln>
        </p:spPr>
      </p:sp>
      <p:sp>
        <p:nvSpPr>
          <p:cNvPr id="9" name="Text 7"/>
          <p:cNvSpPr/>
          <p:nvPr/>
        </p:nvSpPr>
        <p:spPr>
          <a:xfrm>
            <a:off x="8476488" y="1399032"/>
            <a:ext cx="3081528" cy="256032"/>
          </a:xfrm>
          <a:prstGeom prst="rect">
            <a:avLst/>
          </a:prstGeom>
          <a:noFill/>
          <a:ln/>
        </p:spPr>
        <p:txBody>
          <a:bodyPr wrap="square" lIns="0" tIns="0" rIns="0" bIns="0" rtlCol="0" anchor="ctr"/>
          <a:lstStyle/>
          <a:p>
            <a:pPr indent="0" marL="0">
              <a:buNone/>
            </a:pPr>
            <a:r>
              <a:rPr lang="en-US" sz="1600" b="1" dirty="0">
                <a:solidFill>
                  <a:srgbClr val="0B1F33"/>
                </a:solidFill>
              </a:rPr>
              <a:t>CONCEITUAL</a:t>
            </a:r>
            <a:endParaRPr lang="en-US" sz="1600" dirty="0"/>
          </a:p>
        </p:txBody>
      </p:sp>
      <p:sp>
        <p:nvSpPr>
          <p:cNvPr id="10" name="Text 8"/>
          <p:cNvSpPr/>
          <p:nvPr/>
        </p:nvSpPr>
        <p:spPr>
          <a:xfrm>
            <a:off x="8476488" y="1764792"/>
            <a:ext cx="3081528" cy="393192"/>
          </a:xfrm>
          <a:prstGeom prst="rect">
            <a:avLst/>
          </a:prstGeom>
          <a:noFill/>
          <a:ln/>
        </p:spPr>
        <p:txBody>
          <a:bodyPr wrap="square" lIns="254" tIns="254" rIns="254" bIns="254" rtlCol="0" anchor="ctr"/>
          <a:lstStyle/>
          <a:p>
            <a:pPr indent="0" marL="0">
              <a:buNone/>
            </a:pPr>
            <a:r>
              <a:rPr lang="en-US" sz="1250" dirty="0">
                <a:solidFill>
                  <a:srgbClr val="1F2937"/>
                </a:solidFill>
              </a:rPr>
              <a:t>ALUNO — pertence — CURSO</a:t>
            </a:r>
            <a:endParaRPr lang="en-US" sz="1250" dirty="0"/>
          </a:p>
        </p:txBody>
      </p:sp>
      <p:sp>
        <p:nvSpPr>
          <p:cNvPr id="11" name="Shape 9"/>
          <p:cNvSpPr/>
          <p:nvPr/>
        </p:nvSpPr>
        <p:spPr>
          <a:xfrm>
            <a:off x="9528048" y="2578608"/>
            <a:ext cx="868680" cy="548640"/>
          </a:xfrm>
          <a:prstGeom prst="chevron">
            <a:avLst/>
          </a:prstGeom>
          <a:solidFill>
            <a:srgbClr val="2463EB"/>
          </a:solidFill>
          <a:ln w="12700">
            <a:solidFill>
              <a:srgbClr val="2463EB"/>
            </a:solidFill>
            <a:prstDash val="solid"/>
          </a:ln>
        </p:spPr>
      </p:sp>
      <p:sp>
        <p:nvSpPr>
          <p:cNvPr id="12" name="Shape 10"/>
          <p:cNvSpPr/>
          <p:nvPr/>
        </p:nvSpPr>
        <p:spPr>
          <a:xfrm>
            <a:off x="8275320" y="3474720"/>
            <a:ext cx="3429000" cy="1572768"/>
          </a:xfrm>
          <a:prstGeom prst="roundRect">
            <a:avLst>
              <a:gd name="adj" fmla="val 4651"/>
            </a:avLst>
          </a:prstGeom>
          <a:solidFill>
            <a:srgbClr val="EAF1FF"/>
          </a:solidFill>
          <a:ln w="12700">
            <a:solidFill>
              <a:srgbClr val="C6D2E1"/>
            </a:solidFill>
            <a:prstDash val="solid"/>
          </a:ln>
        </p:spPr>
      </p:sp>
      <p:sp>
        <p:nvSpPr>
          <p:cNvPr id="13" name="Shape 11"/>
          <p:cNvSpPr/>
          <p:nvPr/>
        </p:nvSpPr>
        <p:spPr>
          <a:xfrm>
            <a:off x="8293608" y="3493008"/>
            <a:ext cx="73152" cy="1536192"/>
          </a:xfrm>
          <a:prstGeom prst="rect">
            <a:avLst/>
          </a:prstGeom>
          <a:solidFill>
            <a:srgbClr val="2463EB"/>
          </a:solidFill>
          <a:ln w="12700">
            <a:solidFill>
              <a:srgbClr val="2463EB"/>
            </a:solidFill>
            <a:prstDash val="solid"/>
          </a:ln>
        </p:spPr>
      </p:sp>
      <p:sp>
        <p:nvSpPr>
          <p:cNvPr id="14" name="Text 12"/>
          <p:cNvSpPr/>
          <p:nvPr/>
        </p:nvSpPr>
        <p:spPr>
          <a:xfrm>
            <a:off x="8476488" y="3639312"/>
            <a:ext cx="3081528" cy="256032"/>
          </a:xfrm>
          <a:prstGeom prst="rect">
            <a:avLst/>
          </a:prstGeom>
          <a:noFill/>
          <a:ln/>
        </p:spPr>
        <p:txBody>
          <a:bodyPr wrap="square" lIns="0" tIns="0" rIns="0" bIns="0" rtlCol="0" anchor="ctr"/>
          <a:lstStyle/>
          <a:p>
            <a:pPr indent="0" marL="0">
              <a:buNone/>
            </a:pPr>
            <a:r>
              <a:rPr lang="en-US" sz="1600" b="1" dirty="0">
                <a:solidFill>
                  <a:srgbClr val="0B1F33"/>
                </a:solidFill>
              </a:rPr>
              <a:t>RELACIONAL</a:t>
            </a:r>
            <a:endParaRPr lang="en-US" sz="1600" dirty="0"/>
          </a:p>
        </p:txBody>
      </p:sp>
      <p:sp>
        <p:nvSpPr>
          <p:cNvPr id="15" name="Text 13"/>
          <p:cNvSpPr/>
          <p:nvPr/>
        </p:nvSpPr>
        <p:spPr>
          <a:xfrm>
            <a:off x="8476488" y="4005072"/>
            <a:ext cx="3081528" cy="914400"/>
          </a:xfrm>
          <a:prstGeom prst="rect">
            <a:avLst/>
          </a:prstGeom>
          <a:noFill/>
          <a:ln/>
        </p:spPr>
        <p:txBody>
          <a:bodyPr wrap="square" lIns="254" tIns="254" rIns="254" bIns="254" rtlCol="0" anchor="ctr"/>
          <a:lstStyle/>
          <a:p>
            <a:pPr indent="0" marL="0">
              <a:buNone/>
            </a:pPr>
            <a:r>
              <a:rPr lang="en-US" sz="1250" dirty="0">
                <a:solidFill>
                  <a:srgbClr val="1F2937"/>
                </a:solidFill>
              </a:rPr>
              <a:t>CURSO(id PK, nome)</a:t>
            </a:r>
            <a:endParaRPr lang="en-US" sz="1250" dirty="0"/>
          </a:p>
          <a:p>
            <a:pPr indent="0" marL="0">
              <a:buNone/>
            </a:pPr>
            <a:r>
              <a:rPr lang="en-US" sz="1250" dirty="0">
                <a:solidFill>
                  <a:srgbClr val="1F2937"/>
                </a:solidFill>
              </a:rPr>
              <a:t>ALUNO(id PK, nome, curso_id FK)</a:t>
            </a:r>
            <a:endParaRPr lang="en-US" sz="125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A origem: E. F. Codd</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O ARTIGO QUE FUNDAMENTOU O MODELO RELACIONAL</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- 04</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Em 1970, Edgar F. Codd publicou “A Relational Model of Data for Large Shared Data Banks”. A proposta representava dados por relações n-árias e buscava proteger usuários e aplicações de mudanças na representação interna. A ideia estabeleceu uma base matemática para organização, consistência, consulta e evolução dos bancos de dados relacionais.</a:t>
            </a:r>
            <a:endParaRPr lang="en-US" sz="2400" dirty="0"/>
          </a:p>
        </p:txBody>
      </p:sp>
      <p:sp>
        <p:nvSpPr>
          <p:cNvPr id="7" name="Shape 5"/>
          <p:cNvSpPr/>
          <p:nvPr/>
        </p:nvSpPr>
        <p:spPr>
          <a:xfrm>
            <a:off x="8339328" y="1353312"/>
            <a:ext cx="3246120" cy="4251960"/>
          </a:xfrm>
          <a:prstGeom prst="roundRect">
            <a:avLst/>
          </a:prstGeom>
          <a:solidFill>
            <a:srgbClr val="FFFFFF"/>
          </a:solidFill>
          <a:ln w="12700">
            <a:solidFill>
              <a:srgbClr val="C9D4E3"/>
            </a:solidFill>
            <a:prstDash val="solid"/>
          </a:ln>
        </p:spPr>
      </p:sp>
      <p:sp>
        <p:nvSpPr>
          <p:cNvPr id="8" name="Text 6"/>
          <p:cNvSpPr/>
          <p:nvPr/>
        </p:nvSpPr>
        <p:spPr>
          <a:xfrm>
            <a:off x="8686800" y="1755648"/>
            <a:ext cx="2560320" cy="566928"/>
          </a:xfrm>
          <a:prstGeom prst="rect">
            <a:avLst/>
          </a:prstGeom>
          <a:noFill/>
          <a:ln/>
        </p:spPr>
        <p:txBody>
          <a:bodyPr wrap="square" lIns="0" tIns="0" rIns="0" bIns="0" rtlCol="0" anchor="ctr"/>
          <a:lstStyle/>
          <a:p>
            <a:pPr algn="ctr" indent="0" marL="0">
              <a:buNone/>
            </a:pPr>
            <a:r>
              <a:rPr lang="en-US" sz="3400" b="1" dirty="0">
                <a:solidFill>
                  <a:srgbClr val="2463EB"/>
                </a:solidFill>
              </a:rPr>
              <a:t>1970</a:t>
            </a:r>
            <a:endParaRPr lang="en-US" sz="3400" dirty="0"/>
          </a:p>
        </p:txBody>
      </p:sp>
      <p:sp>
        <p:nvSpPr>
          <p:cNvPr id="9" name="Text 7"/>
          <p:cNvSpPr/>
          <p:nvPr/>
        </p:nvSpPr>
        <p:spPr>
          <a:xfrm>
            <a:off x="8613648" y="2697480"/>
            <a:ext cx="2697480" cy="1005840"/>
          </a:xfrm>
          <a:prstGeom prst="rect">
            <a:avLst/>
          </a:prstGeom>
          <a:noFill/>
          <a:ln/>
        </p:spPr>
        <p:txBody>
          <a:bodyPr wrap="square" lIns="0" tIns="0" rIns="0" bIns="0" rtlCol="0" anchor="ctr"/>
          <a:lstStyle/>
          <a:p>
            <a:pPr algn="ctr" indent="0" marL="0">
              <a:lnSpc>
                <a:spcPct val="120000"/>
              </a:lnSpc>
              <a:buNone/>
            </a:pPr>
            <a:r>
              <a:rPr lang="en-US" sz="1600" b="1" dirty="0">
                <a:solidFill>
                  <a:srgbClr val="0B1F33"/>
                </a:solidFill>
              </a:rPr>
              <a:t>A Relational Model of Data</a:t>
            </a:r>
            <a:endParaRPr lang="en-US" sz="1600" dirty="0"/>
          </a:p>
          <a:p>
            <a:pPr algn="ctr" indent="0" marL="0">
              <a:lnSpc>
                <a:spcPct val="120000"/>
              </a:lnSpc>
              <a:buNone/>
            </a:pPr>
            <a:r>
              <a:rPr lang="en-US" sz="1600" b="1" dirty="0">
                <a:solidFill>
                  <a:srgbClr val="0B1F33"/>
                </a:solidFill>
              </a:rPr>
              <a:t>for Large Shared Data Banks</a:t>
            </a:r>
            <a:endParaRPr lang="en-US" sz="1600" dirty="0"/>
          </a:p>
        </p:txBody>
      </p:sp>
      <p:sp>
        <p:nvSpPr>
          <p:cNvPr id="10" name="Shape 8"/>
          <p:cNvSpPr/>
          <p:nvPr/>
        </p:nvSpPr>
        <p:spPr>
          <a:xfrm>
            <a:off x="8851392" y="3977640"/>
            <a:ext cx="2240280" cy="0"/>
          </a:xfrm>
          <a:prstGeom prst="line">
            <a:avLst/>
          </a:prstGeom>
          <a:noFill/>
          <a:ln w="12700">
            <a:solidFill>
              <a:srgbClr val="F59E0B"/>
            </a:solidFill>
            <a:prstDash val="solid"/>
          </a:ln>
        </p:spPr>
      </p:sp>
      <p:sp>
        <p:nvSpPr>
          <p:cNvPr id="11" name="Text 9"/>
          <p:cNvSpPr/>
          <p:nvPr/>
        </p:nvSpPr>
        <p:spPr>
          <a:xfrm>
            <a:off x="8705088" y="4233672"/>
            <a:ext cx="2560320" cy="256032"/>
          </a:xfrm>
          <a:prstGeom prst="rect">
            <a:avLst/>
          </a:prstGeom>
          <a:noFill/>
          <a:ln/>
        </p:spPr>
        <p:txBody>
          <a:bodyPr wrap="square" lIns="0" tIns="0" rIns="0" bIns="0" rtlCol="0" anchor="ctr"/>
          <a:lstStyle/>
          <a:p>
            <a:pPr algn="ctr" indent="0" marL="0">
              <a:buNone/>
            </a:pPr>
            <a:r>
              <a:rPr lang="en-US" sz="1600" dirty="0">
                <a:solidFill>
                  <a:srgbClr val="1F2937"/>
                </a:solidFill>
              </a:rPr>
              <a:t>E. F. Codd • IBM</a:t>
            </a:r>
            <a:endParaRPr lang="en-US" sz="1600" dirty="0"/>
          </a:p>
        </p:txBody>
      </p:sp>
      <p:sp>
        <p:nvSpPr>
          <p:cNvPr id="12" name="Text 10"/>
          <p:cNvSpPr/>
          <p:nvPr/>
        </p:nvSpPr>
        <p:spPr>
          <a:xfrm>
            <a:off x="8778240" y="4782312"/>
            <a:ext cx="2423160" cy="548640"/>
          </a:xfrm>
          <a:prstGeom prst="rect">
            <a:avLst/>
          </a:prstGeom>
          <a:noFill/>
          <a:ln/>
        </p:spPr>
        <p:txBody>
          <a:bodyPr wrap="square" lIns="0" tIns="0" rIns="0" bIns="0" rtlCol="0" anchor="ctr"/>
          <a:lstStyle/>
          <a:p>
            <a:pPr algn="ctr" indent="0" marL="0">
              <a:buNone/>
            </a:pPr>
            <a:r>
              <a:rPr lang="en-US" sz="1400" dirty="0">
                <a:solidFill>
                  <a:srgbClr val="6B7280"/>
                </a:solidFill>
              </a:rPr>
              <a:t>independência lógica</a:t>
            </a:r>
            <a:endParaRPr lang="en-US" sz="1400" dirty="0"/>
          </a:p>
          <a:p>
            <a:pPr algn="ctr" indent="0" marL="0">
              <a:buNone/>
            </a:pPr>
            <a:r>
              <a:rPr lang="en-US" sz="1400" dirty="0">
                <a:solidFill>
                  <a:srgbClr val="6B7280"/>
                </a:solidFill>
              </a:rPr>
              <a:t>relações n-árias</a:t>
            </a:r>
            <a:endParaRPr lang="en-US" sz="1400" dirty="0"/>
          </a:p>
        </p:txBody>
      </p:sp>
      <p:sp>
        <p:nvSpPr>
          <p:cNvPr id="13" name="Shape 11"/>
          <p:cNvSpPr/>
          <p:nvPr/>
        </p:nvSpPr>
        <p:spPr>
          <a:xfrm>
            <a:off x="621792" y="5989320"/>
            <a:ext cx="2606040" cy="347472"/>
          </a:xfrm>
          <a:prstGeom prst="roundRect">
            <a:avLst>
              <a:gd name="adj" fmla="val 21053"/>
            </a:avLst>
          </a:prstGeom>
          <a:solidFill>
            <a:srgbClr val="EAF1FF"/>
          </a:solidFill>
          <a:ln w="12700">
            <a:solidFill>
              <a:srgbClr val="B8CCF6"/>
            </a:solidFill>
            <a:prstDash val="solid"/>
          </a:ln>
        </p:spPr>
      </p:sp>
      <p:sp>
        <p:nvSpPr>
          <p:cNvPr id="14" name="Text 12">
            <a:hlinkClick r:id="rId1" tooltip=""/>
          </p:cNvPr>
          <p:cNvSpPr/>
          <p:nvPr/>
        </p:nvSpPr>
        <p:spPr>
          <a:xfrm>
            <a:off x="777240" y="6053328"/>
            <a:ext cx="2267712" cy="182880"/>
          </a:xfrm>
          <a:prstGeom prst="rect">
            <a:avLst/>
          </a:prstGeom>
          <a:noFill/>
          <a:ln/>
        </p:spPr>
        <p:txBody>
          <a:bodyPr wrap="square" lIns="0" tIns="0" rIns="0" bIns="0" rtlCol="0" anchor="ctr"/>
          <a:lstStyle/>
          <a:p>
            <a:pPr indent="0" marL="0">
              <a:buNone/>
            </a:pPr>
            <a:r>
              <a:rPr lang="en-US" sz="1250" b="1" u="sng" dirty="0">
                <a:solidFill>
                  <a:srgbClr val="2463EB"/>
                </a:solidFill>
                <a:hlinkClick r:id="rId1" invalidUrl="" action="" tgtFrame="" tooltip="" history="1" highlightClick="0" endSnd="0">
                  <a:extLst>
                    <a:ext uri="{A12FA001-AC4F-418D-AE19-62706E023703}">
                      <ahyp:hlinkClr xmlns:ahyp="http://schemas.microsoft.com/office/drawing/2018/hyperlinkcolor" val="tx"/>
                    </a:ext>
                  </a:extLst>
                </a:hlinkClick>
              </a:rPr>
              <a:t>IBM Research — artigo de Codd</a:t>
            </a:r>
            <a:endParaRPr lang="en-US" sz="125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O que é uma relação?</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A ESTRUTURA FUNDAMENTAL DO MODELO</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- 05</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Uma relação pode ser entendida como um conjunto de tuplas que compartilham a mesma estrutura de atributos. Em um SGBD relacional, ela é usualmente apresentada como uma tabela. Cada coluna representa um atributo, cada linha representa uma tupla, e o conjunto dessas linhas descreve ocorrências válidas de um mesmo tipo de informação.</a:t>
            </a:r>
            <a:endParaRPr lang="en-US" sz="2400" dirty="0"/>
          </a:p>
        </p:txBody>
      </p:sp>
      <p:sp>
        <p:nvSpPr>
          <p:cNvPr id="7" name="Shape 5"/>
          <p:cNvSpPr/>
          <p:nvPr/>
        </p:nvSpPr>
        <p:spPr>
          <a:xfrm>
            <a:off x="8549640" y="1490472"/>
            <a:ext cx="2971800" cy="2240280"/>
          </a:xfrm>
          <a:prstGeom prst="roundRect">
            <a:avLst>
              <a:gd name="adj" fmla="val 2041"/>
            </a:avLst>
          </a:prstGeom>
          <a:solidFill>
            <a:srgbClr val="FFFFFF"/>
          </a:solidFill>
          <a:ln w="12700">
            <a:solidFill>
              <a:srgbClr val="C9D4E3"/>
            </a:solidFill>
            <a:prstDash val="solid"/>
          </a:ln>
        </p:spPr>
      </p:sp>
      <p:sp>
        <p:nvSpPr>
          <p:cNvPr id="8" name="Shape 6"/>
          <p:cNvSpPr/>
          <p:nvPr/>
        </p:nvSpPr>
        <p:spPr>
          <a:xfrm>
            <a:off x="8549640" y="1490472"/>
            <a:ext cx="990600" cy="560070"/>
          </a:xfrm>
          <a:prstGeom prst="rect">
            <a:avLst/>
          </a:prstGeom>
          <a:solidFill>
            <a:srgbClr val="2463EB"/>
          </a:solidFill>
          <a:ln w="12700">
            <a:solidFill>
              <a:srgbClr val="FFFFFF"/>
            </a:solidFill>
            <a:prstDash val="solid"/>
          </a:ln>
        </p:spPr>
      </p:sp>
      <p:sp>
        <p:nvSpPr>
          <p:cNvPr id="9" name="Text 7"/>
          <p:cNvSpPr/>
          <p:nvPr/>
        </p:nvSpPr>
        <p:spPr>
          <a:xfrm>
            <a:off x="8586216" y="1545336"/>
            <a:ext cx="917448" cy="486918"/>
          </a:xfrm>
          <a:prstGeom prst="rect">
            <a:avLst/>
          </a:prstGeom>
          <a:noFill/>
          <a:ln/>
        </p:spPr>
        <p:txBody>
          <a:bodyPr wrap="square" lIns="0" tIns="0" rIns="0" bIns="0" rtlCol="0" anchor="ctr"/>
          <a:lstStyle/>
          <a:p>
            <a:pPr algn="ctr" indent="0" marL="0">
              <a:buNone/>
            </a:pPr>
            <a:r>
              <a:rPr lang="en-US" sz="1200" b="1" dirty="0">
                <a:solidFill>
                  <a:srgbClr val="FFFFFF"/>
                </a:solidFill>
              </a:rPr>
              <a:t>id</a:t>
            </a:r>
            <a:endParaRPr lang="en-US" sz="1200" dirty="0"/>
          </a:p>
        </p:txBody>
      </p:sp>
      <p:sp>
        <p:nvSpPr>
          <p:cNvPr id="10" name="Shape 8"/>
          <p:cNvSpPr/>
          <p:nvPr/>
        </p:nvSpPr>
        <p:spPr>
          <a:xfrm>
            <a:off x="9540240" y="1490472"/>
            <a:ext cx="990600" cy="560070"/>
          </a:xfrm>
          <a:prstGeom prst="rect">
            <a:avLst/>
          </a:prstGeom>
          <a:solidFill>
            <a:srgbClr val="2463EB"/>
          </a:solidFill>
          <a:ln w="12700">
            <a:solidFill>
              <a:srgbClr val="FFFFFF"/>
            </a:solidFill>
            <a:prstDash val="solid"/>
          </a:ln>
        </p:spPr>
      </p:sp>
      <p:sp>
        <p:nvSpPr>
          <p:cNvPr id="11" name="Text 9"/>
          <p:cNvSpPr/>
          <p:nvPr/>
        </p:nvSpPr>
        <p:spPr>
          <a:xfrm>
            <a:off x="9576816" y="1545336"/>
            <a:ext cx="917448" cy="486918"/>
          </a:xfrm>
          <a:prstGeom prst="rect">
            <a:avLst/>
          </a:prstGeom>
          <a:noFill/>
          <a:ln/>
        </p:spPr>
        <p:txBody>
          <a:bodyPr wrap="square" lIns="0" tIns="0" rIns="0" bIns="0" rtlCol="0" anchor="ctr"/>
          <a:lstStyle/>
          <a:p>
            <a:pPr algn="ctr" indent="0" marL="0">
              <a:buNone/>
            </a:pPr>
            <a:r>
              <a:rPr lang="en-US" sz="1200" b="1" dirty="0">
                <a:solidFill>
                  <a:srgbClr val="FFFFFF"/>
                </a:solidFill>
              </a:rPr>
              <a:t>nome</a:t>
            </a:r>
            <a:endParaRPr lang="en-US" sz="1200" dirty="0"/>
          </a:p>
        </p:txBody>
      </p:sp>
      <p:sp>
        <p:nvSpPr>
          <p:cNvPr id="12" name="Shape 10"/>
          <p:cNvSpPr/>
          <p:nvPr/>
        </p:nvSpPr>
        <p:spPr>
          <a:xfrm>
            <a:off x="10530840" y="1490472"/>
            <a:ext cx="990600" cy="560070"/>
          </a:xfrm>
          <a:prstGeom prst="rect">
            <a:avLst/>
          </a:prstGeom>
          <a:solidFill>
            <a:srgbClr val="2463EB"/>
          </a:solidFill>
          <a:ln w="12700">
            <a:solidFill>
              <a:srgbClr val="FFFFFF"/>
            </a:solidFill>
            <a:prstDash val="solid"/>
          </a:ln>
        </p:spPr>
      </p:sp>
      <p:sp>
        <p:nvSpPr>
          <p:cNvPr id="13" name="Text 11"/>
          <p:cNvSpPr/>
          <p:nvPr/>
        </p:nvSpPr>
        <p:spPr>
          <a:xfrm>
            <a:off x="10567416" y="1545336"/>
            <a:ext cx="917448" cy="486918"/>
          </a:xfrm>
          <a:prstGeom prst="rect">
            <a:avLst/>
          </a:prstGeom>
          <a:noFill/>
          <a:ln/>
        </p:spPr>
        <p:txBody>
          <a:bodyPr wrap="square" lIns="0" tIns="0" rIns="0" bIns="0" rtlCol="0" anchor="ctr"/>
          <a:lstStyle/>
          <a:p>
            <a:pPr algn="ctr" indent="0" marL="0">
              <a:buNone/>
            </a:pPr>
            <a:r>
              <a:rPr lang="en-US" sz="1200" b="1" dirty="0">
                <a:solidFill>
                  <a:srgbClr val="FFFFFF"/>
                </a:solidFill>
              </a:rPr>
              <a:t>curso</a:t>
            </a:r>
            <a:endParaRPr lang="en-US" sz="1200" dirty="0"/>
          </a:p>
        </p:txBody>
      </p:sp>
      <p:sp>
        <p:nvSpPr>
          <p:cNvPr id="14" name="Shape 12"/>
          <p:cNvSpPr/>
          <p:nvPr/>
        </p:nvSpPr>
        <p:spPr>
          <a:xfrm>
            <a:off x="8549640" y="2050542"/>
            <a:ext cx="990600" cy="560070"/>
          </a:xfrm>
          <a:prstGeom prst="rect">
            <a:avLst/>
          </a:prstGeom>
          <a:solidFill>
            <a:srgbClr val="FFFFFF"/>
          </a:solidFill>
          <a:ln w="12700">
            <a:solidFill>
              <a:srgbClr val="D9E2EC"/>
            </a:solidFill>
            <a:prstDash val="solid"/>
          </a:ln>
        </p:spPr>
      </p:sp>
      <p:sp>
        <p:nvSpPr>
          <p:cNvPr id="15" name="Text 13"/>
          <p:cNvSpPr/>
          <p:nvPr/>
        </p:nvSpPr>
        <p:spPr>
          <a:xfrm>
            <a:off x="8586216" y="2096262"/>
            <a:ext cx="917448" cy="496062"/>
          </a:xfrm>
          <a:prstGeom prst="rect">
            <a:avLst/>
          </a:prstGeom>
          <a:noFill/>
          <a:ln/>
        </p:spPr>
        <p:txBody>
          <a:bodyPr wrap="square" lIns="0" tIns="0" rIns="0" bIns="0" rtlCol="0" anchor="ctr"/>
          <a:lstStyle/>
          <a:p>
            <a:pPr algn="ctr" indent="0" marL="0">
              <a:buNone/>
            </a:pPr>
            <a:r>
              <a:rPr lang="en-US" sz="1150" dirty="0">
                <a:solidFill>
                  <a:srgbClr val="1F2937"/>
                </a:solidFill>
              </a:rPr>
              <a:t>1</a:t>
            </a:r>
            <a:endParaRPr lang="en-US" sz="1150" dirty="0"/>
          </a:p>
        </p:txBody>
      </p:sp>
      <p:sp>
        <p:nvSpPr>
          <p:cNvPr id="16" name="Shape 14"/>
          <p:cNvSpPr/>
          <p:nvPr/>
        </p:nvSpPr>
        <p:spPr>
          <a:xfrm>
            <a:off x="9540240" y="2050542"/>
            <a:ext cx="990600" cy="560070"/>
          </a:xfrm>
          <a:prstGeom prst="rect">
            <a:avLst/>
          </a:prstGeom>
          <a:solidFill>
            <a:srgbClr val="FFFFFF"/>
          </a:solidFill>
          <a:ln w="12700">
            <a:solidFill>
              <a:srgbClr val="D9E2EC"/>
            </a:solidFill>
            <a:prstDash val="solid"/>
          </a:ln>
        </p:spPr>
      </p:sp>
      <p:sp>
        <p:nvSpPr>
          <p:cNvPr id="17" name="Text 15"/>
          <p:cNvSpPr/>
          <p:nvPr/>
        </p:nvSpPr>
        <p:spPr>
          <a:xfrm>
            <a:off x="9576816" y="2096262"/>
            <a:ext cx="917448" cy="496062"/>
          </a:xfrm>
          <a:prstGeom prst="rect">
            <a:avLst/>
          </a:prstGeom>
          <a:noFill/>
          <a:ln/>
        </p:spPr>
        <p:txBody>
          <a:bodyPr wrap="square" lIns="0" tIns="0" rIns="0" bIns="0" rtlCol="0" anchor="ctr"/>
          <a:lstStyle/>
          <a:p>
            <a:pPr algn="ctr" indent="0" marL="0">
              <a:buNone/>
            </a:pPr>
            <a:r>
              <a:rPr lang="en-US" sz="1150" dirty="0">
                <a:solidFill>
                  <a:srgbClr val="1F2937"/>
                </a:solidFill>
              </a:rPr>
              <a:t>Ana</a:t>
            </a:r>
            <a:endParaRPr lang="en-US" sz="1150" dirty="0"/>
          </a:p>
        </p:txBody>
      </p:sp>
      <p:sp>
        <p:nvSpPr>
          <p:cNvPr id="18" name="Shape 16"/>
          <p:cNvSpPr/>
          <p:nvPr/>
        </p:nvSpPr>
        <p:spPr>
          <a:xfrm>
            <a:off x="10530840" y="2050542"/>
            <a:ext cx="990600" cy="560070"/>
          </a:xfrm>
          <a:prstGeom prst="rect">
            <a:avLst/>
          </a:prstGeom>
          <a:solidFill>
            <a:srgbClr val="FFFFFF"/>
          </a:solidFill>
          <a:ln w="12700">
            <a:solidFill>
              <a:srgbClr val="D9E2EC"/>
            </a:solidFill>
            <a:prstDash val="solid"/>
          </a:ln>
        </p:spPr>
      </p:sp>
      <p:sp>
        <p:nvSpPr>
          <p:cNvPr id="19" name="Text 17"/>
          <p:cNvSpPr/>
          <p:nvPr/>
        </p:nvSpPr>
        <p:spPr>
          <a:xfrm>
            <a:off x="10567416" y="2096262"/>
            <a:ext cx="917448" cy="496062"/>
          </a:xfrm>
          <a:prstGeom prst="rect">
            <a:avLst/>
          </a:prstGeom>
          <a:noFill/>
          <a:ln/>
        </p:spPr>
        <p:txBody>
          <a:bodyPr wrap="square" lIns="0" tIns="0" rIns="0" bIns="0" rtlCol="0" anchor="ctr"/>
          <a:lstStyle/>
          <a:p>
            <a:pPr algn="ctr" indent="0" marL="0">
              <a:buNone/>
            </a:pPr>
            <a:r>
              <a:rPr lang="en-US" sz="1150" dirty="0">
                <a:solidFill>
                  <a:srgbClr val="1F2937"/>
                </a:solidFill>
              </a:rPr>
              <a:t>SI</a:t>
            </a:r>
            <a:endParaRPr lang="en-US" sz="1150" dirty="0"/>
          </a:p>
        </p:txBody>
      </p:sp>
      <p:sp>
        <p:nvSpPr>
          <p:cNvPr id="20" name="Shape 18"/>
          <p:cNvSpPr/>
          <p:nvPr/>
        </p:nvSpPr>
        <p:spPr>
          <a:xfrm>
            <a:off x="8549640" y="2610612"/>
            <a:ext cx="990600" cy="560070"/>
          </a:xfrm>
          <a:prstGeom prst="rect">
            <a:avLst/>
          </a:prstGeom>
          <a:solidFill>
            <a:srgbClr val="F8FAFD"/>
          </a:solidFill>
          <a:ln w="12700">
            <a:solidFill>
              <a:srgbClr val="D9E2EC"/>
            </a:solidFill>
            <a:prstDash val="solid"/>
          </a:ln>
        </p:spPr>
      </p:sp>
      <p:sp>
        <p:nvSpPr>
          <p:cNvPr id="21" name="Text 19"/>
          <p:cNvSpPr/>
          <p:nvPr/>
        </p:nvSpPr>
        <p:spPr>
          <a:xfrm>
            <a:off x="8586216" y="2656332"/>
            <a:ext cx="917448" cy="496062"/>
          </a:xfrm>
          <a:prstGeom prst="rect">
            <a:avLst/>
          </a:prstGeom>
          <a:noFill/>
          <a:ln/>
        </p:spPr>
        <p:txBody>
          <a:bodyPr wrap="square" lIns="0" tIns="0" rIns="0" bIns="0" rtlCol="0" anchor="ctr"/>
          <a:lstStyle/>
          <a:p>
            <a:pPr algn="ctr" indent="0" marL="0">
              <a:buNone/>
            </a:pPr>
            <a:r>
              <a:rPr lang="en-US" sz="1150" dirty="0">
                <a:solidFill>
                  <a:srgbClr val="1F2937"/>
                </a:solidFill>
              </a:rPr>
              <a:t>2</a:t>
            </a:r>
            <a:endParaRPr lang="en-US" sz="1150" dirty="0"/>
          </a:p>
        </p:txBody>
      </p:sp>
      <p:sp>
        <p:nvSpPr>
          <p:cNvPr id="22" name="Shape 20"/>
          <p:cNvSpPr/>
          <p:nvPr/>
        </p:nvSpPr>
        <p:spPr>
          <a:xfrm>
            <a:off x="9540240" y="2610612"/>
            <a:ext cx="990600" cy="560070"/>
          </a:xfrm>
          <a:prstGeom prst="rect">
            <a:avLst/>
          </a:prstGeom>
          <a:solidFill>
            <a:srgbClr val="F8FAFD"/>
          </a:solidFill>
          <a:ln w="12700">
            <a:solidFill>
              <a:srgbClr val="D9E2EC"/>
            </a:solidFill>
            <a:prstDash val="solid"/>
          </a:ln>
        </p:spPr>
      </p:sp>
      <p:sp>
        <p:nvSpPr>
          <p:cNvPr id="23" name="Text 21"/>
          <p:cNvSpPr/>
          <p:nvPr/>
        </p:nvSpPr>
        <p:spPr>
          <a:xfrm>
            <a:off x="9576816" y="2656332"/>
            <a:ext cx="917448" cy="496062"/>
          </a:xfrm>
          <a:prstGeom prst="rect">
            <a:avLst/>
          </a:prstGeom>
          <a:noFill/>
          <a:ln/>
        </p:spPr>
        <p:txBody>
          <a:bodyPr wrap="square" lIns="0" tIns="0" rIns="0" bIns="0" rtlCol="0" anchor="ctr"/>
          <a:lstStyle/>
          <a:p>
            <a:pPr algn="ctr" indent="0" marL="0">
              <a:buNone/>
            </a:pPr>
            <a:r>
              <a:rPr lang="en-US" sz="1150" dirty="0">
                <a:solidFill>
                  <a:srgbClr val="1F2937"/>
                </a:solidFill>
              </a:rPr>
              <a:t>Beto</a:t>
            </a:r>
            <a:endParaRPr lang="en-US" sz="1150" dirty="0"/>
          </a:p>
        </p:txBody>
      </p:sp>
      <p:sp>
        <p:nvSpPr>
          <p:cNvPr id="24" name="Shape 22"/>
          <p:cNvSpPr/>
          <p:nvPr/>
        </p:nvSpPr>
        <p:spPr>
          <a:xfrm>
            <a:off x="10530840" y="2610612"/>
            <a:ext cx="990600" cy="560070"/>
          </a:xfrm>
          <a:prstGeom prst="rect">
            <a:avLst/>
          </a:prstGeom>
          <a:solidFill>
            <a:srgbClr val="F8FAFD"/>
          </a:solidFill>
          <a:ln w="12700">
            <a:solidFill>
              <a:srgbClr val="D9E2EC"/>
            </a:solidFill>
            <a:prstDash val="solid"/>
          </a:ln>
        </p:spPr>
      </p:sp>
      <p:sp>
        <p:nvSpPr>
          <p:cNvPr id="25" name="Text 23"/>
          <p:cNvSpPr/>
          <p:nvPr/>
        </p:nvSpPr>
        <p:spPr>
          <a:xfrm>
            <a:off x="10567416" y="2656332"/>
            <a:ext cx="917448" cy="496062"/>
          </a:xfrm>
          <a:prstGeom prst="rect">
            <a:avLst/>
          </a:prstGeom>
          <a:noFill/>
          <a:ln/>
        </p:spPr>
        <p:txBody>
          <a:bodyPr wrap="square" lIns="0" tIns="0" rIns="0" bIns="0" rtlCol="0" anchor="ctr"/>
          <a:lstStyle/>
          <a:p>
            <a:pPr algn="ctr" indent="0" marL="0">
              <a:buNone/>
            </a:pPr>
            <a:r>
              <a:rPr lang="en-US" sz="1150" dirty="0">
                <a:solidFill>
                  <a:srgbClr val="1F2937"/>
                </a:solidFill>
              </a:rPr>
              <a:t>EC</a:t>
            </a:r>
            <a:endParaRPr lang="en-US" sz="1150" dirty="0"/>
          </a:p>
        </p:txBody>
      </p:sp>
      <p:sp>
        <p:nvSpPr>
          <p:cNvPr id="26" name="Shape 24"/>
          <p:cNvSpPr/>
          <p:nvPr/>
        </p:nvSpPr>
        <p:spPr>
          <a:xfrm>
            <a:off x="8549640" y="3170682"/>
            <a:ext cx="990600" cy="560070"/>
          </a:xfrm>
          <a:prstGeom prst="rect">
            <a:avLst/>
          </a:prstGeom>
          <a:solidFill>
            <a:srgbClr val="FFFFFF"/>
          </a:solidFill>
          <a:ln w="12700">
            <a:solidFill>
              <a:srgbClr val="D9E2EC"/>
            </a:solidFill>
            <a:prstDash val="solid"/>
          </a:ln>
        </p:spPr>
      </p:sp>
      <p:sp>
        <p:nvSpPr>
          <p:cNvPr id="27" name="Text 25"/>
          <p:cNvSpPr/>
          <p:nvPr/>
        </p:nvSpPr>
        <p:spPr>
          <a:xfrm>
            <a:off x="8586216" y="3216402"/>
            <a:ext cx="917448" cy="496062"/>
          </a:xfrm>
          <a:prstGeom prst="rect">
            <a:avLst/>
          </a:prstGeom>
          <a:noFill/>
          <a:ln/>
        </p:spPr>
        <p:txBody>
          <a:bodyPr wrap="square" lIns="0" tIns="0" rIns="0" bIns="0" rtlCol="0" anchor="ctr"/>
          <a:lstStyle/>
          <a:p>
            <a:pPr algn="ctr" indent="0" marL="0">
              <a:buNone/>
            </a:pPr>
            <a:r>
              <a:rPr lang="en-US" sz="1150" dirty="0">
                <a:solidFill>
                  <a:srgbClr val="1F2937"/>
                </a:solidFill>
              </a:rPr>
              <a:t>3</a:t>
            </a:r>
            <a:endParaRPr lang="en-US" sz="1150" dirty="0"/>
          </a:p>
        </p:txBody>
      </p:sp>
      <p:sp>
        <p:nvSpPr>
          <p:cNvPr id="28" name="Shape 26"/>
          <p:cNvSpPr/>
          <p:nvPr/>
        </p:nvSpPr>
        <p:spPr>
          <a:xfrm>
            <a:off x="9540240" y="3170682"/>
            <a:ext cx="990600" cy="560070"/>
          </a:xfrm>
          <a:prstGeom prst="rect">
            <a:avLst/>
          </a:prstGeom>
          <a:solidFill>
            <a:srgbClr val="FFFFFF"/>
          </a:solidFill>
          <a:ln w="12700">
            <a:solidFill>
              <a:srgbClr val="D9E2EC"/>
            </a:solidFill>
            <a:prstDash val="solid"/>
          </a:ln>
        </p:spPr>
      </p:sp>
      <p:sp>
        <p:nvSpPr>
          <p:cNvPr id="29" name="Text 27"/>
          <p:cNvSpPr/>
          <p:nvPr/>
        </p:nvSpPr>
        <p:spPr>
          <a:xfrm>
            <a:off x="9576816" y="3216402"/>
            <a:ext cx="917448" cy="496062"/>
          </a:xfrm>
          <a:prstGeom prst="rect">
            <a:avLst/>
          </a:prstGeom>
          <a:noFill/>
          <a:ln/>
        </p:spPr>
        <p:txBody>
          <a:bodyPr wrap="square" lIns="0" tIns="0" rIns="0" bIns="0" rtlCol="0" anchor="ctr"/>
          <a:lstStyle/>
          <a:p>
            <a:pPr algn="ctr" indent="0" marL="0">
              <a:buNone/>
            </a:pPr>
            <a:r>
              <a:rPr lang="en-US" sz="1150" dirty="0">
                <a:solidFill>
                  <a:srgbClr val="1F2937"/>
                </a:solidFill>
              </a:rPr>
              <a:t>Caio</a:t>
            </a:r>
            <a:endParaRPr lang="en-US" sz="1150" dirty="0"/>
          </a:p>
        </p:txBody>
      </p:sp>
      <p:sp>
        <p:nvSpPr>
          <p:cNvPr id="30" name="Shape 28"/>
          <p:cNvSpPr/>
          <p:nvPr/>
        </p:nvSpPr>
        <p:spPr>
          <a:xfrm>
            <a:off x="10530840" y="3170682"/>
            <a:ext cx="990600" cy="560070"/>
          </a:xfrm>
          <a:prstGeom prst="rect">
            <a:avLst/>
          </a:prstGeom>
          <a:solidFill>
            <a:srgbClr val="FFFFFF"/>
          </a:solidFill>
          <a:ln w="12700">
            <a:solidFill>
              <a:srgbClr val="D9E2EC"/>
            </a:solidFill>
            <a:prstDash val="solid"/>
          </a:ln>
        </p:spPr>
      </p:sp>
      <p:sp>
        <p:nvSpPr>
          <p:cNvPr id="31" name="Text 29"/>
          <p:cNvSpPr/>
          <p:nvPr/>
        </p:nvSpPr>
        <p:spPr>
          <a:xfrm>
            <a:off x="10567416" y="3216402"/>
            <a:ext cx="917448" cy="496062"/>
          </a:xfrm>
          <a:prstGeom prst="rect">
            <a:avLst/>
          </a:prstGeom>
          <a:noFill/>
          <a:ln/>
        </p:spPr>
        <p:txBody>
          <a:bodyPr wrap="square" lIns="0" tIns="0" rIns="0" bIns="0" rtlCol="0" anchor="ctr"/>
          <a:lstStyle/>
          <a:p>
            <a:pPr algn="ctr" indent="0" marL="0">
              <a:buNone/>
            </a:pPr>
            <a:r>
              <a:rPr lang="en-US" sz="1150" dirty="0">
                <a:solidFill>
                  <a:srgbClr val="1F2937"/>
                </a:solidFill>
              </a:rPr>
              <a:t>SI</a:t>
            </a:r>
            <a:endParaRPr lang="en-US" sz="1150" dirty="0"/>
          </a:p>
        </p:txBody>
      </p:sp>
      <p:sp>
        <p:nvSpPr>
          <p:cNvPr id="32" name="Text 30"/>
          <p:cNvSpPr/>
          <p:nvPr/>
        </p:nvSpPr>
        <p:spPr>
          <a:xfrm>
            <a:off x="8732520" y="3977640"/>
            <a:ext cx="2606040" cy="320040"/>
          </a:xfrm>
          <a:prstGeom prst="rect">
            <a:avLst/>
          </a:prstGeom>
          <a:noFill/>
          <a:ln/>
        </p:spPr>
        <p:txBody>
          <a:bodyPr wrap="square" lIns="0" tIns="0" rIns="0" bIns="0" rtlCol="0" anchor="ctr"/>
          <a:lstStyle/>
          <a:p>
            <a:pPr algn="ctr" indent="0" marL="0">
              <a:buNone/>
            </a:pPr>
            <a:r>
              <a:rPr lang="en-US" sz="1700" b="1" dirty="0">
                <a:solidFill>
                  <a:srgbClr val="2463EB"/>
                </a:solidFill>
              </a:rPr>
              <a:t>RELAÇÃO = tabela lógica</a:t>
            </a:r>
            <a:endParaRPr lang="en-US" sz="1700" dirty="0"/>
          </a:p>
        </p:txBody>
      </p:sp>
      <p:sp>
        <p:nvSpPr>
          <p:cNvPr id="33" name="Text 31"/>
          <p:cNvSpPr/>
          <p:nvPr/>
        </p:nvSpPr>
        <p:spPr>
          <a:xfrm>
            <a:off x="8732520" y="4434840"/>
            <a:ext cx="2606040" cy="685800"/>
          </a:xfrm>
          <a:prstGeom prst="rect">
            <a:avLst/>
          </a:prstGeom>
          <a:noFill/>
          <a:ln/>
        </p:spPr>
        <p:txBody>
          <a:bodyPr wrap="square" lIns="0" tIns="0" rIns="0" bIns="0" rtlCol="0" anchor="ctr"/>
          <a:lstStyle/>
          <a:p>
            <a:pPr algn="ctr" indent="0" marL="0">
              <a:buNone/>
            </a:pPr>
            <a:r>
              <a:rPr lang="en-US" sz="1500" dirty="0">
                <a:solidFill>
                  <a:srgbClr val="1F2937"/>
                </a:solidFill>
              </a:rPr>
              <a:t>colunas → atributos</a:t>
            </a:r>
            <a:endParaRPr lang="en-US" sz="1500" dirty="0"/>
          </a:p>
          <a:p>
            <a:pPr algn="ctr" indent="0" marL="0">
              <a:buNone/>
            </a:pPr>
            <a:r>
              <a:rPr lang="en-US" sz="1500" dirty="0">
                <a:solidFill>
                  <a:srgbClr val="1F2937"/>
                </a:solidFill>
              </a:rPr>
              <a:t>linhas → tuplas</a:t>
            </a:r>
            <a:endParaRPr lang="en-US" sz="15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Esquema e instância</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ESTRUTURA DEFINIDA × CONTEÚDO EM UM MOMENTO</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- 06</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O esquema descreve a estrutura relativamente estável da relação: nome, atributos, domínios e restrições. A instância corresponde ao conjunto de tuplas existente em determinado momento. Assim, ALUNO(id, nome, curso_id) pode permanecer igual durante meses, enquanto seus registros mudam continuamente com inserções, alterações e exclusões.</a:t>
            </a:r>
            <a:endParaRPr lang="en-US" sz="2400" dirty="0"/>
          </a:p>
        </p:txBody>
      </p:sp>
      <p:sp>
        <p:nvSpPr>
          <p:cNvPr id="7" name="Shape 5"/>
          <p:cNvSpPr/>
          <p:nvPr/>
        </p:nvSpPr>
        <p:spPr>
          <a:xfrm>
            <a:off x="8458200" y="1417320"/>
            <a:ext cx="3063240" cy="1325880"/>
          </a:xfrm>
          <a:prstGeom prst="roundRect">
            <a:avLst>
              <a:gd name="adj" fmla="val 5517"/>
            </a:avLst>
          </a:prstGeom>
          <a:solidFill>
            <a:srgbClr val="EAF1FF"/>
          </a:solidFill>
          <a:ln w="12700">
            <a:solidFill>
              <a:srgbClr val="C6D2E1"/>
            </a:solidFill>
            <a:prstDash val="solid"/>
          </a:ln>
        </p:spPr>
      </p:sp>
      <p:sp>
        <p:nvSpPr>
          <p:cNvPr id="8" name="Shape 6"/>
          <p:cNvSpPr/>
          <p:nvPr/>
        </p:nvSpPr>
        <p:spPr>
          <a:xfrm>
            <a:off x="8476488" y="1435608"/>
            <a:ext cx="73152" cy="1289304"/>
          </a:xfrm>
          <a:prstGeom prst="rect">
            <a:avLst/>
          </a:prstGeom>
          <a:solidFill>
            <a:srgbClr val="2463EB"/>
          </a:solidFill>
          <a:ln w="12700">
            <a:solidFill>
              <a:srgbClr val="2463EB"/>
            </a:solidFill>
            <a:prstDash val="solid"/>
          </a:ln>
        </p:spPr>
      </p:sp>
      <p:sp>
        <p:nvSpPr>
          <p:cNvPr id="9" name="Text 7"/>
          <p:cNvSpPr/>
          <p:nvPr/>
        </p:nvSpPr>
        <p:spPr>
          <a:xfrm>
            <a:off x="8659368" y="1581912"/>
            <a:ext cx="2715768" cy="256032"/>
          </a:xfrm>
          <a:prstGeom prst="rect">
            <a:avLst/>
          </a:prstGeom>
          <a:noFill/>
          <a:ln/>
        </p:spPr>
        <p:txBody>
          <a:bodyPr wrap="square" lIns="0" tIns="0" rIns="0" bIns="0" rtlCol="0" anchor="ctr"/>
          <a:lstStyle/>
          <a:p>
            <a:pPr indent="0" marL="0">
              <a:buNone/>
            </a:pPr>
            <a:r>
              <a:rPr lang="en-US" sz="1600" b="1" dirty="0">
                <a:solidFill>
                  <a:srgbClr val="0B1F33"/>
                </a:solidFill>
              </a:rPr>
              <a:t>ESQUEMA</a:t>
            </a:r>
            <a:endParaRPr lang="en-US" sz="1600" dirty="0"/>
          </a:p>
        </p:txBody>
      </p:sp>
      <p:sp>
        <p:nvSpPr>
          <p:cNvPr id="10" name="Text 8"/>
          <p:cNvSpPr/>
          <p:nvPr/>
        </p:nvSpPr>
        <p:spPr>
          <a:xfrm>
            <a:off x="8659368" y="1947672"/>
            <a:ext cx="2715768" cy="667512"/>
          </a:xfrm>
          <a:prstGeom prst="rect">
            <a:avLst/>
          </a:prstGeom>
          <a:noFill/>
          <a:ln/>
        </p:spPr>
        <p:txBody>
          <a:bodyPr wrap="square" lIns="254" tIns="254" rIns="254" bIns="254" rtlCol="0" anchor="ctr"/>
          <a:lstStyle/>
          <a:p>
            <a:pPr indent="0" marL="0">
              <a:buNone/>
            </a:pPr>
            <a:r>
              <a:rPr lang="en-US" sz="1250" dirty="0">
                <a:solidFill>
                  <a:srgbClr val="1F2937"/>
                </a:solidFill>
              </a:rPr>
              <a:t>ALUNO(id, nome, curso_id)</a:t>
            </a:r>
            <a:endParaRPr lang="en-US" sz="1250" dirty="0"/>
          </a:p>
        </p:txBody>
      </p:sp>
      <p:sp>
        <p:nvSpPr>
          <p:cNvPr id="11" name="Shape 9"/>
          <p:cNvSpPr/>
          <p:nvPr/>
        </p:nvSpPr>
        <p:spPr>
          <a:xfrm>
            <a:off x="9582912" y="2880360"/>
            <a:ext cx="822960" cy="502920"/>
          </a:xfrm>
          <a:prstGeom prst="chevron">
            <a:avLst/>
          </a:prstGeom>
          <a:solidFill>
            <a:srgbClr val="F59E0B"/>
          </a:solidFill>
          <a:ln w="12700">
            <a:solidFill>
              <a:srgbClr val="F59E0B"/>
            </a:solidFill>
            <a:prstDash val="solid"/>
          </a:ln>
        </p:spPr>
      </p:sp>
      <p:sp>
        <p:nvSpPr>
          <p:cNvPr id="12" name="Shape 10"/>
          <p:cNvSpPr/>
          <p:nvPr/>
        </p:nvSpPr>
        <p:spPr>
          <a:xfrm>
            <a:off x="8458200" y="3675888"/>
            <a:ext cx="3063240" cy="1572768"/>
          </a:xfrm>
          <a:prstGeom prst="roundRect">
            <a:avLst>
              <a:gd name="adj" fmla="val 4651"/>
            </a:avLst>
          </a:prstGeom>
          <a:solidFill>
            <a:srgbClr val="FFF4D6"/>
          </a:solidFill>
          <a:ln w="12700">
            <a:solidFill>
              <a:srgbClr val="C6D2E1"/>
            </a:solidFill>
            <a:prstDash val="solid"/>
          </a:ln>
        </p:spPr>
      </p:sp>
      <p:sp>
        <p:nvSpPr>
          <p:cNvPr id="13" name="Shape 11"/>
          <p:cNvSpPr/>
          <p:nvPr/>
        </p:nvSpPr>
        <p:spPr>
          <a:xfrm>
            <a:off x="8476488" y="3694176"/>
            <a:ext cx="73152" cy="1536192"/>
          </a:xfrm>
          <a:prstGeom prst="rect">
            <a:avLst/>
          </a:prstGeom>
          <a:solidFill>
            <a:srgbClr val="F59E0B"/>
          </a:solidFill>
          <a:ln w="12700">
            <a:solidFill>
              <a:srgbClr val="F59E0B"/>
            </a:solidFill>
            <a:prstDash val="solid"/>
          </a:ln>
        </p:spPr>
      </p:sp>
      <p:sp>
        <p:nvSpPr>
          <p:cNvPr id="14" name="Text 12"/>
          <p:cNvSpPr/>
          <p:nvPr/>
        </p:nvSpPr>
        <p:spPr>
          <a:xfrm>
            <a:off x="8659368" y="3840480"/>
            <a:ext cx="2715768" cy="256032"/>
          </a:xfrm>
          <a:prstGeom prst="rect">
            <a:avLst/>
          </a:prstGeom>
          <a:noFill/>
          <a:ln/>
        </p:spPr>
        <p:txBody>
          <a:bodyPr wrap="square" lIns="0" tIns="0" rIns="0" bIns="0" rtlCol="0" anchor="ctr"/>
          <a:lstStyle/>
          <a:p>
            <a:pPr indent="0" marL="0">
              <a:buNone/>
            </a:pPr>
            <a:r>
              <a:rPr lang="en-US" sz="1600" b="1" dirty="0">
                <a:solidFill>
                  <a:srgbClr val="0B1F33"/>
                </a:solidFill>
              </a:rPr>
              <a:t>INSTÂNCIA</a:t>
            </a:r>
            <a:endParaRPr lang="en-US" sz="1600" dirty="0"/>
          </a:p>
        </p:txBody>
      </p:sp>
      <p:sp>
        <p:nvSpPr>
          <p:cNvPr id="15" name="Text 13"/>
          <p:cNvSpPr/>
          <p:nvPr/>
        </p:nvSpPr>
        <p:spPr>
          <a:xfrm>
            <a:off x="8659368" y="4206240"/>
            <a:ext cx="2715768" cy="914400"/>
          </a:xfrm>
          <a:prstGeom prst="rect">
            <a:avLst/>
          </a:prstGeom>
          <a:noFill/>
          <a:ln/>
        </p:spPr>
        <p:txBody>
          <a:bodyPr wrap="square" lIns="254" tIns="254" rIns="254" bIns="254" rtlCol="0" anchor="ctr"/>
          <a:lstStyle/>
          <a:p>
            <a:pPr indent="0" marL="0">
              <a:buNone/>
            </a:pPr>
            <a:r>
              <a:rPr lang="en-US" sz="1250" dirty="0">
                <a:solidFill>
                  <a:srgbClr val="1F2937"/>
                </a:solidFill>
              </a:rPr>
              <a:t>(1, Ana, 10)</a:t>
            </a:r>
            <a:endParaRPr lang="en-US" sz="1250" dirty="0"/>
          </a:p>
          <a:p>
            <a:pPr indent="0" marL="0">
              <a:buNone/>
            </a:pPr>
            <a:r>
              <a:rPr lang="en-US" sz="1250" dirty="0">
                <a:solidFill>
                  <a:srgbClr val="1F2937"/>
                </a:solidFill>
              </a:rPr>
              <a:t>(2, Beto, 20)</a:t>
            </a:r>
            <a:endParaRPr lang="en-US" sz="125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Atributos</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AS PROPRIEDADES REPRESENTADAS PELAS COLUNAS</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- 07</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Atributo é uma propriedade relevante que descreve as tuplas de uma relação. Em ALUNO, exemplos são id, nome, data_nascimento e email. Cada atributo possui nome e domínio definidos. Um bom projeto seleciona atributos realmente necessários ao negócio, evita informações redundantes e utiliza nomes claros, estáveis e coerentes com o significado dos dados.</a:t>
            </a:r>
            <a:endParaRPr lang="en-US" sz="2400" dirty="0"/>
          </a:p>
        </p:txBody>
      </p:sp>
      <p:sp>
        <p:nvSpPr>
          <p:cNvPr id="7" name="Shape 5"/>
          <p:cNvSpPr/>
          <p:nvPr/>
        </p:nvSpPr>
        <p:spPr>
          <a:xfrm>
            <a:off x="8366760" y="1417320"/>
            <a:ext cx="3246120" cy="2926080"/>
          </a:xfrm>
          <a:prstGeom prst="roundRect">
            <a:avLst>
              <a:gd name="adj" fmla="val 1563"/>
            </a:avLst>
          </a:prstGeom>
          <a:solidFill>
            <a:srgbClr val="FFFFFF"/>
          </a:solidFill>
          <a:ln w="12700">
            <a:solidFill>
              <a:srgbClr val="C9D4E3"/>
            </a:solidFill>
            <a:prstDash val="solid"/>
          </a:ln>
        </p:spPr>
      </p:sp>
      <p:sp>
        <p:nvSpPr>
          <p:cNvPr id="8" name="Shape 6"/>
          <p:cNvSpPr/>
          <p:nvPr/>
        </p:nvSpPr>
        <p:spPr>
          <a:xfrm>
            <a:off x="8366760" y="1417320"/>
            <a:ext cx="1623060" cy="585216"/>
          </a:xfrm>
          <a:prstGeom prst="rect">
            <a:avLst/>
          </a:prstGeom>
          <a:solidFill>
            <a:srgbClr val="2463EB"/>
          </a:solidFill>
          <a:ln w="12700">
            <a:solidFill>
              <a:srgbClr val="FFFFFF"/>
            </a:solidFill>
            <a:prstDash val="solid"/>
          </a:ln>
        </p:spPr>
      </p:sp>
      <p:sp>
        <p:nvSpPr>
          <p:cNvPr id="9" name="Text 7"/>
          <p:cNvSpPr/>
          <p:nvPr/>
        </p:nvSpPr>
        <p:spPr>
          <a:xfrm>
            <a:off x="8403336" y="1472184"/>
            <a:ext cx="1549908" cy="512064"/>
          </a:xfrm>
          <a:prstGeom prst="rect">
            <a:avLst/>
          </a:prstGeom>
          <a:noFill/>
          <a:ln/>
        </p:spPr>
        <p:txBody>
          <a:bodyPr wrap="square" lIns="0" tIns="0" rIns="0" bIns="0" rtlCol="0" anchor="ctr"/>
          <a:lstStyle/>
          <a:p>
            <a:pPr algn="ctr" indent="0" marL="0">
              <a:buNone/>
            </a:pPr>
            <a:r>
              <a:rPr lang="en-US" sz="1200" b="1" dirty="0">
                <a:solidFill>
                  <a:srgbClr val="FFFFFF"/>
                </a:solidFill>
              </a:rPr>
              <a:t>atributo</a:t>
            </a:r>
            <a:endParaRPr lang="en-US" sz="1200" dirty="0"/>
          </a:p>
        </p:txBody>
      </p:sp>
      <p:sp>
        <p:nvSpPr>
          <p:cNvPr id="10" name="Shape 8"/>
          <p:cNvSpPr/>
          <p:nvPr/>
        </p:nvSpPr>
        <p:spPr>
          <a:xfrm>
            <a:off x="9989820" y="1417320"/>
            <a:ext cx="1623060" cy="585216"/>
          </a:xfrm>
          <a:prstGeom prst="rect">
            <a:avLst/>
          </a:prstGeom>
          <a:solidFill>
            <a:srgbClr val="2463EB"/>
          </a:solidFill>
          <a:ln w="12700">
            <a:solidFill>
              <a:srgbClr val="FFFFFF"/>
            </a:solidFill>
            <a:prstDash val="solid"/>
          </a:ln>
        </p:spPr>
      </p:sp>
      <p:sp>
        <p:nvSpPr>
          <p:cNvPr id="11" name="Text 9"/>
          <p:cNvSpPr/>
          <p:nvPr/>
        </p:nvSpPr>
        <p:spPr>
          <a:xfrm>
            <a:off x="10026396" y="1472184"/>
            <a:ext cx="1549908" cy="512064"/>
          </a:xfrm>
          <a:prstGeom prst="rect">
            <a:avLst/>
          </a:prstGeom>
          <a:noFill/>
          <a:ln/>
        </p:spPr>
        <p:txBody>
          <a:bodyPr wrap="square" lIns="0" tIns="0" rIns="0" bIns="0" rtlCol="0" anchor="ctr"/>
          <a:lstStyle/>
          <a:p>
            <a:pPr algn="ctr" indent="0" marL="0">
              <a:buNone/>
            </a:pPr>
            <a:r>
              <a:rPr lang="en-US" sz="1200" b="1" dirty="0">
                <a:solidFill>
                  <a:srgbClr val="FFFFFF"/>
                </a:solidFill>
              </a:rPr>
              <a:t>domínio</a:t>
            </a:r>
            <a:endParaRPr lang="en-US" sz="1200" dirty="0"/>
          </a:p>
        </p:txBody>
      </p:sp>
      <p:sp>
        <p:nvSpPr>
          <p:cNvPr id="12" name="Shape 10"/>
          <p:cNvSpPr/>
          <p:nvPr/>
        </p:nvSpPr>
        <p:spPr>
          <a:xfrm>
            <a:off x="8366760" y="2002536"/>
            <a:ext cx="1623060" cy="585216"/>
          </a:xfrm>
          <a:prstGeom prst="rect">
            <a:avLst/>
          </a:prstGeom>
          <a:solidFill>
            <a:srgbClr val="FFFFFF"/>
          </a:solidFill>
          <a:ln w="12700">
            <a:solidFill>
              <a:srgbClr val="D9E2EC"/>
            </a:solidFill>
            <a:prstDash val="solid"/>
          </a:ln>
        </p:spPr>
      </p:sp>
      <p:sp>
        <p:nvSpPr>
          <p:cNvPr id="13" name="Text 11"/>
          <p:cNvSpPr/>
          <p:nvPr/>
        </p:nvSpPr>
        <p:spPr>
          <a:xfrm>
            <a:off x="8403336" y="2048256"/>
            <a:ext cx="1549908" cy="521208"/>
          </a:xfrm>
          <a:prstGeom prst="rect">
            <a:avLst/>
          </a:prstGeom>
          <a:noFill/>
          <a:ln/>
        </p:spPr>
        <p:txBody>
          <a:bodyPr wrap="square" lIns="0" tIns="0" rIns="0" bIns="0" rtlCol="0" anchor="ctr"/>
          <a:lstStyle/>
          <a:p>
            <a:pPr algn="ctr" indent="0" marL="0">
              <a:buNone/>
            </a:pPr>
            <a:r>
              <a:rPr lang="en-US" sz="1150" dirty="0">
                <a:solidFill>
                  <a:srgbClr val="1F2937"/>
                </a:solidFill>
              </a:rPr>
              <a:t>id</a:t>
            </a:r>
            <a:endParaRPr lang="en-US" sz="1150" dirty="0"/>
          </a:p>
        </p:txBody>
      </p:sp>
      <p:sp>
        <p:nvSpPr>
          <p:cNvPr id="14" name="Shape 12"/>
          <p:cNvSpPr/>
          <p:nvPr/>
        </p:nvSpPr>
        <p:spPr>
          <a:xfrm>
            <a:off x="9989820" y="2002536"/>
            <a:ext cx="1623060" cy="585216"/>
          </a:xfrm>
          <a:prstGeom prst="rect">
            <a:avLst/>
          </a:prstGeom>
          <a:solidFill>
            <a:srgbClr val="FFFFFF"/>
          </a:solidFill>
          <a:ln w="12700">
            <a:solidFill>
              <a:srgbClr val="D9E2EC"/>
            </a:solidFill>
            <a:prstDash val="solid"/>
          </a:ln>
        </p:spPr>
      </p:sp>
      <p:sp>
        <p:nvSpPr>
          <p:cNvPr id="15" name="Text 13"/>
          <p:cNvSpPr/>
          <p:nvPr/>
        </p:nvSpPr>
        <p:spPr>
          <a:xfrm>
            <a:off x="10026396" y="2048256"/>
            <a:ext cx="1549908" cy="521208"/>
          </a:xfrm>
          <a:prstGeom prst="rect">
            <a:avLst/>
          </a:prstGeom>
          <a:noFill/>
          <a:ln/>
        </p:spPr>
        <p:txBody>
          <a:bodyPr wrap="square" lIns="0" tIns="0" rIns="0" bIns="0" rtlCol="0" anchor="ctr"/>
          <a:lstStyle/>
          <a:p>
            <a:pPr algn="ctr" indent="0" marL="0">
              <a:buNone/>
            </a:pPr>
            <a:r>
              <a:rPr lang="en-US" sz="1150" dirty="0">
                <a:solidFill>
                  <a:srgbClr val="1F2937"/>
                </a:solidFill>
              </a:rPr>
              <a:t>inteiro</a:t>
            </a:r>
            <a:endParaRPr lang="en-US" sz="1150" dirty="0"/>
          </a:p>
        </p:txBody>
      </p:sp>
      <p:sp>
        <p:nvSpPr>
          <p:cNvPr id="16" name="Shape 14"/>
          <p:cNvSpPr/>
          <p:nvPr/>
        </p:nvSpPr>
        <p:spPr>
          <a:xfrm>
            <a:off x="8366760" y="2587752"/>
            <a:ext cx="1623060" cy="585216"/>
          </a:xfrm>
          <a:prstGeom prst="rect">
            <a:avLst/>
          </a:prstGeom>
          <a:solidFill>
            <a:srgbClr val="F8FAFD"/>
          </a:solidFill>
          <a:ln w="12700">
            <a:solidFill>
              <a:srgbClr val="D9E2EC"/>
            </a:solidFill>
            <a:prstDash val="solid"/>
          </a:ln>
        </p:spPr>
      </p:sp>
      <p:sp>
        <p:nvSpPr>
          <p:cNvPr id="17" name="Text 15"/>
          <p:cNvSpPr/>
          <p:nvPr/>
        </p:nvSpPr>
        <p:spPr>
          <a:xfrm>
            <a:off x="8403336" y="2633472"/>
            <a:ext cx="1549908" cy="521208"/>
          </a:xfrm>
          <a:prstGeom prst="rect">
            <a:avLst/>
          </a:prstGeom>
          <a:noFill/>
          <a:ln/>
        </p:spPr>
        <p:txBody>
          <a:bodyPr wrap="square" lIns="0" tIns="0" rIns="0" bIns="0" rtlCol="0" anchor="ctr"/>
          <a:lstStyle/>
          <a:p>
            <a:pPr algn="ctr" indent="0" marL="0">
              <a:buNone/>
            </a:pPr>
            <a:r>
              <a:rPr lang="en-US" sz="1150" dirty="0">
                <a:solidFill>
                  <a:srgbClr val="1F2937"/>
                </a:solidFill>
              </a:rPr>
              <a:t>nome</a:t>
            </a:r>
            <a:endParaRPr lang="en-US" sz="1150" dirty="0"/>
          </a:p>
        </p:txBody>
      </p:sp>
      <p:sp>
        <p:nvSpPr>
          <p:cNvPr id="18" name="Shape 16"/>
          <p:cNvSpPr/>
          <p:nvPr/>
        </p:nvSpPr>
        <p:spPr>
          <a:xfrm>
            <a:off x="9989820" y="2587752"/>
            <a:ext cx="1623060" cy="585216"/>
          </a:xfrm>
          <a:prstGeom prst="rect">
            <a:avLst/>
          </a:prstGeom>
          <a:solidFill>
            <a:srgbClr val="F8FAFD"/>
          </a:solidFill>
          <a:ln w="12700">
            <a:solidFill>
              <a:srgbClr val="D9E2EC"/>
            </a:solidFill>
            <a:prstDash val="solid"/>
          </a:ln>
        </p:spPr>
      </p:sp>
      <p:sp>
        <p:nvSpPr>
          <p:cNvPr id="19" name="Text 17"/>
          <p:cNvSpPr/>
          <p:nvPr/>
        </p:nvSpPr>
        <p:spPr>
          <a:xfrm>
            <a:off x="10026396" y="2633472"/>
            <a:ext cx="1549908" cy="521208"/>
          </a:xfrm>
          <a:prstGeom prst="rect">
            <a:avLst/>
          </a:prstGeom>
          <a:noFill/>
          <a:ln/>
        </p:spPr>
        <p:txBody>
          <a:bodyPr wrap="square" lIns="0" tIns="0" rIns="0" bIns="0" rtlCol="0" anchor="ctr"/>
          <a:lstStyle/>
          <a:p>
            <a:pPr algn="ctr" indent="0" marL="0">
              <a:buNone/>
            </a:pPr>
            <a:r>
              <a:rPr lang="en-US" sz="1150" dirty="0">
                <a:solidFill>
                  <a:srgbClr val="1F2937"/>
                </a:solidFill>
              </a:rPr>
              <a:t>texto</a:t>
            </a:r>
            <a:endParaRPr lang="en-US" sz="1150" dirty="0"/>
          </a:p>
        </p:txBody>
      </p:sp>
      <p:sp>
        <p:nvSpPr>
          <p:cNvPr id="20" name="Shape 18"/>
          <p:cNvSpPr/>
          <p:nvPr/>
        </p:nvSpPr>
        <p:spPr>
          <a:xfrm>
            <a:off x="8366760" y="3172968"/>
            <a:ext cx="1623060" cy="585216"/>
          </a:xfrm>
          <a:prstGeom prst="rect">
            <a:avLst/>
          </a:prstGeom>
          <a:solidFill>
            <a:srgbClr val="FFFFFF"/>
          </a:solidFill>
          <a:ln w="12700">
            <a:solidFill>
              <a:srgbClr val="D9E2EC"/>
            </a:solidFill>
            <a:prstDash val="solid"/>
          </a:ln>
        </p:spPr>
      </p:sp>
      <p:sp>
        <p:nvSpPr>
          <p:cNvPr id="21" name="Text 19"/>
          <p:cNvSpPr/>
          <p:nvPr/>
        </p:nvSpPr>
        <p:spPr>
          <a:xfrm>
            <a:off x="8403336" y="3218688"/>
            <a:ext cx="1549908" cy="521208"/>
          </a:xfrm>
          <a:prstGeom prst="rect">
            <a:avLst/>
          </a:prstGeom>
          <a:noFill/>
          <a:ln/>
        </p:spPr>
        <p:txBody>
          <a:bodyPr wrap="square" lIns="0" tIns="0" rIns="0" bIns="0" rtlCol="0" anchor="ctr"/>
          <a:lstStyle/>
          <a:p>
            <a:pPr algn="ctr" indent="0" marL="0">
              <a:buNone/>
            </a:pPr>
            <a:r>
              <a:rPr lang="en-US" sz="1150" dirty="0">
                <a:solidFill>
                  <a:srgbClr val="1F2937"/>
                </a:solidFill>
              </a:rPr>
              <a:t>nascimento</a:t>
            </a:r>
            <a:endParaRPr lang="en-US" sz="1150" dirty="0"/>
          </a:p>
        </p:txBody>
      </p:sp>
      <p:sp>
        <p:nvSpPr>
          <p:cNvPr id="22" name="Shape 20"/>
          <p:cNvSpPr/>
          <p:nvPr/>
        </p:nvSpPr>
        <p:spPr>
          <a:xfrm>
            <a:off x="9989820" y="3172968"/>
            <a:ext cx="1623060" cy="585216"/>
          </a:xfrm>
          <a:prstGeom prst="rect">
            <a:avLst/>
          </a:prstGeom>
          <a:solidFill>
            <a:srgbClr val="FFFFFF"/>
          </a:solidFill>
          <a:ln w="12700">
            <a:solidFill>
              <a:srgbClr val="D9E2EC"/>
            </a:solidFill>
            <a:prstDash val="solid"/>
          </a:ln>
        </p:spPr>
      </p:sp>
      <p:sp>
        <p:nvSpPr>
          <p:cNvPr id="23" name="Text 21"/>
          <p:cNvSpPr/>
          <p:nvPr/>
        </p:nvSpPr>
        <p:spPr>
          <a:xfrm>
            <a:off x="10026396" y="3218688"/>
            <a:ext cx="1549908" cy="521208"/>
          </a:xfrm>
          <a:prstGeom prst="rect">
            <a:avLst/>
          </a:prstGeom>
          <a:noFill/>
          <a:ln/>
        </p:spPr>
        <p:txBody>
          <a:bodyPr wrap="square" lIns="0" tIns="0" rIns="0" bIns="0" rtlCol="0" anchor="ctr"/>
          <a:lstStyle/>
          <a:p>
            <a:pPr algn="ctr" indent="0" marL="0">
              <a:buNone/>
            </a:pPr>
            <a:r>
              <a:rPr lang="en-US" sz="1150" dirty="0">
                <a:solidFill>
                  <a:srgbClr val="1F2937"/>
                </a:solidFill>
              </a:rPr>
              <a:t>data</a:t>
            </a:r>
            <a:endParaRPr lang="en-US" sz="1150" dirty="0"/>
          </a:p>
        </p:txBody>
      </p:sp>
      <p:sp>
        <p:nvSpPr>
          <p:cNvPr id="24" name="Shape 22"/>
          <p:cNvSpPr/>
          <p:nvPr/>
        </p:nvSpPr>
        <p:spPr>
          <a:xfrm>
            <a:off x="8366760" y="3758184"/>
            <a:ext cx="1623060" cy="585216"/>
          </a:xfrm>
          <a:prstGeom prst="rect">
            <a:avLst/>
          </a:prstGeom>
          <a:solidFill>
            <a:srgbClr val="F8FAFD"/>
          </a:solidFill>
          <a:ln w="12700">
            <a:solidFill>
              <a:srgbClr val="D9E2EC"/>
            </a:solidFill>
            <a:prstDash val="solid"/>
          </a:ln>
        </p:spPr>
      </p:sp>
      <p:sp>
        <p:nvSpPr>
          <p:cNvPr id="25" name="Text 23"/>
          <p:cNvSpPr/>
          <p:nvPr/>
        </p:nvSpPr>
        <p:spPr>
          <a:xfrm>
            <a:off x="8403336" y="3803904"/>
            <a:ext cx="1549908" cy="521208"/>
          </a:xfrm>
          <a:prstGeom prst="rect">
            <a:avLst/>
          </a:prstGeom>
          <a:noFill/>
          <a:ln/>
        </p:spPr>
        <p:txBody>
          <a:bodyPr wrap="square" lIns="0" tIns="0" rIns="0" bIns="0" rtlCol="0" anchor="ctr"/>
          <a:lstStyle/>
          <a:p>
            <a:pPr algn="ctr" indent="0" marL="0">
              <a:buNone/>
            </a:pPr>
            <a:r>
              <a:rPr lang="en-US" sz="1150" dirty="0">
                <a:solidFill>
                  <a:srgbClr val="1F2937"/>
                </a:solidFill>
              </a:rPr>
              <a:t>email</a:t>
            </a:r>
            <a:endParaRPr lang="en-US" sz="1150" dirty="0"/>
          </a:p>
        </p:txBody>
      </p:sp>
      <p:sp>
        <p:nvSpPr>
          <p:cNvPr id="26" name="Shape 24"/>
          <p:cNvSpPr/>
          <p:nvPr/>
        </p:nvSpPr>
        <p:spPr>
          <a:xfrm>
            <a:off x="9989820" y="3758184"/>
            <a:ext cx="1623060" cy="585216"/>
          </a:xfrm>
          <a:prstGeom prst="rect">
            <a:avLst/>
          </a:prstGeom>
          <a:solidFill>
            <a:srgbClr val="F8FAFD"/>
          </a:solidFill>
          <a:ln w="12700">
            <a:solidFill>
              <a:srgbClr val="D9E2EC"/>
            </a:solidFill>
            <a:prstDash val="solid"/>
          </a:ln>
        </p:spPr>
      </p:sp>
      <p:sp>
        <p:nvSpPr>
          <p:cNvPr id="27" name="Text 25"/>
          <p:cNvSpPr/>
          <p:nvPr/>
        </p:nvSpPr>
        <p:spPr>
          <a:xfrm>
            <a:off x="10026396" y="3803904"/>
            <a:ext cx="1549908" cy="521208"/>
          </a:xfrm>
          <a:prstGeom prst="rect">
            <a:avLst/>
          </a:prstGeom>
          <a:noFill/>
          <a:ln/>
        </p:spPr>
        <p:txBody>
          <a:bodyPr wrap="square" lIns="0" tIns="0" rIns="0" bIns="0" rtlCol="0" anchor="ctr"/>
          <a:lstStyle/>
          <a:p>
            <a:pPr algn="ctr" indent="0" marL="0">
              <a:buNone/>
            </a:pPr>
            <a:r>
              <a:rPr lang="en-US" sz="1150" dirty="0">
                <a:solidFill>
                  <a:srgbClr val="1F2937"/>
                </a:solidFill>
              </a:rPr>
              <a:t>texto</a:t>
            </a:r>
            <a:endParaRPr lang="en-US" sz="115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Domínios</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O CONJUNTO DE VALORES PERMITIDOS</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- 08</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O domínio define quais valores são semanticamente aceitáveis para um atributo. Ele envolve tipo, formato e regras do negócio. Uma nota pode pertencer ao domínio de números entre 0 e 10; uma UF pode aceitar siglas específicas. Tipos SQL ajudam, mas restrições como CHECK tornam o domínio mais próximo da regra real.</a:t>
            </a:r>
            <a:endParaRPr lang="en-US" sz="2400" dirty="0"/>
          </a:p>
        </p:txBody>
      </p:sp>
      <p:sp>
        <p:nvSpPr>
          <p:cNvPr id="7" name="Shape 5"/>
          <p:cNvSpPr/>
          <p:nvPr/>
        </p:nvSpPr>
        <p:spPr>
          <a:xfrm>
            <a:off x="8412480" y="1417320"/>
            <a:ext cx="3108960" cy="1051560"/>
          </a:xfrm>
          <a:prstGeom prst="roundRect">
            <a:avLst>
              <a:gd name="adj" fmla="val 6957"/>
            </a:avLst>
          </a:prstGeom>
          <a:solidFill>
            <a:srgbClr val="E7F7F5"/>
          </a:solidFill>
          <a:ln w="12700">
            <a:solidFill>
              <a:srgbClr val="C6D2E1"/>
            </a:solidFill>
            <a:prstDash val="solid"/>
          </a:ln>
        </p:spPr>
      </p:sp>
      <p:sp>
        <p:nvSpPr>
          <p:cNvPr id="8" name="Shape 6"/>
          <p:cNvSpPr/>
          <p:nvPr/>
        </p:nvSpPr>
        <p:spPr>
          <a:xfrm>
            <a:off x="8430768" y="1435608"/>
            <a:ext cx="73152" cy="1014984"/>
          </a:xfrm>
          <a:prstGeom prst="rect">
            <a:avLst/>
          </a:prstGeom>
          <a:solidFill>
            <a:srgbClr val="0F766E"/>
          </a:solidFill>
          <a:ln w="12700">
            <a:solidFill>
              <a:srgbClr val="0F766E"/>
            </a:solidFill>
            <a:prstDash val="solid"/>
          </a:ln>
        </p:spPr>
      </p:sp>
      <p:sp>
        <p:nvSpPr>
          <p:cNvPr id="9" name="Text 7"/>
          <p:cNvSpPr/>
          <p:nvPr/>
        </p:nvSpPr>
        <p:spPr>
          <a:xfrm>
            <a:off x="8613648" y="1581912"/>
            <a:ext cx="2761488" cy="256032"/>
          </a:xfrm>
          <a:prstGeom prst="rect">
            <a:avLst/>
          </a:prstGeom>
          <a:noFill/>
          <a:ln/>
        </p:spPr>
        <p:txBody>
          <a:bodyPr wrap="square" lIns="0" tIns="0" rIns="0" bIns="0" rtlCol="0" anchor="ctr"/>
          <a:lstStyle/>
          <a:p>
            <a:pPr indent="0" marL="0">
              <a:buNone/>
            </a:pPr>
            <a:r>
              <a:rPr lang="en-US" sz="1600" b="1" dirty="0">
                <a:solidFill>
                  <a:srgbClr val="0B1F33"/>
                </a:solidFill>
              </a:rPr>
              <a:t>DOMÍNIO: NOTA</a:t>
            </a:r>
            <a:endParaRPr lang="en-US" sz="1600" dirty="0"/>
          </a:p>
        </p:txBody>
      </p:sp>
      <p:sp>
        <p:nvSpPr>
          <p:cNvPr id="10" name="Text 8"/>
          <p:cNvSpPr/>
          <p:nvPr/>
        </p:nvSpPr>
        <p:spPr>
          <a:xfrm>
            <a:off x="8613648" y="1947672"/>
            <a:ext cx="2761488" cy="393192"/>
          </a:xfrm>
          <a:prstGeom prst="rect">
            <a:avLst/>
          </a:prstGeom>
          <a:noFill/>
          <a:ln/>
        </p:spPr>
        <p:txBody>
          <a:bodyPr wrap="square" lIns="254" tIns="254" rIns="254" bIns="254" rtlCol="0" anchor="ctr"/>
          <a:lstStyle/>
          <a:p>
            <a:pPr indent="0" marL="0">
              <a:buNone/>
            </a:pPr>
            <a:r>
              <a:rPr lang="en-US" sz="1250" dirty="0">
                <a:solidFill>
                  <a:srgbClr val="1F2937"/>
                </a:solidFill>
              </a:rPr>
              <a:t>0.0 ≤ valor ≤ 10.0</a:t>
            </a:r>
            <a:endParaRPr lang="en-US" sz="1250" dirty="0"/>
          </a:p>
        </p:txBody>
      </p:sp>
      <p:sp>
        <p:nvSpPr>
          <p:cNvPr id="11" name="Shape 9"/>
          <p:cNvSpPr/>
          <p:nvPr/>
        </p:nvSpPr>
        <p:spPr>
          <a:xfrm>
            <a:off x="8778240" y="2880360"/>
            <a:ext cx="594360" cy="594360"/>
          </a:xfrm>
          <a:prstGeom prst="ellipse">
            <a:avLst/>
          </a:prstGeom>
          <a:solidFill>
            <a:srgbClr val="DDF7F2"/>
          </a:solidFill>
          <a:ln w="12700">
            <a:solidFill>
              <a:srgbClr val="0F766E"/>
            </a:solidFill>
            <a:prstDash val="solid"/>
          </a:ln>
        </p:spPr>
      </p:sp>
      <p:sp>
        <p:nvSpPr>
          <p:cNvPr id="12" name="Shape 10"/>
          <p:cNvSpPr/>
          <p:nvPr/>
        </p:nvSpPr>
        <p:spPr>
          <a:xfrm>
            <a:off x="9601200" y="2880360"/>
            <a:ext cx="594360" cy="594360"/>
          </a:xfrm>
          <a:prstGeom prst="ellipse">
            <a:avLst/>
          </a:prstGeom>
          <a:solidFill>
            <a:srgbClr val="DDF7F2"/>
          </a:solidFill>
          <a:ln w="12700">
            <a:solidFill>
              <a:srgbClr val="0F766E"/>
            </a:solidFill>
            <a:prstDash val="solid"/>
          </a:ln>
        </p:spPr>
      </p:sp>
      <p:sp>
        <p:nvSpPr>
          <p:cNvPr id="13" name="Shape 11"/>
          <p:cNvSpPr/>
          <p:nvPr/>
        </p:nvSpPr>
        <p:spPr>
          <a:xfrm>
            <a:off x="10424160" y="2880360"/>
            <a:ext cx="594360" cy="594360"/>
          </a:xfrm>
          <a:prstGeom prst="ellipse">
            <a:avLst/>
          </a:prstGeom>
          <a:solidFill>
            <a:srgbClr val="DDF7F2"/>
          </a:solidFill>
          <a:ln w="12700">
            <a:solidFill>
              <a:srgbClr val="0F766E"/>
            </a:solidFill>
            <a:prstDash val="solid"/>
          </a:ln>
        </p:spPr>
      </p:sp>
      <p:sp>
        <p:nvSpPr>
          <p:cNvPr id="14" name="Text 12"/>
          <p:cNvSpPr/>
          <p:nvPr/>
        </p:nvSpPr>
        <p:spPr>
          <a:xfrm>
            <a:off x="8778240" y="3072384"/>
            <a:ext cx="594360" cy="164592"/>
          </a:xfrm>
          <a:prstGeom prst="rect">
            <a:avLst/>
          </a:prstGeom>
          <a:noFill/>
          <a:ln/>
        </p:spPr>
        <p:txBody>
          <a:bodyPr wrap="square" lIns="0" tIns="0" rIns="0" bIns="0" rtlCol="0" anchor="ctr"/>
          <a:lstStyle/>
          <a:p>
            <a:pPr algn="ctr" indent="0" marL="0">
              <a:buNone/>
            </a:pPr>
            <a:r>
              <a:rPr lang="en-US" sz="1250" b="1" dirty="0">
                <a:solidFill>
                  <a:srgbClr val="0F766E"/>
                </a:solidFill>
              </a:rPr>
              <a:t>8.5</a:t>
            </a:r>
            <a:endParaRPr lang="en-US" sz="1250" dirty="0"/>
          </a:p>
        </p:txBody>
      </p:sp>
      <p:sp>
        <p:nvSpPr>
          <p:cNvPr id="15" name="Text 13"/>
          <p:cNvSpPr/>
          <p:nvPr/>
        </p:nvSpPr>
        <p:spPr>
          <a:xfrm>
            <a:off x="9601200" y="3072384"/>
            <a:ext cx="594360" cy="164592"/>
          </a:xfrm>
          <a:prstGeom prst="rect">
            <a:avLst/>
          </a:prstGeom>
          <a:noFill/>
          <a:ln/>
        </p:spPr>
        <p:txBody>
          <a:bodyPr wrap="square" lIns="0" tIns="0" rIns="0" bIns="0" rtlCol="0" anchor="ctr"/>
          <a:lstStyle/>
          <a:p>
            <a:pPr algn="ctr" indent="0" marL="0">
              <a:buNone/>
            </a:pPr>
            <a:r>
              <a:rPr lang="en-US" sz="1250" b="1" dirty="0">
                <a:solidFill>
                  <a:srgbClr val="0F766E"/>
                </a:solidFill>
              </a:rPr>
              <a:t>10.0</a:t>
            </a:r>
            <a:endParaRPr lang="en-US" sz="1250" dirty="0"/>
          </a:p>
        </p:txBody>
      </p:sp>
      <p:sp>
        <p:nvSpPr>
          <p:cNvPr id="16" name="Text 14"/>
          <p:cNvSpPr/>
          <p:nvPr/>
        </p:nvSpPr>
        <p:spPr>
          <a:xfrm>
            <a:off x="10424160" y="3072384"/>
            <a:ext cx="594360" cy="164592"/>
          </a:xfrm>
          <a:prstGeom prst="rect">
            <a:avLst/>
          </a:prstGeom>
          <a:noFill/>
          <a:ln/>
        </p:spPr>
        <p:txBody>
          <a:bodyPr wrap="square" lIns="0" tIns="0" rIns="0" bIns="0" rtlCol="0" anchor="ctr"/>
          <a:lstStyle/>
          <a:p>
            <a:pPr algn="ctr" indent="0" marL="0">
              <a:buNone/>
            </a:pPr>
            <a:r>
              <a:rPr lang="en-US" sz="1250" b="1" dirty="0">
                <a:solidFill>
                  <a:srgbClr val="0F766E"/>
                </a:solidFill>
              </a:rPr>
              <a:t>7.2</a:t>
            </a:r>
            <a:endParaRPr lang="en-US" sz="1250" dirty="0"/>
          </a:p>
        </p:txBody>
      </p:sp>
      <p:sp>
        <p:nvSpPr>
          <p:cNvPr id="17" name="Shape 15"/>
          <p:cNvSpPr/>
          <p:nvPr/>
        </p:nvSpPr>
        <p:spPr>
          <a:xfrm>
            <a:off x="9601200" y="4160520"/>
            <a:ext cx="868680" cy="868680"/>
          </a:xfrm>
          <a:prstGeom prst="ellipse">
            <a:avLst/>
          </a:prstGeom>
          <a:solidFill>
            <a:srgbClr val="FDECEC"/>
          </a:solidFill>
          <a:ln w="12700">
            <a:solidFill>
              <a:srgbClr val="DC2626"/>
            </a:solidFill>
            <a:prstDash val="solid"/>
          </a:ln>
        </p:spPr>
      </p:sp>
      <p:sp>
        <p:nvSpPr>
          <p:cNvPr id="18" name="Text 16"/>
          <p:cNvSpPr/>
          <p:nvPr/>
        </p:nvSpPr>
        <p:spPr>
          <a:xfrm>
            <a:off x="9601200" y="4471416"/>
            <a:ext cx="868680" cy="164592"/>
          </a:xfrm>
          <a:prstGeom prst="rect">
            <a:avLst/>
          </a:prstGeom>
          <a:noFill/>
          <a:ln/>
        </p:spPr>
        <p:txBody>
          <a:bodyPr wrap="square" lIns="0" tIns="0" rIns="0" bIns="0" rtlCol="0" anchor="ctr"/>
          <a:lstStyle/>
          <a:p>
            <a:pPr algn="ctr" indent="0" marL="0">
              <a:buNone/>
            </a:pPr>
            <a:r>
              <a:rPr lang="en-US" sz="1300" b="1" dirty="0">
                <a:solidFill>
                  <a:srgbClr val="DC2626"/>
                </a:solidFill>
              </a:rPr>
              <a:t>12.0</a:t>
            </a:r>
            <a:endParaRPr lang="en-US" sz="1300" dirty="0"/>
          </a:p>
        </p:txBody>
      </p:sp>
      <p:sp>
        <p:nvSpPr>
          <p:cNvPr id="19" name="Text 17"/>
          <p:cNvSpPr/>
          <p:nvPr/>
        </p:nvSpPr>
        <p:spPr>
          <a:xfrm>
            <a:off x="8887968" y="5166360"/>
            <a:ext cx="2286000" cy="228600"/>
          </a:xfrm>
          <a:prstGeom prst="rect">
            <a:avLst/>
          </a:prstGeom>
          <a:noFill/>
          <a:ln/>
        </p:spPr>
        <p:txBody>
          <a:bodyPr wrap="square" lIns="0" tIns="0" rIns="0" bIns="0" rtlCol="0" anchor="ctr"/>
          <a:lstStyle/>
          <a:p>
            <a:pPr algn="ctr" indent="0" marL="0">
              <a:buNone/>
            </a:pPr>
            <a:r>
              <a:rPr lang="en-US" sz="1300" dirty="0">
                <a:solidFill>
                  <a:srgbClr val="DC2626"/>
                </a:solidFill>
              </a:rPr>
              <a:t>fora do domínio</a:t>
            </a:r>
            <a:endParaRPr lang="en-US" sz="13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Tuplas</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AS OCORRÊNCIAS DE UMA RELAÇÃO</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- 09</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Tupla é um conjunto ordenado de valores que representa uma ocorrência da relação. Em uma tabela ALUNO, cada linha descreve um aluno específico. Todos os valores da tupla devem respeitar os domínios de seus atributos e as restrições definidas. A identificação correta de cada tupla será garantida pelas chaves.</a:t>
            </a:r>
            <a:endParaRPr lang="en-US" sz="2400" dirty="0"/>
          </a:p>
        </p:txBody>
      </p:sp>
      <p:sp>
        <p:nvSpPr>
          <p:cNvPr id="7" name="Shape 5"/>
          <p:cNvSpPr/>
          <p:nvPr/>
        </p:nvSpPr>
        <p:spPr>
          <a:xfrm>
            <a:off x="8366760" y="1417320"/>
            <a:ext cx="3246120" cy="2514600"/>
          </a:xfrm>
          <a:prstGeom prst="roundRect">
            <a:avLst>
              <a:gd name="adj" fmla="val 1818"/>
            </a:avLst>
          </a:prstGeom>
          <a:solidFill>
            <a:srgbClr val="FFFFFF"/>
          </a:solidFill>
          <a:ln w="12700">
            <a:solidFill>
              <a:srgbClr val="C9D4E3"/>
            </a:solidFill>
            <a:prstDash val="solid"/>
          </a:ln>
        </p:spPr>
      </p:sp>
      <p:sp>
        <p:nvSpPr>
          <p:cNvPr id="8" name="Shape 6"/>
          <p:cNvSpPr/>
          <p:nvPr/>
        </p:nvSpPr>
        <p:spPr>
          <a:xfrm>
            <a:off x="8366760" y="1417320"/>
            <a:ext cx="1082040" cy="628650"/>
          </a:xfrm>
          <a:prstGeom prst="rect">
            <a:avLst/>
          </a:prstGeom>
          <a:solidFill>
            <a:srgbClr val="0F766E"/>
          </a:solidFill>
          <a:ln w="12700">
            <a:solidFill>
              <a:srgbClr val="FFFFFF"/>
            </a:solidFill>
            <a:prstDash val="solid"/>
          </a:ln>
        </p:spPr>
      </p:sp>
      <p:sp>
        <p:nvSpPr>
          <p:cNvPr id="9" name="Text 7"/>
          <p:cNvSpPr/>
          <p:nvPr/>
        </p:nvSpPr>
        <p:spPr>
          <a:xfrm>
            <a:off x="8403336" y="1472184"/>
            <a:ext cx="1008888" cy="555498"/>
          </a:xfrm>
          <a:prstGeom prst="rect">
            <a:avLst/>
          </a:prstGeom>
          <a:noFill/>
          <a:ln/>
        </p:spPr>
        <p:txBody>
          <a:bodyPr wrap="square" lIns="0" tIns="0" rIns="0" bIns="0" rtlCol="0" anchor="ctr"/>
          <a:lstStyle/>
          <a:p>
            <a:pPr algn="ctr" indent="0" marL="0">
              <a:buNone/>
            </a:pPr>
            <a:r>
              <a:rPr lang="en-US" sz="1200" b="1" dirty="0">
                <a:solidFill>
                  <a:srgbClr val="FFFFFF"/>
                </a:solidFill>
              </a:rPr>
              <a:t>id</a:t>
            </a:r>
            <a:endParaRPr lang="en-US" sz="1200" dirty="0"/>
          </a:p>
        </p:txBody>
      </p:sp>
      <p:sp>
        <p:nvSpPr>
          <p:cNvPr id="10" name="Shape 8"/>
          <p:cNvSpPr/>
          <p:nvPr/>
        </p:nvSpPr>
        <p:spPr>
          <a:xfrm>
            <a:off x="9448800" y="1417320"/>
            <a:ext cx="1082040" cy="628650"/>
          </a:xfrm>
          <a:prstGeom prst="rect">
            <a:avLst/>
          </a:prstGeom>
          <a:solidFill>
            <a:srgbClr val="0F766E"/>
          </a:solidFill>
          <a:ln w="12700">
            <a:solidFill>
              <a:srgbClr val="FFFFFF"/>
            </a:solidFill>
            <a:prstDash val="solid"/>
          </a:ln>
        </p:spPr>
      </p:sp>
      <p:sp>
        <p:nvSpPr>
          <p:cNvPr id="11" name="Text 9"/>
          <p:cNvSpPr/>
          <p:nvPr/>
        </p:nvSpPr>
        <p:spPr>
          <a:xfrm>
            <a:off x="9485376" y="1472184"/>
            <a:ext cx="1008888" cy="555498"/>
          </a:xfrm>
          <a:prstGeom prst="rect">
            <a:avLst/>
          </a:prstGeom>
          <a:noFill/>
          <a:ln/>
        </p:spPr>
        <p:txBody>
          <a:bodyPr wrap="square" lIns="0" tIns="0" rIns="0" bIns="0" rtlCol="0" anchor="ctr"/>
          <a:lstStyle/>
          <a:p>
            <a:pPr algn="ctr" indent="0" marL="0">
              <a:buNone/>
            </a:pPr>
            <a:r>
              <a:rPr lang="en-US" sz="1200" b="1" dirty="0">
                <a:solidFill>
                  <a:srgbClr val="FFFFFF"/>
                </a:solidFill>
              </a:rPr>
              <a:t>nome</a:t>
            </a:r>
            <a:endParaRPr lang="en-US" sz="1200" dirty="0"/>
          </a:p>
        </p:txBody>
      </p:sp>
      <p:sp>
        <p:nvSpPr>
          <p:cNvPr id="12" name="Shape 10"/>
          <p:cNvSpPr/>
          <p:nvPr/>
        </p:nvSpPr>
        <p:spPr>
          <a:xfrm>
            <a:off x="10530840" y="1417320"/>
            <a:ext cx="1082040" cy="628650"/>
          </a:xfrm>
          <a:prstGeom prst="rect">
            <a:avLst/>
          </a:prstGeom>
          <a:solidFill>
            <a:srgbClr val="0F766E"/>
          </a:solidFill>
          <a:ln w="12700">
            <a:solidFill>
              <a:srgbClr val="FFFFFF"/>
            </a:solidFill>
            <a:prstDash val="solid"/>
          </a:ln>
        </p:spPr>
      </p:sp>
      <p:sp>
        <p:nvSpPr>
          <p:cNvPr id="13" name="Text 11"/>
          <p:cNvSpPr/>
          <p:nvPr/>
        </p:nvSpPr>
        <p:spPr>
          <a:xfrm>
            <a:off x="10567416" y="1472184"/>
            <a:ext cx="1008888" cy="555498"/>
          </a:xfrm>
          <a:prstGeom prst="rect">
            <a:avLst/>
          </a:prstGeom>
          <a:noFill/>
          <a:ln/>
        </p:spPr>
        <p:txBody>
          <a:bodyPr wrap="square" lIns="0" tIns="0" rIns="0" bIns="0" rtlCol="0" anchor="ctr"/>
          <a:lstStyle/>
          <a:p>
            <a:pPr algn="ctr" indent="0" marL="0">
              <a:buNone/>
            </a:pPr>
            <a:r>
              <a:rPr lang="en-US" sz="1200" b="1" dirty="0">
                <a:solidFill>
                  <a:srgbClr val="FFFFFF"/>
                </a:solidFill>
              </a:rPr>
              <a:t>curso</a:t>
            </a:r>
            <a:endParaRPr lang="en-US" sz="1200" dirty="0"/>
          </a:p>
        </p:txBody>
      </p:sp>
      <p:sp>
        <p:nvSpPr>
          <p:cNvPr id="14" name="Shape 12"/>
          <p:cNvSpPr/>
          <p:nvPr/>
        </p:nvSpPr>
        <p:spPr>
          <a:xfrm>
            <a:off x="8366760" y="2045970"/>
            <a:ext cx="1082040" cy="628650"/>
          </a:xfrm>
          <a:prstGeom prst="rect">
            <a:avLst/>
          </a:prstGeom>
          <a:solidFill>
            <a:srgbClr val="FFFFFF"/>
          </a:solidFill>
          <a:ln w="12700">
            <a:solidFill>
              <a:srgbClr val="D9E2EC"/>
            </a:solidFill>
            <a:prstDash val="solid"/>
          </a:ln>
        </p:spPr>
      </p:sp>
      <p:sp>
        <p:nvSpPr>
          <p:cNvPr id="15" name="Text 13"/>
          <p:cNvSpPr/>
          <p:nvPr/>
        </p:nvSpPr>
        <p:spPr>
          <a:xfrm>
            <a:off x="8403336" y="2091690"/>
            <a:ext cx="1008888" cy="564642"/>
          </a:xfrm>
          <a:prstGeom prst="rect">
            <a:avLst/>
          </a:prstGeom>
          <a:noFill/>
          <a:ln/>
        </p:spPr>
        <p:txBody>
          <a:bodyPr wrap="square" lIns="0" tIns="0" rIns="0" bIns="0" rtlCol="0" anchor="ctr"/>
          <a:lstStyle/>
          <a:p>
            <a:pPr algn="ctr" indent="0" marL="0">
              <a:buNone/>
            </a:pPr>
            <a:r>
              <a:rPr lang="en-US" sz="1100" dirty="0">
                <a:solidFill>
                  <a:srgbClr val="1F2937"/>
                </a:solidFill>
              </a:rPr>
              <a:t>101</a:t>
            </a:r>
            <a:endParaRPr lang="en-US" sz="1100" dirty="0"/>
          </a:p>
        </p:txBody>
      </p:sp>
      <p:sp>
        <p:nvSpPr>
          <p:cNvPr id="16" name="Shape 14"/>
          <p:cNvSpPr/>
          <p:nvPr/>
        </p:nvSpPr>
        <p:spPr>
          <a:xfrm>
            <a:off x="9448800" y="2045970"/>
            <a:ext cx="1082040" cy="628650"/>
          </a:xfrm>
          <a:prstGeom prst="rect">
            <a:avLst/>
          </a:prstGeom>
          <a:solidFill>
            <a:srgbClr val="FFFFFF"/>
          </a:solidFill>
          <a:ln w="12700">
            <a:solidFill>
              <a:srgbClr val="D9E2EC"/>
            </a:solidFill>
            <a:prstDash val="solid"/>
          </a:ln>
        </p:spPr>
      </p:sp>
      <p:sp>
        <p:nvSpPr>
          <p:cNvPr id="17" name="Text 15"/>
          <p:cNvSpPr/>
          <p:nvPr/>
        </p:nvSpPr>
        <p:spPr>
          <a:xfrm>
            <a:off x="9485376" y="2091690"/>
            <a:ext cx="1008888" cy="564642"/>
          </a:xfrm>
          <a:prstGeom prst="rect">
            <a:avLst/>
          </a:prstGeom>
          <a:noFill/>
          <a:ln/>
        </p:spPr>
        <p:txBody>
          <a:bodyPr wrap="square" lIns="0" tIns="0" rIns="0" bIns="0" rtlCol="0" anchor="ctr"/>
          <a:lstStyle/>
          <a:p>
            <a:pPr algn="ctr" indent="0" marL="0">
              <a:buNone/>
            </a:pPr>
            <a:r>
              <a:rPr lang="en-US" sz="1100" dirty="0">
                <a:solidFill>
                  <a:srgbClr val="1F2937"/>
                </a:solidFill>
              </a:rPr>
              <a:t>Ana</a:t>
            </a:r>
            <a:endParaRPr lang="en-US" sz="1100" dirty="0"/>
          </a:p>
        </p:txBody>
      </p:sp>
      <p:sp>
        <p:nvSpPr>
          <p:cNvPr id="18" name="Shape 16"/>
          <p:cNvSpPr/>
          <p:nvPr/>
        </p:nvSpPr>
        <p:spPr>
          <a:xfrm>
            <a:off x="10530840" y="2045970"/>
            <a:ext cx="1082040" cy="628650"/>
          </a:xfrm>
          <a:prstGeom prst="rect">
            <a:avLst/>
          </a:prstGeom>
          <a:solidFill>
            <a:srgbClr val="FFFFFF"/>
          </a:solidFill>
          <a:ln w="12700">
            <a:solidFill>
              <a:srgbClr val="D9E2EC"/>
            </a:solidFill>
            <a:prstDash val="solid"/>
          </a:ln>
        </p:spPr>
      </p:sp>
      <p:sp>
        <p:nvSpPr>
          <p:cNvPr id="19" name="Text 17"/>
          <p:cNvSpPr/>
          <p:nvPr/>
        </p:nvSpPr>
        <p:spPr>
          <a:xfrm>
            <a:off x="10567416" y="2091690"/>
            <a:ext cx="1008888" cy="564642"/>
          </a:xfrm>
          <a:prstGeom prst="rect">
            <a:avLst/>
          </a:prstGeom>
          <a:noFill/>
          <a:ln/>
        </p:spPr>
        <p:txBody>
          <a:bodyPr wrap="square" lIns="0" tIns="0" rIns="0" bIns="0" rtlCol="0" anchor="ctr"/>
          <a:lstStyle/>
          <a:p>
            <a:pPr algn="ctr" indent="0" marL="0">
              <a:buNone/>
            </a:pPr>
            <a:r>
              <a:rPr lang="en-US" sz="1100" dirty="0">
                <a:solidFill>
                  <a:srgbClr val="1F2937"/>
                </a:solidFill>
              </a:rPr>
              <a:t>SI</a:t>
            </a:r>
            <a:endParaRPr lang="en-US" sz="1100" dirty="0"/>
          </a:p>
        </p:txBody>
      </p:sp>
      <p:sp>
        <p:nvSpPr>
          <p:cNvPr id="20" name="Shape 18"/>
          <p:cNvSpPr/>
          <p:nvPr/>
        </p:nvSpPr>
        <p:spPr>
          <a:xfrm>
            <a:off x="8366760" y="2674620"/>
            <a:ext cx="1082040" cy="628650"/>
          </a:xfrm>
          <a:prstGeom prst="rect">
            <a:avLst/>
          </a:prstGeom>
          <a:solidFill>
            <a:srgbClr val="F8FAFD"/>
          </a:solidFill>
          <a:ln w="12700">
            <a:solidFill>
              <a:srgbClr val="D9E2EC"/>
            </a:solidFill>
            <a:prstDash val="solid"/>
          </a:ln>
        </p:spPr>
      </p:sp>
      <p:sp>
        <p:nvSpPr>
          <p:cNvPr id="21" name="Text 19"/>
          <p:cNvSpPr/>
          <p:nvPr/>
        </p:nvSpPr>
        <p:spPr>
          <a:xfrm>
            <a:off x="8403336" y="2720340"/>
            <a:ext cx="1008888" cy="564642"/>
          </a:xfrm>
          <a:prstGeom prst="rect">
            <a:avLst/>
          </a:prstGeom>
          <a:noFill/>
          <a:ln/>
        </p:spPr>
        <p:txBody>
          <a:bodyPr wrap="square" lIns="0" tIns="0" rIns="0" bIns="0" rtlCol="0" anchor="ctr"/>
          <a:lstStyle/>
          <a:p>
            <a:pPr algn="ctr" indent="0" marL="0">
              <a:buNone/>
            </a:pPr>
            <a:r>
              <a:rPr lang="en-US" sz="1100" dirty="0">
                <a:solidFill>
                  <a:srgbClr val="1F2937"/>
                </a:solidFill>
              </a:rPr>
              <a:t>102</a:t>
            </a:r>
            <a:endParaRPr lang="en-US" sz="1100" dirty="0"/>
          </a:p>
        </p:txBody>
      </p:sp>
      <p:sp>
        <p:nvSpPr>
          <p:cNvPr id="22" name="Shape 20"/>
          <p:cNvSpPr/>
          <p:nvPr/>
        </p:nvSpPr>
        <p:spPr>
          <a:xfrm>
            <a:off x="9448800" y="2674620"/>
            <a:ext cx="1082040" cy="628650"/>
          </a:xfrm>
          <a:prstGeom prst="rect">
            <a:avLst/>
          </a:prstGeom>
          <a:solidFill>
            <a:srgbClr val="F8FAFD"/>
          </a:solidFill>
          <a:ln w="12700">
            <a:solidFill>
              <a:srgbClr val="D9E2EC"/>
            </a:solidFill>
            <a:prstDash val="solid"/>
          </a:ln>
        </p:spPr>
      </p:sp>
      <p:sp>
        <p:nvSpPr>
          <p:cNvPr id="23" name="Text 21"/>
          <p:cNvSpPr/>
          <p:nvPr/>
        </p:nvSpPr>
        <p:spPr>
          <a:xfrm>
            <a:off x="9485376" y="2720340"/>
            <a:ext cx="1008888" cy="564642"/>
          </a:xfrm>
          <a:prstGeom prst="rect">
            <a:avLst/>
          </a:prstGeom>
          <a:noFill/>
          <a:ln/>
        </p:spPr>
        <p:txBody>
          <a:bodyPr wrap="square" lIns="0" tIns="0" rIns="0" bIns="0" rtlCol="0" anchor="ctr"/>
          <a:lstStyle/>
          <a:p>
            <a:pPr algn="ctr" indent="0" marL="0">
              <a:buNone/>
            </a:pPr>
            <a:r>
              <a:rPr lang="en-US" sz="1100" dirty="0">
                <a:solidFill>
                  <a:srgbClr val="1F2937"/>
                </a:solidFill>
              </a:rPr>
              <a:t>Beto</a:t>
            </a:r>
            <a:endParaRPr lang="en-US" sz="1100" dirty="0"/>
          </a:p>
        </p:txBody>
      </p:sp>
      <p:sp>
        <p:nvSpPr>
          <p:cNvPr id="24" name="Shape 22"/>
          <p:cNvSpPr/>
          <p:nvPr/>
        </p:nvSpPr>
        <p:spPr>
          <a:xfrm>
            <a:off x="10530840" y="2674620"/>
            <a:ext cx="1082040" cy="628650"/>
          </a:xfrm>
          <a:prstGeom prst="rect">
            <a:avLst/>
          </a:prstGeom>
          <a:solidFill>
            <a:srgbClr val="F8FAFD"/>
          </a:solidFill>
          <a:ln w="12700">
            <a:solidFill>
              <a:srgbClr val="D9E2EC"/>
            </a:solidFill>
            <a:prstDash val="solid"/>
          </a:ln>
        </p:spPr>
      </p:sp>
      <p:sp>
        <p:nvSpPr>
          <p:cNvPr id="25" name="Text 23"/>
          <p:cNvSpPr/>
          <p:nvPr/>
        </p:nvSpPr>
        <p:spPr>
          <a:xfrm>
            <a:off x="10567416" y="2720340"/>
            <a:ext cx="1008888" cy="564642"/>
          </a:xfrm>
          <a:prstGeom prst="rect">
            <a:avLst/>
          </a:prstGeom>
          <a:noFill/>
          <a:ln/>
        </p:spPr>
        <p:txBody>
          <a:bodyPr wrap="square" lIns="0" tIns="0" rIns="0" bIns="0" rtlCol="0" anchor="ctr"/>
          <a:lstStyle/>
          <a:p>
            <a:pPr algn="ctr" indent="0" marL="0">
              <a:buNone/>
            </a:pPr>
            <a:r>
              <a:rPr lang="en-US" sz="1100" dirty="0">
                <a:solidFill>
                  <a:srgbClr val="1F2937"/>
                </a:solidFill>
              </a:rPr>
              <a:t>EC</a:t>
            </a:r>
            <a:endParaRPr lang="en-US" sz="1100" dirty="0"/>
          </a:p>
        </p:txBody>
      </p:sp>
      <p:sp>
        <p:nvSpPr>
          <p:cNvPr id="26" name="Shape 24"/>
          <p:cNvSpPr/>
          <p:nvPr/>
        </p:nvSpPr>
        <p:spPr>
          <a:xfrm>
            <a:off x="8366760" y="3303270"/>
            <a:ext cx="1082040" cy="628650"/>
          </a:xfrm>
          <a:prstGeom prst="rect">
            <a:avLst/>
          </a:prstGeom>
          <a:solidFill>
            <a:srgbClr val="FFFFFF"/>
          </a:solidFill>
          <a:ln w="12700">
            <a:solidFill>
              <a:srgbClr val="D9E2EC"/>
            </a:solidFill>
            <a:prstDash val="solid"/>
          </a:ln>
        </p:spPr>
      </p:sp>
      <p:sp>
        <p:nvSpPr>
          <p:cNvPr id="27" name="Text 25"/>
          <p:cNvSpPr/>
          <p:nvPr/>
        </p:nvSpPr>
        <p:spPr>
          <a:xfrm>
            <a:off x="8403336" y="3348990"/>
            <a:ext cx="1008888" cy="564642"/>
          </a:xfrm>
          <a:prstGeom prst="rect">
            <a:avLst/>
          </a:prstGeom>
          <a:noFill/>
          <a:ln/>
        </p:spPr>
        <p:txBody>
          <a:bodyPr wrap="square" lIns="0" tIns="0" rIns="0" bIns="0" rtlCol="0" anchor="ctr"/>
          <a:lstStyle/>
          <a:p>
            <a:pPr algn="ctr" indent="0" marL="0">
              <a:buNone/>
            </a:pPr>
            <a:r>
              <a:rPr lang="en-US" sz="1100" dirty="0">
                <a:solidFill>
                  <a:srgbClr val="1F2937"/>
                </a:solidFill>
              </a:rPr>
              <a:t>103</a:t>
            </a:r>
            <a:endParaRPr lang="en-US" sz="1100" dirty="0"/>
          </a:p>
        </p:txBody>
      </p:sp>
      <p:sp>
        <p:nvSpPr>
          <p:cNvPr id="28" name="Shape 26"/>
          <p:cNvSpPr/>
          <p:nvPr/>
        </p:nvSpPr>
        <p:spPr>
          <a:xfrm>
            <a:off x="9448800" y="3303270"/>
            <a:ext cx="1082040" cy="628650"/>
          </a:xfrm>
          <a:prstGeom prst="rect">
            <a:avLst/>
          </a:prstGeom>
          <a:solidFill>
            <a:srgbClr val="FFFFFF"/>
          </a:solidFill>
          <a:ln w="12700">
            <a:solidFill>
              <a:srgbClr val="D9E2EC"/>
            </a:solidFill>
            <a:prstDash val="solid"/>
          </a:ln>
        </p:spPr>
      </p:sp>
      <p:sp>
        <p:nvSpPr>
          <p:cNvPr id="29" name="Text 27"/>
          <p:cNvSpPr/>
          <p:nvPr/>
        </p:nvSpPr>
        <p:spPr>
          <a:xfrm>
            <a:off x="9485376" y="3348990"/>
            <a:ext cx="1008888" cy="564642"/>
          </a:xfrm>
          <a:prstGeom prst="rect">
            <a:avLst/>
          </a:prstGeom>
          <a:noFill/>
          <a:ln/>
        </p:spPr>
        <p:txBody>
          <a:bodyPr wrap="square" lIns="0" tIns="0" rIns="0" bIns="0" rtlCol="0" anchor="ctr"/>
          <a:lstStyle/>
          <a:p>
            <a:pPr algn="ctr" indent="0" marL="0">
              <a:buNone/>
            </a:pPr>
            <a:r>
              <a:rPr lang="en-US" sz="1100" dirty="0">
                <a:solidFill>
                  <a:srgbClr val="1F2937"/>
                </a:solidFill>
              </a:rPr>
              <a:t>Caio</a:t>
            </a:r>
            <a:endParaRPr lang="en-US" sz="1100" dirty="0"/>
          </a:p>
        </p:txBody>
      </p:sp>
      <p:sp>
        <p:nvSpPr>
          <p:cNvPr id="30" name="Shape 28"/>
          <p:cNvSpPr/>
          <p:nvPr/>
        </p:nvSpPr>
        <p:spPr>
          <a:xfrm>
            <a:off x="10530840" y="3303270"/>
            <a:ext cx="1082040" cy="628650"/>
          </a:xfrm>
          <a:prstGeom prst="rect">
            <a:avLst/>
          </a:prstGeom>
          <a:solidFill>
            <a:srgbClr val="FFFFFF"/>
          </a:solidFill>
          <a:ln w="12700">
            <a:solidFill>
              <a:srgbClr val="D9E2EC"/>
            </a:solidFill>
            <a:prstDash val="solid"/>
          </a:ln>
        </p:spPr>
      </p:sp>
      <p:sp>
        <p:nvSpPr>
          <p:cNvPr id="31" name="Text 29"/>
          <p:cNvSpPr/>
          <p:nvPr/>
        </p:nvSpPr>
        <p:spPr>
          <a:xfrm>
            <a:off x="10567416" y="3348990"/>
            <a:ext cx="1008888" cy="564642"/>
          </a:xfrm>
          <a:prstGeom prst="rect">
            <a:avLst/>
          </a:prstGeom>
          <a:noFill/>
          <a:ln/>
        </p:spPr>
        <p:txBody>
          <a:bodyPr wrap="square" lIns="0" tIns="0" rIns="0" bIns="0" rtlCol="0" anchor="ctr"/>
          <a:lstStyle/>
          <a:p>
            <a:pPr algn="ctr" indent="0" marL="0">
              <a:buNone/>
            </a:pPr>
            <a:r>
              <a:rPr lang="en-US" sz="1100" dirty="0">
                <a:solidFill>
                  <a:srgbClr val="1F2937"/>
                </a:solidFill>
              </a:rPr>
              <a:t>SI</a:t>
            </a:r>
            <a:endParaRPr lang="en-US" sz="1100" dirty="0"/>
          </a:p>
        </p:txBody>
      </p:sp>
      <p:sp>
        <p:nvSpPr>
          <p:cNvPr id="32" name="Shape 30"/>
          <p:cNvSpPr/>
          <p:nvPr/>
        </p:nvSpPr>
        <p:spPr>
          <a:xfrm>
            <a:off x="8485632" y="3154680"/>
            <a:ext cx="2999232" cy="548640"/>
          </a:xfrm>
          <a:prstGeom prst="roundRect">
            <a:avLst/>
          </a:prstGeom>
          <a:solidFill>
            <a:srgbClr val="FFF4D6">
              <a:alpha val="65000"/>
            </a:srgbClr>
          </a:solidFill>
          <a:ln w="12700">
            <a:solidFill>
              <a:srgbClr val="F59E0B"/>
            </a:solidFill>
            <a:prstDash val="solid"/>
          </a:ln>
        </p:spPr>
      </p:sp>
      <p:sp>
        <p:nvSpPr>
          <p:cNvPr id="33" name="Text 31"/>
          <p:cNvSpPr/>
          <p:nvPr/>
        </p:nvSpPr>
        <p:spPr>
          <a:xfrm>
            <a:off x="8732520" y="4297680"/>
            <a:ext cx="2468880" cy="274320"/>
          </a:xfrm>
          <a:prstGeom prst="rect">
            <a:avLst/>
          </a:prstGeom>
          <a:noFill/>
          <a:ln/>
        </p:spPr>
        <p:txBody>
          <a:bodyPr wrap="square" lIns="0" tIns="0" rIns="0" bIns="0" rtlCol="0" anchor="ctr"/>
          <a:lstStyle/>
          <a:p>
            <a:pPr algn="ctr" indent="0" marL="0">
              <a:buNone/>
            </a:pPr>
            <a:r>
              <a:rPr lang="en-US" sz="1600" b="1" dirty="0">
                <a:solidFill>
                  <a:srgbClr val="8A5600"/>
                </a:solidFill>
              </a:rPr>
              <a:t>uma linha = uma tupla</a:t>
            </a:r>
            <a:endParaRPr lang="en-US" sz="16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Grau e cardinalidade da relação</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QUANTIDADE DE ATRIBUTOS E QUANTIDADE DE TUPLAS</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- 10</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O grau de uma relação é o número de atributos de seu esquema. A cardinalidade, neste contexto, é a quantidade de tuplas presentes em uma instância. Uma relação ALUNO com quatro atributos possui grau 4; se contém três registros naquele momento, sua cardinalidade é 3. Não confunda com cardinalidade de relacionamentos do modelo ER.</a:t>
            </a:r>
            <a:endParaRPr lang="en-US" sz="2400" dirty="0"/>
          </a:p>
        </p:txBody>
      </p:sp>
      <p:sp>
        <p:nvSpPr>
          <p:cNvPr id="7" name="Shape 5"/>
          <p:cNvSpPr/>
          <p:nvPr/>
        </p:nvSpPr>
        <p:spPr>
          <a:xfrm>
            <a:off x="8339328" y="1325880"/>
            <a:ext cx="3291840" cy="1207008"/>
          </a:xfrm>
          <a:prstGeom prst="roundRect">
            <a:avLst>
              <a:gd name="adj" fmla="val 6061"/>
            </a:avLst>
          </a:prstGeom>
          <a:solidFill>
            <a:srgbClr val="EAF1FF"/>
          </a:solidFill>
          <a:ln w="12700">
            <a:solidFill>
              <a:srgbClr val="C6D2E1"/>
            </a:solidFill>
            <a:prstDash val="solid"/>
          </a:ln>
        </p:spPr>
      </p:sp>
      <p:sp>
        <p:nvSpPr>
          <p:cNvPr id="8" name="Shape 6"/>
          <p:cNvSpPr/>
          <p:nvPr/>
        </p:nvSpPr>
        <p:spPr>
          <a:xfrm>
            <a:off x="8357616" y="1344168"/>
            <a:ext cx="73152" cy="1170432"/>
          </a:xfrm>
          <a:prstGeom prst="rect">
            <a:avLst/>
          </a:prstGeom>
          <a:solidFill>
            <a:srgbClr val="2463EB"/>
          </a:solidFill>
          <a:ln w="12700">
            <a:solidFill>
              <a:srgbClr val="2463EB"/>
            </a:solidFill>
            <a:prstDash val="solid"/>
          </a:ln>
        </p:spPr>
      </p:sp>
      <p:sp>
        <p:nvSpPr>
          <p:cNvPr id="9" name="Text 7"/>
          <p:cNvSpPr/>
          <p:nvPr/>
        </p:nvSpPr>
        <p:spPr>
          <a:xfrm>
            <a:off x="8540496" y="1490472"/>
            <a:ext cx="2944368" cy="256032"/>
          </a:xfrm>
          <a:prstGeom prst="rect">
            <a:avLst/>
          </a:prstGeom>
          <a:noFill/>
          <a:ln/>
        </p:spPr>
        <p:txBody>
          <a:bodyPr wrap="square" lIns="0" tIns="0" rIns="0" bIns="0" rtlCol="0" anchor="ctr"/>
          <a:lstStyle/>
          <a:p>
            <a:pPr indent="0" marL="0">
              <a:buNone/>
            </a:pPr>
            <a:r>
              <a:rPr lang="en-US" sz="1600" b="1" dirty="0">
                <a:solidFill>
                  <a:srgbClr val="0B1F33"/>
                </a:solidFill>
              </a:rPr>
              <a:t>RELAÇÃO ALUNO</a:t>
            </a:r>
            <a:endParaRPr lang="en-US" sz="1600" dirty="0"/>
          </a:p>
        </p:txBody>
      </p:sp>
      <p:sp>
        <p:nvSpPr>
          <p:cNvPr id="10" name="Text 8"/>
          <p:cNvSpPr/>
          <p:nvPr/>
        </p:nvSpPr>
        <p:spPr>
          <a:xfrm>
            <a:off x="8540496" y="1856232"/>
            <a:ext cx="2944368" cy="548640"/>
          </a:xfrm>
          <a:prstGeom prst="rect">
            <a:avLst/>
          </a:prstGeom>
          <a:noFill/>
          <a:ln/>
        </p:spPr>
        <p:txBody>
          <a:bodyPr wrap="square" lIns="254" tIns="254" rIns="254" bIns="254" rtlCol="0" anchor="ctr"/>
          <a:lstStyle/>
          <a:p>
            <a:pPr indent="0" marL="0">
              <a:buNone/>
            </a:pPr>
            <a:r>
              <a:rPr lang="en-US" sz="1250" dirty="0">
                <a:solidFill>
                  <a:srgbClr val="1F2937"/>
                </a:solidFill>
              </a:rPr>
              <a:t>grau = 4 atributos</a:t>
            </a:r>
            <a:endParaRPr lang="en-US" sz="1250" dirty="0"/>
          </a:p>
        </p:txBody>
      </p:sp>
      <p:sp>
        <p:nvSpPr>
          <p:cNvPr id="11" name="Shape 9"/>
          <p:cNvSpPr/>
          <p:nvPr/>
        </p:nvSpPr>
        <p:spPr>
          <a:xfrm>
            <a:off x="8339328" y="2880360"/>
            <a:ext cx="3291840" cy="2194560"/>
          </a:xfrm>
          <a:prstGeom prst="roundRect">
            <a:avLst>
              <a:gd name="adj" fmla="val 2083"/>
            </a:avLst>
          </a:prstGeom>
          <a:solidFill>
            <a:srgbClr val="FFFFFF"/>
          </a:solidFill>
          <a:ln w="12700">
            <a:solidFill>
              <a:srgbClr val="C9D4E3"/>
            </a:solidFill>
            <a:prstDash val="solid"/>
          </a:ln>
        </p:spPr>
      </p:sp>
      <p:sp>
        <p:nvSpPr>
          <p:cNvPr id="12" name="Shape 10"/>
          <p:cNvSpPr/>
          <p:nvPr/>
        </p:nvSpPr>
        <p:spPr>
          <a:xfrm>
            <a:off x="8339328" y="2880360"/>
            <a:ext cx="822960" cy="548640"/>
          </a:xfrm>
          <a:prstGeom prst="rect">
            <a:avLst/>
          </a:prstGeom>
          <a:solidFill>
            <a:srgbClr val="0F766E"/>
          </a:solidFill>
          <a:ln w="12700">
            <a:solidFill>
              <a:srgbClr val="FFFFFF"/>
            </a:solidFill>
            <a:prstDash val="solid"/>
          </a:ln>
        </p:spPr>
      </p:sp>
      <p:sp>
        <p:nvSpPr>
          <p:cNvPr id="13" name="Text 11"/>
          <p:cNvSpPr/>
          <p:nvPr/>
        </p:nvSpPr>
        <p:spPr>
          <a:xfrm>
            <a:off x="8375904" y="2935224"/>
            <a:ext cx="749808" cy="475488"/>
          </a:xfrm>
          <a:prstGeom prst="rect">
            <a:avLst/>
          </a:prstGeom>
          <a:noFill/>
          <a:ln/>
        </p:spPr>
        <p:txBody>
          <a:bodyPr wrap="square" lIns="0" tIns="0" rIns="0" bIns="0" rtlCol="0" anchor="ctr"/>
          <a:lstStyle/>
          <a:p>
            <a:pPr algn="ctr" indent="0" marL="0">
              <a:buNone/>
            </a:pPr>
            <a:r>
              <a:rPr lang="en-US" sz="1200" b="1" dirty="0">
                <a:solidFill>
                  <a:srgbClr val="FFFFFF"/>
                </a:solidFill>
              </a:rPr>
              <a:t>id</a:t>
            </a:r>
            <a:endParaRPr lang="en-US" sz="1200" dirty="0"/>
          </a:p>
        </p:txBody>
      </p:sp>
      <p:sp>
        <p:nvSpPr>
          <p:cNvPr id="14" name="Shape 12"/>
          <p:cNvSpPr/>
          <p:nvPr/>
        </p:nvSpPr>
        <p:spPr>
          <a:xfrm>
            <a:off x="9162288" y="2880360"/>
            <a:ext cx="822960" cy="548640"/>
          </a:xfrm>
          <a:prstGeom prst="rect">
            <a:avLst/>
          </a:prstGeom>
          <a:solidFill>
            <a:srgbClr val="0F766E"/>
          </a:solidFill>
          <a:ln w="12700">
            <a:solidFill>
              <a:srgbClr val="FFFFFF"/>
            </a:solidFill>
            <a:prstDash val="solid"/>
          </a:ln>
        </p:spPr>
      </p:sp>
      <p:sp>
        <p:nvSpPr>
          <p:cNvPr id="15" name="Text 13"/>
          <p:cNvSpPr/>
          <p:nvPr/>
        </p:nvSpPr>
        <p:spPr>
          <a:xfrm>
            <a:off x="9198864" y="2935224"/>
            <a:ext cx="749808" cy="475488"/>
          </a:xfrm>
          <a:prstGeom prst="rect">
            <a:avLst/>
          </a:prstGeom>
          <a:noFill/>
          <a:ln/>
        </p:spPr>
        <p:txBody>
          <a:bodyPr wrap="square" lIns="0" tIns="0" rIns="0" bIns="0" rtlCol="0" anchor="ctr"/>
          <a:lstStyle/>
          <a:p>
            <a:pPr algn="ctr" indent="0" marL="0">
              <a:buNone/>
            </a:pPr>
            <a:r>
              <a:rPr lang="en-US" sz="1200" b="1" dirty="0">
                <a:solidFill>
                  <a:srgbClr val="FFFFFF"/>
                </a:solidFill>
              </a:rPr>
              <a:t>nome</a:t>
            </a:r>
            <a:endParaRPr lang="en-US" sz="1200" dirty="0"/>
          </a:p>
        </p:txBody>
      </p:sp>
      <p:sp>
        <p:nvSpPr>
          <p:cNvPr id="16" name="Shape 14"/>
          <p:cNvSpPr/>
          <p:nvPr/>
        </p:nvSpPr>
        <p:spPr>
          <a:xfrm>
            <a:off x="9985248" y="2880360"/>
            <a:ext cx="822960" cy="548640"/>
          </a:xfrm>
          <a:prstGeom prst="rect">
            <a:avLst/>
          </a:prstGeom>
          <a:solidFill>
            <a:srgbClr val="0F766E"/>
          </a:solidFill>
          <a:ln w="12700">
            <a:solidFill>
              <a:srgbClr val="FFFFFF"/>
            </a:solidFill>
            <a:prstDash val="solid"/>
          </a:ln>
        </p:spPr>
      </p:sp>
      <p:sp>
        <p:nvSpPr>
          <p:cNvPr id="17" name="Text 15"/>
          <p:cNvSpPr/>
          <p:nvPr/>
        </p:nvSpPr>
        <p:spPr>
          <a:xfrm>
            <a:off x="10021824" y="2935224"/>
            <a:ext cx="749808" cy="475488"/>
          </a:xfrm>
          <a:prstGeom prst="rect">
            <a:avLst/>
          </a:prstGeom>
          <a:noFill/>
          <a:ln/>
        </p:spPr>
        <p:txBody>
          <a:bodyPr wrap="square" lIns="0" tIns="0" rIns="0" bIns="0" rtlCol="0" anchor="ctr"/>
          <a:lstStyle/>
          <a:p>
            <a:pPr algn="ctr" indent="0" marL="0">
              <a:buNone/>
            </a:pPr>
            <a:r>
              <a:rPr lang="en-US" sz="1200" b="1" dirty="0">
                <a:solidFill>
                  <a:srgbClr val="FFFFFF"/>
                </a:solidFill>
              </a:rPr>
              <a:t>curso</a:t>
            </a:r>
            <a:endParaRPr lang="en-US" sz="1200" dirty="0"/>
          </a:p>
        </p:txBody>
      </p:sp>
      <p:sp>
        <p:nvSpPr>
          <p:cNvPr id="18" name="Shape 16"/>
          <p:cNvSpPr/>
          <p:nvPr/>
        </p:nvSpPr>
        <p:spPr>
          <a:xfrm>
            <a:off x="10808208" y="2880360"/>
            <a:ext cx="822960" cy="548640"/>
          </a:xfrm>
          <a:prstGeom prst="rect">
            <a:avLst/>
          </a:prstGeom>
          <a:solidFill>
            <a:srgbClr val="0F766E"/>
          </a:solidFill>
          <a:ln w="12700">
            <a:solidFill>
              <a:srgbClr val="FFFFFF"/>
            </a:solidFill>
            <a:prstDash val="solid"/>
          </a:ln>
        </p:spPr>
      </p:sp>
      <p:sp>
        <p:nvSpPr>
          <p:cNvPr id="19" name="Text 17"/>
          <p:cNvSpPr/>
          <p:nvPr/>
        </p:nvSpPr>
        <p:spPr>
          <a:xfrm>
            <a:off x="10844784" y="2935224"/>
            <a:ext cx="749808" cy="475488"/>
          </a:xfrm>
          <a:prstGeom prst="rect">
            <a:avLst/>
          </a:prstGeom>
          <a:noFill/>
          <a:ln/>
        </p:spPr>
        <p:txBody>
          <a:bodyPr wrap="square" lIns="0" tIns="0" rIns="0" bIns="0" rtlCol="0" anchor="ctr"/>
          <a:lstStyle/>
          <a:p>
            <a:pPr algn="ctr" indent="0" marL="0">
              <a:buNone/>
            </a:pPr>
            <a:r>
              <a:rPr lang="en-US" sz="1200" b="1" dirty="0">
                <a:solidFill>
                  <a:srgbClr val="FFFFFF"/>
                </a:solidFill>
              </a:rPr>
              <a:t>turno</a:t>
            </a:r>
            <a:endParaRPr lang="en-US" sz="1200" dirty="0"/>
          </a:p>
        </p:txBody>
      </p:sp>
      <p:sp>
        <p:nvSpPr>
          <p:cNvPr id="20" name="Shape 18"/>
          <p:cNvSpPr/>
          <p:nvPr/>
        </p:nvSpPr>
        <p:spPr>
          <a:xfrm>
            <a:off x="8339328" y="3429000"/>
            <a:ext cx="822960" cy="548640"/>
          </a:xfrm>
          <a:prstGeom prst="rect">
            <a:avLst/>
          </a:prstGeom>
          <a:solidFill>
            <a:srgbClr val="FFFFFF"/>
          </a:solidFill>
          <a:ln w="12700">
            <a:solidFill>
              <a:srgbClr val="D9E2EC"/>
            </a:solidFill>
            <a:prstDash val="solid"/>
          </a:ln>
        </p:spPr>
      </p:sp>
      <p:sp>
        <p:nvSpPr>
          <p:cNvPr id="21" name="Text 19"/>
          <p:cNvSpPr/>
          <p:nvPr/>
        </p:nvSpPr>
        <p:spPr>
          <a:xfrm>
            <a:off x="8375904" y="3474720"/>
            <a:ext cx="749808" cy="484632"/>
          </a:xfrm>
          <a:prstGeom prst="rect">
            <a:avLst/>
          </a:prstGeom>
          <a:noFill/>
          <a:ln/>
        </p:spPr>
        <p:txBody>
          <a:bodyPr wrap="square" lIns="0" tIns="0" rIns="0" bIns="0" rtlCol="0" anchor="ctr"/>
          <a:lstStyle/>
          <a:p>
            <a:pPr algn="ctr" indent="0" marL="0">
              <a:buNone/>
            </a:pPr>
            <a:r>
              <a:rPr lang="en-US" sz="1020" dirty="0">
                <a:solidFill>
                  <a:srgbClr val="1F2937"/>
                </a:solidFill>
              </a:rPr>
              <a:t>1</a:t>
            </a:r>
            <a:endParaRPr lang="en-US" sz="1020" dirty="0"/>
          </a:p>
        </p:txBody>
      </p:sp>
      <p:sp>
        <p:nvSpPr>
          <p:cNvPr id="22" name="Shape 20"/>
          <p:cNvSpPr/>
          <p:nvPr/>
        </p:nvSpPr>
        <p:spPr>
          <a:xfrm>
            <a:off x="9162288" y="3429000"/>
            <a:ext cx="822960" cy="548640"/>
          </a:xfrm>
          <a:prstGeom prst="rect">
            <a:avLst/>
          </a:prstGeom>
          <a:solidFill>
            <a:srgbClr val="FFFFFF"/>
          </a:solidFill>
          <a:ln w="12700">
            <a:solidFill>
              <a:srgbClr val="D9E2EC"/>
            </a:solidFill>
            <a:prstDash val="solid"/>
          </a:ln>
        </p:spPr>
      </p:sp>
      <p:sp>
        <p:nvSpPr>
          <p:cNvPr id="23" name="Text 21"/>
          <p:cNvSpPr/>
          <p:nvPr/>
        </p:nvSpPr>
        <p:spPr>
          <a:xfrm>
            <a:off x="9198864" y="3474720"/>
            <a:ext cx="749808" cy="484632"/>
          </a:xfrm>
          <a:prstGeom prst="rect">
            <a:avLst/>
          </a:prstGeom>
          <a:noFill/>
          <a:ln/>
        </p:spPr>
        <p:txBody>
          <a:bodyPr wrap="square" lIns="0" tIns="0" rIns="0" bIns="0" rtlCol="0" anchor="ctr"/>
          <a:lstStyle/>
          <a:p>
            <a:pPr algn="ctr" indent="0" marL="0">
              <a:buNone/>
            </a:pPr>
            <a:r>
              <a:rPr lang="en-US" sz="1020" dirty="0">
                <a:solidFill>
                  <a:srgbClr val="1F2937"/>
                </a:solidFill>
              </a:rPr>
              <a:t>Ana</a:t>
            </a:r>
            <a:endParaRPr lang="en-US" sz="1020" dirty="0"/>
          </a:p>
        </p:txBody>
      </p:sp>
      <p:sp>
        <p:nvSpPr>
          <p:cNvPr id="24" name="Shape 22"/>
          <p:cNvSpPr/>
          <p:nvPr/>
        </p:nvSpPr>
        <p:spPr>
          <a:xfrm>
            <a:off x="9985248" y="3429000"/>
            <a:ext cx="822960" cy="548640"/>
          </a:xfrm>
          <a:prstGeom prst="rect">
            <a:avLst/>
          </a:prstGeom>
          <a:solidFill>
            <a:srgbClr val="FFFFFF"/>
          </a:solidFill>
          <a:ln w="12700">
            <a:solidFill>
              <a:srgbClr val="D9E2EC"/>
            </a:solidFill>
            <a:prstDash val="solid"/>
          </a:ln>
        </p:spPr>
      </p:sp>
      <p:sp>
        <p:nvSpPr>
          <p:cNvPr id="25" name="Text 23"/>
          <p:cNvSpPr/>
          <p:nvPr/>
        </p:nvSpPr>
        <p:spPr>
          <a:xfrm>
            <a:off x="10021824" y="3474720"/>
            <a:ext cx="749808" cy="484632"/>
          </a:xfrm>
          <a:prstGeom prst="rect">
            <a:avLst/>
          </a:prstGeom>
          <a:noFill/>
          <a:ln/>
        </p:spPr>
        <p:txBody>
          <a:bodyPr wrap="square" lIns="0" tIns="0" rIns="0" bIns="0" rtlCol="0" anchor="ctr"/>
          <a:lstStyle/>
          <a:p>
            <a:pPr algn="ctr" indent="0" marL="0">
              <a:buNone/>
            </a:pPr>
            <a:r>
              <a:rPr lang="en-US" sz="1020" dirty="0">
                <a:solidFill>
                  <a:srgbClr val="1F2937"/>
                </a:solidFill>
              </a:rPr>
              <a:t>SI</a:t>
            </a:r>
            <a:endParaRPr lang="en-US" sz="1020" dirty="0"/>
          </a:p>
        </p:txBody>
      </p:sp>
      <p:sp>
        <p:nvSpPr>
          <p:cNvPr id="26" name="Shape 24"/>
          <p:cNvSpPr/>
          <p:nvPr/>
        </p:nvSpPr>
        <p:spPr>
          <a:xfrm>
            <a:off x="10808208" y="3429000"/>
            <a:ext cx="822960" cy="548640"/>
          </a:xfrm>
          <a:prstGeom prst="rect">
            <a:avLst/>
          </a:prstGeom>
          <a:solidFill>
            <a:srgbClr val="FFFFFF"/>
          </a:solidFill>
          <a:ln w="12700">
            <a:solidFill>
              <a:srgbClr val="D9E2EC"/>
            </a:solidFill>
            <a:prstDash val="solid"/>
          </a:ln>
        </p:spPr>
      </p:sp>
      <p:sp>
        <p:nvSpPr>
          <p:cNvPr id="27" name="Text 25"/>
          <p:cNvSpPr/>
          <p:nvPr/>
        </p:nvSpPr>
        <p:spPr>
          <a:xfrm>
            <a:off x="10844784" y="3474720"/>
            <a:ext cx="749808" cy="484632"/>
          </a:xfrm>
          <a:prstGeom prst="rect">
            <a:avLst/>
          </a:prstGeom>
          <a:noFill/>
          <a:ln/>
        </p:spPr>
        <p:txBody>
          <a:bodyPr wrap="square" lIns="0" tIns="0" rIns="0" bIns="0" rtlCol="0" anchor="ctr"/>
          <a:lstStyle/>
          <a:p>
            <a:pPr algn="ctr" indent="0" marL="0">
              <a:buNone/>
            </a:pPr>
            <a:r>
              <a:rPr lang="en-US" sz="1020" dirty="0">
                <a:solidFill>
                  <a:srgbClr val="1F2937"/>
                </a:solidFill>
              </a:rPr>
              <a:t>N</a:t>
            </a:r>
            <a:endParaRPr lang="en-US" sz="1020" dirty="0"/>
          </a:p>
        </p:txBody>
      </p:sp>
      <p:sp>
        <p:nvSpPr>
          <p:cNvPr id="28" name="Shape 26"/>
          <p:cNvSpPr/>
          <p:nvPr/>
        </p:nvSpPr>
        <p:spPr>
          <a:xfrm>
            <a:off x="8339328" y="3977640"/>
            <a:ext cx="822960" cy="548640"/>
          </a:xfrm>
          <a:prstGeom prst="rect">
            <a:avLst/>
          </a:prstGeom>
          <a:solidFill>
            <a:srgbClr val="F8FAFD"/>
          </a:solidFill>
          <a:ln w="12700">
            <a:solidFill>
              <a:srgbClr val="D9E2EC"/>
            </a:solidFill>
            <a:prstDash val="solid"/>
          </a:ln>
        </p:spPr>
      </p:sp>
      <p:sp>
        <p:nvSpPr>
          <p:cNvPr id="29" name="Text 27"/>
          <p:cNvSpPr/>
          <p:nvPr/>
        </p:nvSpPr>
        <p:spPr>
          <a:xfrm>
            <a:off x="8375904" y="4023360"/>
            <a:ext cx="749808" cy="484632"/>
          </a:xfrm>
          <a:prstGeom prst="rect">
            <a:avLst/>
          </a:prstGeom>
          <a:noFill/>
          <a:ln/>
        </p:spPr>
        <p:txBody>
          <a:bodyPr wrap="square" lIns="0" tIns="0" rIns="0" bIns="0" rtlCol="0" anchor="ctr"/>
          <a:lstStyle/>
          <a:p>
            <a:pPr algn="ctr" indent="0" marL="0">
              <a:buNone/>
            </a:pPr>
            <a:r>
              <a:rPr lang="en-US" sz="1020" dirty="0">
                <a:solidFill>
                  <a:srgbClr val="1F2937"/>
                </a:solidFill>
              </a:rPr>
              <a:t>2</a:t>
            </a:r>
            <a:endParaRPr lang="en-US" sz="1020" dirty="0"/>
          </a:p>
        </p:txBody>
      </p:sp>
      <p:sp>
        <p:nvSpPr>
          <p:cNvPr id="30" name="Shape 28"/>
          <p:cNvSpPr/>
          <p:nvPr/>
        </p:nvSpPr>
        <p:spPr>
          <a:xfrm>
            <a:off x="9162288" y="3977640"/>
            <a:ext cx="822960" cy="548640"/>
          </a:xfrm>
          <a:prstGeom prst="rect">
            <a:avLst/>
          </a:prstGeom>
          <a:solidFill>
            <a:srgbClr val="F8FAFD"/>
          </a:solidFill>
          <a:ln w="12700">
            <a:solidFill>
              <a:srgbClr val="D9E2EC"/>
            </a:solidFill>
            <a:prstDash val="solid"/>
          </a:ln>
        </p:spPr>
      </p:sp>
      <p:sp>
        <p:nvSpPr>
          <p:cNvPr id="31" name="Text 29"/>
          <p:cNvSpPr/>
          <p:nvPr/>
        </p:nvSpPr>
        <p:spPr>
          <a:xfrm>
            <a:off x="9198864" y="4023360"/>
            <a:ext cx="749808" cy="484632"/>
          </a:xfrm>
          <a:prstGeom prst="rect">
            <a:avLst/>
          </a:prstGeom>
          <a:noFill/>
          <a:ln/>
        </p:spPr>
        <p:txBody>
          <a:bodyPr wrap="square" lIns="0" tIns="0" rIns="0" bIns="0" rtlCol="0" anchor="ctr"/>
          <a:lstStyle/>
          <a:p>
            <a:pPr algn="ctr" indent="0" marL="0">
              <a:buNone/>
            </a:pPr>
            <a:r>
              <a:rPr lang="en-US" sz="1020" dirty="0">
                <a:solidFill>
                  <a:srgbClr val="1F2937"/>
                </a:solidFill>
              </a:rPr>
              <a:t>Beto</a:t>
            </a:r>
            <a:endParaRPr lang="en-US" sz="1020" dirty="0"/>
          </a:p>
        </p:txBody>
      </p:sp>
      <p:sp>
        <p:nvSpPr>
          <p:cNvPr id="32" name="Shape 30"/>
          <p:cNvSpPr/>
          <p:nvPr/>
        </p:nvSpPr>
        <p:spPr>
          <a:xfrm>
            <a:off x="9985248" y="3977640"/>
            <a:ext cx="822960" cy="548640"/>
          </a:xfrm>
          <a:prstGeom prst="rect">
            <a:avLst/>
          </a:prstGeom>
          <a:solidFill>
            <a:srgbClr val="F8FAFD"/>
          </a:solidFill>
          <a:ln w="12700">
            <a:solidFill>
              <a:srgbClr val="D9E2EC"/>
            </a:solidFill>
            <a:prstDash val="solid"/>
          </a:ln>
        </p:spPr>
      </p:sp>
      <p:sp>
        <p:nvSpPr>
          <p:cNvPr id="33" name="Text 31"/>
          <p:cNvSpPr/>
          <p:nvPr/>
        </p:nvSpPr>
        <p:spPr>
          <a:xfrm>
            <a:off x="10021824" y="4023360"/>
            <a:ext cx="749808" cy="484632"/>
          </a:xfrm>
          <a:prstGeom prst="rect">
            <a:avLst/>
          </a:prstGeom>
          <a:noFill/>
          <a:ln/>
        </p:spPr>
        <p:txBody>
          <a:bodyPr wrap="square" lIns="0" tIns="0" rIns="0" bIns="0" rtlCol="0" anchor="ctr"/>
          <a:lstStyle/>
          <a:p>
            <a:pPr algn="ctr" indent="0" marL="0">
              <a:buNone/>
            </a:pPr>
            <a:r>
              <a:rPr lang="en-US" sz="1020" dirty="0">
                <a:solidFill>
                  <a:srgbClr val="1F2937"/>
                </a:solidFill>
              </a:rPr>
              <a:t>EC</a:t>
            </a:r>
            <a:endParaRPr lang="en-US" sz="1020" dirty="0"/>
          </a:p>
        </p:txBody>
      </p:sp>
      <p:sp>
        <p:nvSpPr>
          <p:cNvPr id="34" name="Shape 32"/>
          <p:cNvSpPr/>
          <p:nvPr/>
        </p:nvSpPr>
        <p:spPr>
          <a:xfrm>
            <a:off x="10808208" y="3977640"/>
            <a:ext cx="822960" cy="548640"/>
          </a:xfrm>
          <a:prstGeom prst="rect">
            <a:avLst/>
          </a:prstGeom>
          <a:solidFill>
            <a:srgbClr val="F8FAFD"/>
          </a:solidFill>
          <a:ln w="12700">
            <a:solidFill>
              <a:srgbClr val="D9E2EC"/>
            </a:solidFill>
            <a:prstDash val="solid"/>
          </a:ln>
        </p:spPr>
      </p:sp>
      <p:sp>
        <p:nvSpPr>
          <p:cNvPr id="35" name="Text 33"/>
          <p:cNvSpPr/>
          <p:nvPr/>
        </p:nvSpPr>
        <p:spPr>
          <a:xfrm>
            <a:off x="10844784" y="4023360"/>
            <a:ext cx="749808" cy="484632"/>
          </a:xfrm>
          <a:prstGeom prst="rect">
            <a:avLst/>
          </a:prstGeom>
          <a:noFill/>
          <a:ln/>
        </p:spPr>
        <p:txBody>
          <a:bodyPr wrap="square" lIns="0" tIns="0" rIns="0" bIns="0" rtlCol="0" anchor="ctr"/>
          <a:lstStyle/>
          <a:p>
            <a:pPr algn="ctr" indent="0" marL="0">
              <a:buNone/>
            </a:pPr>
            <a:r>
              <a:rPr lang="en-US" sz="1020" dirty="0">
                <a:solidFill>
                  <a:srgbClr val="1F2937"/>
                </a:solidFill>
              </a:rPr>
              <a:t>M</a:t>
            </a:r>
            <a:endParaRPr lang="en-US" sz="1020" dirty="0"/>
          </a:p>
        </p:txBody>
      </p:sp>
      <p:sp>
        <p:nvSpPr>
          <p:cNvPr id="36" name="Shape 34"/>
          <p:cNvSpPr/>
          <p:nvPr/>
        </p:nvSpPr>
        <p:spPr>
          <a:xfrm>
            <a:off x="8339328" y="4526280"/>
            <a:ext cx="822960" cy="548640"/>
          </a:xfrm>
          <a:prstGeom prst="rect">
            <a:avLst/>
          </a:prstGeom>
          <a:solidFill>
            <a:srgbClr val="FFFFFF"/>
          </a:solidFill>
          <a:ln w="12700">
            <a:solidFill>
              <a:srgbClr val="D9E2EC"/>
            </a:solidFill>
            <a:prstDash val="solid"/>
          </a:ln>
        </p:spPr>
      </p:sp>
      <p:sp>
        <p:nvSpPr>
          <p:cNvPr id="37" name="Text 35"/>
          <p:cNvSpPr/>
          <p:nvPr/>
        </p:nvSpPr>
        <p:spPr>
          <a:xfrm>
            <a:off x="8375904" y="4572000"/>
            <a:ext cx="749808" cy="484632"/>
          </a:xfrm>
          <a:prstGeom prst="rect">
            <a:avLst/>
          </a:prstGeom>
          <a:noFill/>
          <a:ln/>
        </p:spPr>
        <p:txBody>
          <a:bodyPr wrap="square" lIns="0" tIns="0" rIns="0" bIns="0" rtlCol="0" anchor="ctr"/>
          <a:lstStyle/>
          <a:p>
            <a:pPr algn="ctr" indent="0" marL="0">
              <a:buNone/>
            </a:pPr>
            <a:r>
              <a:rPr lang="en-US" sz="1020" dirty="0">
                <a:solidFill>
                  <a:srgbClr val="1F2937"/>
                </a:solidFill>
              </a:rPr>
              <a:t>3</a:t>
            </a:r>
            <a:endParaRPr lang="en-US" sz="1020" dirty="0"/>
          </a:p>
        </p:txBody>
      </p:sp>
      <p:sp>
        <p:nvSpPr>
          <p:cNvPr id="38" name="Shape 36"/>
          <p:cNvSpPr/>
          <p:nvPr/>
        </p:nvSpPr>
        <p:spPr>
          <a:xfrm>
            <a:off x="9162288" y="4526280"/>
            <a:ext cx="822960" cy="548640"/>
          </a:xfrm>
          <a:prstGeom prst="rect">
            <a:avLst/>
          </a:prstGeom>
          <a:solidFill>
            <a:srgbClr val="FFFFFF"/>
          </a:solidFill>
          <a:ln w="12700">
            <a:solidFill>
              <a:srgbClr val="D9E2EC"/>
            </a:solidFill>
            <a:prstDash val="solid"/>
          </a:ln>
        </p:spPr>
      </p:sp>
      <p:sp>
        <p:nvSpPr>
          <p:cNvPr id="39" name="Text 37"/>
          <p:cNvSpPr/>
          <p:nvPr/>
        </p:nvSpPr>
        <p:spPr>
          <a:xfrm>
            <a:off x="9198864" y="4572000"/>
            <a:ext cx="749808" cy="484632"/>
          </a:xfrm>
          <a:prstGeom prst="rect">
            <a:avLst/>
          </a:prstGeom>
          <a:noFill/>
          <a:ln/>
        </p:spPr>
        <p:txBody>
          <a:bodyPr wrap="square" lIns="0" tIns="0" rIns="0" bIns="0" rtlCol="0" anchor="ctr"/>
          <a:lstStyle/>
          <a:p>
            <a:pPr algn="ctr" indent="0" marL="0">
              <a:buNone/>
            </a:pPr>
            <a:r>
              <a:rPr lang="en-US" sz="1020" dirty="0">
                <a:solidFill>
                  <a:srgbClr val="1F2937"/>
                </a:solidFill>
              </a:rPr>
              <a:t>Caio</a:t>
            </a:r>
            <a:endParaRPr lang="en-US" sz="1020" dirty="0"/>
          </a:p>
        </p:txBody>
      </p:sp>
      <p:sp>
        <p:nvSpPr>
          <p:cNvPr id="40" name="Shape 38"/>
          <p:cNvSpPr/>
          <p:nvPr/>
        </p:nvSpPr>
        <p:spPr>
          <a:xfrm>
            <a:off x="9985248" y="4526280"/>
            <a:ext cx="822960" cy="548640"/>
          </a:xfrm>
          <a:prstGeom prst="rect">
            <a:avLst/>
          </a:prstGeom>
          <a:solidFill>
            <a:srgbClr val="FFFFFF"/>
          </a:solidFill>
          <a:ln w="12700">
            <a:solidFill>
              <a:srgbClr val="D9E2EC"/>
            </a:solidFill>
            <a:prstDash val="solid"/>
          </a:ln>
        </p:spPr>
      </p:sp>
      <p:sp>
        <p:nvSpPr>
          <p:cNvPr id="41" name="Text 39"/>
          <p:cNvSpPr/>
          <p:nvPr/>
        </p:nvSpPr>
        <p:spPr>
          <a:xfrm>
            <a:off x="10021824" y="4572000"/>
            <a:ext cx="749808" cy="484632"/>
          </a:xfrm>
          <a:prstGeom prst="rect">
            <a:avLst/>
          </a:prstGeom>
          <a:noFill/>
          <a:ln/>
        </p:spPr>
        <p:txBody>
          <a:bodyPr wrap="square" lIns="0" tIns="0" rIns="0" bIns="0" rtlCol="0" anchor="ctr"/>
          <a:lstStyle/>
          <a:p>
            <a:pPr algn="ctr" indent="0" marL="0">
              <a:buNone/>
            </a:pPr>
            <a:r>
              <a:rPr lang="en-US" sz="1020" dirty="0">
                <a:solidFill>
                  <a:srgbClr val="1F2937"/>
                </a:solidFill>
              </a:rPr>
              <a:t>SI</a:t>
            </a:r>
            <a:endParaRPr lang="en-US" sz="1020" dirty="0"/>
          </a:p>
        </p:txBody>
      </p:sp>
      <p:sp>
        <p:nvSpPr>
          <p:cNvPr id="42" name="Shape 40"/>
          <p:cNvSpPr/>
          <p:nvPr/>
        </p:nvSpPr>
        <p:spPr>
          <a:xfrm>
            <a:off x="10808208" y="4526280"/>
            <a:ext cx="822960" cy="548640"/>
          </a:xfrm>
          <a:prstGeom prst="rect">
            <a:avLst/>
          </a:prstGeom>
          <a:solidFill>
            <a:srgbClr val="FFFFFF"/>
          </a:solidFill>
          <a:ln w="12700">
            <a:solidFill>
              <a:srgbClr val="D9E2EC"/>
            </a:solidFill>
            <a:prstDash val="solid"/>
          </a:ln>
        </p:spPr>
      </p:sp>
      <p:sp>
        <p:nvSpPr>
          <p:cNvPr id="43" name="Text 41"/>
          <p:cNvSpPr/>
          <p:nvPr/>
        </p:nvSpPr>
        <p:spPr>
          <a:xfrm>
            <a:off x="10844784" y="4572000"/>
            <a:ext cx="749808" cy="484632"/>
          </a:xfrm>
          <a:prstGeom prst="rect">
            <a:avLst/>
          </a:prstGeom>
          <a:noFill/>
          <a:ln/>
        </p:spPr>
        <p:txBody>
          <a:bodyPr wrap="square" lIns="0" tIns="0" rIns="0" bIns="0" rtlCol="0" anchor="ctr"/>
          <a:lstStyle/>
          <a:p>
            <a:pPr algn="ctr" indent="0" marL="0">
              <a:buNone/>
            </a:pPr>
            <a:r>
              <a:rPr lang="en-US" sz="1020" dirty="0">
                <a:solidFill>
                  <a:srgbClr val="1F2937"/>
                </a:solidFill>
              </a:rPr>
              <a:t>N</a:t>
            </a:r>
            <a:endParaRPr lang="en-US" sz="1020" dirty="0"/>
          </a:p>
        </p:txBody>
      </p:sp>
      <p:sp>
        <p:nvSpPr>
          <p:cNvPr id="44" name="Text 42"/>
          <p:cNvSpPr/>
          <p:nvPr/>
        </p:nvSpPr>
        <p:spPr>
          <a:xfrm>
            <a:off x="8412480" y="5349240"/>
            <a:ext cx="3154680" cy="274320"/>
          </a:xfrm>
          <a:prstGeom prst="rect">
            <a:avLst/>
          </a:prstGeom>
          <a:noFill/>
          <a:ln/>
        </p:spPr>
        <p:txBody>
          <a:bodyPr wrap="square" lIns="0" tIns="0" rIns="0" bIns="0" rtlCol="0" anchor="ctr"/>
          <a:lstStyle/>
          <a:p>
            <a:pPr algn="ctr" indent="0" marL="0">
              <a:buNone/>
            </a:pPr>
            <a:r>
              <a:rPr lang="en-US" sz="1500" b="1" dirty="0">
                <a:solidFill>
                  <a:srgbClr val="0F766E"/>
                </a:solidFill>
              </a:rPr>
              <a:t>cardinalidade = 3 tuplas</a:t>
            </a:r>
            <a:endParaRPr lang="en-US" sz="15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Propriedades importantes</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COMO PENSAR UMA RELAÇÃO DE FORMA CORRETA</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- 11</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Em uma relação, as tuplas representam ocorrências distintas, os atributos têm nomes definidos e cada célula deve conter um valor compatível com seu domínio. A ordem das linhas não possui significado lógico, e a ordem das colunas também não deve ser usada para atribuir semântica. O significado vem do esquema e de seus nomes.</a:t>
            </a:r>
            <a:endParaRPr lang="en-US" sz="2400" dirty="0"/>
          </a:p>
        </p:txBody>
      </p:sp>
      <p:sp>
        <p:nvSpPr>
          <p:cNvPr id="7" name="Shape 5"/>
          <p:cNvSpPr/>
          <p:nvPr/>
        </p:nvSpPr>
        <p:spPr>
          <a:xfrm>
            <a:off x="8549640" y="1490472"/>
            <a:ext cx="2971800" cy="2240280"/>
          </a:xfrm>
          <a:prstGeom prst="roundRect">
            <a:avLst>
              <a:gd name="adj" fmla="val 2041"/>
            </a:avLst>
          </a:prstGeom>
          <a:solidFill>
            <a:srgbClr val="FFFFFF"/>
          </a:solidFill>
          <a:ln w="12700">
            <a:solidFill>
              <a:srgbClr val="C9D4E3"/>
            </a:solidFill>
            <a:prstDash val="solid"/>
          </a:ln>
        </p:spPr>
      </p:sp>
      <p:sp>
        <p:nvSpPr>
          <p:cNvPr id="8" name="Shape 6"/>
          <p:cNvSpPr/>
          <p:nvPr/>
        </p:nvSpPr>
        <p:spPr>
          <a:xfrm>
            <a:off x="8549640" y="1490472"/>
            <a:ext cx="990600" cy="560070"/>
          </a:xfrm>
          <a:prstGeom prst="rect">
            <a:avLst/>
          </a:prstGeom>
          <a:solidFill>
            <a:srgbClr val="2463EB"/>
          </a:solidFill>
          <a:ln w="12700">
            <a:solidFill>
              <a:srgbClr val="FFFFFF"/>
            </a:solidFill>
            <a:prstDash val="solid"/>
          </a:ln>
        </p:spPr>
      </p:sp>
      <p:sp>
        <p:nvSpPr>
          <p:cNvPr id="9" name="Text 7"/>
          <p:cNvSpPr/>
          <p:nvPr/>
        </p:nvSpPr>
        <p:spPr>
          <a:xfrm>
            <a:off x="8586216" y="1545336"/>
            <a:ext cx="917448" cy="486918"/>
          </a:xfrm>
          <a:prstGeom prst="rect">
            <a:avLst/>
          </a:prstGeom>
          <a:noFill/>
          <a:ln/>
        </p:spPr>
        <p:txBody>
          <a:bodyPr wrap="square" lIns="0" tIns="0" rIns="0" bIns="0" rtlCol="0" anchor="ctr"/>
          <a:lstStyle/>
          <a:p>
            <a:pPr algn="ctr" indent="0" marL="0">
              <a:buNone/>
            </a:pPr>
            <a:r>
              <a:rPr lang="en-US" sz="1200" b="1" dirty="0">
                <a:solidFill>
                  <a:srgbClr val="FFFFFF"/>
                </a:solidFill>
              </a:rPr>
              <a:t>id</a:t>
            </a:r>
            <a:endParaRPr lang="en-US" sz="1200" dirty="0"/>
          </a:p>
        </p:txBody>
      </p:sp>
      <p:sp>
        <p:nvSpPr>
          <p:cNvPr id="10" name="Shape 8"/>
          <p:cNvSpPr/>
          <p:nvPr/>
        </p:nvSpPr>
        <p:spPr>
          <a:xfrm>
            <a:off x="9540240" y="1490472"/>
            <a:ext cx="990600" cy="560070"/>
          </a:xfrm>
          <a:prstGeom prst="rect">
            <a:avLst/>
          </a:prstGeom>
          <a:solidFill>
            <a:srgbClr val="2463EB"/>
          </a:solidFill>
          <a:ln w="12700">
            <a:solidFill>
              <a:srgbClr val="FFFFFF"/>
            </a:solidFill>
            <a:prstDash val="solid"/>
          </a:ln>
        </p:spPr>
      </p:sp>
      <p:sp>
        <p:nvSpPr>
          <p:cNvPr id="11" name="Text 9"/>
          <p:cNvSpPr/>
          <p:nvPr/>
        </p:nvSpPr>
        <p:spPr>
          <a:xfrm>
            <a:off x="9576816" y="1545336"/>
            <a:ext cx="917448" cy="486918"/>
          </a:xfrm>
          <a:prstGeom prst="rect">
            <a:avLst/>
          </a:prstGeom>
          <a:noFill/>
          <a:ln/>
        </p:spPr>
        <p:txBody>
          <a:bodyPr wrap="square" lIns="0" tIns="0" rIns="0" bIns="0" rtlCol="0" anchor="ctr"/>
          <a:lstStyle/>
          <a:p>
            <a:pPr algn="ctr" indent="0" marL="0">
              <a:buNone/>
            </a:pPr>
            <a:r>
              <a:rPr lang="en-US" sz="1200" b="1" dirty="0">
                <a:solidFill>
                  <a:srgbClr val="FFFFFF"/>
                </a:solidFill>
              </a:rPr>
              <a:t>nome</a:t>
            </a:r>
            <a:endParaRPr lang="en-US" sz="1200" dirty="0"/>
          </a:p>
        </p:txBody>
      </p:sp>
      <p:sp>
        <p:nvSpPr>
          <p:cNvPr id="12" name="Shape 10"/>
          <p:cNvSpPr/>
          <p:nvPr/>
        </p:nvSpPr>
        <p:spPr>
          <a:xfrm>
            <a:off x="10530840" y="1490472"/>
            <a:ext cx="990600" cy="560070"/>
          </a:xfrm>
          <a:prstGeom prst="rect">
            <a:avLst/>
          </a:prstGeom>
          <a:solidFill>
            <a:srgbClr val="2463EB"/>
          </a:solidFill>
          <a:ln w="12700">
            <a:solidFill>
              <a:srgbClr val="FFFFFF"/>
            </a:solidFill>
            <a:prstDash val="solid"/>
          </a:ln>
        </p:spPr>
      </p:sp>
      <p:sp>
        <p:nvSpPr>
          <p:cNvPr id="13" name="Text 11"/>
          <p:cNvSpPr/>
          <p:nvPr/>
        </p:nvSpPr>
        <p:spPr>
          <a:xfrm>
            <a:off x="10567416" y="1545336"/>
            <a:ext cx="917448" cy="486918"/>
          </a:xfrm>
          <a:prstGeom prst="rect">
            <a:avLst/>
          </a:prstGeom>
          <a:noFill/>
          <a:ln/>
        </p:spPr>
        <p:txBody>
          <a:bodyPr wrap="square" lIns="0" tIns="0" rIns="0" bIns="0" rtlCol="0" anchor="ctr"/>
          <a:lstStyle/>
          <a:p>
            <a:pPr algn="ctr" indent="0" marL="0">
              <a:buNone/>
            </a:pPr>
            <a:r>
              <a:rPr lang="en-US" sz="1200" b="1" dirty="0">
                <a:solidFill>
                  <a:srgbClr val="FFFFFF"/>
                </a:solidFill>
              </a:rPr>
              <a:t>curso</a:t>
            </a:r>
            <a:endParaRPr lang="en-US" sz="1200" dirty="0"/>
          </a:p>
        </p:txBody>
      </p:sp>
      <p:sp>
        <p:nvSpPr>
          <p:cNvPr id="14" name="Shape 12"/>
          <p:cNvSpPr/>
          <p:nvPr/>
        </p:nvSpPr>
        <p:spPr>
          <a:xfrm>
            <a:off x="8549640" y="2050542"/>
            <a:ext cx="990600" cy="560070"/>
          </a:xfrm>
          <a:prstGeom prst="rect">
            <a:avLst/>
          </a:prstGeom>
          <a:solidFill>
            <a:srgbClr val="FFFFFF"/>
          </a:solidFill>
          <a:ln w="12700">
            <a:solidFill>
              <a:srgbClr val="D9E2EC"/>
            </a:solidFill>
            <a:prstDash val="solid"/>
          </a:ln>
        </p:spPr>
      </p:sp>
      <p:sp>
        <p:nvSpPr>
          <p:cNvPr id="15" name="Text 13"/>
          <p:cNvSpPr/>
          <p:nvPr/>
        </p:nvSpPr>
        <p:spPr>
          <a:xfrm>
            <a:off x="8586216" y="2096262"/>
            <a:ext cx="917448" cy="496062"/>
          </a:xfrm>
          <a:prstGeom prst="rect">
            <a:avLst/>
          </a:prstGeom>
          <a:noFill/>
          <a:ln/>
        </p:spPr>
        <p:txBody>
          <a:bodyPr wrap="square" lIns="0" tIns="0" rIns="0" bIns="0" rtlCol="0" anchor="ctr"/>
          <a:lstStyle/>
          <a:p>
            <a:pPr algn="ctr" indent="0" marL="0">
              <a:buNone/>
            </a:pPr>
            <a:r>
              <a:rPr lang="en-US" sz="1150" dirty="0">
                <a:solidFill>
                  <a:srgbClr val="1F2937"/>
                </a:solidFill>
              </a:rPr>
              <a:t>1</a:t>
            </a:r>
            <a:endParaRPr lang="en-US" sz="1150" dirty="0"/>
          </a:p>
        </p:txBody>
      </p:sp>
      <p:sp>
        <p:nvSpPr>
          <p:cNvPr id="16" name="Shape 14"/>
          <p:cNvSpPr/>
          <p:nvPr/>
        </p:nvSpPr>
        <p:spPr>
          <a:xfrm>
            <a:off x="9540240" y="2050542"/>
            <a:ext cx="990600" cy="560070"/>
          </a:xfrm>
          <a:prstGeom prst="rect">
            <a:avLst/>
          </a:prstGeom>
          <a:solidFill>
            <a:srgbClr val="FFFFFF"/>
          </a:solidFill>
          <a:ln w="12700">
            <a:solidFill>
              <a:srgbClr val="D9E2EC"/>
            </a:solidFill>
            <a:prstDash val="solid"/>
          </a:ln>
        </p:spPr>
      </p:sp>
      <p:sp>
        <p:nvSpPr>
          <p:cNvPr id="17" name="Text 15"/>
          <p:cNvSpPr/>
          <p:nvPr/>
        </p:nvSpPr>
        <p:spPr>
          <a:xfrm>
            <a:off x="9576816" y="2096262"/>
            <a:ext cx="917448" cy="496062"/>
          </a:xfrm>
          <a:prstGeom prst="rect">
            <a:avLst/>
          </a:prstGeom>
          <a:noFill/>
          <a:ln/>
        </p:spPr>
        <p:txBody>
          <a:bodyPr wrap="square" lIns="0" tIns="0" rIns="0" bIns="0" rtlCol="0" anchor="ctr"/>
          <a:lstStyle/>
          <a:p>
            <a:pPr algn="ctr" indent="0" marL="0">
              <a:buNone/>
            </a:pPr>
            <a:r>
              <a:rPr lang="en-US" sz="1150" dirty="0">
                <a:solidFill>
                  <a:srgbClr val="1F2937"/>
                </a:solidFill>
              </a:rPr>
              <a:t>Ana</a:t>
            </a:r>
            <a:endParaRPr lang="en-US" sz="1150" dirty="0"/>
          </a:p>
        </p:txBody>
      </p:sp>
      <p:sp>
        <p:nvSpPr>
          <p:cNvPr id="18" name="Shape 16"/>
          <p:cNvSpPr/>
          <p:nvPr/>
        </p:nvSpPr>
        <p:spPr>
          <a:xfrm>
            <a:off x="10530840" y="2050542"/>
            <a:ext cx="990600" cy="560070"/>
          </a:xfrm>
          <a:prstGeom prst="rect">
            <a:avLst/>
          </a:prstGeom>
          <a:solidFill>
            <a:srgbClr val="FFFFFF"/>
          </a:solidFill>
          <a:ln w="12700">
            <a:solidFill>
              <a:srgbClr val="D9E2EC"/>
            </a:solidFill>
            <a:prstDash val="solid"/>
          </a:ln>
        </p:spPr>
      </p:sp>
      <p:sp>
        <p:nvSpPr>
          <p:cNvPr id="19" name="Text 17"/>
          <p:cNvSpPr/>
          <p:nvPr/>
        </p:nvSpPr>
        <p:spPr>
          <a:xfrm>
            <a:off x="10567416" y="2096262"/>
            <a:ext cx="917448" cy="496062"/>
          </a:xfrm>
          <a:prstGeom prst="rect">
            <a:avLst/>
          </a:prstGeom>
          <a:noFill/>
          <a:ln/>
        </p:spPr>
        <p:txBody>
          <a:bodyPr wrap="square" lIns="0" tIns="0" rIns="0" bIns="0" rtlCol="0" anchor="ctr"/>
          <a:lstStyle/>
          <a:p>
            <a:pPr algn="ctr" indent="0" marL="0">
              <a:buNone/>
            </a:pPr>
            <a:r>
              <a:rPr lang="en-US" sz="1150" dirty="0">
                <a:solidFill>
                  <a:srgbClr val="1F2937"/>
                </a:solidFill>
              </a:rPr>
              <a:t>SI</a:t>
            </a:r>
            <a:endParaRPr lang="en-US" sz="1150" dirty="0"/>
          </a:p>
        </p:txBody>
      </p:sp>
      <p:sp>
        <p:nvSpPr>
          <p:cNvPr id="20" name="Shape 18"/>
          <p:cNvSpPr/>
          <p:nvPr/>
        </p:nvSpPr>
        <p:spPr>
          <a:xfrm>
            <a:off x="8549640" y="2610612"/>
            <a:ext cx="990600" cy="560070"/>
          </a:xfrm>
          <a:prstGeom prst="rect">
            <a:avLst/>
          </a:prstGeom>
          <a:solidFill>
            <a:srgbClr val="F8FAFD"/>
          </a:solidFill>
          <a:ln w="12700">
            <a:solidFill>
              <a:srgbClr val="D9E2EC"/>
            </a:solidFill>
            <a:prstDash val="solid"/>
          </a:ln>
        </p:spPr>
      </p:sp>
      <p:sp>
        <p:nvSpPr>
          <p:cNvPr id="21" name="Text 19"/>
          <p:cNvSpPr/>
          <p:nvPr/>
        </p:nvSpPr>
        <p:spPr>
          <a:xfrm>
            <a:off x="8586216" y="2656332"/>
            <a:ext cx="917448" cy="496062"/>
          </a:xfrm>
          <a:prstGeom prst="rect">
            <a:avLst/>
          </a:prstGeom>
          <a:noFill/>
          <a:ln/>
        </p:spPr>
        <p:txBody>
          <a:bodyPr wrap="square" lIns="0" tIns="0" rIns="0" bIns="0" rtlCol="0" anchor="ctr"/>
          <a:lstStyle/>
          <a:p>
            <a:pPr algn="ctr" indent="0" marL="0">
              <a:buNone/>
            </a:pPr>
            <a:r>
              <a:rPr lang="en-US" sz="1150" dirty="0">
                <a:solidFill>
                  <a:srgbClr val="1F2937"/>
                </a:solidFill>
              </a:rPr>
              <a:t>2</a:t>
            </a:r>
            <a:endParaRPr lang="en-US" sz="1150" dirty="0"/>
          </a:p>
        </p:txBody>
      </p:sp>
      <p:sp>
        <p:nvSpPr>
          <p:cNvPr id="22" name="Shape 20"/>
          <p:cNvSpPr/>
          <p:nvPr/>
        </p:nvSpPr>
        <p:spPr>
          <a:xfrm>
            <a:off x="9540240" y="2610612"/>
            <a:ext cx="990600" cy="560070"/>
          </a:xfrm>
          <a:prstGeom prst="rect">
            <a:avLst/>
          </a:prstGeom>
          <a:solidFill>
            <a:srgbClr val="F8FAFD"/>
          </a:solidFill>
          <a:ln w="12700">
            <a:solidFill>
              <a:srgbClr val="D9E2EC"/>
            </a:solidFill>
            <a:prstDash val="solid"/>
          </a:ln>
        </p:spPr>
      </p:sp>
      <p:sp>
        <p:nvSpPr>
          <p:cNvPr id="23" name="Text 21"/>
          <p:cNvSpPr/>
          <p:nvPr/>
        </p:nvSpPr>
        <p:spPr>
          <a:xfrm>
            <a:off x="9576816" y="2656332"/>
            <a:ext cx="917448" cy="496062"/>
          </a:xfrm>
          <a:prstGeom prst="rect">
            <a:avLst/>
          </a:prstGeom>
          <a:noFill/>
          <a:ln/>
        </p:spPr>
        <p:txBody>
          <a:bodyPr wrap="square" lIns="0" tIns="0" rIns="0" bIns="0" rtlCol="0" anchor="ctr"/>
          <a:lstStyle/>
          <a:p>
            <a:pPr algn="ctr" indent="0" marL="0">
              <a:buNone/>
            </a:pPr>
            <a:r>
              <a:rPr lang="en-US" sz="1150" dirty="0">
                <a:solidFill>
                  <a:srgbClr val="1F2937"/>
                </a:solidFill>
              </a:rPr>
              <a:t>Beto</a:t>
            </a:r>
            <a:endParaRPr lang="en-US" sz="1150" dirty="0"/>
          </a:p>
        </p:txBody>
      </p:sp>
      <p:sp>
        <p:nvSpPr>
          <p:cNvPr id="24" name="Shape 22"/>
          <p:cNvSpPr/>
          <p:nvPr/>
        </p:nvSpPr>
        <p:spPr>
          <a:xfrm>
            <a:off x="10530840" y="2610612"/>
            <a:ext cx="990600" cy="560070"/>
          </a:xfrm>
          <a:prstGeom prst="rect">
            <a:avLst/>
          </a:prstGeom>
          <a:solidFill>
            <a:srgbClr val="F8FAFD"/>
          </a:solidFill>
          <a:ln w="12700">
            <a:solidFill>
              <a:srgbClr val="D9E2EC"/>
            </a:solidFill>
            <a:prstDash val="solid"/>
          </a:ln>
        </p:spPr>
      </p:sp>
      <p:sp>
        <p:nvSpPr>
          <p:cNvPr id="25" name="Text 23"/>
          <p:cNvSpPr/>
          <p:nvPr/>
        </p:nvSpPr>
        <p:spPr>
          <a:xfrm>
            <a:off x="10567416" y="2656332"/>
            <a:ext cx="917448" cy="496062"/>
          </a:xfrm>
          <a:prstGeom prst="rect">
            <a:avLst/>
          </a:prstGeom>
          <a:noFill/>
          <a:ln/>
        </p:spPr>
        <p:txBody>
          <a:bodyPr wrap="square" lIns="0" tIns="0" rIns="0" bIns="0" rtlCol="0" anchor="ctr"/>
          <a:lstStyle/>
          <a:p>
            <a:pPr algn="ctr" indent="0" marL="0">
              <a:buNone/>
            </a:pPr>
            <a:r>
              <a:rPr lang="en-US" sz="1150" dirty="0">
                <a:solidFill>
                  <a:srgbClr val="1F2937"/>
                </a:solidFill>
              </a:rPr>
              <a:t>EC</a:t>
            </a:r>
            <a:endParaRPr lang="en-US" sz="1150" dirty="0"/>
          </a:p>
        </p:txBody>
      </p:sp>
      <p:sp>
        <p:nvSpPr>
          <p:cNvPr id="26" name="Shape 24"/>
          <p:cNvSpPr/>
          <p:nvPr/>
        </p:nvSpPr>
        <p:spPr>
          <a:xfrm>
            <a:off x="8549640" y="3170682"/>
            <a:ext cx="990600" cy="560070"/>
          </a:xfrm>
          <a:prstGeom prst="rect">
            <a:avLst/>
          </a:prstGeom>
          <a:solidFill>
            <a:srgbClr val="FFFFFF"/>
          </a:solidFill>
          <a:ln w="12700">
            <a:solidFill>
              <a:srgbClr val="D9E2EC"/>
            </a:solidFill>
            <a:prstDash val="solid"/>
          </a:ln>
        </p:spPr>
      </p:sp>
      <p:sp>
        <p:nvSpPr>
          <p:cNvPr id="27" name="Text 25"/>
          <p:cNvSpPr/>
          <p:nvPr/>
        </p:nvSpPr>
        <p:spPr>
          <a:xfrm>
            <a:off x="8586216" y="3216402"/>
            <a:ext cx="917448" cy="496062"/>
          </a:xfrm>
          <a:prstGeom prst="rect">
            <a:avLst/>
          </a:prstGeom>
          <a:noFill/>
          <a:ln/>
        </p:spPr>
        <p:txBody>
          <a:bodyPr wrap="square" lIns="0" tIns="0" rIns="0" bIns="0" rtlCol="0" anchor="ctr"/>
          <a:lstStyle/>
          <a:p>
            <a:pPr algn="ctr" indent="0" marL="0">
              <a:buNone/>
            </a:pPr>
            <a:r>
              <a:rPr lang="en-US" sz="1150" dirty="0">
                <a:solidFill>
                  <a:srgbClr val="1F2937"/>
                </a:solidFill>
              </a:rPr>
              <a:t>3</a:t>
            </a:r>
            <a:endParaRPr lang="en-US" sz="1150" dirty="0"/>
          </a:p>
        </p:txBody>
      </p:sp>
      <p:sp>
        <p:nvSpPr>
          <p:cNvPr id="28" name="Shape 26"/>
          <p:cNvSpPr/>
          <p:nvPr/>
        </p:nvSpPr>
        <p:spPr>
          <a:xfrm>
            <a:off x="9540240" y="3170682"/>
            <a:ext cx="990600" cy="560070"/>
          </a:xfrm>
          <a:prstGeom prst="rect">
            <a:avLst/>
          </a:prstGeom>
          <a:solidFill>
            <a:srgbClr val="FFFFFF"/>
          </a:solidFill>
          <a:ln w="12700">
            <a:solidFill>
              <a:srgbClr val="D9E2EC"/>
            </a:solidFill>
            <a:prstDash val="solid"/>
          </a:ln>
        </p:spPr>
      </p:sp>
      <p:sp>
        <p:nvSpPr>
          <p:cNvPr id="29" name="Text 27"/>
          <p:cNvSpPr/>
          <p:nvPr/>
        </p:nvSpPr>
        <p:spPr>
          <a:xfrm>
            <a:off x="9576816" y="3216402"/>
            <a:ext cx="917448" cy="496062"/>
          </a:xfrm>
          <a:prstGeom prst="rect">
            <a:avLst/>
          </a:prstGeom>
          <a:noFill/>
          <a:ln/>
        </p:spPr>
        <p:txBody>
          <a:bodyPr wrap="square" lIns="0" tIns="0" rIns="0" bIns="0" rtlCol="0" anchor="ctr"/>
          <a:lstStyle/>
          <a:p>
            <a:pPr algn="ctr" indent="0" marL="0">
              <a:buNone/>
            </a:pPr>
            <a:r>
              <a:rPr lang="en-US" sz="1150" dirty="0">
                <a:solidFill>
                  <a:srgbClr val="1F2937"/>
                </a:solidFill>
              </a:rPr>
              <a:t>Caio</a:t>
            </a:r>
            <a:endParaRPr lang="en-US" sz="1150" dirty="0"/>
          </a:p>
        </p:txBody>
      </p:sp>
      <p:sp>
        <p:nvSpPr>
          <p:cNvPr id="30" name="Shape 28"/>
          <p:cNvSpPr/>
          <p:nvPr/>
        </p:nvSpPr>
        <p:spPr>
          <a:xfrm>
            <a:off x="10530840" y="3170682"/>
            <a:ext cx="990600" cy="560070"/>
          </a:xfrm>
          <a:prstGeom prst="rect">
            <a:avLst/>
          </a:prstGeom>
          <a:solidFill>
            <a:srgbClr val="FFFFFF"/>
          </a:solidFill>
          <a:ln w="12700">
            <a:solidFill>
              <a:srgbClr val="D9E2EC"/>
            </a:solidFill>
            <a:prstDash val="solid"/>
          </a:ln>
        </p:spPr>
      </p:sp>
      <p:sp>
        <p:nvSpPr>
          <p:cNvPr id="31" name="Text 29"/>
          <p:cNvSpPr/>
          <p:nvPr/>
        </p:nvSpPr>
        <p:spPr>
          <a:xfrm>
            <a:off x="10567416" y="3216402"/>
            <a:ext cx="917448" cy="496062"/>
          </a:xfrm>
          <a:prstGeom prst="rect">
            <a:avLst/>
          </a:prstGeom>
          <a:noFill/>
          <a:ln/>
        </p:spPr>
        <p:txBody>
          <a:bodyPr wrap="square" lIns="0" tIns="0" rIns="0" bIns="0" rtlCol="0" anchor="ctr"/>
          <a:lstStyle/>
          <a:p>
            <a:pPr algn="ctr" indent="0" marL="0">
              <a:buNone/>
            </a:pPr>
            <a:r>
              <a:rPr lang="en-US" sz="1150" dirty="0">
                <a:solidFill>
                  <a:srgbClr val="1F2937"/>
                </a:solidFill>
              </a:rPr>
              <a:t>SI</a:t>
            </a:r>
            <a:endParaRPr lang="en-US" sz="1150" dirty="0"/>
          </a:p>
        </p:txBody>
      </p:sp>
      <p:sp>
        <p:nvSpPr>
          <p:cNvPr id="32" name="Text 30"/>
          <p:cNvSpPr/>
          <p:nvPr/>
        </p:nvSpPr>
        <p:spPr>
          <a:xfrm>
            <a:off x="8732520" y="3977640"/>
            <a:ext cx="2606040" cy="320040"/>
          </a:xfrm>
          <a:prstGeom prst="rect">
            <a:avLst/>
          </a:prstGeom>
          <a:noFill/>
          <a:ln/>
        </p:spPr>
        <p:txBody>
          <a:bodyPr wrap="square" lIns="0" tIns="0" rIns="0" bIns="0" rtlCol="0" anchor="ctr"/>
          <a:lstStyle/>
          <a:p>
            <a:pPr algn="ctr" indent="0" marL="0">
              <a:buNone/>
            </a:pPr>
            <a:r>
              <a:rPr lang="en-US" sz="1700" b="1" dirty="0">
                <a:solidFill>
                  <a:srgbClr val="2463EB"/>
                </a:solidFill>
              </a:rPr>
              <a:t>RELAÇÃO = tabela lógica</a:t>
            </a:r>
            <a:endParaRPr lang="en-US" sz="1700" dirty="0"/>
          </a:p>
        </p:txBody>
      </p:sp>
      <p:sp>
        <p:nvSpPr>
          <p:cNvPr id="33" name="Text 31"/>
          <p:cNvSpPr/>
          <p:nvPr/>
        </p:nvSpPr>
        <p:spPr>
          <a:xfrm>
            <a:off x="8732520" y="4434840"/>
            <a:ext cx="2606040" cy="685800"/>
          </a:xfrm>
          <a:prstGeom prst="rect">
            <a:avLst/>
          </a:prstGeom>
          <a:noFill/>
          <a:ln/>
        </p:spPr>
        <p:txBody>
          <a:bodyPr wrap="square" lIns="0" tIns="0" rIns="0" bIns="0" rtlCol="0" anchor="ctr"/>
          <a:lstStyle/>
          <a:p>
            <a:pPr algn="ctr" indent="0" marL="0">
              <a:buNone/>
            </a:pPr>
            <a:r>
              <a:rPr lang="en-US" sz="1500" dirty="0">
                <a:solidFill>
                  <a:srgbClr val="1F2937"/>
                </a:solidFill>
              </a:rPr>
              <a:t>colunas → atributos</a:t>
            </a:r>
            <a:endParaRPr lang="en-US" sz="1500" dirty="0"/>
          </a:p>
          <a:p>
            <a:pPr algn="ctr" indent="0" marL="0">
              <a:buNone/>
            </a:pPr>
            <a:r>
              <a:rPr lang="en-US" sz="1500" dirty="0">
                <a:solidFill>
                  <a:srgbClr val="1F2937"/>
                </a:solidFill>
              </a:rPr>
              <a:t>linhas → tuplas</a:t>
            </a:r>
            <a:endParaRPr lang="en-US" sz="15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NULL: ausência de um valor</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DESCONHECIDO, NÃO INFORMADO OU NÃO APLICÁVEL</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- 12</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NULL representa a ausência de um valor conhecido; não significa zero, texto vazio ou espaço em branco. Seu uso exige cuidado porque comparações com NULL seguem lógica de três valores. Em projetos introdutórios, defina NOT NULL sempre que o atributo for obrigatório e documente claramente quando a ausência de informação é realmente permitida.</a:t>
            </a:r>
            <a:endParaRPr lang="en-US" sz="2400" dirty="0"/>
          </a:p>
        </p:txBody>
      </p:sp>
      <p:sp>
        <p:nvSpPr>
          <p:cNvPr id="7" name="Shape 5"/>
          <p:cNvSpPr/>
          <p:nvPr/>
        </p:nvSpPr>
        <p:spPr>
          <a:xfrm>
            <a:off x="8321040" y="1417320"/>
            <a:ext cx="3337560" cy="2194560"/>
          </a:xfrm>
          <a:prstGeom prst="roundRect">
            <a:avLst>
              <a:gd name="adj" fmla="val 2083"/>
            </a:avLst>
          </a:prstGeom>
          <a:solidFill>
            <a:srgbClr val="FFFFFF"/>
          </a:solidFill>
          <a:ln w="12700">
            <a:solidFill>
              <a:srgbClr val="C9D4E3"/>
            </a:solidFill>
            <a:prstDash val="solid"/>
          </a:ln>
        </p:spPr>
      </p:sp>
      <p:sp>
        <p:nvSpPr>
          <p:cNvPr id="8" name="Shape 6"/>
          <p:cNvSpPr/>
          <p:nvPr/>
        </p:nvSpPr>
        <p:spPr>
          <a:xfrm>
            <a:off x="8321040" y="1417320"/>
            <a:ext cx="1112520" cy="548640"/>
          </a:xfrm>
          <a:prstGeom prst="rect">
            <a:avLst/>
          </a:prstGeom>
          <a:solidFill>
            <a:srgbClr val="0B1F33"/>
          </a:solidFill>
          <a:ln w="12700">
            <a:solidFill>
              <a:srgbClr val="FFFFFF"/>
            </a:solidFill>
            <a:prstDash val="solid"/>
          </a:ln>
        </p:spPr>
      </p:sp>
      <p:sp>
        <p:nvSpPr>
          <p:cNvPr id="9" name="Text 7"/>
          <p:cNvSpPr/>
          <p:nvPr/>
        </p:nvSpPr>
        <p:spPr>
          <a:xfrm>
            <a:off x="8357616" y="1472184"/>
            <a:ext cx="1039368" cy="475488"/>
          </a:xfrm>
          <a:prstGeom prst="rect">
            <a:avLst/>
          </a:prstGeom>
          <a:noFill/>
          <a:ln/>
        </p:spPr>
        <p:txBody>
          <a:bodyPr wrap="square" lIns="0" tIns="0" rIns="0" bIns="0" rtlCol="0" anchor="ctr"/>
          <a:lstStyle/>
          <a:p>
            <a:pPr algn="ctr" indent="0" marL="0">
              <a:buNone/>
            </a:pPr>
            <a:r>
              <a:rPr lang="en-US" sz="1200" b="1" dirty="0">
                <a:solidFill>
                  <a:srgbClr val="FFFFFF"/>
                </a:solidFill>
              </a:rPr>
              <a:t>id</a:t>
            </a:r>
            <a:endParaRPr lang="en-US" sz="1200" dirty="0"/>
          </a:p>
        </p:txBody>
      </p:sp>
      <p:sp>
        <p:nvSpPr>
          <p:cNvPr id="10" name="Shape 8"/>
          <p:cNvSpPr/>
          <p:nvPr/>
        </p:nvSpPr>
        <p:spPr>
          <a:xfrm>
            <a:off x="9433560" y="1417320"/>
            <a:ext cx="1112520" cy="548640"/>
          </a:xfrm>
          <a:prstGeom prst="rect">
            <a:avLst/>
          </a:prstGeom>
          <a:solidFill>
            <a:srgbClr val="0B1F33"/>
          </a:solidFill>
          <a:ln w="12700">
            <a:solidFill>
              <a:srgbClr val="FFFFFF"/>
            </a:solidFill>
            <a:prstDash val="solid"/>
          </a:ln>
        </p:spPr>
      </p:sp>
      <p:sp>
        <p:nvSpPr>
          <p:cNvPr id="11" name="Text 9"/>
          <p:cNvSpPr/>
          <p:nvPr/>
        </p:nvSpPr>
        <p:spPr>
          <a:xfrm>
            <a:off x="9470136" y="1472184"/>
            <a:ext cx="1039368" cy="475488"/>
          </a:xfrm>
          <a:prstGeom prst="rect">
            <a:avLst/>
          </a:prstGeom>
          <a:noFill/>
          <a:ln/>
        </p:spPr>
        <p:txBody>
          <a:bodyPr wrap="square" lIns="0" tIns="0" rIns="0" bIns="0" rtlCol="0" anchor="ctr"/>
          <a:lstStyle/>
          <a:p>
            <a:pPr algn="ctr" indent="0" marL="0">
              <a:buNone/>
            </a:pPr>
            <a:r>
              <a:rPr lang="en-US" sz="1200" b="1" dirty="0">
                <a:solidFill>
                  <a:srgbClr val="FFFFFF"/>
                </a:solidFill>
              </a:rPr>
              <a:t>nome</a:t>
            </a:r>
            <a:endParaRPr lang="en-US" sz="1200" dirty="0"/>
          </a:p>
        </p:txBody>
      </p:sp>
      <p:sp>
        <p:nvSpPr>
          <p:cNvPr id="12" name="Shape 10"/>
          <p:cNvSpPr/>
          <p:nvPr/>
        </p:nvSpPr>
        <p:spPr>
          <a:xfrm>
            <a:off x="10546080" y="1417320"/>
            <a:ext cx="1112520" cy="548640"/>
          </a:xfrm>
          <a:prstGeom prst="rect">
            <a:avLst/>
          </a:prstGeom>
          <a:solidFill>
            <a:srgbClr val="0B1F33"/>
          </a:solidFill>
          <a:ln w="12700">
            <a:solidFill>
              <a:srgbClr val="FFFFFF"/>
            </a:solidFill>
            <a:prstDash val="solid"/>
          </a:ln>
        </p:spPr>
      </p:sp>
      <p:sp>
        <p:nvSpPr>
          <p:cNvPr id="13" name="Text 11"/>
          <p:cNvSpPr/>
          <p:nvPr/>
        </p:nvSpPr>
        <p:spPr>
          <a:xfrm>
            <a:off x="10582656" y="1472184"/>
            <a:ext cx="1039368" cy="475488"/>
          </a:xfrm>
          <a:prstGeom prst="rect">
            <a:avLst/>
          </a:prstGeom>
          <a:noFill/>
          <a:ln/>
        </p:spPr>
        <p:txBody>
          <a:bodyPr wrap="square" lIns="0" tIns="0" rIns="0" bIns="0" rtlCol="0" anchor="ctr"/>
          <a:lstStyle/>
          <a:p>
            <a:pPr algn="ctr" indent="0" marL="0">
              <a:buNone/>
            </a:pPr>
            <a:r>
              <a:rPr lang="en-US" sz="1200" b="1" dirty="0">
                <a:solidFill>
                  <a:srgbClr val="FFFFFF"/>
                </a:solidFill>
              </a:rPr>
              <a:t>telefone</a:t>
            </a:r>
            <a:endParaRPr lang="en-US" sz="1200" dirty="0"/>
          </a:p>
        </p:txBody>
      </p:sp>
      <p:sp>
        <p:nvSpPr>
          <p:cNvPr id="14" name="Shape 12"/>
          <p:cNvSpPr/>
          <p:nvPr/>
        </p:nvSpPr>
        <p:spPr>
          <a:xfrm>
            <a:off x="8321040" y="1965960"/>
            <a:ext cx="1112520" cy="548640"/>
          </a:xfrm>
          <a:prstGeom prst="rect">
            <a:avLst/>
          </a:prstGeom>
          <a:solidFill>
            <a:srgbClr val="FFFFFF"/>
          </a:solidFill>
          <a:ln w="12700">
            <a:solidFill>
              <a:srgbClr val="D9E2EC"/>
            </a:solidFill>
            <a:prstDash val="solid"/>
          </a:ln>
        </p:spPr>
      </p:sp>
      <p:sp>
        <p:nvSpPr>
          <p:cNvPr id="15" name="Text 13"/>
          <p:cNvSpPr/>
          <p:nvPr/>
        </p:nvSpPr>
        <p:spPr>
          <a:xfrm>
            <a:off x="8357616" y="2011680"/>
            <a:ext cx="1039368" cy="484632"/>
          </a:xfrm>
          <a:prstGeom prst="rect">
            <a:avLst/>
          </a:prstGeom>
          <a:noFill/>
          <a:ln/>
        </p:spPr>
        <p:txBody>
          <a:bodyPr wrap="square" lIns="0" tIns="0" rIns="0" bIns="0" rtlCol="0" anchor="ctr"/>
          <a:lstStyle/>
          <a:p>
            <a:pPr algn="ctr" indent="0" marL="0">
              <a:buNone/>
            </a:pPr>
            <a:r>
              <a:rPr lang="en-US" sz="1050" dirty="0">
                <a:solidFill>
                  <a:srgbClr val="1F2937"/>
                </a:solidFill>
              </a:rPr>
              <a:t>1</a:t>
            </a:r>
            <a:endParaRPr lang="en-US" sz="1050" dirty="0"/>
          </a:p>
        </p:txBody>
      </p:sp>
      <p:sp>
        <p:nvSpPr>
          <p:cNvPr id="16" name="Shape 14"/>
          <p:cNvSpPr/>
          <p:nvPr/>
        </p:nvSpPr>
        <p:spPr>
          <a:xfrm>
            <a:off x="9433560" y="1965960"/>
            <a:ext cx="1112520" cy="548640"/>
          </a:xfrm>
          <a:prstGeom prst="rect">
            <a:avLst/>
          </a:prstGeom>
          <a:solidFill>
            <a:srgbClr val="FFFFFF"/>
          </a:solidFill>
          <a:ln w="12700">
            <a:solidFill>
              <a:srgbClr val="D9E2EC"/>
            </a:solidFill>
            <a:prstDash val="solid"/>
          </a:ln>
        </p:spPr>
      </p:sp>
      <p:sp>
        <p:nvSpPr>
          <p:cNvPr id="17" name="Text 15"/>
          <p:cNvSpPr/>
          <p:nvPr/>
        </p:nvSpPr>
        <p:spPr>
          <a:xfrm>
            <a:off x="9470136" y="2011680"/>
            <a:ext cx="1039368" cy="484632"/>
          </a:xfrm>
          <a:prstGeom prst="rect">
            <a:avLst/>
          </a:prstGeom>
          <a:noFill/>
          <a:ln/>
        </p:spPr>
        <p:txBody>
          <a:bodyPr wrap="square" lIns="0" tIns="0" rIns="0" bIns="0" rtlCol="0" anchor="ctr"/>
          <a:lstStyle/>
          <a:p>
            <a:pPr algn="ctr" indent="0" marL="0">
              <a:buNone/>
            </a:pPr>
            <a:r>
              <a:rPr lang="en-US" sz="1050" dirty="0">
                <a:solidFill>
                  <a:srgbClr val="1F2937"/>
                </a:solidFill>
              </a:rPr>
              <a:t>Ana</a:t>
            </a:r>
            <a:endParaRPr lang="en-US" sz="1050" dirty="0"/>
          </a:p>
        </p:txBody>
      </p:sp>
      <p:sp>
        <p:nvSpPr>
          <p:cNvPr id="18" name="Shape 16"/>
          <p:cNvSpPr/>
          <p:nvPr/>
        </p:nvSpPr>
        <p:spPr>
          <a:xfrm>
            <a:off x="10546080" y="1965960"/>
            <a:ext cx="1112520" cy="548640"/>
          </a:xfrm>
          <a:prstGeom prst="rect">
            <a:avLst/>
          </a:prstGeom>
          <a:solidFill>
            <a:srgbClr val="FFFFFF"/>
          </a:solidFill>
          <a:ln w="12700">
            <a:solidFill>
              <a:srgbClr val="D9E2EC"/>
            </a:solidFill>
            <a:prstDash val="solid"/>
          </a:ln>
        </p:spPr>
      </p:sp>
      <p:sp>
        <p:nvSpPr>
          <p:cNvPr id="19" name="Text 17"/>
          <p:cNvSpPr/>
          <p:nvPr/>
        </p:nvSpPr>
        <p:spPr>
          <a:xfrm>
            <a:off x="10582656" y="2011680"/>
            <a:ext cx="1039368" cy="484632"/>
          </a:xfrm>
          <a:prstGeom prst="rect">
            <a:avLst/>
          </a:prstGeom>
          <a:noFill/>
          <a:ln/>
        </p:spPr>
        <p:txBody>
          <a:bodyPr wrap="square" lIns="0" tIns="0" rIns="0" bIns="0" rtlCol="0" anchor="ctr"/>
          <a:lstStyle/>
          <a:p>
            <a:pPr algn="ctr" indent="0" marL="0">
              <a:buNone/>
            </a:pPr>
            <a:r>
              <a:rPr lang="en-US" sz="1050" dirty="0">
                <a:solidFill>
                  <a:srgbClr val="1F2937"/>
                </a:solidFill>
              </a:rPr>
              <a:t>27 9999</a:t>
            </a:r>
            <a:endParaRPr lang="en-US" sz="1050" dirty="0"/>
          </a:p>
        </p:txBody>
      </p:sp>
      <p:sp>
        <p:nvSpPr>
          <p:cNvPr id="20" name="Shape 18"/>
          <p:cNvSpPr/>
          <p:nvPr/>
        </p:nvSpPr>
        <p:spPr>
          <a:xfrm>
            <a:off x="8321040" y="2514600"/>
            <a:ext cx="1112520" cy="548640"/>
          </a:xfrm>
          <a:prstGeom prst="rect">
            <a:avLst/>
          </a:prstGeom>
          <a:solidFill>
            <a:srgbClr val="F8FAFD"/>
          </a:solidFill>
          <a:ln w="12700">
            <a:solidFill>
              <a:srgbClr val="D9E2EC"/>
            </a:solidFill>
            <a:prstDash val="solid"/>
          </a:ln>
        </p:spPr>
      </p:sp>
      <p:sp>
        <p:nvSpPr>
          <p:cNvPr id="21" name="Text 19"/>
          <p:cNvSpPr/>
          <p:nvPr/>
        </p:nvSpPr>
        <p:spPr>
          <a:xfrm>
            <a:off x="8357616" y="2560320"/>
            <a:ext cx="1039368" cy="484632"/>
          </a:xfrm>
          <a:prstGeom prst="rect">
            <a:avLst/>
          </a:prstGeom>
          <a:noFill/>
          <a:ln/>
        </p:spPr>
        <p:txBody>
          <a:bodyPr wrap="square" lIns="0" tIns="0" rIns="0" bIns="0" rtlCol="0" anchor="ctr"/>
          <a:lstStyle/>
          <a:p>
            <a:pPr algn="ctr" indent="0" marL="0">
              <a:buNone/>
            </a:pPr>
            <a:r>
              <a:rPr lang="en-US" sz="1050" dirty="0">
                <a:solidFill>
                  <a:srgbClr val="1F2937"/>
                </a:solidFill>
              </a:rPr>
              <a:t>2</a:t>
            </a:r>
            <a:endParaRPr lang="en-US" sz="1050" dirty="0"/>
          </a:p>
        </p:txBody>
      </p:sp>
      <p:sp>
        <p:nvSpPr>
          <p:cNvPr id="22" name="Shape 20"/>
          <p:cNvSpPr/>
          <p:nvPr/>
        </p:nvSpPr>
        <p:spPr>
          <a:xfrm>
            <a:off x="9433560" y="2514600"/>
            <a:ext cx="1112520" cy="548640"/>
          </a:xfrm>
          <a:prstGeom prst="rect">
            <a:avLst/>
          </a:prstGeom>
          <a:solidFill>
            <a:srgbClr val="F8FAFD"/>
          </a:solidFill>
          <a:ln w="12700">
            <a:solidFill>
              <a:srgbClr val="D9E2EC"/>
            </a:solidFill>
            <a:prstDash val="solid"/>
          </a:ln>
        </p:spPr>
      </p:sp>
      <p:sp>
        <p:nvSpPr>
          <p:cNvPr id="23" name="Text 21"/>
          <p:cNvSpPr/>
          <p:nvPr/>
        </p:nvSpPr>
        <p:spPr>
          <a:xfrm>
            <a:off x="9470136" y="2560320"/>
            <a:ext cx="1039368" cy="484632"/>
          </a:xfrm>
          <a:prstGeom prst="rect">
            <a:avLst/>
          </a:prstGeom>
          <a:noFill/>
          <a:ln/>
        </p:spPr>
        <p:txBody>
          <a:bodyPr wrap="square" lIns="0" tIns="0" rIns="0" bIns="0" rtlCol="0" anchor="ctr"/>
          <a:lstStyle/>
          <a:p>
            <a:pPr algn="ctr" indent="0" marL="0">
              <a:buNone/>
            </a:pPr>
            <a:r>
              <a:rPr lang="en-US" sz="1050" dirty="0">
                <a:solidFill>
                  <a:srgbClr val="1F2937"/>
                </a:solidFill>
              </a:rPr>
              <a:t>Beto</a:t>
            </a:r>
            <a:endParaRPr lang="en-US" sz="1050" dirty="0"/>
          </a:p>
        </p:txBody>
      </p:sp>
      <p:sp>
        <p:nvSpPr>
          <p:cNvPr id="24" name="Shape 22"/>
          <p:cNvSpPr/>
          <p:nvPr/>
        </p:nvSpPr>
        <p:spPr>
          <a:xfrm>
            <a:off x="10546080" y="2514600"/>
            <a:ext cx="1112520" cy="548640"/>
          </a:xfrm>
          <a:prstGeom prst="rect">
            <a:avLst/>
          </a:prstGeom>
          <a:solidFill>
            <a:srgbClr val="F8FAFD"/>
          </a:solidFill>
          <a:ln w="12700">
            <a:solidFill>
              <a:srgbClr val="D9E2EC"/>
            </a:solidFill>
            <a:prstDash val="solid"/>
          </a:ln>
        </p:spPr>
      </p:sp>
      <p:sp>
        <p:nvSpPr>
          <p:cNvPr id="25" name="Text 23"/>
          <p:cNvSpPr/>
          <p:nvPr/>
        </p:nvSpPr>
        <p:spPr>
          <a:xfrm>
            <a:off x="10582656" y="2560320"/>
            <a:ext cx="1039368" cy="484632"/>
          </a:xfrm>
          <a:prstGeom prst="rect">
            <a:avLst/>
          </a:prstGeom>
          <a:noFill/>
          <a:ln/>
        </p:spPr>
        <p:txBody>
          <a:bodyPr wrap="square" lIns="0" tIns="0" rIns="0" bIns="0" rtlCol="0" anchor="ctr"/>
          <a:lstStyle/>
          <a:p>
            <a:pPr algn="ctr" indent="0" marL="0">
              <a:buNone/>
            </a:pPr>
            <a:r>
              <a:rPr lang="en-US" sz="1050" dirty="0">
                <a:solidFill>
                  <a:srgbClr val="1F2937"/>
                </a:solidFill>
              </a:rPr>
              <a:t>NULL</a:t>
            </a:r>
            <a:endParaRPr lang="en-US" sz="1050" dirty="0"/>
          </a:p>
        </p:txBody>
      </p:sp>
      <p:sp>
        <p:nvSpPr>
          <p:cNvPr id="26" name="Shape 24"/>
          <p:cNvSpPr/>
          <p:nvPr/>
        </p:nvSpPr>
        <p:spPr>
          <a:xfrm>
            <a:off x="8321040" y="3063240"/>
            <a:ext cx="1112520" cy="548640"/>
          </a:xfrm>
          <a:prstGeom prst="rect">
            <a:avLst/>
          </a:prstGeom>
          <a:solidFill>
            <a:srgbClr val="FFFFFF"/>
          </a:solidFill>
          <a:ln w="12700">
            <a:solidFill>
              <a:srgbClr val="D9E2EC"/>
            </a:solidFill>
            <a:prstDash val="solid"/>
          </a:ln>
        </p:spPr>
      </p:sp>
      <p:sp>
        <p:nvSpPr>
          <p:cNvPr id="27" name="Text 25"/>
          <p:cNvSpPr/>
          <p:nvPr/>
        </p:nvSpPr>
        <p:spPr>
          <a:xfrm>
            <a:off x="8357616" y="3108960"/>
            <a:ext cx="1039368" cy="484632"/>
          </a:xfrm>
          <a:prstGeom prst="rect">
            <a:avLst/>
          </a:prstGeom>
          <a:noFill/>
          <a:ln/>
        </p:spPr>
        <p:txBody>
          <a:bodyPr wrap="square" lIns="0" tIns="0" rIns="0" bIns="0" rtlCol="0" anchor="ctr"/>
          <a:lstStyle/>
          <a:p>
            <a:pPr algn="ctr" indent="0" marL="0">
              <a:buNone/>
            </a:pPr>
            <a:r>
              <a:rPr lang="en-US" sz="1050" dirty="0">
                <a:solidFill>
                  <a:srgbClr val="1F2937"/>
                </a:solidFill>
              </a:rPr>
              <a:t>3</a:t>
            </a:r>
            <a:endParaRPr lang="en-US" sz="1050" dirty="0"/>
          </a:p>
        </p:txBody>
      </p:sp>
      <p:sp>
        <p:nvSpPr>
          <p:cNvPr id="28" name="Shape 26"/>
          <p:cNvSpPr/>
          <p:nvPr/>
        </p:nvSpPr>
        <p:spPr>
          <a:xfrm>
            <a:off x="9433560" y="3063240"/>
            <a:ext cx="1112520" cy="548640"/>
          </a:xfrm>
          <a:prstGeom prst="rect">
            <a:avLst/>
          </a:prstGeom>
          <a:solidFill>
            <a:srgbClr val="FFFFFF"/>
          </a:solidFill>
          <a:ln w="12700">
            <a:solidFill>
              <a:srgbClr val="D9E2EC"/>
            </a:solidFill>
            <a:prstDash val="solid"/>
          </a:ln>
        </p:spPr>
      </p:sp>
      <p:sp>
        <p:nvSpPr>
          <p:cNvPr id="29" name="Text 27"/>
          <p:cNvSpPr/>
          <p:nvPr/>
        </p:nvSpPr>
        <p:spPr>
          <a:xfrm>
            <a:off x="9470136" y="3108960"/>
            <a:ext cx="1039368" cy="484632"/>
          </a:xfrm>
          <a:prstGeom prst="rect">
            <a:avLst/>
          </a:prstGeom>
          <a:noFill/>
          <a:ln/>
        </p:spPr>
        <p:txBody>
          <a:bodyPr wrap="square" lIns="0" tIns="0" rIns="0" bIns="0" rtlCol="0" anchor="ctr"/>
          <a:lstStyle/>
          <a:p>
            <a:pPr algn="ctr" indent="0" marL="0">
              <a:buNone/>
            </a:pPr>
            <a:r>
              <a:rPr lang="en-US" sz="1050" dirty="0">
                <a:solidFill>
                  <a:srgbClr val="1F2937"/>
                </a:solidFill>
              </a:rPr>
              <a:t>Caio</a:t>
            </a:r>
            <a:endParaRPr lang="en-US" sz="1050" dirty="0"/>
          </a:p>
        </p:txBody>
      </p:sp>
      <p:sp>
        <p:nvSpPr>
          <p:cNvPr id="30" name="Shape 28"/>
          <p:cNvSpPr/>
          <p:nvPr/>
        </p:nvSpPr>
        <p:spPr>
          <a:xfrm>
            <a:off x="10546080" y="3063240"/>
            <a:ext cx="1112520" cy="548640"/>
          </a:xfrm>
          <a:prstGeom prst="rect">
            <a:avLst/>
          </a:prstGeom>
          <a:solidFill>
            <a:srgbClr val="FFFFFF"/>
          </a:solidFill>
          <a:ln w="12700">
            <a:solidFill>
              <a:srgbClr val="D9E2EC"/>
            </a:solidFill>
            <a:prstDash val="solid"/>
          </a:ln>
        </p:spPr>
      </p:sp>
      <p:sp>
        <p:nvSpPr>
          <p:cNvPr id="31" name="Text 29"/>
          <p:cNvSpPr/>
          <p:nvPr/>
        </p:nvSpPr>
        <p:spPr>
          <a:xfrm>
            <a:off x="10582656" y="3108960"/>
            <a:ext cx="1039368" cy="484632"/>
          </a:xfrm>
          <a:prstGeom prst="rect">
            <a:avLst/>
          </a:prstGeom>
          <a:noFill/>
          <a:ln/>
        </p:spPr>
        <p:txBody>
          <a:bodyPr wrap="square" lIns="0" tIns="0" rIns="0" bIns="0" rtlCol="0" anchor="ctr"/>
          <a:lstStyle/>
          <a:p>
            <a:pPr algn="ctr" indent="0" marL="0">
              <a:buNone/>
            </a:pPr>
            <a:r>
              <a:rPr lang="en-US" sz="1050" dirty="0">
                <a:solidFill>
                  <a:srgbClr val="1F2937"/>
                </a:solidFill>
              </a:rPr>
              <a:t>27 8888</a:t>
            </a:r>
            <a:endParaRPr lang="en-US" sz="1050" dirty="0"/>
          </a:p>
        </p:txBody>
      </p:sp>
      <p:sp>
        <p:nvSpPr>
          <p:cNvPr id="32" name="Shape 30"/>
          <p:cNvSpPr/>
          <p:nvPr/>
        </p:nvSpPr>
        <p:spPr>
          <a:xfrm>
            <a:off x="8823960" y="4069080"/>
            <a:ext cx="2331720" cy="685800"/>
          </a:xfrm>
          <a:prstGeom prst="roundRect">
            <a:avLst/>
          </a:prstGeom>
          <a:solidFill>
            <a:srgbClr val="FFF4D6"/>
          </a:solidFill>
          <a:ln w="12700">
            <a:solidFill>
              <a:srgbClr val="F59E0B"/>
            </a:solidFill>
            <a:prstDash val="solid"/>
          </a:ln>
        </p:spPr>
      </p:sp>
      <p:sp>
        <p:nvSpPr>
          <p:cNvPr id="33" name="Text 31"/>
          <p:cNvSpPr/>
          <p:nvPr/>
        </p:nvSpPr>
        <p:spPr>
          <a:xfrm>
            <a:off x="8915400" y="4279392"/>
            <a:ext cx="2148840" cy="201168"/>
          </a:xfrm>
          <a:prstGeom prst="rect">
            <a:avLst/>
          </a:prstGeom>
          <a:noFill/>
          <a:ln/>
        </p:spPr>
        <p:txBody>
          <a:bodyPr wrap="square" lIns="0" tIns="0" rIns="0" bIns="0" rtlCol="0" anchor="ctr"/>
          <a:lstStyle/>
          <a:p>
            <a:pPr algn="ctr" indent="0" marL="0">
              <a:buNone/>
            </a:pPr>
            <a:r>
              <a:rPr lang="en-US" sz="1400" b="1" dirty="0">
                <a:solidFill>
                  <a:srgbClr val="8A5600"/>
                </a:solidFill>
              </a:rPr>
              <a:t>NULL ≠ 0 ≠ texto vazio</a:t>
            </a:r>
            <a:endParaRPr lang="en-US" sz="14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Chaves: visão geral</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COMO IDENTIFICAR E RELACIONAR TUPLAS</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- 13</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Chaves são atributos, ou conjuntos de atributos, usados para distinguir tuplas e conectar relações. A terminologia inclui superchave, chave candidata, chave primária, chave alternativa, chave composta e chave estrangeira. Cada conceito responde a uma pergunta diferente: o que identifica unicamente, qual identificador foi escolhido e como uma relação referencia outra.</a:t>
            </a:r>
            <a:endParaRPr lang="en-US" sz="2400" dirty="0"/>
          </a:p>
        </p:txBody>
      </p:sp>
      <p:sp>
        <p:nvSpPr>
          <p:cNvPr id="7" name="Shape 5"/>
          <p:cNvSpPr/>
          <p:nvPr/>
        </p:nvSpPr>
        <p:spPr>
          <a:xfrm>
            <a:off x="8458200" y="1508760"/>
            <a:ext cx="2971800" cy="2971800"/>
          </a:xfrm>
          <a:prstGeom prst="ellipse">
            <a:avLst/>
          </a:prstGeom>
          <a:solidFill>
            <a:srgbClr val="F2F6FE">
              <a:alpha val="95000"/>
            </a:srgbClr>
          </a:solidFill>
          <a:ln w="12700">
            <a:solidFill>
              <a:srgbClr val="2463EB"/>
            </a:solidFill>
            <a:prstDash val="solid"/>
          </a:ln>
        </p:spPr>
      </p:sp>
      <p:sp>
        <p:nvSpPr>
          <p:cNvPr id="8" name="Shape 6"/>
          <p:cNvSpPr/>
          <p:nvPr/>
        </p:nvSpPr>
        <p:spPr>
          <a:xfrm>
            <a:off x="9006840" y="2057400"/>
            <a:ext cx="1874520" cy="1874520"/>
          </a:xfrm>
          <a:prstGeom prst="ellipse">
            <a:avLst/>
          </a:prstGeom>
          <a:solidFill>
            <a:srgbClr val="E6F8F5">
              <a:alpha val="95000"/>
            </a:srgbClr>
          </a:solidFill>
          <a:ln w="12700">
            <a:solidFill>
              <a:srgbClr val="0F766E"/>
            </a:solidFill>
            <a:prstDash val="solid"/>
          </a:ln>
        </p:spPr>
      </p:sp>
      <p:sp>
        <p:nvSpPr>
          <p:cNvPr id="9" name="Shape 7"/>
          <p:cNvSpPr/>
          <p:nvPr/>
        </p:nvSpPr>
        <p:spPr>
          <a:xfrm>
            <a:off x="9555480" y="2606040"/>
            <a:ext cx="777240" cy="777240"/>
          </a:xfrm>
          <a:prstGeom prst="ellipse">
            <a:avLst/>
          </a:prstGeom>
          <a:solidFill>
            <a:srgbClr val="FFF4D6"/>
          </a:solidFill>
          <a:ln w="12700">
            <a:solidFill>
              <a:srgbClr val="F59E0B"/>
            </a:solidFill>
            <a:prstDash val="solid"/>
          </a:ln>
        </p:spPr>
      </p:sp>
      <p:sp>
        <p:nvSpPr>
          <p:cNvPr id="10" name="Text 8"/>
          <p:cNvSpPr/>
          <p:nvPr/>
        </p:nvSpPr>
        <p:spPr>
          <a:xfrm>
            <a:off x="8732520" y="1737360"/>
            <a:ext cx="2468880" cy="228600"/>
          </a:xfrm>
          <a:prstGeom prst="rect">
            <a:avLst/>
          </a:prstGeom>
          <a:noFill/>
          <a:ln/>
        </p:spPr>
        <p:txBody>
          <a:bodyPr wrap="square" lIns="0" tIns="0" rIns="0" bIns="0" rtlCol="0" anchor="ctr"/>
          <a:lstStyle/>
          <a:p>
            <a:pPr algn="ctr" indent="0" marL="0">
              <a:buNone/>
            </a:pPr>
            <a:r>
              <a:rPr lang="en-US" sz="1400" b="1" dirty="0">
                <a:solidFill>
                  <a:srgbClr val="2463EB"/>
                </a:solidFill>
              </a:rPr>
              <a:t>SUPERCHAVES</a:t>
            </a:r>
            <a:endParaRPr lang="en-US" sz="1400" dirty="0"/>
          </a:p>
        </p:txBody>
      </p:sp>
      <p:sp>
        <p:nvSpPr>
          <p:cNvPr id="11" name="Text 9"/>
          <p:cNvSpPr/>
          <p:nvPr/>
        </p:nvSpPr>
        <p:spPr>
          <a:xfrm>
            <a:off x="9189720" y="2304288"/>
            <a:ext cx="1508760" cy="201168"/>
          </a:xfrm>
          <a:prstGeom prst="rect">
            <a:avLst/>
          </a:prstGeom>
          <a:noFill/>
          <a:ln/>
        </p:spPr>
        <p:txBody>
          <a:bodyPr wrap="square" lIns="0" tIns="0" rIns="0" bIns="0" rtlCol="0" anchor="ctr"/>
          <a:lstStyle/>
          <a:p>
            <a:pPr algn="ctr" indent="0" marL="0">
              <a:buNone/>
            </a:pPr>
            <a:r>
              <a:rPr lang="en-US" sz="1250" b="1" dirty="0">
                <a:solidFill>
                  <a:srgbClr val="0F766E"/>
                </a:solidFill>
              </a:rPr>
              <a:t>CANDIDATAS</a:t>
            </a:r>
            <a:endParaRPr lang="en-US" sz="1250" dirty="0"/>
          </a:p>
        </p:txBody>
      </p:sp>
      <p:sp>
        <p:nvSpPr>
          <p:cNvPr id="12" name="Text 10"/>
          <p:cNvSpPr/>
          <p:nvPr/>
        </p:nvSpPr>
        <p:spPr>
          <a:xfrm>
            <a:off x="9646920" y="2880360"/>
            <a:ext cx="594360" cy="182880"/>
          </a:xfrm>
          <a:prstGeom prst="rect">
            <a:avLst/>
          </a:prstGeom>
          <a:noFill/>
          <a:ln/>
        </p:spPr>
        <p:txBody>
          <a:bodyPr wrap="square" lIns="0" tIns="0" rIns="0" bIns="0" rtlCol="0" anchor="ctr"/>
          <a:lstStyle/>
          <a:p>
            <a:pPr algn="ctr" indent="0" marL="0">
              <a:buNone/>
            </a:pPr>
            <a:r>
              <a:rPr lang="en-US" sz="1300" b="1" dirty="0">
                <a:solidFill>
                  <a:srgbClr val="8A5600"/>
                </a:solidFill>
              </a:rPr>
              <a:t>PK</a:t>
            </a:r>
            <a:endParaRPr lang="en-US" sz="13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Superchave</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QUALQUER CONJUNTO QUE IDENTIFICA UNICAMENTE</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- 14</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Superchave é qualquer conjunto de atributos capaz de identificar cada tupla sem ambiguidade. Ela pode conter atributos desnecessários. Se id já identifica um aluno, então {id}, {id, nome} e {id, email} também podem ser superchaves. O objetivo seguinte é encontrar superchaves mínimas, chamadas chaves candidatas.</a:t>
            </a:r>
            <a:endParaRPr lang="en-US" sz="2400" dirty="0"/>
          </a:p>
        </p:txBody>
      </p:sp>
      <p:sp>
        <p:nvSpPr>
          <p:cNvPr id="7" name="Shape 5"/>
          <p:cNvSpPr/>
          <p:nvPr/>
        </p:nvSpPr>
        <p:spPr>
          <a:xfrm>
            <a:off x="8458200" y="1508760"/>
            <a:ext cx="2971800" cy="2971800"/>
          </a:xfrm>
          <a:prstGeom prst="ellipse">
            <a:avLst/>
          </a:prstGeom>
          <a:solidFill>
            <a:srgbClr val="F2F6FE">
              <a:alpha val="95000"/>
            </a:srgbClr>
          </a:solidFill>
          <a:ln w="12700">
            <a:solidFill>
              <a:srgbClr val="2463EB"/>
            </a:solidFill>
            <a:prstDash val="solid"/>
          </a:ln>
        </p:spPr>
      </p:sp>
      <p:sp>
        <p:nvSpPr>
          <p:cNvPr id="8" name="Shape 6"/>
          <p:cNvSpPr/>
          <p:nvPr/>
        </p:nvSpPr>
        <p:spPr>
          <a:xfrm>
            <a:off x="9006840" y="2057400"/>
            <a:ext cx="1874520" cy="1874520"/>
          </a:xfrm>
          <a:prstGeom prst="ellipse">
            <a:avLst/>
          </a:prstGeom>
          <a:solidFill>
            <a:srgbClr val="E6F8F5">
              <a:alpha val="95000"/>
            </a:srgbClr>
          </a:solidFill>
          <a:ln w="12700">
            <a:solidFill>
              <a:srgbClr val="0F766E"/>
            </a:solidFill>
            <a:prstDash val="solid"/>
          </a:ln>
        </p:spPr>
      </p:sp>
      <p:sp>
        <p:nvSpPr>
          <p:cNvPr id="9" name="Shape 7"/>
          <p:cNvSpPr/>
          <p:nvPr/>
        </p:nvSpPr>
        <p:spPr>
          <a:xfrm>
            <a:off x="9555480" y="2606040"/>
            <a:ext cx="777240" cy="777240"/>
          </a:xfrm>
          <a:prstGeom prst="ellipse">
            <a:avLst/>
          </a:prstGeom>
          <a:solidFill>
            <a:srgbClr val="FFF4D6"/>
          </a:solidFill>
          <a:ln w="12700">
            <a:solidFill>
              <a:srgbClr val="F59E0B"/>
            </a:solidFill>
            <a:prstDash val="solid"/>
          </a:ln>
        </p:spPr>
      </p:sp>
      <p:sp>
        <p:nvSpPr>
          <p:cNvPr id="10" name="Text 8"/>
          <p:cNvSpPr/>
          <p:nvPr/>
        </p:nvSpPr>
        <p:spPr>
          <a:xfrm>
            <a:off x="8732520" y="1737360"/>
            <a:ext cx="2468880" cy="228600"/>
          </a:xfrm>
          <a:prstGeom prst="rect">
            <a:avLst/>
          </a:prstGeom>
          <a:noFill/>
          <a:ln/>
        </p:spPr>
        <p:txBody>
          <a:bodyPr wrap="square" lIns="0" tIns="0" rIns="0" bIns="0" rtlCol="0" anchor="ctr"/>
          <a:lstStyle/>
          <a:p>
            <a:pPr algn="ctr" indent="0" marL="0">
              <a:buNone/>
            </a:pPr>
            <a:r>
              <a:rPr lang="en-US" sz="1400" b="1" dirty="0">
                <a:solidFill>
                  <a:srgbClr val="2463EB"/>
                </a:solidFill>
              </a:rPr>
              <a:t>SUPERCHAVES</a:t>
            </a:r>
            <a:endParaRPr lang="en-US" sz="1400" dirty="0"/>
          </a:p>
        </p:txBody>
      </p:sp>
      <p:sp>
        <p:nvSpPr>
          <p:cNvPr id="11" name="Text 9"/>
          <p:cNvSpPr/>
          <p:nvPr/>
        </p:nvSpPr>
        <p:spPr>
          <a:xfrm>
            <a:off x="9189720" y="2304288"/>
            <a:ext cx="1508760" cy="201168"/>
          </a:xfrm>
          <a:prstGeom prst="rect">
            <a:avLst/>
          </a:prstGeom>
          <a:noFill/>
          <a:ln/>
        </p:spPr>
        <p:txBody>
          <a:bodyPr wrap="square" lIns="0" tIns="0" rIns="0" bIns="0" rtlCol="0" anchor="ctr"/>
          <a:lstStyle/>
          <a:p>
            <a:pPr algn="ctr" indent="0" marL="0">
              <a:buNone/>
            </a:pPr>
            <a:r>
              <a:rPr lang="en-US" sz="1250" b="1" dirty="0">
                <a:solidFill>
                  <a:srgbClr val="0F766E"/>
                </a:solidFill>
              </a:rPr>
              <a:t>CANDIDATAS</a:t>
            </a:r>
            <a:endParaRPr lang="en-US" sz="1250" dirty="0"/>
          </a:p>
        </p:txBody>
      </p:sp>
      <p:sp>
        <p:nvSpPr>
          <p:cNvPr id="12" name="Text 10"/>
          <p:cNvSpPr/>
          <p:nvPr/>
        </p:nvSpPr>
        <p:spPr>
          <a:xfrm>
            <a:off x="9646920" y="2880360"/>
            <a:ext cx="594360" cy="182880"/>
          </a:xfrm>
          <a:prstGeom prst="rect">
            <a:avLst/>
          </a:prstGeom>
          <a:noFill/>
          <a:ln/>
        </p:spPr>
        <p:txBody>
          <a:bodyPr wrap="square" lIns="0" tIns="0" rIns="0" bIns="0" rtlCol="0" anchor="ctr"/>
          <a:lstStyle/>
          <a:p>
            <a:pPr algn="ctr" indent="0" marL="0">
              <a:buNone/>
            </a:pPr>
            <a:r>
              <a:rPr lang="en-US" sz="1300" b="1" dirty="0">
                <a:solidFill>
                  <a:srgbClr val="8A5600"/>
                </a:solidFill>
              </a:rPr>
              <a:t>PK</a:t>
            </a:r>
            <a:endParaRPr lang="en-US" sz="13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Chaves candidatas</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SUPERCHAVES MÍNIMAS</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- 15</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Uma chave candidata identifica unicamente cada tupla e não possui atributo supérfluo. Uma relação pode ter várias candidatas. Em USUARIO, id e email podem ser únicos e, portanto, candidatos a identificador. A escolha da chave primária considera estabilidade, simplicidade, tamanho, significado no negócio e facilidade de referência por outras relações.</a:t>
            </a:r>
            <a:endParaRPr lang="en-US" sz="2400" dirty="0"/>
          </a:p>
        </p:txBody>
      </p:sp>
      <p:sp>
        <p:nvSpPr>
          <p:cNvPr id="7" name="Shape 5"/>
          <p:cNvSpPr/>
          <p:nvPr/>
        </p:nvSpPr>
        <p:spPr>
          <a:xfrm>
            <a:off x="8394192" y="1417320"/>
            <a:ext cx="3246120" cy="2331720"/>
          </a:xfrm>
          <a:prstGeom prst="roundRect">
            <a:avLst>
              <a:gd name="adj" fmla="val 1961"/>
            </a:avLst>
          </a:prstGeom>
          <a:solidFill>
            <a:srgbClr val="FFFFFF"/>
          </a:solidFill>
          <a:ln w="12700">
            <a:solidFill>
              <a:srgbClr val="C9D4E3"/>
            </a:solidFill>
            <a:prstDash val="solid"/>
          </a:ln>
        </p:spPr>
      </p:sp>
      <p:sp>
        <p:nvSpPr>
          <p:cNvPr id="8" name="Shape 6"/>
          <p:cNvSpPr/>
          <p:nvPr/>
        </p:nvSpPr>
        <p:spPr>
          <a:xfrm>
            <a:off x="8394192" y="1417320"/>
            <a:ext cx="1082040" cy="582930"/>
          </a:xfrm>
          <a:prstGeom prst="rect">
            <a:avLst/>
          </a:prstGeom>
          <a:solidFill>
            <a:srgbClr val="0B1F33"/>
          </a:solidFill>
          <a:ln w="12700">
            <a:solidFill>
              <a:srgbClr val="FFFFFF"/>
            </a:solidFill>
            <a:prstDash val="solid"/>
          </a:ln>
        </p:spPr>
      </p:sp>
      <p:sp>
        <p:nvSpPr>
          <p:cNvPr id="9" name="Text 7"/>
          <p:cNvSpPr/>
          <p:nvPr/>
        </p:nvSpPr>
        <p:spPr>
          <a:xfrm>
            <a:off x="8430768" y="1472184"/>
            <a:ext cx="1008888" cy="509778"/>
          </a:xfrm>
          <a:prstGeom prst="rect">
            <a:avLst/>
          </a:prstGeom>
          <a:noFill/>
          <a:ln/>
        </p:spPr>
        <p:txBody>
          <a:bodyPr wrap="square" lIns="0" tIns="0" rIns="0" bIns="0" rtlCol="0" anchor="ctr"/>
          <a:lstStyle/>
          <a:p>
            <a:pPr algn="ctr" indent="0" marL="0">
              <a:buNone/>
            </a:pPr>
            <a:r>
              <a:rPr lang="en-US" sz="1200" b="1" dirty="0">
                <a:solidFill>
                  <a:srgbClr val="FFFFFF"/>
                </a:solidFill>
              </a:rPr>
              <a:t>id</a:t>
            </a:r>
            <a:endParaRPr lang="en-US" sz="1200" dirty="0"/>
          </a:p>
        </p:txBody>
      </p:sp>
      <p:sp>
        <p:nvSpPr>
          <p:cNvPr id="10" name="Shape 8"/>
          <p:cNvSpPr/>
          <p:nvPr/>
        </p:nvSpPr>
        <p:spPr>
          <a:xfrm>
            <a:off x="9476232" y="1417320"/>
            <a:ext cx="1082040" cy="582930"/>
          </a:xfrm>
          <a:prstGeom prst="rect">
            <a:avLst/>
          </a:prstGeom>
          <a:solidFill>
            <a:srgbClr val="0B1F33"/>
          </a:solidFill>
          <a:ln w="12700">
            <a:solidFill>
              <a:srgbClr val="FFFFFF"/>
            </a:solidFill>
            <a:prstDash val="solid"/>
          </a:ln>
        </p:spPr>
      </p:sp>
      <p:sp>
        <p:nvSpPr>
          <p:cNvPr id="11" name="Text 9"/>
          <p:cNvSpPr/>
          <p:nvPr/>
        </p:nvSpPr>
        <p:spPr>
          <a:xfrm>
            <a:off x="9512808" y="1472184"/>
            <a:ext cx="1008888" cy="509778"/>
          </a:xfrm>
          <a:prstGeom prst="rect">
            <a:avLst/>
          </a:prstGeom>
          <a:noFill/>
          <a:ln/>
        </p:spPr>
        <p:txBody>
          <a:bodyPr wrap="square" lIns="0" tIns="0" rIns="0" bIns="0" rtlCol="0" anchor="ctr"/>
          <a:lstStyle/>
          <a:p>
            <a:pPr algn="ctr" indent="0" marL="0">
              <a:buNone/>
            </a:pPr>
            <a:r>
              <a:rPr lang="en-US" sz="1200" b="1" dirty="0">
                <a:solidFill>
                  <a:srgbClr val="FFFFFF"/>
                </a:solidFill>
              </a:rPr>
              <a:t>nome</a:t>
            </a:r>
            <a:endParaRPr lang="en-US" sz="1200" dirty="0"/>
          </a:p>
        </p:txBody>
      </p:sp>
      <p:sp>
        <p:nvSpPr>
          <p:cNvPr id="12" name="Shape 10"/>
          <p:cNvSpPr/>
          <p:nvPr/>
        </p:nvSpPr>
        <p:spPr>
          <a:xfrm>
            <a:off x="10558272" y="1417320"/>
            <a:ext cx="1082040" cy="582930"/>
          </a:xfrm>
          <a:prstGeom prst="rect">
            <a:avLst/>
          </a:prstGeom>
          <a:solidFill>
            <a:srgbClr val="0B1F33"/>
          </a:solidFill>
          <a:ln w="12700">
            <a:solidFill>
              <a:srgbClr val="FFFFFF"/>
            </a:solidFill>
            <a:prstDash val="solid"/>
          </a:ln>
        </p:spPr>
      </p:sp>
      <p:sp>
        <p:nvSpPr>
          <p:cNvPr id="13" name="Text 11"/>
          <p:cNvSpPr/>
          <p:nvPr/>
        </p:nvSpPr>
        <p:spPr>
          <a:xfrm>
            <a:off x="10594848" y="1472184"/>
            <a:ext cx="1008888" cy="509778"/>
          </a:xfrm>
          <a:prstGeom prst="rect">
            <a:avLst/>
          </a:prstGeom>
          <a:noFill/>
          <a:ln/>
        </p:spPr>
        <p:txBody>
          <a:bodyPr wrap="square" lIns="0" tIns="0" rIns="0" bIns="0" rtlCol="0" anchor="ctr"/>
          <a:lstStyle/>
          <a:p>
            <a:pPr algn="ctr" indent="0" marL="0">
              <a:buNone/>
            </a:pPr>
            <a:r>
              <a:rPr lang="en-US" sz="1200" b="1" dirty="0">
                <a:solidFill>
                  <a:srgbClr val="FFFFFF"/>
                </a:solidFill>
              </a:rPr>
              <a:t>email</a:t>
            </a:r>
            <a:endParaRPr lang="en-US" sz="1200" dirty="0"/>
          </a:p>
        </p:txBody>
      </p:sp>
      <p:sp>
        <p:nvSpPr>
          <p:cNvPr id="14" name="Shape 12"/>
          <p:cNvSpPr/>
          <p:nvPr/>
        </p:nvSpPr>
        <p:spPr>
          <a:xfrm>
            <a:off x="8394192" y="2000250"/>
            <a:ext cx="1082040" cy="582930"/>
          </a:xfrm>
          <a:prstGeom prst="rect">
            <a:avLst/>
          </a:prstGeom>
          <a:solidFill>
            <a:srgbClr val="FFFFFF"/>
          </a:solidFill>
          <a:ln w="12700">
            <a:solidFill>
              <a:srgbClr val="D9E2EC"/>
            </a:solidFill>
            <a:prstDash val="solid"/>
          </a:ln>
        </p:spPr>
      </p:sp>
      <p:sp>
        <p:nvSpPr>
          <p:cNvPr id="15" name="Text 13"/>
          <p:cNvSpPr/>
          <p:nvPr/>
        </p:nvSpPr>
        <p:spPr>
          <a:xfrm>
            <a:off x="8430768" y="204597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101</a:t>
            </a:r>
            <a:endParaRPr lang="en-US" sz="1050" dirty="0"/>
          </a:p>
        </p:txBody>
      </p:sp>
      <p:sp>
        <p:nvSpPr>
          <p:cNvPr id="16" name="Shape 14"/>
          <p:cNvSpPr/>
          <p:nvPr/>
        </p:nvSpPr>
        <p:spPr>
          <a:xfrm>
            <a:off x="9476232" y="2000250"/>
            <a:ext cx="1082040" cy="582930"/>
          </a:xfrm>
          <a:prstGeom prst="rect">
            <a:avLst/>
          </a:prstGeom>
          <a:solidFill>
            <a:srgbClr val="FFFFFF"/>
          </a:solidFill>
          <a:ln w="12700">
            <a:solidFill>
              <a:srgbClr val="D9E2EC"/>
            </a:solidFill>
            <a:prstDash val="solid"/>
          </a:ln>
        </p:spPr>
      </p:sp>
      <p:sp>
        <p:nvSpPr>
          <p:cNvPr id="17" name="Text 15"/>
          <p:cNvSpPr/>
          <p:nvPr/>
        </p:nvSpPr>
        <p:spPr>
          <a:xfrm>
            <a:off x="9512808" y="204597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Ana</a:t>
            </a:r>
            <a:endParaRPr lang="en-US" sz="1050" dirty="0"/>
          </a:p>
        </p:txBody>
      </p:sp>
      <p:sp>
        <p:nvSpPr>
          <p:cNvPr id="18" name="Shape 16"/>
          <p:cNvSpPr/>
          <p:nvPr/>
        </p:nvSpPr>
        <p:spPr>
          <a:xfrm>
            <a:off x="10558272" y="2000250"/>
            <a:ext cx="1082040" cy="582930"/>
          </a:xfrm>
          <a:prstGeom prst="rect">
            <a:avLst/>
          </a:prstGeom>
          <a:solidFill>
            <a:srgbClr val="FFFFFF"/>
          </a:solidFill>
          <a:ln w="12700">
            <a:solidFill>
              <a:srgbClr val="D9E2EC"/>
            </a:solidFill>
            <a:prstDash val="solid"/>
          </a:ln>
        </p:spPr>
      </p:sp>
      <p:sp>
        <p:nvSpPr>
          <p:cNvPr id="19" name="Text 17"/>
          <p:cNvSpPr/>
          <p:nvPr/>
        </p:nvSpPr>
        <p:spPr>
          <a:xfrm>
            <a:off x="10594848" y="204597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ana@x.br</a:t>
            </a:r>
            <a:endParaRPr lang="en-US" sz="1050" dirty="0"/>
          </a:p>
        </p:txBody>
      </p:sp>
      <p:sp>
        <p:nvSpPr>
          <p:cNvPr id="20" name="Shape 18"/>
          <p:cNvSpPr/>
          <p:nvPr/>
        </p:nvSpPr>
        <p:spPr>
          <a:xfrm>
            <a:off x="8394192" y="2583180"/>
            <a:ext cx="1082040" cy="582930"/>
          </a:xfrm>
          <a:prstGeom prst="rect">
            <a:avLst/>
          </a:prstGeom>
          <a:solidFill>
            <a:srgbClr val="F8FAFD"/>
          </a:solidFill>
          <a:ln w="12700">
            <a:solidFill>
              <a:srgbClr val="D9E2EC"/>
            </a:solidFill>
            <a:prstDash val="solid"/>
          </a:ln>
        </p:spPr>
      </p:sp>
      <p:sp>
        <p:nvSpPr>
          <p:cNvPr id="21" name="Text 19"/>
          <p:cNvSpPr/>
          <p:nvPr/>
        </p:nvSpPr>
        <p:spPr>
          <a:xfrm>
            <a:off x="8430768" y="262890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102</a:t>
            </a:r>
            <a:endParaRPr lang="en-US" sz="1050" dirty="0"/>
          </a:p>
        </p:txBody>
      </p:sp>
      <p:sp>
        <p:nvSpPr>
          <p:cNvPr id="22" name="Shape 20"/>
          <p:cNvSpPr/>
          <p:nvPr/>
        </p:nvSpPr>
        <p:spPr>
          <a:xfrm>
            <a:off x="9476232" y="2583180"/>
            <a:ext cx="1082040" cy="582930"/>
          </a:xfrm>
          <a:prstGeom prst="rect">
            <a:avLst/>
          </a:prstGeom>
          <a:solidFill>
            <a:srgbClr val="F8FAFD"/>
          </a:solidFill>
          <a:ln w="12700">
            <a:solidFill>
              <a:srgbClr val="D9E2EC"/>
            </a:solidFill>
            <a:prstDash val="solid"/>
          </a:ln>
        </p:spPr>
      </p:sp>
      <p:sp>
        <p:nvSpPr>
          <p:cNvPr id="23" name="Text 21"/>
          <p:cNvSpPr/>
          <p:nvPr/>
        </p:nvSpPr>
        <p:spPr>
          <a:xfrm>
            <a:off x="9512808" y="262890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Beto</a:t>
            </a:r>
            <a:endParaRPr lang="en-US" sz="1050" dirty="0"/>
          </a:p>
        </p:txBody>
      </p:sp>
      <p:sp>
        <p:nvSpPr>
          <p:cNvPr id="24" name="Shape 22"/>
          <p:cNvSpPr/>
          <p:nvPr/>
        </p:nvSpPr>
        <p:spPr>
          <a:xfrm>
            <a:off x="10558272" y="2583180"/>
            <a:ext cx="1082040" cy="582930"/>
          </a:xfrm>
          <a:prstGeom prst="rect">
            <a:avLst/>
          </a:prstGeom>
          <a:solidFill>
            <a:srgbClr val="F8FAFD"/>
          </a:solidFill>
          <a:ln w="12700">
            <a:solidFill>
              <a:srgbClr val="D9E2EC"/>
            </a:solidFill>
            <a:prstDash val="solid"/>
          </a:ln>
        </p:spPr>
      </p:sp>
      <p:sp>
        <p:nvSpPr>
          <p:cNvPr id="25" name="Text 23"/>
          <p:cNvSpPr/>
          <p:nvPr/>
        </p:nvSpPr>
        <p:spPr>
          <a:xfrm>
            <a:off x="10594848" y="262890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beto@x.br</a:t>
            </a:r>
            <a:endParaRPr lang="en-US" sz="1050" dirty="0"/>
          </a:p>
        </p:txBody>
      </p:sp>
      <p:sp>
        <p:nvSpPr>
          <p:cNvPr id="26" name="Shape 24"/>
          <p:cNvSpPr/>
          <p:nvPr/>
        </p:nvSpPr>
        <p:spPr>
          <a:xfrm>
            <a:off x="8394192" y="3166110"/>
            <a:ext cx="1082040" cy="582930"/>
          </a:xfrm>
          <a:prstGeom prst="rect">
            <a:avLst/>
          </a:prstGeom>
          <a:solidFill>
            <a:srgbClr val="FFFFFF"/>
          </a:solidFill>
          <a:ln w="12700">
            <a:solidFill>
              <a:srgbClr val="D9E2EC"/>
            </a:solidFill>
            <a:prstDash val="solid"/>
          </a:ln>
        </p:spPr>
      </p:sp>
      <p:sp>
        <p:nvSpPr>
          <p:cNvPr id="27" name="Text 25"/>
          <p:cNvSpPr/>
          <p:nvPr/>
        </p:nvSpPr>
        <p:spPr>
          <a:xfrm>
            <a:off x="8430768" y="321183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103</a:t>
            </a:r>
            <a:endParaRPr lang="en-US" sz="1050" dirty="0"/>
          </a:p>
        </p:txBody>
      </p:sp>
      <p:sp>
        <p:nvSpPr>
          <p:cNvPr id="28" name="Shape 26"/>
          <p:cNvSpPr/>
          <p:nvPr/>
        </p:nvSpPr>
        <p:spPr>
          <a:xfrm>
            <a:off x="9476232" y="3166110"/>
            <a:ext cx="1082040" cy="582930"/>
          </a:xfrm>
          <a:prstGeom prst="rect">
            <a:avLst/>
          </a:prstGeom>
          <a:solidFill>
            <a:srgbClr val="FFFFFF"/>
          </a:solidFill>
          <a:ln w="12700">
            <a:solidFill>
              <a:srgbClr val="D9E2EC"/>
            </a:solidFill>
            <a:prstDash val="solid"/>
          </a:ln>
        </p:spPr>
      </p:sp>
      <p:sp>
        <p:nvSpPr>
          <p:cNvPr id="29" name="Text 27"/>
          <p:cNvSpPr/>
          <p:nvPr/>
        </p:nvSpPr>
        <p:spPr>
          <a:xfrm>
            <a:off x="9512808" y="321183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Caio</a:t>
            </a:r>
            <a:endParaRPr lang="en-US" sz="1050" dirty="0"/>
          </a:p>
        </p:txBody>
      </p:sp>
      <p:sp>
        <p:nvSpPr>
          <p:cNvPr id="30" name="Shape 28"/>
          <p:cNvSpPr/>
          <p:nvPr/>
        </p:nvSpPr>
        <p:spPr>
          <a:xfrm>
            <a:off x="10558272" y="3166110"/>
            <a:ext cx="1082040" cy="582930"/>
          </a:xfrm>
          <a:prstGeom prst="rect">
            <a:avLst/>
          </a:prstGeom>
          <a:solidFill>
            <a:srgbClr val="FFFFFF"/>
          </a:solidFill>
          <a:ln w="12700">
            <a:solidFill>
              <a:srgbClr val="D9E2EC"/>
            </a:solidFill>
            <a:prstDash val="solid"/>
          </a:ln>
        </p:spPr>
      </p:sp>
      <p:sp>
        <p:nvSpPr>
          <p:cNvPr id="31" name="Text 29"/>
          <p:cNvSpPr/>
          <p:nvPr/>
        </p:nvSpPr>
        <p:spPr>
          <a:xfrm>
            <a:off x="10594848" y="321183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caio@x.br</a:t>
            </a:r>
            <a:endParaRPr lang="en-US" sz="1050" dirty="0"/>
          </a:p>
        </p:txBody>
      </p:sp>
      <p:sp>
        <p:nvSpPr>
          <p:cNvPr id="32" name="Text 30"/>
          <p:cNvSpPr/>
          <p:nvPr/>
        </p:nvSpPr>
        <p:spPr>
          <a:xfrm>
            <a:off x="8549640" y="4078224"/>
            <a:ext cx="2743200" cy="274320"/>
          </a:xfrm>
          <a:prstGeom prst="rect">
            <a:avLst/>
          </a:prstGeom>
          <a:noFill/>
          <a:ln/>
        </p:spPr>
        <p:txBody>
          <a:bodyPr wrap="square" lIns="0" tIns="0" rIns="0" bIns="0" rtlCol="0" anchor="ctr"/>
          <a:lstStyle/>
          <a:p>
            <a:pPr algn="ctr" indent="0" marL="0">
              <a:buNone/>
            </a:pPr>
            <a:r>
              <a:rPr lang="en-US" sz="1600" b="1" dirty="0">
                <a:solidFill>
                  <a:srgbClr val="2463EB"/>
                </a:solidFill>
              </a:rPr>
              <a:t>candidatas</a:t>
            </a:r>
            <a:endParaRPr lang="en-US" sz="1600" dirty="0"/>
          </a:p>
        </p:txBody>
      </p:sp>
      <p:sp>
        <p:nvSpPr>
          <p:cNvPr id="33" name="Shape 31"/>
          <p:cNvSpPr/>
          <p:nvPr/>
        </p:nvSpPr>
        <p:spPr>
          <a:xfrm>
            <a:off x="8595360" y="4480560"/>
            <a:ext cx="1188720" cy="685800"/>
          </a:xfrm>
          <a:prstGeom prst="roundRect">
            <a:avLst>
              <a:gd name="adj" fmla="val 10667"/>
            </a:avLst>
          </a:prstGeom>
          <a:solidFill>
            <a:srgbClr val="EAF1FF"/>
          </a:solidFill>
          <a:ln w="12700">
            <a:solidFill>
              <a:srgbClr val="C6D2E1"/>
            </a:solidFill>
            <a:prstDash val="solid"/>
          </a:ln>
        </p:spPr>
      </p:sp>
      <p:sp>
        <p:nvSpPr>
          <p:cNvPr id="34" name="Shape 32"/>
          <p:cNvSpPr/>
          <p:nvPr/>
        </p:nvSpPr>
        <p:spPr>
          <a:xfrm>
            <a:off x="8613648" y="4498848"/>
            <a:ext cx="73152" cy="649224"/>
          </a:xfrm>
          <a:prstGeom prst="rect">
            <a:avLst/>
          </a:prstGeom>
          <a:solidFill>
            <a:srgbClr val="2463EB"/>
          </a:solidFill>
          <a:ln w="12700">
            <a:solidFill>
              <a:srgbClr val="2463EB"/>
            </a:solidFill>
            <a:prstDash val="solid"/>
          </a:ln>
        </p:spPr>
      </p:sp>
      <p:sp>
        <p:nvSpPr>
          <p:cNvPr id="35" name="Text 33"/>
          <p:cNvSpPr/>
          <p:nvPr/>
        </p:nvSpPr>
        <p:spPr>
          <a:xfrm>
            <a:off x="8796528" y="4645152"/>
            <a:ext cx="841248" cy="256032"/>
          </a:xfrm>
          <a:prstGeom prst="rect">
            <a:avLst/>
          </a:prstGeom>
          <a:noFill/>
          <a:ln/>
        </p:spPr>
        <p:txBody>
          <a:bodyPr wrap="square" lIns="0" tIns="0" rIns="0" bIns="0" rtlCol="0" anchor="ctr"/>
          <a:lstStyle/>
          <a:p>
            <a:pPr indent="0" marL="0">
              <a:buNone/>
            </a:pPr>
            <a:r>
              <a:rPr lang="en-US" sz="1600" b="1" dirty="0">
                <a:solidFill>
                  <a:srgbClr val="0B1F33"/>
                </a:solidFill>
              </a:rPr>
              <a:t>id</a:t>
            </a:r>
            <a:endParaRPr lang="en-US" sz="1600" dirty="0"/>
          </a:p>
        </p:txBody>
      </p:sp>
      <p:sp>
        <p:nvSpPr>
          <p:cNvPr id="36" name="Shape 34"/>
          <p:cNvSpPr/>
          <p:nvPr/>
        </p:nvSpPr>
        <p:spPr>
          <a:xfrm>
            <a:off x="10104120" y="4480560"/>
            <a:ext cx="1188720" cy="685800"/>
          </a:xfrm>
          <a:prstGeom prst="roundRect">
            <a:avLst>
              <a:gd name="adj" fmla="val 10667"/>
            </a:avLst>
          </a:prstGeom>
          <a:solidFill>
            <a:srgbClr val="E7F7F5"/>
          </a:solidFill>
          <a:ln w="12700">
            <a:solidFill>
              <a:srgbClr val="C6D2E1"/>
            </a:solidFill>
            <a:prstDash val="solid"/>
          </a:ln>
        </p:spPr>
      </p:sp>
      <p:sp>
        <p:nvSpPr>
          <p:cNvPr id="37" name="Shape 35"/>
          <p:cNvSpPr/>
          <p:nvPr/>
        </p:nvSpPr>
        <p:spPr>
          <a:xfrm>
            <a:off x="10122408" y="4498848"/>
            <a:ext cx="73152" cy="649224"/>
          </a:xfrm>
          <a:prstGeom prst="rect">
            <a:avLst/>
          </a:prstGeom>
          <a:solidFill>
            <a:srgbClr val="0F766E"/>
          </a:solidFill>
          <a:ln w="12700">
            <a:solidFill>
              <a:srgbClr val="0F766E"/>
            </a:solidFill>
            <a:prstDash val="solid"/>
          </a:ln>
        </p:spPr>
      </p:sp>
      <p:sp>
        <p:nvSpPr>
          <p:cNvPr id="38" name="Text 36"/>
          <p:cNvSpPr/>
          <p:nvPr/>
        </p:nvSpPr>
        <p:spPr>
          <a:xfrm>
            <a:off x="10305288" y="4645152"/>
            <a:ext cx="841248" cy="256032"/>
          </a:xfrm>
          <a:prstGeom prst="rect">
            <a:avLst/>
          </a:prstGeom>
          <a:noFill/>
          <a:ln/>
        </p:spPr>
        <p:txBody>
          <a:bodyPr wrap="square" lIns="0" tIns="0" rIns="0" bIns="0" rtlCol="0" anchor="ctr"/>
          <a:lstStyle/>
          <a:p>
            <a:pPr indent="0" marL="0">
              <a:buNone/>
            </a:pPr>
            <a:r>
              <a:rPr lang="en-US" sz="1600" b="1" dirty="0">
                <a:solidFill>
                  <a:srgbClr val="0B1F33"/>
                </a:solidFill>
              </a:rPr>
              <a:t>email</a:t>
            </a:r>
            <a:endParaRPr lang="en-US" sz="16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Chave primária</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A CANDIDATA ESCOLHIDA COMO IDENTIFICADOR PRINCIPAL</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- 16</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A chave primária é a chave candidata escolhida para identificar as tuplas da relação. Seus valores devem ser únicos e não nulos. Em SQL, PRIMARY KEY expressa essas condições e documenta o identificador oficial da tabela. Uma tabela possui no máximo uma chave primária, embora essa chave possa ser formada por várias colunas.</a:t>
            </a:r>
            <a:endParaRPr lang="en-US" sz="2400" dirty="0"/>
          </a:p>
        </p:txBody>
      </p:sp>
      <p:sp>
        <p:nvSpPr>
          <p:cNvPr id="7" name="Shape 5"/>
          <p:cNvSpPr/>
          <p:nvPr/>
        </p:nvSpPr>
        <p:spPr>
          <a:xfrm>
            <a:off x="8394192" y="1417320"/>
            <a:ext cx="3246120" cy="2331720"/>
          </a:xfrm>
          <a:prstGeom prst="roundRect">
            <a:avLst>
              <a:gd name="adj" fmla="val 1961"/>
            </a:avLst>
          </a:prstGeom>
          <a:solidFill>
            <a:srgbClr val="FFFFFF"/>
          </a:solidFill>
          <a:ln w="12700">
            <a:solidFill>
              <a:srgbClr val="C9D4E3"/>
            </a:solidFill>
            <a:prstDash val="solid"/>
          </a:ln>
        </p:spPr>
      </p:sp>
      <p:sp>
        <p:nvSpPr>
          <p:cNvPr id="8" name="Shape 6"/>
          <p:cNvSpPr/>
          <p:nvPr/>
        </p:nvSpPr>
        <p:spPr>
          <a:xfrm>
            <a:off x="8394192" y="1417320"/>
            <a:ext cx="1082040" cy="582930"/>
          </a:xfrm>
          <a:prstGeom prst="rect">
            <a:avLst/>
          </a:prstGeom>
          <a:solidFill>
            <a:srgbClr val="0B1F33"/>
          </a:solidFill>
          <a:ln w="12700">
            <a:solidFill>
              <a:srgbClr val="FFFFFF"/>
            </a:solidFill>
            <a:prstDash val="solid"/>
          </a:ln>
        </p:spPr>
      </p:sp>
      <p:sp>
        <p:nvSpPr>
          <p:cNvPr id="9" name="Text 7"/>
          <p:cNvSpPr/>
          <p:nvPr/>
        </p:nvSpPr>
        <p:spPr>
          <a:xfrm>
            <a:off x="8430768" y="1472184"/>
            <a:ext cx="1008888" cy="509778"/>
          </a:xfrm>
          <a:prstGeom prst="rect">
            <a:avLst/>
          </a:prstGeom>
          <a:noFill/>
          <a:ln/>
        </p:spPr>
        <p:txBody>
          <a:bodyPr wrap="square" lIns="0" tIns="0" rIns="0" bIns="0" rtlCol="0" anchor="ctr"/>
          <a:lstStyle/>
          <a:p>
            <a:pPr algn="ctr" indent="0" marL="0">
              <a:buNone/>
            </a:pPr>
            <a:r>
              <a:rPr lang="en-US" sz="1200" b="1" dirty="0">
                <a:solidFill>
                  <a:srgbClr val="FFFFFF"/>
                </a:solidFill>
              </a:rPr>
              <a:t>id</a:t>
            </a:r>
            <a:endParaRPr lang="en-US" sz="1200" dirty="0"/>
          </a:p>
        </p:txBody>
      </p:sp>
      <p:sp>
        <p:nvSpPr>
          <p:cNvPr id="10" name="Shape 8"/>
          <p:cNvSpPr/>
          <p:nvPr/>
        </p:nvSpPr>
        <p:spPr>
          <a:xfrm>
            <a:off x="9476232" y="1417320"/>
            <a:ext cx="1082040" cy="582930"/>
          </a:xfrm>
          <a:prstGeom prst="rect">
            <a:avLst/>
          </a:prstGeom>
          <a:solidFill>
            <a:srgbClr val="0B1F33"/>
          </a:solidFill>
          <a:ln w="12700">
            <a:solidFill>
              <a:srgbClr val="FFFFFF"/>
            </a:solidFill>
            <a:prstDash val="solid"/>
          </a:ln>
        </p:spPr>
      </p:sp>
      <p:sp>
        <p:nvSpPr>
          <p:cNvPr id="11" name="Text 9"/>
          <p:cNvSpPr/>
          <p:nvPr/>
        </p:nvSpPr>
        <p:spPr>
          <a:xfrm>
            <a:off x="9512808" y="1472184"/>
            <a:ext cx="1008888" cy="509778"/>
          </a:xfrm>
          <a:prstGeom prst="rect">
            <a:avLst/>
          </a:prstGeom>
          <a:noFill/>
          <a:ln/>
        </p:spPr>
        <p:txBody>
          <a:bodyPr wrap="square" lIns="0" tIns="0" rIns="0" bIns="0" rtlCol="0" anchor="ctr"/>
          <a:lstStyle/>
          <a:p>
            <a:pPr algn="ctr" indent="0" marL="0">
              <a:buNone/>
            </a:pPr>
            <a:r>
              <a:rPr lang="en-US" sz="1200" b="1" dirty="0">
                <a:solidFill>
                  <a:srgbClr val="FFFFFF"/>
                </a:solidFill>
              </a:rPr>
              <a:t>nome</a:t>
            </a:r>
            <a:endParaRPr lang="en-US" sz="1200" dirty="0"/>
          </a:p>
        </p:txBody>
      </p:sp>
      <p:sp>
        <p:nvSpPr>
          <p:cNvPr id="12" name="Shape 10"/>
          <p:cNvSpPr/>
          <p:nvPr/>
        </p:nvSpPr>
        <p:spPr>
          <a:xfrm>
            <a:off x="10558272" y="1417320"/>
            <a:ext cx="1082040" cy="582930"/>
          </a:xfrm>
          <a:prstGeom prst="rect">
            <a:avLst/>
          </a:prstGeom>
          <a:solidFill>
            <a:srgbClr val="0B1F33"/>
          </a:solidFill>
          <a:ln w="12700">
            <a:solidFill>
              <a:srgbClr val="FFFFFF"/>
            </a:solidFill>
            <a:prstDash val="solid"/>
          </a:ln>
        </p:spPr>
      </p:sp>
      <p:sp>
        <p:nvSpPr>
          <p:cNvPr id="13" name="Text 11"/>
          <p:cNvSpPr/>
          <p:nvPr/>
        </p:nvSpPr>
        <p:spPr>
          <a:xfrm>
            <a:off x="10594848" y="1472184"/>
            <a:ext cx="1008888" cy="509778"/>
          </a:xfrm>
          <a:prstGeom prst="rect">
            <a:avLst/>
          </a:prstGeom>
          <a:noFill/>
          <a:ln/>
        </p:spPr>
        <p:txBody>
          <a:bodyPr wrap="square" lIns="0" tIns="0" rIns="0" bIns="0" rtlCol="0" anchor="ctr"/>
          <a:lstStyle/>
          <a:p>
            <a:pPr algn="ctr" indent="0" marL="0">
              <a:buNone/>
            </a:pPr>
            <a:r>
              <a:rPr lang="en-US" sz="1200" b="1" dirty="0">
                <a:solidFill>
                  <a:srgbClr val="FFFFFF"/>
                </a:solidFill>
              </a:rPr>
              <a:t>email</a:t>
            </a:r>
            <a:endParaRPr lang="en-US" sz="1200" dirty="0"/>
          </a:p>
        </p:txBody>
      </p:sp>
      <p:sp>
        <p:nvSpPr>
          <p:cNvPr id="14" name="Shape 12"/>
          <p:cNvSpPr/>
          <p:nvPr/>
        </p:nvSpPr>
        <p:spPr>
          <a:xfrm>
            <a:off x="8394192" y="2000250"/>
            <a:ext cx="1082040" cy="582930"/>
          </a:xfrm>
          <a:prstGeom prst="rect">
            <a:avLst/>
          </a:prstGeom>
          <a:solidFill>
            <a:srgbClr val="FFFFFF"/>
          </a:solidFill>
          <a:ln w="12700">
            <a:solidFill>
              <a:srgbClr val="D9E2EC"/>
            </a:solidFill>
            <a:prstDash val="solid"/>
          </a:ln>
        </p:spPr>
      </p:sp>
      <p:sp>
        <p:nvSpPr>
          <p:cNvPr id="15" name="Text 13"/>
          <p:cNvSpPr/>
          <p:nvPr/>
        </p:nvSpPr>
        <p:spPr>
          <a:xfrm>
            <a:off x="8430768" y="204597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101</a:t>
            </a:r>
            <a:endParaRPr lang="en-US" sz="1050" dirty="0"/>
          </a:p>
        </p:txBody>
      </p:sp>
      <p:sp>
        <p:nvSpPr>
          <p:cNvPr id="16" name="Shape 14"/>
          <p:cNvSpPr/>
          <p:nvPr/>
        </p:nvSpPr>
        <p:spPr>
          <a:xfrm>
            <a:off x="9476232" y="2000250"/>
            <a:ext cx="1082040" cy="582930"/>
          </a:xfrm>
          <a:prstGeom prst="rect">
            <a:avLst/>
          </a:prstGeom>
          <a:solidFill>
            <a:srgbClr val="FFFFFF"/>
          </a:solidFill>
          <a:ln w="12700">
            <a:solidFill>
              <a:srgbClr val="D9E2EC"/>
            </a:solidFill>
            <a:prstDash val="solid"/>
          </a:ln>
        </p:spPr>
      </p:sp>
      <p:sp>
        <p:nvSpPr>
          <p:cNvPr id="17" name="Text 15"/>
          <p:cNvSpPr/>
          <p:nvPr/>
        </p:nvSpPr>
        <p:spPr>
          <a:xfrm>
            <a:off x="9512808" y="204597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Ana</a:t>
            </a:r>
            <a:endParaRPr lang="en-US" sz="1050" dirty="0"/>
          </a:p>
        </p:txBody>
      </p:sp>
      <p:sp>
        <p:nvSpPr>
          <p:cNvPr id="18" name="Shape 16"/>
          <p:cNvSpPr/>
          <p:nvPr/>
        </p:nvSpPr>
        <p:spPr>
          <a:xfrm>
            <a:off x="10558272" y="2000250"/>
            <a:ext cx="1082040" cy="582930"/>
          </a:xfrm>
          <a:prstGeom prst="rect">
            <a:avLst/>
          </a:prstGeom>
          <a:solidFill>
            <a:srgbClr val="FFFFFF"/>
          </a:solidFill>
          <a:ln w="12700">
            <a:solidFill>
              <a:srgbClr val="D9E2EC"/>
            </a:solidFill>
            <a:prstDash val="solid"/>
          </a:ln>
        </p:spPr>
      </p:sp>
      <p:sp>
        <p:nvSpPr>
          <p:cNvPr id="19" name="Text 17"/>
          <p:cNvSpPr/>
          <p:nvPr/>
        </p:nvSpPr>
        <p:spPr>
          <a:xfrm>
            <a:off x="10594848" y="204597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ana@x.br</a:t>
            </a:r>
            <a:endParaRPr lang="en-US" sz="1050" dirty="0"/>
          </a:p>
        </p:txBody>
      </p:sp>
      <p:sp>
        <p:nvSpPr>
          <p:cNvPr id="20" name="Shape 18"/>
          <p:cNvSpPr/>
          <p:nvPr/>
        </p:nvSpPr>
        <p:spPr>
          <a:xfrm>
            <a:off x="8394192" y="2583180"/>
            <a:ext cx="1082040" cy="582930"/>
          </a:xfrm>
          <a:prstGeom prst="rect">
            <a:avLst/>
          </a:prstGeom>
          <a:solidFill>
            <a:srgbClr val="F8FAFD"/>
          </a:solidFill>
          <a:ln w="12700">
            <a:solidFill>
              <a:srgbClr val="D9E2EC"/>
            </a:solidFill>
            <a:prstDash val="solid"/>
          </a:ln>
        </p:spPr>
      </p:sp>
      <p:sp>
        <p:nvSpPr>
          <p:cNvPr id="21" name="Text 19"/>
          <p:cNvSpPr/>
          <p:nvPr/>
        </p:nvSpPr>
        <p:spPr>
          <a:xfrm>
            <a:off x="8430768" y="262890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102</a:t>
            </a:r>
            <a:endParaRPr lang="en-US" sz="1050" dirty="0"/>
          </a:p>
        </p:txBody>
      </p:sp>
      <p:sp>
        <p:nvSpPr>
          <p:cNvPr id="22" name="Shape 20"/>
          <p:cNvSpPr/>
          <p:nvPr/>
        </p:nvSpPr>
        <p:spPr>
          <a:xfrm>
            <a:off x="9476232" y="2583180"/>
            <a:ext cx="1082040" cy="582930"/>
          </a:xfrm>
          <a:prstGeom prst="rect">
            <a:avLst/>
          </a:prstGeom>
          <a:solidFill>
            <a:srgbClr val="F8FAFD"/>
          </a:solidFill>
          <a:ln w="12700">
            <a:solidFill>
              <a:srgbClr val="D9E2EC"/>
            </a:solidFill>
            <a:prstDash val="solid"/>
          </a:ln>
        </p:spPr>
      </p:sp>
      <p:sp>
        <p:nvSpPr>
          <p:cNvPr id="23" name="Text 21"/>
          <p:cNvSpPr/>
          <p:nvPr/>
        </p:nvSpPr>
        <p:spPr>
          <a:xfrm>
            <a:off x="9512808" y="262890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Beto</a:t>
            </a:r>
            <a:endParaRPr lang="en-US" sz="1050" dirty="0"/>
          </a:p>
        </p:txBody>
      </p:sp>
      <p:sp>
        <p:nvSpPr>
          <p:cNvPr id="24" name="Shape 22"/>
          <p:cNvSpPr/>
          <p:nvPr/>
        </p:nvSpPr>
        <p:spPr>
          <a:xfrm>
            <a:off x="10558272" y="2583180"/>
            <a:ext cx="1082040" cy="582930"/>
          </a:xfrm>
          <a:prstGeom prst="rect">
            <a:avLst/>
          </a:prstGeom>
          <a:solidFill>
            <a:srgbClr val="F8FAFD"/>
          </a:solidFill>
          <a:ln w="12700">
            <a:solidFill>
              <a:srgbClr val="D9E2EC"/>
            </a:solidFill>
            <a:prstDash val="solid"/>
          </a:ln>
        </p:spPr>
      </p:sp>
      <p:sp>
        <p:nvSpPr>
          <p:cNvPr id="25" name="Text 23"/>
          <p:cNvSpPr/>
          <p:nvPr/>
        </p:nvSpPr>
        <p:spPr>
          <a:xfrm>
            <a:off x="10594848" y="262890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beto@x.br</a:t>
            </a:r>
            <a:endParaRPr lang="en-US" sz="1050" dirty="0"/>
          </a:p>
        </p:txBody>
      </p:sp>
      <p:sp>
        <p:nvSpPr>
          <p:cNvPr id="26" name="Shape 24"/>
          <p:cNvSpPr/>
          <p:nvPr/>
        </p:nvSpPr>
        <p:spPr>
          <a:xfrm>
            <a:off x="8394192" y="3166110"/>
            <a:ext cx="1082040" cy="582930"/>
          </a:xfrm>
          <a:prstGeom prst="rect">
            <a:avLst/>
          </a:prstGeom>
          <a:solidFill>
            <a:srgbClr val="FFFFFF"/>
          </a:solidFill>
          <a:ln w="12700">
            <a:solidFill>
              <a:srgbClr val="D9E2EC"/>
            </a:solidFill>
            <a:prstDash val="solid"/>
          </a:ln>
        </p:spPr>
      </p:sp>
      <p:sp>
        <p:nvSpPr>
          <p:cNvPr id="27" name="Text 25"/>
          <p:cNvSpPr/>
          <p:nvPr/>
        </p:nvSpPr>
        <p:spPr>
          <a:xfrm>
            <a:off x="8430768" y="321183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103</a:t>
            </a:r>
            <a:endParaRPr lang="en-US" sz="1050" dirty="0"/>
          </a:p>
        </p:txBody>
      </p:sp>
      <p:sp>
        <p:nvSpPr>
          <p:cNvPr id="28" name="Shape 26"/>
          <p:cNvSpPr/>
          <p:nvPr/>
        </p:nvSpPr>
        <p:spPr>
          <a:xfrm>
            <a:off x="9476232" y="3166110"/>
            <a:ext cx="1082040" cy="582930"/>
          </a:xfrm>
          <a:prstGeom prst="rect">
            <a:avLst/>
          </a:prstGeom>
          <a:solidFill>
            <a:srgbClr val="FFFFFF"/>
          </a:solidFill>
          <a:ln w="12700">
            <a:solidFill>
              <a:srgbClr val="D9E2EC"/>
            </a:solidFill>
            <a:prstDash val="solid"/>
          </a:ln>
        </p:spPr>
      </p:sp>
      <p:sp>
        <p:nvSpPr>
          <p:cNvPr id="29" name="Text 27"/>
          <p:cNvSpPr/>
          <p:nvPr/>
        </p:nvSpPr>
        <p:spPr>
          <a:xfrm>
            <a:off x="9512808" y="321183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Caio</a:t>
            </a:r>
            <a:endParaRPr lang="en-US" sz="1050" dirty="0"/>
          </a:p>
        </p:txBody>
      </p:sp>
      <p:sp>
        <p:nvSpPr>
          <p:cNvPr id="30" name="Shape 28"/>
          <p:cNvSpPr/>
          <p:nvPr/>
        </p:nvSpPr>
        <p:spPr>
          <a:xfrm>
            <a:off x="10558272" y="3166110"/>
            <a:ext cx="1082040" cy="582930"/>
          </a:xfrm>
          <a:prstGeom prst="rect">
            <a:avLst/>
          </a:prstGeom>
          <a:solidFill>
            <a:srgbClr val="FFFFFF"/>
          </a:solidFill>
          <a:ln w="12700">
            <a:solidFill>
              <a:srgbClr val="D9E2EC"/>
            </a:solidFill>
            <a:prstDash val="solid"/>
          </a:ln>
        </p:spPr>
      </p:sp>
      <p:sp>
        <p:nvSpPr>
          <p:cNvPr id="31" name="Text 29"/>
          <p:cNvSpPr/>
          <p:nvPr/>
        </p:nvSpPr>
        <p:spPr>
          <a:xfrm>
            <a:off x="10594848" y="321183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caio@x.br</a:t>
            </a:r>
            <a:endParaRPr lang="en-US" sz="1050" dirty="0"/>
          </a:p>
        </p:txBody>
      </p:sp>
      <p:sp>
        <p:nvSpPr>
          <p:cNvPr id="32" name="Shape 30"/>
          <p:cNvSpPr/>
          <p:nvPr/>
        </p:nvSpPr>
        <p:spPr>
          <a:xfrm>
            <a:off x="8430768" y="4069080"/>
            <a:ext cx="960120" cy="502920"/>
          </a:xfrm>
          <a:prstGeom prst="roundRect">
            <a:avLst/>
          </a:prstGeom>
          <a:solidFill>
            <a:srgbClr val="FFF4D6"/>
          </a:solidFill>
          <a:ln w="12700">
            <a:solidFill>
              <a:srgbClr val="F59E0B"/>
            </a:solidFill>
            <a:prstDash val="solid"/>
          </a:ln>
        </p:spPr>
      </p:sp>
      <p:sp>
        <p:nvSpPr>
          <p:cNvPr id="33" name="Text 31"/>
          <p:cNvSpPr/>
          <p:nvPr/>
        </p:nvSpPr>
        <p:spPr>
          <a:xfrm>
            <a:off x="8430768" y="4224528"/>
            <a:ext cx="960120" cy="146304"/>
          </a:xfrm>
          <a:prstGeom prst="rect">
            <a:avLst/>
          </a:prstGeom>
          <a:noFill/>
          <a:ln/>
        </p:spPr>
        <p:txBody>
          <a:bodyPr wrap="square" lIns="0" tIns="0" rIns="0" bIns="0" rtlCol="0" anchor="ctr"/>
          <a:lstStyle/>
          <a:p>
            <a:pPr algn="ctr" indent="0" marL="0">
              <a:buNone/>
            </a:pPr>
            <a:r>
              <a:rPr lang="en-US" sz="1400" b="1" dirty="0">
                <a:solidFill>
                  <a:srgbClr val="A35D00"/>
                </a:solidFill>
              </a:rPr>
              <a:t>PK</a:t>
            </a:r>
            <a:endParaRPr lang="en-US" sz="1400" dirty="0"/>
          </a:p>
        </p:txBody>
      </p:sp>
      <p:sp>
        <p:nvSpPr>
          <p:cNvPr id="34" name="Shape 32"/>
          <p:cNvSpPr/>
          <p:nvPr/>
        </p:nvSpPr>
        <p:spPr>
          <a:xfrm>
            <a:off x="8915400" y="-960120"/>
            <a:ext cx="0" cy="914400"/>
          </a:xfrm>
          <a:prstGeom prst="line">
            <a:avLst/>
          </a:prstGeom>
          <a:noFill/>
          <a:ln w="12700">
            <a:solidFill>
              <a:srgbClr val="F59E0B"/>
            </a:solidFill>
            <a:prstDash val="solid"/>
            <a:headEnd type="none"/>
            <a:tailEnd type="triangle"/>
          </a:ln>
        </p:spPr>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Chave alternativa e chave substituta</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OUTROS IDENTIFICADORES ÚTEIS</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- 17</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Chave alternativa é uma chave candidata que não foi escolhida como primária e pode ser protegida por UNIQUE. Já a chave substituta, ou surrogate key, é um identificador artificial, como um id numérico gerado pelo sistema. Ela simplifica referências, mas não elimina a necessidade de preservar regras de unicidade naturais do negócio quando existirem.</a:t>
            </a:r>
            <a:endParaRPr lang="en-US" sz="2400" dirty="0"/>
          </a:p>
        </p:txBody>
      </p:sp>
      <p:sp>
        <p:nvSpPr>
          <p:cNvPr id="7" name="Shape 5"/>
          <p:cNvSpPr/>
          <p:nvPr/>
        </p:nvSpPr>
        <p:spPr>
          <a:xfrm>
            <a:off x="8394192" y="1417320"/>
            <a:ext cx="3246120" cy="2331720"/>
          </a:xfrm>
          <a:prstGeom prst="roundRect">
            <a:avLst>
              <a:gd name="adj" fmla="val 1961"/>
            </a:avLst>
          </a:prstGeom>
          <a:solidFill>
            <a:srgbClr val="FFFFFF"/>
          </a:solidFill>
          <a:ln w="12700">
            <a:solidFill>
              <a:srgbClr val="C9D4E3"/>
            </a:solidFill>
            <a:prstDash val="solid"/>
          </a:ln>
        </p:spPr>
      </p:sp>
      <p:sp>
        <p:nvSpPr>
          <p:cNvPr id="8" name="Shape 6"/>
          <p:cNvSpPr/>
          <p:nvPr/>
        </p:nvSpPr>
        <p:spPr>
          <a:xfrm>
            <a:off x="8394192" y="1417320"/>
            <a:ext cx="1082040" cy="582930"/>
          </a:xfrm>
          <a:prstGeom prst="rect">
            <a:avLst/>
          </a:prstGeom>
          <a:solidFill>
            <a:srgbClr val="0B1F33"/>
          </a:solidFill>
          <a:ln w="12700">
            <a:solidFill>
              <a:srgbClr val="FFFFFF"/>
            </a:solidFill>
            <a:prstDash val="solid"/>
          </a:ln>
        </p:spPr>
      </p:sp>
      <p:sp>
        <p:nvSpPr>
          <p:cNvPr id="9" name="Text 7"/>
          <p:cNvSpPr/>
          <p:nvPr/>
        </p:nvSpPr>
        <p:spPr>
          <a:xfrm>
            <a:off x="8430768" y="1472184"/>
            <a:ext cx="1008888" cy="509778"/>
          </a:xfrm>
          <a:prstGeom prst="rect">
            <a:avLst/>
          </a:prstGeom>
          <a:noFill/>
          <a:ln/>
        </p:spPr>
        <p:txBody>
          <a:bodyPr wrap="square" lIns="0" tIns="0" rIns="0" bIns="0" rtlCol="0" anchor="ctr"/>
          <a:lstStyle/>
          <a:p>
            <a:pPr algn="ctr" indent="0" marL="0">
              <a:buNone/>
            </a:pPr>
            <a:r>
              <a:rPr lang="en-US" sz="1200" b="1" dirty="0">
                <a:solidFill>
                  <a:srgbClr val="FFFFFF"/>
                </a:solidFill>
              </a:rPr>
              <a:t>id</a:t>
            </a:r>
            <a:endParaRPr lang="en-US" sz="1200" dirty="0"/>
          </a:p>
        </p:txBody>
      </p:sp>
      <p:sp>
        <p:nvSpPr>
          <p:cNvPr id="10" name="Shape 8"/>
          <p:cNvSpPr/>
          <p:nvPr/>
        </p:nvSpPr>
        <p:spPr>
          <a:xfrm>
            <a:off x="9476232" y="1417320"/>
            <a:ext cx="1082040" cy="582930"/>
          </a:xfrm>
          <a:prstGeom prst="rect">
            <a:avLst/>
          </a:prstGeom>
          <a:solidFill>
            <a:srgbClr val="0B1F33"/>
          </a:solidFill>
          <a:ln w="12700">
            <a:solidFill>
              <a:srgbClr val="FFFFFF"/>
            </a:solidFill>
            <a:prstDash val="solid"/>
          </a:ln>
        </p:spPr>
      </p:sp>
      <p:sp>
        <p:nvSpPr>
          <p:cNvPr id="11" name="Text 9"/>
          <p:cNvSpPr/>
          <p:nvPr/>
        </p:nvSpPr>
        <p:spPr>
          <a:xfrm>
            <a:off x="9512808" y="1472184"/>
            <a:ext cx="1008888" cy="509778"/>
          </a:xfrm>
          <a:prstGeom prst="rect">
            <a:avLst/>
          </a:prstGeom>
          <a:noFill/>
          <a:ln/>
        </p:spPr>
        <p:txBody>
          <a:bodyPr wrap="square" lIns="0" tIns="0" rIns="0" bIns="0" rtlCol="0" anchor="ctr"/>
          <a:lstStyle/>
          <a:p>
            <a:pPr algn="ctr" indent="0" marL="0">
              <a:buNone/>
            </a:pPr>
            <a:r>
              <a:rPr lang="en-US" sz="1200" b="1" dirty="0">
                <a:solidFill>
                  <a:srgbClr val="FFFFFF"/>
                </a:solidFill>
              </a:rPr>
              <a:t>nome</a:t>
            </a:r>
            <a:endParaRPr lang="en-US" sz="1200" dirty="0"/>
          </a:p>
        </p:txBody>
      </p:sp>
      <p:sp>
        <p:nvSpPr>
          <p:cNvPr id="12" name="Shape 10"/>
          <p:cNvSpPr/>
          <p:nvPr/>
        </p:nvSpPr>
        <p:spPr>
          <a:xfrm>
            <a:off x="10558272" y="1417320"/>
            <a:ext cx="1082040" cy="582930"/>
          </a:xfrm>
          <a:prstGeom prst="rect">
            <a:avLst/>
          </a:prstGeom>
          <a:solidFill>
            <a:srgbClr val="0B1F33"/>
          </a:solidFill>
          <a:ln w="12700">
            <a:solidFill>
              <a:srgbClr val="FFFFFF"/>
            </a:solidFill>
            <a:prstDash val="solid"/>
          </a:ln>
        </p:spPr>
      </p:sp>
      <p:sp>
        <p:nvSpPr>
          <p:cNvPr id="13" name="Text 11"/>
          <p:cNvSpPr/>
          <p:nvPr/>
        </p:nvSpPr>
        <p:spPr>
          <a:xfrm>
            <a:off x="10594848" y="1472184"/>
            <a:ext cx="1008888" cy="509778"/>
          </a:xfrm>
          <a:prstGeom prst="rect">
            <a:avLst/>
          </a:prstGeom>
          <a:noFill/>
          <a:ln/>
        </p:spPr>
        <p:txBody>
          <a:bodyPr wrap="square" lIns="0" tIns="0" rIns="0" bIns="0" rtlCol="0" anchor="ctr"/>
          <a:lstStyle/>
          <a:p>
            <a:pPr algn="ctr" indent="0" marL="0">
              <a:buNone/>
            </a:pPr>
            <a:r>
              <a:rPr lang="en-US" sz="1200" b="1" dirty="0">
                <a:solidFill>
                  <a:srgbClr val="FFFFFF"/>
                </a:solidFill>
              </a:rPr>
              <a:t>email</a:t>
            </a:r>
            <a:endParaRPr lang="en-US" sz="1200" dirty="0"/>
          </a:p>
        </p:txBody>
      </p:sp>
      <p:sp>
        <p:nvSpPr>
          <p:cNvPr id="14" name="Shape 12"/>
          <p:cNvSpPr/>
          <p:nvPr/>
        </p:nvSpPr>
        <p:spPr>
          <a:xfrm>
            <a:off x="8394192" y="2000250"/>
            <a:ext cx="1082040" cy="582930"/>
          </a:xfrm>
          <a:prstGeom prst="rect">
            <a:avLst/>
          </a:prstGeom>
          <a:solidFill>
            <a:srgbClr val="FFFFFF"/>
          </a:solidFill>
          <a:ln w="12700">
            <a:solidFill>
              <a:srgbClr val="D9E2EC"/>
            </a:solidFill>
            <a:prstDash val="solid"/>
          </a:ln>
        </p:spPr>
      </p:sp>
      <p:sp>
        <p:nvSpPr>
          <p:cNvPr id="15" name="Text 13"/>
          <p:cNvSpPr/>
          <p:nvPr/>
        </p:nvSpPr>
        <p:spPr>
          <a:xfrm>
            <a:off x="8430768" y="204597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101</a:t>
            </a:r>
            <a:endParaRPr lang="en-US" sz="1050" dirty="0"/>
          </a:p>
        </p:txBody>
      </p:sp>
      <p:sp>
        <p:nvSpPr>
          <p:cNvPr id="16" name="Shape 14"/>
          <p:cNvSpPr/>
          <p:nvPr/>
        </p:nvSpPr>
        <p:spPr>
          <a:xfrm>
            <a:off x="9476232" y="2000250"/>
            <a:ext cx="1082040" cy="582930"/>
          </a:xfrm>
          <a:prstGeom prst="rect">
            <a:avLst/>
          </a:prstGeom>
          <a:solidFill>
            <a:srgbClr val="FFFFFF"/>
          </a:solidFill>
          <a:ln w="12700">
            <a:solidFill>
              <a:srgbClr val="D9E2EC"/>
            </a:solidFill>
            <a:prstDash val="solid"/>
          </a:ln>
        </p:spPr>
      </p:sp>
      <p:sp>
        <p:nvSpPr>
          <p:cNvPr id="17" name="Text 15"/>
          <p:cNvSpPr/>
          <p:nvPr/>
        </p:nvSpPr>
        <p:spPr>
          <a:xfrm>
            <a:off x="9512808" y="204597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Ana</a:t>
            </a:r>
            <a:endParaRPr lang="en-US" sz="1050" dirty="0"/>
          </a:p>
        </p:txBody>
      </p:sp>
      <p:sp>
        <p:nvSpPr>
          <p:cNvPr id="18" name="Shape 16"/>
          <p:cNvSpPr/>
          <p:nvPr/>
        </p:nvSpPr>
        <p:spPr>
          <a:xfrm>
            <a:off x="10558272" y="2000250"/>
            <a:ext cx="1082040" cy="582930"/>
          </a:xfrm>
          <a:prstGeom prst="rect">
            <a:avLst/>
          </a:prstGeom>
          <a:solidFill>
            <a:srgbClr val="FFFFFF"/>
          </a:solidFill>
          <a:ln w="12700">
            <a:solidFill>
              <a:srgbClr val="D9E2EC"/>
            </a:solidFill>
            <a:prstDash val="solid"/>
          </a:ln>
        </p:spPr>
      </p:sp>
      <p:sp>
        <p:nvSpPr>
          <p:cNvPr id="19" name="Text 17"/>
          <p:cNvSpPr/>
          <p:nvPr/>
        </p:nvSpPr>
        <p:spPr>
          <a:xfrm>
            <a:off x="10594848" y="204597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ana@x.br</a:t>
            </a:r>
            <a:endParaRPr lang="en-US" sz="1050" dirty="0"/>
          </a:p>
        </p:txBody>
      </p:sp>
      <p:sp>
        <p:nvSpPr>
          <p:cNvPr id="20" name="Shape 18"/>
          <p:cNvSpPr/>
          <p:nvPr/>
        </p:nvSpPr>
        <p:spPr>
          <a:xfrm>
            <a:off x="8394192" y="2583180"/>
            <a:ext cx="1082040" cy="582930"/>
          </a:xfrm>
          <a:prstGeom prst="rect">
            <a:avLst/>
          </a:prstGeom>
          <a:solidFill>
            <a:srgbClr val="F8FAFD"/>
          </a:solidFill>
          <a:ln w="12700">
            <a:solidFill>
              <a:srgbClr val="D9E2EC"/>
            </a:solidFill>
            <a:prstDash val="solid"/>
          </a:ln>
        </p:spPr>
      </p:sp>
      <p:sp>
        <p:nvSpPr>
          <p:cNvPr id="21" name="Text 19"/>
          <p:cNvSpPr/>
          <p:nvPr/>
        </p:nvSpPr>
        <p:spPr>
          <a:xfrm>
            <a:off x="8430768" y="262890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102</a:t>
            </a:r>
            <a:endParaRPr lang="en-US" sz="1050" dirty="0"/>
          </a:p>
        </p:txBody>
      </p:sp>
      <p:sp>
        <p:nvSpPr>
          <p:cNvPr id="22" name="Shape 20"/>
          <p:cNvSpPr/>
          <p:nvPr/>
        </p:nvSpPr>
        <p:spPr>
          <a:xfrm>
            <a:off x="9476232" y="2583180"/>
            <a:ext cx="1082040" cy="582930"/>
          </a:xfrm>
          <a:prstGeom prst="rect">
            <a:avLst/>
          </a:prstGeom>
          <a:solidFill>
            <a:srgbClr val="F8FAFD"/>
          </a:solidFill>
          <a:ln w="12700">
            <a:solidFill>
              <a:srgbClr val="D9E2EC"/>
            </a:solidFill>
            <a:prstDash val="solid"/>
          </a:ln>
        </p:spPr>
      </p:sp>
      <p:sp>
        <p:nvSpPr>
          <p:cNvPr id="23" name="Text 21"/>
          <p:cNvSpPr/>
          <p:nvPr/>
        </p:nvSpPr>
        <p:spPr>
          <a:xfrm>
            <a:off x="9512808" y="262890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Beto</a:t>
            </a:r>
            <a:endParaRPr lang="en-US" sz="1050" dirty="0"/>
          </a:p>
        </p:txBody>
      </p:sp>
      <p:sp>
        <p:nvSpPr>
          <p:cNvPr id="24" name="Shape 22"/>
          <p:cNvSpPr/>
          <p:nvPr/>
        </p:nvSpPr>
        <p:spPr>
          <a:xfrm>
            <a:off x="10558272" y="2583180"/>
            <a:ext cx="1082040" cy="582930"/>
          </a:xfrm>
          <a:prstGeom prst="rect">
            <a:avLst/>
          </a:prstGeom>
          <a:solidFill>
            <a:srgbClr val="F8FAFD"/>
          </a:solidFill>
          <a:ln w="12700">
            <a:solidFill>
              <a:srgbClr val="D9E2EC"/>
            </a:solidFill>
            <a:prstDash val="solid"/>
          </a:ln>
        </p:spPr>
      </p:sp>
      <p:sp>
        <p:nvSpPr>
          <p:cNvPr id="25" name="Text 23"/>
          <p:cNvSpPr/>
          <p:nvPr/>
        </p:nvSpPr>
        <p:spPr>
          <a:xfrm>
            <a:off x="10594848" y="262890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beto@x.br</a:t>
            </a:r>
            <a:endParaRPr lang="en-US" sz="1050" dirty="0"/>
          </a:p>
        </p:txBody>
      </p:sp>
      <p:sp>
        <p:nvSpPr>
          <p:cNvPr id="26" name="Shape 24"/>
          <p:cNvSpPr/>
          <p:nvPr/>
        </p:nvSpPr>
        <p:spPr>
          <a:xfrm>
            <a:off x="8394192" y="3166110"/>
            <a:ext cx="1082040" cy="582930"/>
          </a:xfrm>
          <a:prstGeom prst="rect">
            <a:avLst/>
          </a:prstGeom>
          <a:solidFill>
            <a:srgbClr val="FFFFFF"/>
          </a:solidFill>
          <a:ln w="12700">
            <a:solidFill>
              <a:srgbClr val="D9E2EC"/>
            </a:solidFill>
            <a:prstDash val="solid"/>
          </a:ln>
        </p:spPr>
      </p:sp>
      <p:sp>
        <p:nvSpPr>
          <p:cNvPr id="27" name="Text 25"/>
          <p:cNvSpPr/>
          <p:nvPr/>
        </p:nvSpPr>
        <p:spPr>
          <a:xfrm>
            <a:off x="8430768" y="321183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103</a:t>
            </a:r>
            <a:endParaRPr lang="en-US" sz="1050" dirty="0"/>
          </a:p>
        </p:txBody>
      </p:sp>
      <p:sp>
        <p:nvSpPr>
          <p:cNvPr id="28" name="Shape 26"/>
          <p:cNvSpPr/>
          <p:nvPr/>
        </p:nvSpPr>
        <p:spPr>
          <a:xfrm>
            <a:off x="9476232" y="3166110"/>
            <a:ext cx="1082040" cy="582930"/>
          </a:xfrm>
          <a:prstGeom prst="rect">
            <a:avLst/>
          </a:prstGeom>
          <a:solidFill>
            <a:srgbClr val="FFFFFF"/>
          </a:solidFill>
          <a:ln w="12700">
            <a:solidFill>
              <a:srgbClr val="D9E2EC"/>
            </a:solidFill>
            <a:prstDash val="solid"/>
          </a:ln>
        </p:spPr>
      </p:sp>
      <p:sp>
        <p:nvSpPr>
          <p:cNvPr id="29" name="Text 27"/>
          <p:cNvSpPr/>
          <p:nvPr/>
        </p:nvSpPr>
        <p:spPr>
          <a:xfrm>
            <a:off x="9512808" y="321183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Caio</a:t>
            </a:r>
            <a:endParaRPr lang="en-US" sz="1050" dirty="0"/>
          </a:p>
        </p:txBody>
      </p:sp>
      <p:sp>
        <p:nvSpPr>
          <p:cNvPr id="30" name="Shape 28"/>
          <p:cNvSpPr/>
          <p:nvPr/>
        </p:nvSpPr>
        <p:spPr>
          <a:xfrm>
            <a:off x="10558272" y="3166110"/>
            <a:ext cx="1082040" cy="582930"/>
          </a:xfrm>
          <a:prstGeom prst="rect">
            <a:avLst/>
          </a:prstGeom>
          <a:solidFill>
            <a:srgbClr val="FFFFFF"/>
          </a:solidFill>
          <a:ln w="12700">
            <a:solidFill>
              <a:srgbClr val="D9E2EC"/>
            </a:solidFill>
            <a:prstDash val="solid"/>
          </a:ln>
        </p:spPr>
      </p:sp>
      <p:sp>
        <p:nvSpPr>
          <p:cNvPr id="31" name="Text 29"/>
          <p:cNvSpPr/>
          <p:nvPr/>
        </p:nvSpPr>
        <p:spPr>
          <a:xfrm>
            <a:off x="10594848" y="321183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caio@x.br</a:t>
            </a:r>
            <a:endParaRPr lang="en-US" sz="1050" dirty="0"/>
          </a:p>
        </p:txBody>
      </p:sp>
      <p:sp>
        <p:nvSpPr>
          <p:cNvPr id="32" name="Text 30"/>
          <p:cNvSpPr/>
          <p:nvPr/>
        </p:nvSpPr>
        <p:spPr>
          <a:xfrm>
            <a:off x="8549640" y="4078224"/>
            <a:ext cx="2743200" cy="274320"/>
          </a:xfrm>
          <a:prstGeom prst="rect">
            <a:avLst/>
          </a:prstGeom>
          <a:noFill/>
          <a:ln/>
        </p:spPr>
        <p:txBody>
          <a:bodyPr wrap="square" lIns="0" tIns="0" rIns="0" bIns="0" rtlCol="0" anchor="ctr"/>
          <a:lstStyle/>
          <a:p>
            <a:pPr algn="ctr" indent="0" marL="0">
              <a:buNone/>
            </a:pPr>
            <a:r>
              <a:rPr lang="en-US" sz="1600" b="1" dirty="0">
                <a:solidFill>
                  <a:srgbClr val="2463EB"/>
                </a:solidFill>
              </a:rPr>
              <a:t>candidatas</a:t>
            </a:r>
            <a:endParaRPr lang="en-US" sz="1600" dirty="0"/>
          </a:p>
        </p:txBody>
      </p:sp>
      <p:sp>
        <p:nvSpPr>
          <p:cNvPr id="33" name="Shape 31"/>
          <p:cNvSpPr/>
          <p:nvPr/>
        </p:nvSpPr>
        <p:spPr>
          <a:xfrm>
            <a:off x="8595360" y="4480560"/>
            <a:ext cx="1188720" cy="685800"/>
          </a:xfrm>
          <a:prstGeom prst="roundRect">
            <a:avLst>
              <a:gd name="adj" fmla="val 10667"/>
            </a:avLst>
          </a:prstGeom>
          <a:solidFill>
            <a:srgbClr val="EAF1FF"/>
          </a:solidFill>
          <a:ln w="12700">
            <a:solidFill>
              <a:srgbClr val="C6D2E1"/>
            </a:solidFill>
            <a:prstDash val="solid"/>
          </a:ln>
        </p:spPr>
      </p:sp>
      <p:sp>
        <p:nvSpPr>
          <p:cNvPr id="34" name="Shape 32"/>
          <p:cNvSpPr/>
          <p:nvPr/>
        </p:nvSpPr>
        <p:spPr>
          <a:xfrm>
            <a:off x="8613648" y="4498848"/>
            <a:ext cx="73152" cy="649224"/>
          </a:xfrm>
          <a:prstGeom prst="rect">
            <a:avLst/>
          </a:prstGeom>
          <a:solidFill>
            <a:srgbClr val="2463EB"/>
          </a:solidFill>
          <a:ln w="12700">
            <a:solidFill>
              <a:srgbClr val="2463EB"/>
            </a:solidFill>
            <a:prstDash val="solid"/>
          </a:ln>
        </p:spPr>
      </p:sp>
      <p:sp>
        <p:nvSpPr>
          <p:cNvPr id="35" name="Text 33"/>
          <p:cNvSpPr/>
          <p:nvPr/>
        </p:nvSpPr>
        <p:spPr>
          <a:xfrm>
            <a:off x="8796528" y="4645152"/>
            <a:ext cx="841248" cy="256032"/>
          </a:xfrm>
          <a:prstGeom prst="rect">
            <a:avLst/>
          </a:prstGeom>
          <a:noFill/>
          <a:ln/>
        </p:spPr>
        <p:txBody>
          <a:bodyPr wrap="square" lIns="0" tIns="0" rIns="0" bIns="0" rtlCol="0" anchor="ctr"/>
          <a:lstStyle/>
          <a:p>
            <a:pPr indent="0" marL="0">
              <a:buNone/>
            </a:pPr>
            <a:r>
              <a:rPr lang="en-US" sz="1600" b="1" dirty="0">
                <a:solidFill>
                  <a:srgbClr val="0B1F33"/>
                </a:solidFill>
              </a:rPr>
              <a:t>id</a:t>
            </a:r>
            <a:endParaRPr lang="en-US" sz="1600" dirty="0"/>
          </a:p>
        </p:txBody>
      </p:sp>
      <p:sp>
        <p:nvSpPr>
          <p:cNvPr id="36" name="Shape 34"/>
          <p:cNvSpPr/>
          <p:nvPr/>
        </p:nvSpPr>
        <p:spPr>
          <a:xfrm>
            <a:off x="10104120" y="4480560"/>
            <a:ext cx="1188720" cy="685800"/>
          </a:xfrm>
          <a:prstGeom prst="roundRect">
            <a:avLst>
              <a:gd name="adj" fmla="val 10667"/>
            </a:avLst>
          </a:prstGeom>
          <a:solidFill>
            <a:srgbClr val="E7F7F5"/>
          </a:solidFill>
          <a:ln w="12700">
            <a:solidFill>
              <a:srgbClr val="C6D2E1"/>
            </a:solidFill>
            <a:prstDash val="solid"/>
          </a:ln>
        </p:spPr>
      </p:sp>
      <p:sp>
        <p:nvSpPr>
          <p:cNvPr id="37" name="Shape 35"/>
          <p:cNvSpPr/>
          <p:nvPr/>
        </p:nvSpPr>
        <p:spPr>
          <a:xfrm>
            <a:off x="10122408" y="4498848"/>
            <a:ext cx="73152" cy="649224"/>
          </a:xfrm>
          <a:prstGeom prst="rect">
            <a:avLst/>
          </a:prstGeom>
          <a:solidFill>
            <a:srgbClr val="0F766E"/>
          </a:solidFill>
          <a:ln w="12700">
            <a:solidFill>
              <a:srgbClr val="0F766E"/>
            </a:solidFill>
            <a:prstDash val="solid"/>
          </a:ln>
        </p:spPr>
      </p:sp>
      <p:sp>
        <p:nvSpPr>
          <p:cNvPr id="38" name="Text 36"/>
          <p:cNvSpPr/>
          <p:nvPr/>
        </p:nvSpPr>
        <p:spPr>
          <a:xfrm>
            <a:off x="10305288" y="4645152"/>
            <a:ext cx="841248" cy="256032"/>
          </a:xfrm>
          <a:prstGeom prst="rect">
            <a:avLst/>
          </a:prstGeom>
          <a:noFill/>
          <a:ln/>
        </p:spPr>
        <p:txBody>
          <a:bodyPr wrap="square" lIns="0" tIns="0" rIns="0" bIns="0" rtlCol="0" anchor="ctr"/>
          <a:lstStyle/>
          <a:p>
            <a:pPr indent="0" marL="0">
              <a:buNone/>
            </a:pPr>
            <a:r>
              <a:rPr lang="en-US" sz="1600" b="1" dirty="0">
                <a:solidFill>
                  <a:srgbClr val="0B1F33"/>
                </a:solidFill>
              </a:rPr>
              <a:t>email</a:t>
            </a:r>
            <a:endParaRPr lang="en-US" sz="16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Chave composta</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IDENTIFICAÇÃO USANDO MAIS DE UM ATRIBUTO</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- 18</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Uma chave composta utiliza duas ou mais colunas para identificar uma tupla. Em MATRICULA, a combinação aluno_id e disciplina_id pode impedir que o mesmo aluno seja matriculado duas vezes na mesma disciplina. Individualmente, os valores se repetem; em conjunto, formam uma identificação única e expressam uma regra importante do domínio.</a:t>
            </a:r>
            <a:endParaRPr lang="en-US" sz="2400" dirty="0"/>
          </a:p>
        </p:txBody>
      </p:sp>
      <p:sp>
        <p:nvSpPr>
          <p:cNvPr id="7" name="Shape 5"/>
          <p:cNvSpPr/>
          <p:nvPr/>
        </p:nvSpPr>
        <p:spPr>
          <a:xfrm>
            <a:off x="8366760" y="1325880"/>
            <a:ext cx="3246120" cy="1097280"/>
          </a:xfrm>
          <a:prstGeom prst="roundRect">
            <a:avLst>
              <a:gd name="adj" fmla="val 6667"/>
            </a:avLst>
          </a:prstGeom>
          <a:solidFill>
            <a:srgbClr val="EAF1FF"/>
          </a:solidFill>
          <a:ln w="12700">
            <a:solidFill>
              <a:srgbClr val="C6D2E1"/>
            </a:solidFill>
            <a:prstDash val="solid"/>
          </a:ln>
        </p:spPr>
      </p:sp>
      <p:sp>
        <p:nvSpPr>
          <p:cNvPr id="8" name="Shape 6"/>
          <p:cNvSpPr/>
          <p:nvPr/>
        </p:nvSpPr>
        <p:spPr>
          <a:xfrm>
            <a:off x="8385048" y="1344168"/>
            <a:ext cx="73152" cy="1060704"/>
          </a:xfrm>
          <a:prstGeom prst="rect">
            <a:avLst/>
          </a:prstGeom>
          <a:solidFill>
            <a:srgbClr val="2463EB"/>
          </a:solidFill>
          <a:ln w="12700">
            <a:solidFill>
              <a:srgbClr val="2463EB"/>
            </a:solidFill>
            <a:prstDash val="solid"/>
          </a:ln>
        </p:spPr>
      </p:sp>
      <p:sp>
        <p:nvSpPr>
          <p:cNvPr id="9" name="Text 7"/>
          <p:cNvSpPr/>
          <p:nvPr/>
        </p:nvSpPr>
        <p:spPr>
          <a:xfrm>
            <a:off x="8567928" y="1490472"/>
            <a:ext cx="2898648" cy="256032"/>
          </a:xfrm>
          <a:prstGeom prst="rect">
            <a:avLst/>
          </a:prstGeom>
          <a:noFill/>
          <a:ln/>
        </p:spPr>
        <p:txBody>
          <a:bodyPr wrap="square" lIns="0" tIns="0" rIns="0" bIns="0" rtlCol="0" anchor="ctr"/>
          <a:lstStyle/>
          <a:p>
            <a:pPr indent="0" marL="0">
              <a:buNone/>
            </a:pPr>
            <a:r>
              <a:rPr lang="en-US" sz="1600" b="1" dirty="0">
                <a:solidFill>
                  <a:srgbClr val="0B1F33"/>
                </a:solidFill>
              </a:rPr>
              <a:t>MATRÍCULA</a:t>
            </a:r>
            <a:endParaRPr lang="en-US" sz="1600" dirty="0"/>
          </a:p>
        </p:txBody>
      </p:sp>
      <p:sp>
        <p:nvSpPr>
          <p:cNvPr id="10" name="Text 8"/>
          <p:cNvSpPr/>
          <p:nvPr/>
        </p:nvSpPr>
        <p:spPr>
          <a:xfrm>
            <a:off x="8567928" y="1856232"/>
            <a:ext cx="2898648" cy="438912"/>
          </a:xfrm>
          <a:prstGeom prst="rect">
            <a:avLst/>
          </a:prstGeom>
          <a:noFill/>
          <a:ln/>
        </p:spPr>
        <p:txBody>
          <a:bodyPr wrap="square" lIns="254" tIns="254" rIns="254" bIns="254" rtlCol="0" anchor="ctr"/>
          <a:lstStyle/>
          <a:p>
            <a:pPr indent="0" marL="0">
              <a:buNone/>
            </a:pPr>
            <a:r>
              <a:rPr lang="en-US" sz="1250" dirty="0">
                <a:solidFill>
                  <a:srgbClr val="1F2937"/>
                </a:solidFill>
              </a:rPr>
              <a:t>aluno_id + disciplina_id</a:t>
            </a:r>
            <a:endParaRPr lang="en-US" sz="1250" dirty="0"/>
          </a:p>
        </p:txBody>
      </p:sp>
      <p:sp>
        <p:nvSpPr>
          <p:cNvPr id="11" name="Shape 9"/>
          <p:cNvSpPr/>
          <p:nvPr/>
        </p:nvSpPr>
        <p:spPr>
          <a:xfrm>
            <a:off x="8641080" y="2788920"/>
            <a:ext cx="1143000" cy="685800"/>
          </a:xfrm>
          <a:prstGeom prst="roundRect">
            <a:avLst/>
          </a:prstGeom>
          <a:solidFill>
            <a:srgbClr val="E7F7F5"/>
          </a:solidFill>
          <a:ln w="12700">
            <a:solidFill>
              <a:srgbClr val="0F766E"/>
            </a:solidFill>
            <a:prstDash val="solid"/>
          </a:ln>
        </p:spPr>
      </p:sp>
      <p:sp>
        <p:nvSpPr>
          <p:cNvPr id="12" name="Shape 10"/>
          <p:cNvSpPr/>
          <p:nvPr/>
        </p:nvSpPr>
        <p:spPr>
          <a:xfrm>
            <a:off x="10195560" y="2788920"/>
            <a:ext cx="1143000" cy="685800"/>
          </a:xfrm>
          <a:prstGeom prst="roundRect">
            <a:avLst/>
          </a:prstGeom>
          <a:solidFill>
            <a:srgbClr val="FFF4D6"/>
          </a:solidFill>
          <a:ln w="12700">
            <a:solidFill>
              <a:srgbClr val="F59E0B"/>
            </a:solidFill>
            <a:prstDash val="solid"/>
          </a:ln>
        </p:spPr>
      </p:sp>
      <p:sp>
        <p:nvSpPr>
          <p:cNvPr id="13" name="Text 11"/>
          <p:cNvSpPr/>
          <p:nvPr/>
        </p:nvSpPr>
        <p:spPr>
          <a:xfrm>
            <a:off x="8714232" y="3017520"/>
            <a:ext cx="987552" cy="182880"/>
          </a:xfrm>
          <a:prstGeom prst="rect">
            <a:avLst/>
          </a:prstGeom>
          <a:noFill/>
          <a:ln/>
        </p:spPr>
        <p:txBody>
          <a:bodyPr wrap="square" lIns="0" tIns="0" rIns="0" bIns="0" rtlCol="0" anchor="ctr"/>
          <a:lstStyle/>
          <a:p>
            <a:pPr algn="ctr" indent="0" marL="0">
              <a:buNone/>
            </a:pPr>
            <a:r>
              <a:rPr lang="en-US" sz="1300" b="1" dirty="0">
                <a:solidFill>
                  <a:srgbClr val="0F766E"/>
                </a:solidFill>
              </a:rPr>
              <a:t>aluno_id</a:t>
            </a:r>
            <a:endParaRPr lang="en-US" sz="1300" dirty="0"/>
          </a:p>
        </p:txBody>
      </p:sp>
      <p:sp>
        <p:nvSpPr>
          <p:cNvPr id="14" name="Text 12"/>
          <p:cNvSpPr/>
          <p:nvPr/>
        </p:nvSpPr>
        <p:spPr>
          <a:xfrm>
            <a:off x="10222992" y="3017520"/>
            <a:ext cx="1078992" cy="182880"/>
          </a:xfrm>
          <a:prstGeom prst="rect">
            <a:avLst/>
          </a:prstGeom>
          <a:noFill/>
          <a:ln/>
        </p:spPr>
        <p:txBody>
          <a:bodyPr wrap="square" lIns="0" tIns="0" rIns="0" bIns="0" rtlCol="0" anchor="ctr"/>
          <a:lstStyle/>
          <a:p>
            <a:pPr algn="ctr" indent="0" marL="0">
              <a:buNone/>
            </a:pPr>
            <a:r>
              <a:rPr lang="en-US" sz="1250" b="1" dirty="0">
                <a:solidFill>
                  <a:srgbClr val="8A5600"/>
                </a:solidFill>
              </a:rPr>
              <a:t>disciplina_id</a:t>
            </a:r>
            <a:endParaRPr lang="en-US" sz="1250" dirty="0"/>
          </a:p>
        </p:txBody>
      </p:sp>
      <p:sp>
        <p:nvSpPr>
          <p:cNvPr id="15" name="Text 13"/>
          <p:cNvSpPr/>
          <p:nvPr/>
        </p:nvSpPr>
        <p:spPr>
          <a:xfrm>
            <a:off x="9829800" y="2999232"/>
            <a:ext cx="228600" cy="182880"/>
          </a:xfrm>
          <a:prstGeom prst="rect">
            <a:avLst/>
          </a:prstGeom>
          <a:noFill/>
          <a:ln/>
        </p:spPr>
        <p:txBody>
          <a:bodyPr wrap="square" lIns="0" tIns="0" rIns="0" bIns="0" rtlCol="0" anchor="ctr"/>
          <a:lstStyle/>
          <a:p>
            <a:pPr algn="ctr" indent="0" marL="0">
              <a:buNone/>
            </a:pPr>
            <a:r>
              <a:rPr lang="en-US" sz="2000" b="1" dirty="0">
                <a:solidFill>
                  <a:srgbClr val="0B1F33"/>
                </a:solidFill>
              </a:rPr>
              <a:t>+</a:t>
            </a:r>
            <a:endParaRPr lang="en-US" sz="2000" dirty="0"/>
          </a:p>
        </p:txBody>
      </p:sp>
      <p:sp>
        <p:nvSpPr>
          <p:cNvPr id="16" name="Text 14"/>
          <p:cNvSpPr/>
          <p:nvPr/>
        </p:nvSpPr>
        <p:spPr>
          <a:xfrm>
            <a:off x="8641080" y="4069080"/>
            <a:ext cx="2697480" cy="685800"/>
          </a:xfrm>
          <a:prstGeom prst="rect">
            <a:avLst/>
          </a:prstGeom>
          <a:noFill/>
          <a:ln/>
        </p:spPr>
        <p:txBody>
          <a:bodyPr wrap="square" lIns="0" tIns="0" rIns="0" bIns="0" rtlCol="0" anchor="ctr"/>
          <a:lstStyle/>
          <a:p>
            <a:pPr algn="ctr" indent="0" marL="0">
              <a:buNone/>
            </a:pPr>
            <a:r>
              <a:rPr lang="en-US" sz="1500" dirty="0">
                <a:solidFill>
                  <a:srgbClr val="1F2937"/>
                </a:solidFill>
              </a:rPr>
              <a:t>juntos identificam uma única matrícula</a:t>
            </a:r>
            <a:endParaRPr lang="en-US" sz="15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Chave estrangeira</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A REFERÊNCIA ENTRE RELAÇÕES</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- 19</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A chave estrangeira é um atributo, ou conjunto de atributos, cujo valor deve corresponder a uma chave válida da relação referenciada, salvo casos permitidos de NULL. Ela materializa relacionamentos entre tabelas e sustenta a integridade referencial. Em ALUNO, curso_id pode referenciar CURSO(id), garantindo que o curso informado realmente exista.</a:t>
            </a:r>
            <a:endParaRPr lang="en-US" sz="2400" dirty="0"/>
          </a:p>
        </p:txBody>
      </p:sp>
      <p:sp>
        <p:nvSpPr>
          <p:cNvPr id="7" name="Shape 5"/>
          <p:cNvSpPr/>
          <p:nvPr/>
        </p:nvSpPr>
        <p:spPr>
          <a:xfrm>
            <a:off x="8321040" y="1325880"/>
            <a:ext cx="3337560" cy="1417320"/>
          </a:xfrm>
          <a:prstGeom prst="roundRect">
            <a:avLst>
              <a:gd name="adj" fmla="val 5161"/>
            </a:avLst>
          </a:prstGeom>
          <a:solidFill>
            <a:srgbClr val="EAF1FF"/>
          </a:solidFill>
          <a:ln w="12700">
            <a:solidFill>
              <a:srgbClr val="C6D2E1"/>
            </a:solidFill>
            <a:prstDash val="solid"/>
          </a:ln>
        </p:spPr>
      </p:sp>
      <p:sp>
        <p:nvSpPr>
          <p:cNvPr id="8" name="Shape 6"/>
          <p:cNvSpPr/>
          <p:nvPr/>
        </p:nvSpPr>
        <p:spPr>
          <a:xfrm>
            <a:off x="8339328" y="1344168"/>
            <a:ext cx="73152" cy="1380744"/>
          </a:xfrm>
          <a:prstGeom prst="rect">
            <a:avLst/>
          </a:prstGeom>
          <a:solidFill>
            <a:srgbClr val="2463EB"/>
          </a:solidFill>
          <a:ln w="12700">
            <a:solidFill>
              <a:srgbClr val="2463EB"/>
            </a:solidFill>
            <a:prstDash val="solid"/>
          </a:ln>
        </p:spPr>
      </p:sp>
      <p:sp>
        <p:nvSpPr>
          <p:cNvPr id="9" name="Text 7"/>
          <p:cNvSpPr/>
          <p:nvPr/>
        </p:nvSpPr>
        <p:spPr>
          <a:xfrm>
            <a:off x="8522208" y="1490472"/>
            <a:ext cx="2990088" cy="256032"/>
          </a:xfrm>
          <a:prstGeom prst="rect">
            <a:avLst/>
          </a:prstGeom>
          <a:noFill/>
          <a:ln/>
        </p:spPr>
        <p:txBody>
          <a:bodyPr wrap="square" lIns="0" tIns="0" rIns="0" bIns="0" rtlCol="0" anchor="ctr"/>
          <a:lstStyle/>
          <a:p>
            <a:pPr indent="0" marL="0">
              <a:buNone/>
            </a:pPr>
            <a:r>
              <a:rPr lang="en-US" sz="1600" b="1" dirty="0">
                <a:solidFill>
                  <a:srgbClr val="0B1F33"/>
                </a:solidFill>
              </a:rPr>
              <a:t>CURSO</a:t>
            </a:r>
            <a:endParaRPr lang="en-US" sz="1600" dirty="0"/>
          </a:p>
        </p:txBody>
      </p:sp>
      <p:sp>
        <p:nvSpPr>
          <p:cNvPr id="10" name="Text 8"/>
          <p:cNvSpPr/>
          <p:nvPr/>
        </p:nvSpPr>
        <p:spPr>
          <a:xfrm>
            <a:off x="8522208" y="1856232"/>
            <a:ext cx="2990088" cy="758952"/>
          </a:xfrm>
          <a:prstGeom prst="rect">
            <a:avLst/>
          </a:prstGeom>
          <a:noFill/>
          <a:ln/>
        </p:spPr>
        <p:txBody>
          <a:bodyPr wrap="square" lIns="254" tIns="254" rIns="254" bIns="254" rtlCol="0" anchor="ctr"/>
          <a:lstStyle/>
          <a:p>
            <a:pPr indent="0" marL="0">
              <a:buNone/>
            </a:pPr>
            <a:r>
              <a:rPr lang="en-US" sz="1250" dirty="0">
                <a:solidFill>
                  <a:srgbClr val="1F2937"/>
                </a:solidFill>
              </a:rPr>
              <a:t>id PK</a:t>
            </a:r>
            <a:endParaRPr lang="en-US" sz="1250" dirty="0"/>
          </a:p>
          <a:p>
            <a:pPr indent="0" marL="0">
              <a:buNone/>
            </a:pPr>
            <a:r>
              <a:rPr lang="en-US" sz="1250" dirty="0">
                <a:solidFill>
                  <a:srgbClr val="1F2937"/>
                </a:solidFill>
              </a:rPr>
              <a:t>nome</a:t>
            </a:r>
            <a:endParaRPr lang="en-US" sz="1250" dirty="0"/>
          </a:p>
        </p:txBody>
      </p:sp>
      <p:sp>
        <p:nvSpPr>
          <p:cNvPr id="11" name="Shape 9"/>
          <p:cNvSpPr/>
          <p:nvPr/>
        </p:nvSpPr>
        <p:spPr>
          <a:xfrm>
            <a:off x="8321040" y="3794760"/>
            <a:ext cx="3337560" cy="1600200"/>
          </a:xfrm>
          <a:prstGeom prst="roundRect">
            <a:avLst>
              <a:gd name="adj" fmla="val 4571"/>
            </a:avLst>
          </a:prstGeom>
          <a:solidFill>
            <a:srgbClr val="E7F7F5"/>
          </a:solidFill>
          <a:ln w="12700">
            <a:solidFill>
              <a:srgbClr val="C6D2E1"/>
            </a:solidFill>
            <a:prstDash val="solid"/>
          </a:ln>
        </p:spPr>
      </p:sp>
      <p:sp>
        <p:nvSpPr>
          <p:cNvPr id="12" name="Shape 10"/>
          <p:cNvSpPr/>
          <p:nvPr/>
        </p:nvSpPr>
        <p:spPr>
          <a:xfrm>
            <a:off x="8339328" y="3813048"/>
            <a:ext cx="73152" cy="1563624"/>
          </a:xfrm>
          <a:prstGeom prst="rect">
            <a:avLst/>
          </a:prstGeom>
          <a:solidFill>
            <a:srgbClr val="0F766E"/>
          </a:solidFill>
          <a:ln w="12700">
            <a:solidFill>
              <a:srgbClr val="0F766E"/>
            </a:solidFill>
            <a:prstDash val="solid"/>
          </a:ln>
        </p:spPr>
      </p:sp>
      <p:sp>
        <p:nvSpPr>
          <p:cNvPr id="13" name="Text 11"/>
          <p:cNvSpPr/>
          <p:nvPr/>
        </p:nvSpPr>
        <p:spPr>
          <a:xfrm>
            <a:off x="8522208" y="3959352"/>
            <a:ext cx="2990088" cy="256032"/>
          </a:xfrm>
          <a:prstGeom prst="rect">
            <a:avLst/>
          </a:prstGeom>
          <a:noFill/>
          <a:ln/>
        </p:spPr>
        <p:txBody>
          <a:bodyPr wrap="square" lIns="0" tIns="0" rIns="0" bIns="0" rtlCol="0" anchor="ctr"/>
          <a:lstStyle/>
          <a:p>
            <a:pPr indent="0" marL="0">
              <a:buNone/>
            </a:pPr>
            <a:r>
              <a:rPr lang="en-US" sz="1600" b="1" dirty="0">
                <a:solidFill>
                  <a:srgbClr val="0B1F33"/>
                </a:solidFill>
              </a:rPr>
              <a:t>ALUNO</a:t>
            </a:r>
            <a:endParaRPr lang="en-US" sz="1600" dirty="0"/>
          </a:p>
        </p:txBody>
      </p:sp>
      <p:sp>
        <p:nvSpPr>
          <p:cNvPr id="14" name="Text 12"/>
          <p:cNvSpPr/>
          <p:nvPr/>
        </p:nvSpPr>
        <p:spPr>
          <a:xfrm>
            <a:off x="8522208" y="4325112"/>
            <a:ext cx="2990088" cy="941832"/>
          </a:xfrm>
          <a:prstGeom prst="rect">
            <a:avLst/>
          </a:prstGeom>
          <a:noFill/>
          <a:ln/>
        </p:spPr>
        <p:txBody>
          <a:bodyPr wrap="square" lIns="254" tIns="254" rIns="254" bIns="254" rtlCol="0" anchor="ctr"/>
          <a:lstStyle/>
          <a:p>
            <a:pPr indent="0" marL="0">
              <a:buNone/>
            </a:pPr>
            <a:r>
              <a:rPr lang="en-US" sz="1250" dirty="0">
                <a:solidFill>
                  <a:srgbClr val="1F2937"/>
                </a:solidFill>
              </a:rPr>
              <a:t>id PK</a:t>
            </a:r>
            <a:endParaRPr lang="en-US" sz="1250" dirty="0"/>
          </a:p>
          <a:p>
            <a:pPr indent="0" marL="0">
              <a:buNone/>
            </a:pPr>
            <a:r>
              <a:rPr lang="en-US" sz="1250" dirty="0">
                <a:solidFill>
                  <a:srgbClr val="1F2937"/>
                </a:solidFill>
              </a:rPr>
              <a:t>nome</a:t>
            </a:r>
            <a:endParaRPr lang="en-US" sz="1250" dirty="0"/>
          </a:p>
          <a:p>
            <a:pPr indent="0" marL="0">
              <a:buNone/>
            </a:pPr>
            <a:r>
              <a:rPr lang="en-US" sz="1250" dirty="0">
                <a:solidFill>
                  <a:srgbClr val="1F2937"/>
                </a:solidFill>
              </a:rPr>
              <a:t>curso_id FK</a:t>
            </a:r>
            <a:endParaRPr lang="en-US" sz="1250" dirty="0"/>
          </a:p>
        </p:txBody>
      </p:sp>
      <p:sp>
        <p:nvSpPr>
          <p:cNvPr id="15" name="Shape 13"/>
          <p:cNvSpPr/>
          <p:nvPr/>
        </p:nvSpPr>
        <p:spPr>
          <a:xfrm>
            <a:off x="9921240" y="3767328"/>
            <a:ext cx="0" cy="-960120"/>
          </a:xfrm>
          <a:prstGeom prst="line">
            <a:avLst/>
          </a:prstGeom>
          <a:noFill/>
          <a:ln w="12700">
            <a:solidFill>
              <a:srgbClr val="F59E0B"/>
            </a:solidFill>
            <a:prstDash val="solid"/>
            <a:tailEnd type="triangle"/>
          </a:ln>
        </p:spPr>
      </p:sp>
      <p:sp>
        <p:nvSpPr>
          <p:cNvPr id="16" name="Text 14"/>
          <p:cNvSpPr/>
          <p:nvPr/>
        </p:nvSpPr>
        <p:spPr>
          <a:xfrm>
            <a:off x="10104120" y="2880360"/>
            <a:ext cx="1325880" cy="228600"/>
          </a:xfrm>
          <a:prstGeom prst="rect">
            <a:avLst/>
          </a:prstGeom>
          <a:noFill/>
          <a:ln/>
        </p:spPr>
        <p:txBody>
          <a:bodyPr wrap="square" lIns="0" tIns="0" rIns="0" bIns="0" rtlCol="0" anchor="ctr"/>
          <a:lstStyle/>
          <a:p>
            <a:pPr indent="0" marL="0">
              <a:buNone/>
            </a:pPr>
            <a:r>
              <a:rPr lang="en-US" sz="1300" b="1" dirty="0">
                <a:solidFill>
                  <a:srgbClr val="A35D00"/>
                </a:solidFill>
              </a:rPr>
              <a:t>referencia</a:t>
            </a:r>
            <a:endParaRPr lang="en-US" sz="13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Integridade de dados</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REGRAS QUE PRESERVAM ESTADOS VÁLIDOS</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- 20</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Integridade significa manter os dados coerentes com as regras definidas para o banco. No modelo relacional, é útil organizar o tema em integridade de domínio, integridade de entidade e integridade referencial. Constraints transferem parte dessas regras para o SGBD, reduzindo a dependência de validações espalhadas somente nas aplicações.</a:t>
            </a:r>
            <a:endParaRPr lang="en-US" sz="2400" dirty="0"/>
          </a:p>
        </p:txBody>
      </p:sp>
      <p:sp>
        <p:nvSpPr>
          <p:cNvPr id="7" name="Shape 5"/>
          <p:cNvSpPr/>
          <p:nvPr/>
        </p:nvSpPr>
        <p:spPr>
          <a:xfrm>
            <a:off x="8869680" y="1463040"/>
            <a:ext cx="2331720" cy="2194560"/>
          </a:xfrm>
          <a:prstGeom prst="hexagon">
            <a:avLst/>
          </a:prstGeom>
          <a:solidFill>
            <a:srgbClr val="EAF1FF"/>
          </a:solidFill>
          <a:ln w="12700">
            <a:solidFill>
              <a:srgbClr val="2463EB"/>
            </a:solidFill>
            <a:prstDash val="solid"/>
          </a:ln>
        </p:spPr>
      </p:sp>
      <p:sp>
        <p:nvSpPr>
          <p:cNvPr id="8" name="Text 6"/>
          <p:cNvSpPr/>
          <p:nvPr/>
        </p:nvSpPr>
        <p:spPr>
          <a:xfrm>
            <a:off x="9015984" y="2359152"/>
            <a:ext cx="2029968" cy="228600"/>
          </a:xfrm>
          <a:prstGeom prst="rect">
            <a:avLst/>
          </a:prstGeom>
          <a:noFill/>
          <a:ln/>
        </p:spPr>
        <p:txBody>
          <a:bodyPr wrap="square" lIns="0" tIns="0" rIns="0" bIns="0" rtlCol="0" anchor="ctr"/>
          <a:lstStyle/>
          <a:p>
            <a:pPr algn="ctr" indent="0" marL="0">
              <a:buNone/>
            </a:pPr>
            <a:r>
              <a:rPr lang="en-US" sz="1700" b="1" dirty="0">
                <a:solidFill>
                  <a:srgbClr val="2463EB"/>
                </a:solidFill>
              </a:rPr>
              <a:t>INTEGRIDADE</a:t>
            </a:r>
            <a:endParaRPr lang="en-US" sz="1700" dirty="0"/>
          </a:p>
        </p:txBody>
      </p:sp>
      <p:sp>
        <p:nvSpPr>
          <p:cNvPr id="9" name="Shape 7"/>
          <p:cNvSpPr/>
          <p:nvPr/>
        </p:nvSpPr>
        <p:spPr>
          <a:xfrm>
            <a:off x="8641080" y="3977640"/>
            <a:ext cx="2743200" cy="420624"/>
          </a:xfrm>
          <a:prstGeom prst="roundRect">
            <a:avLst>
              <a:gd name="adj" fmla="val 17391"/>
            </a:avLst>
          </a:prstGeom>
          <a:solidFill>
            <a:srgbClr val="E7F7F5"/>
          </a:solidFill>
          <a:ln w="12700">
            <a:solidFill>
              <a:srgbClr val="C6D2E1"/>
            </a:solidFill>
            <a:prstDash val="solid"/>
          </a:ln>
        </p:spPr>
      </p:sp>
      <p:sp>
        <p:nvSpPr>
          <p:cNvPr id="10" name="Shape 8"/>
          <p:cNvSpPr/>
          <p:nvPr/>
        </p:nvSpPr>
        <p:spPr>
          <a:xfrm>
            <a:off x="8659368" y="3995928"/>
            <a:ext cx="73152" cy="384048"/>
          </a:xfrm>
          <a:prstGeom prst="rect">
            <a:avLst/>
          </a:prstGeom>
          <a:solidFill>
            <a:srgbClr val="0F766E"/>
          </a:solidFill>
          <a:ln w="12700">
            <a:solidFill>
              <a:srgbClr val="0F766E"/>
            </a:solidFill>
            <a:prstDash val="solid"/>
          </a:ln>
        </p:spPr>
      </p:sp>
      <p:sp>
        <p:nvSpPr>
          <p:cNvPr id="11" name="Text 9"/>
          <p:cNvSpPr/>
          <p:nvPr/>
        </p:nvSpPr>
        <p:spPr>
          <a:xfrm>
            <a:off x="8842248" y="4142232"/>
            <a:ext cx="2395728" cy="256032"/>
          </a:xfrm>
          <a:prstGeom prst="rect">
            <a:avLst/>
          </a:prstGeom>
          <a:noFill/>
          <a:ln/>
        </p:spPr>
        <p:txBody>
          <a:bodyPr wrap="square" lIns="0" tIns="0" rIns="0" bIns="0" rtlCol="0" anchor="ctr"/>
          <a:lstStyle/>
          <a:p>
            <a:pPr indent="0" marL="0">
              <a:buNone/>
            </a:pPr>
            <a:r>
              <a:rPr lang="en-US" sz="1600" b="1" dirty="0">
                <a:solidFill>
                  <a:srgbClr val="0B1F33"/>
                </a:solidFill>
              </a:rPr>
              <a:t>Domínio</a:t>
            </a:r>
            <a:endParaRPr lang="en-US" sz="1600" dirty="0"/>
          </a:p>
        </p:txBody>
      </p:sp>
      <p:sp>
        <p:nvSpPr>
          <p:cNvPr id="12" name="Shape 10"/>
          <p:cNvSpPr/>
          <p:nvPr/>
        </p:nvSpPr>
        <p:spPr>
          <a:xfrm>
            <a:off x="8659368" y="4480560"/>
            <a:ext cx="2743200" cy="420624"/>
          </a:xfrm>
          <a:prstGeom prst="roundRect">
            <a:avLst>
              <a:gd name="adj" fmla="val 17391"/>
            </a:avLst>
          </a:prstGeom>
          <a:solidFill>
            <a:srgbClr val="FFF4D6"/>
          </a:solidFill>
          <a:ln w="12700">
            <a:solidFill>
              <a:srgbClr val="C6D2E1"/>
            </a:solidFill>
            <a:prstDash val="solid"/>
          </a:ln>
        </p:spPr>
      </p:sp>
      <p:sp>
        <p:nvSpPr>
          <p:cNvPr id="13" name="Shape 11"/>
          <p:cNvSpPr/>
          <p:nvPr/>
        </p:nvSpPr>
        <p:spPr>
          <a:xfrm>
            <a:off x="8677656" y="4498848"/>
            <a:ext cx="73152" cy="384048"/>
          </a:xfrm>
          <a:prstGeom prst="rect">
            <a:avLst/>
          </a:prstGeom>
          <a:solidFill>
            <a:srgbClr val="F59E0B"/>
          </a:solidFill>
          <a:ln w="12700">
            <a:solidFill>
              <a:srgbClr val="F59E0B"/>
            </a:solidFill>
            <a:prstDash val="solid"/>
          </a:ln>
        </p:spPr>
      </p:sp>
      <p:sp>
        <p:nvSpPr>
          <p:cNvPr id="14" name="Text 12"/>
          <p:cNvSpPr/>
          <p:nvPr/>
        </p:nvSpPr>
        <p:spPr>
          <a:xfrm>
            <a:off x="8860536" y="4645152"/>
            <a:ext cx="2395728" cy="256032"/>
          </a:xfrm>
          <a:prstGeom prst="rect">
            <a:avLst/>
          </a:prstGeom>
          <a:noFill/>
          <a:ln/>
        </p:spPr>
        <p:txBody>
          <a:bodyPr wrap="square" lIns="0" tIns="0" rIns="0" bIns="0" rtlCol="0" anchor="ctr"/>
          <a:lstStyle/>
          <a:p>
            <a:pPr indent="0" marL="0">
              <a:buNone/>
            </a:pPr>
            <a:r>
              <a:rPr lang="en-US" sz="1600" b="1" dirty="0">
                <a:solidFill>
                  <a:srgbClr val="0B1F33"/>
                </a:solidFill>
              </a:rPr>
              <a:t>Entidade</a:t>
            </a:r>
            <a:endParaRPr lang="en-US" sz="1600" dirty="0"/>
          </a:p>
        </p:txBody>
      </p:sp>
      <p:sp>
        <p:nvSpPr>
          <p:cNvPr id="15" name="Shape 13"/>
          <p:cNvSpPr/>
          <p:nvPr/>
        </p:nvSpPr>
        <p:spPr>
          <a:xfrm>
            <a:off x="8677656" y="4983480"/>
            <a:ext cx="2743200" cy="420624"/>
          </a:xfrm>
          <a:prstGeom prst="roundRect">
            <a:avLst>
              <a:gd name="adj" fmla="val 17391"/>
            </a:avLst>
          </a:prstGeom>
          <a:solidFill>
            <a:srgbClr val="F2F4F8"/>
          </a:solidFill>
          <a:ln w="12700">
            <a:solidFill>
              <a:srgbClr val="C6D2E1"/>
            </a:solidFill>
            <a:prstDash val="solid"/>
          </a:ln>
        </p:spPr>
      </p:sp>
      <p:sp>
        <p:nvSpPr>
          <p:cNvPr id="16" name="Shape 14"/>
          <p:cNvSpPr/>
          <p:nvPr/>
        </p:nvSpPr>
        <p:spPr>
          <a:xfrm>
            <a:off x="8695944" y="5001768"/>
            <a:ext cx="73152" cy="384048"/>
          </a:xfrm>
          <a:prstGeom prst="rect">
            <a:avLst/>
          </a:prstGeom>
          <a:solidFill>
            <a:srgbClr val="0B1F33"/>
          </a:solidFill>
          <a:ln w="12700">
            <a:solidFill>
              <a:srgbClr val="0B1F33"/>
            </a:solidFill>
            <a:prstDash val="solid"/>
          </a:ln>
        </p:spPr>
      </p:sp>
      <p:sp>
        <p:nvSpPr>
          <p:cNvPr id="17" name="Text 15"/>
          <p:cNvSpPr/>
          <p:nvPr/>
        </p:nvSpPr>
        <p:spPr>
          <a:xfrm>
            <a:off x="8878824" y="5148072"/>
            <a:ext cx="2395728" cy="256032"/>
          </a:xfrm>
          <a:prstGeom prst="rect">
            <a:avLst/>
          </a:prstGeom>
          <a:noFill/>
          <a:ln/>
        </p:spPr>
        <p:txBody>
          <a:bodyPr wrap="square" lIns="0" tIns="0" rIns="0" bIns="0" rtlCol="0" anchor="ctr"/>
          <a:lstStyle/>
          <a:p>
            <a:pPr indent="0" marL="0">
              <a:buNone/>
            </a:pPr>
            <a:r>
              <a:rPr lang="en-US" sz="1600" b="1" dirty="0">
                <a:solidFill>
                  <a:srgbClr val="0B1F33"/>
                </a:solidFill>
              </a:rPr>
              <a:t>Referencial</a:t>
            </a:r>
            <a:endParaRPr lang="en-US" sz="16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Integridade de domínio</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CADA ATRIBUTO DEVE ACEITAR VALORES VÁLIDOS</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- 21</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A integridade de domínio exige que valores armazenados pertençam ao conjunto permitido para o atributo. Ela pode envolver tipo de dado, tamanho, formato, faixa e regras específicas. Exemplos: nota entre 0 e 10, quantidade não negativa e status restrito a valores previstos. CHECK, NOT NULL e tipos adequados auxiliam essa proteção.</a:t>
            </a:r>
            <a:endParaRPr lang="en-US" sz="2400" dirty="0"/>
          </a:p>
        </p:txBody>
      </p:sp>
      <p:sp>
        <p:nvSpPr>
          <p:cNvPr id="7" name="Shape 5"/>
          <p:cNvSpPr/>
          <p:nvPr/>
        </p:nvSpPr>
        <p:spPr>
          <a:xfrm>
            <a:off x="8412480" y="1417320"/>
            <a:ext cx="3108960" cy="1051560"/>
          </a:xfrm>
          <a:prstGeom prst="roundRect">
            <a:avLst>
              <a:gd name="adj" fmla="val 6957"/>
            </a:avLst>
          </a:prstGeom>
          <a:solidFill>
            <a:srgbClr val="E7F7F5"/>
          </a:solidFill>
          <a:ln w="12700">
            <a:solidFill>
              <a:srgbClr val="C6D2E1"/>
            </a:solidFill>
            <a:prstDash val="solid"/>
          </a:ln>
        </p:spPr>
      </p:sp>
      <p:sp>
        <p:nvSpPr>
          <p:cNvPr id="8" name="Shape 6"/>
          <p:cNvSpPr/>
          <p:nvPr/>
        </p:nvSpPr>
        <p:spPr>
          <a:xfrm>
            <a:off x="8430768" y="1435608"/>
            <a:ext cx="73152" cy="1014984"/>
          </a:xfrm>
          <a:prstGeom prst="rect">
            <a:avLst/>
          </a:prstGeom>
          <a:solidFill>
            <a:srgbClr val="0F766E"/>
          </a:solidFill>
          <a:ln w="12700">
            <a:solidFill>
              <a:srgbClr val="0F766E"/>
            </a:solidFill>
            <a:prstDash val="solid"/>
          </a:ln>
        </p:spPr>
      </p:sp>
      <p:sp>
        <p:nvSpPr>
          <p:cNvPr id="9" name="Text 7"/>
          <p:cNvSpPr/>
          <p:nvPr/>
        </p:nvSpPr>
        <p:spPr>
          <a:xfrm>
            <a:off x="8613648" y="1581912"/>
            <a:ext cx="2761488" cy="256032"/>
          </a:xfrm>
          <a:prstGeom prst="rect">
            <a:avLst/>
          </a:prstGeom>
          <a:noFill/>
          <a:ln/>
        </p:spPr>
        <p:txBody>
          <a:bodyPr wrap="square" lIns="0" tIns="0" rIns="0" bIns="0" rtlCol="0" anchor="ctr"/>
          <a:lstStyle/>
          <a:p>
            <a:pPr indent="0" marL="0">
              <a:buNone/>
            </a:pPr>
            <a:r>
              <a:rPr lang="en-US" sz="1600" b="1" dirty="0">
                <a:solidFill>
                  <a:srgbClr val="0B1F33"/>
                </a:solidFill>
              </a:rPr>
              <a:t>DOMÍNIO: NOTA</a:t>
            </a:r>
            <a:endParaRPr lang="en-US" sz="1600" dirty="0"/>
          </a:p>
        </p:txBody>
      </p:sp>
      <p:sp>
        <p:nvSpPr>
          <p:cNvPr id="10" name="Text 8"/>
          <p:cNvSpPr/>
          <p:nvPr/>
        </p:nvSpPr>
        <p:spPr>
          <a:xfrm>
            <a:off x="8613648" y="1947672"/>
            <a:ext cx="2761488" cy="393192"/>
          </a:xfrm>
          <a:prstGeom prst="rect">
            <a:avLst/>
          </a:prstGeom>
          <a:noFill/>
          <a:ln/>
        </p:spPr>
        <p:txBody>
          <a:bodyPr wrap="square" lIns="254" tIns="254" rIns="254" bIns="254" rtlCol="0" anchor="ctr"/>
          <a:lstStyle/>
          <a:p>
            <a:pPr indent="0" marL="0">
              <a:buNone/>
            </a:pPr>
            <a:r>
              <a:rPr lang="en-US" sz="1250" dirty="0">
                <a:solidFill>
                  <a:srgbClr val="1F2937"/>
                </a:solidFill>
              </a:rPr>
              <a:t>0.0 ≤ valor ≤ 10.0</a:t>
            </a:r>
            <a:endParaRPr lang="en-US" sz="1250" dirty="0"/>
          </a:p>
        </p:txBody>
      </p:sp>
      <p:sp>
        <p:nvSpPr>
          <p:cNvPr id="11" name="Shape 9"/>
          <p:cNvSpPr/>
          <p:nvPr/>
        </p:nvSpPr>
        <p:spPr>
          <a:xfrm>
            <a:off x="8778240" y="2880360"/>
            <a:ext cx="594360" cy="594360"/>
          </a:xfrm>
          <a:prstGeom prst="ellipse">
            <a:avLst/>
          </a:prstGeom>
          <a:solidFill>
            <a:srgbClr val="DDF7F2"/>
          </a:solidFill>
          <a:ln w="12700">
            <a:solidFill>
              <a:srgbClr val="0F766E"/>
            </a:solidFill>
            <a:prstDash val="solid"/>
          </a:ln>
        </p:spPr>
      </p:sp>
      <p:sp>
        <p:nvSpPr>
          <p:cNvPr id="12" name="Shape 10"/>
          <p:cNvSpPr/>
          <p:nvPr/>
        </p:nvSpPr>
        <p:spPr>
          <a:xfrm>
            <a:off x="9601200" y="2880360"/>
            <a:ext cx="594360" cy="594360"/>
          </a:xfrm>
          <a:prstGeom prst="ellipse">
            <a:avLst/>
          </a:prstGeom>
          <a:solidFill>
            <a:srgbClr val="DDF7F2"/>
          </a:solidFill>
          <a:ln w="12700">
            <a:solidFill>
              <a:srgbClr val="0F766E"/>
            </a:solidFill>
            <a:prstDash val="solid"/>
          </a:ln>
        </p:spPr>
      </p:sp>
      <p:sp>
        <p:nvSpPr>
          <p:cNvPr id="13" name="Shape 11"/>
          <p:cNvSpPr/>
          <p:nvPr/>
        </p:nvSpPr>
        <p:spPr>
          <a:xfrm>
            <a:off x="10424160" y="2880360"/>
            <a:ext cx="594360" cy="594360"/>
          </a:xfrm>
          <a:prstGeom prst="ellipse">
            <a:avLst/>
          </a:prstGeom>
          <a:solidFill>
            <a:srgbClr val="DDF7F2"/>
          </a:solidFill>
          <a:ln w="12700">
            <a:solidFill>
              <a:srgbClr val="0F766E"/>
            </a:solidFill>
            <a:prstDash val="solid"/>
          </a:ln>
        </p:spPr>
      </p:sp>
      <p:sp>
        <p:nvSpPr>
          <p:cNvPr id="14" name="Text 12"/>
          <p:cNvSpPr/>
          <p:nvPr/>
        </p:nvSpPr>
        <p:spPr>
          <a:xfrm>
            <a:off x="8778240" y="3072384"/>
            <a:ext cx="594360" cy="164592"/>
          </a:xfrm>
          <a:prstGeom prst="rect">
            <a:avLst/>
          </a:prstGeom>
          <a:noFill/>
          <a:ln/>
        </p:spPr>
        <p:txBody>
          <a:bodyPr wrap="square" lIns="0" tIns="0" rIns="0" bIns="0" rtlCol="0" anchor="ctr"/>
          <a:lstStyle/>
          <a:p>
            <a:pPr algn="ctr" indent="0" marL="0">
              <a:buNone/>
            </a:pPr>
            <a:r>
              <a:rPr lang="en-US" sz="1250" b="1" dirty="0">
                <a:solidFill>
                  <a:srgbClr val="0F766E"/>
                </a:solidFill>
              </a:rPr>
              <a:t>8.5</a:t>
            </a:r>
            <a:endParaRPr lang="en-US" sz="1250" dirty="0"/>
          </a:p>
        </p:txBody>
      </p:sp>
      <p:sp>
        <p:nvSpPr>
          <p:cNvPr id="15" name="Text 13"/>
          <p:cNvSpPr/>
          <p:nvPr/>
        </p:nvSpPr>
        <p:spPr>
          <a:xfrm>
            <a:off x="9601200" y="3072384"/>
            <a:ext cx="594360" cy="164592"/>
          </a:xfrm>
          <a:prstGeom prst="rect">
            <a:avLst/>
          </a:prstGeom>
          <a:noFill/>
          <a:ln/>
        </p:spPr>
        <p:txBody>
          <a:bodyPr wrap="square" lIns="0" tIns="0" rIns="0" bIns="0" rtlCol="0" anchor="ctr"/>
          <a:lstStyle/>
          <a:p>
            <a:pPr algn="ctr" indent="0" marL="0">
              <a:buNone/>
            </a:pPr>
            <a:r>
              <a:rPr lang="en-US" sz="1250" b="1" dirty="0">
                <a:solidFill>
                  <a:srgbClr val="0F766E"/>
                </a:solidFill>
              </a:rPr>
              <a:t>10.0</a:t>
            </a:r>
            <a:endParaRPr lang="en-US" sz="1250" dirty="0"/>
          </a:p>
        </p:txBody>
      </p:sp>
      <p:sp>
        <p:nvSpPr>
          <p:cNvPr id="16" name="Text 14"/>
          <p:cNvSpPr/>
          <p:nvPr/>
        </p:nvSpPr>
        <p:spPr>
          <a:xfrm>
            <a:off x="10424160" y="3072384"/>
            <a:ext cx="594360" cy="164592"/>
          </a:xfrm>
          <a:prstGeom prst="rect">
            <a:avLst/>
          </a:prstGeom>
          <a:noFill/>
          <a:ln/>
        </p:spPr>
        <p:txBody>
          <a:bodyPr wrap="square" lIns="0" tIns="0" rIns="0" bIns="0" rtlCol="0" anchor="ctr"/>
          <a:lstStyle/>
          <a:p>
            <a:pPr algn="ctr" indent="0" marL="0">
              <a:buNone/>
            </a:pPr>
            <a:r>
              <a:rPr lang="en-US" sz="1250" b="1" dirty="0">
                <a:solidFill>
                  <a:srgbClr val="0F766E"/>
                </a:solidFill>
              </a:rPr>
              <a:t>7.2</a:t>
            </a:r>
            <a:endParaRPr lang="en-US" sz="1250" dirty="0"/>
          </a:p>
        </p:txBody>
      </p:sp>
      <p:sp>
        <p:nvSpPr>
          <p:cNvPr id="17" name="Shape 15"/>
          <p:cNvSpPr/>
          <p:nvPr/>
        </p:nvSpPr>
        <p:spPr>
          <a:xfrm>
            <a:off x="9601200" y="4160520"/>
            <a:ext cx="868680" cy="868680"/>
          </a:xfrm>
          <a:prstGeom prst="ellipse">
            <a:avLst/>
          </a:prstGeom>
          <a:solidFill>
            <a:srgbClr val="FDECEC"/>
          </a:solidFill>
          <a:ln w="12700">
            <a:solidFill>
              <a:srgbClr val="DC2626"/>
            </a:solidFill>
            <a:prstDash val="solid"/>
          </a:ln>
        </p:spPr>
      </p:sp>
      <p:sp>
        <p:nvSpPr>
          <p:cNvPr id="18" name="Text 16"/>
          <p:cNvSpPr/>
          <p:nvPr/>
        </p:nvSpPr>
        <p:spPr>
          <a:xfrm>
            <a:off x="9601200" y="4471416"/>
            <a:ext cx="868680" cy="164592"/>
          </a:xfrm>
          <a:prstGeom prst="rect">
            <a:avLst/>
          </a:prstGeom>
          <a:noFill/>
          <a:ln/>
        </p:spPr>
        <p:txBody>
          <a:bodyPr wrap="square" lIns="0" tIns="0" rIns="0" bIns="0" rtlCol="0" anchor="ctr"/>
          <a:lstStyle/>
          <a:p>
            <a:pPr algn="ctr" indent="0" marL="0">
              <a:buNone/>
            </a:pPr>
            <a:r>
              <a:rPr lang="en-US" sz="1300" b="1" dirty="0">
                <a:solidFill>
                  <a:srgbClr val="DC2626"/>
                </a:solidFill>
              </a:rPr>
              <a:t>12.0</a:t>
            </a:r>
            <a:endParaRPr lang="en-US" sz="1300" dirty="0"/>
          </a:p>
        </p:txBody>
      </p:sp>
      <p:sp>
        <p:nvSpPr>
          <p:cNvPr id="19" name="Text 17"/>
          <p:cNvSpPr/>
          <p:nvPr/>
        </p:nvSpPr>
        <p:spPr>
          <a:xfrm>
            <a:off x="8887968" y="5166360"/>
            <a:ext cx="2286000" cy="228600"/>
          </a:xfrm>
          <a:prstGeom prst="rect">
            <a:avLst/>
          </a:prstGeom>
          <a:noFill/>
          <a:ln/>
        </p:spPr>
        <p:txBody>
          <a:bodyPr wrap="square" lIns="0" tIns="0" rIns="0" bIns="0" rtlCol="0" anchor="ctr"/>
          <a:lstStyle/>
          <a:p>
            <a:pPr algn="ctr" indent="0" marL="0">
              <a:buNone/>
            </a:pPr>
            <a:r>
              <a:rPr lang="en-US" sz="1300" dirty="0">
                <a:solidFill>
                  <a:srgbClr val="DC2626"/>
                </a:solidFill>
              </a:rPr>
              <a:t>fora do domínio</a:t>
            </a:r>
            <a:endParaRPr lang="en-US" sz="13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Integridade de entidade</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TODA TUPLA PRECISA SER IDENTIFICÁVEL</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- 22</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A integridade de entidade garante que cada tupla possa ser distinguida de todas as demais. A chave primária deve ser única e não nula; caso contrário, não existiria um identificador confiável para a ocorrência. Essa regra facilita atualizações, exclusões, referências por outras tabelas e rastreabilidade das informações ao longo do ciclo de vida do sistema.</a:t>
            </a:r>
            <a:endParaRPr lang="en-US" sz="2400" dirty="0"/>
          </a:p>
        </p:txBody>
      </p:sp>
      <p:sp>
        <p:nvSpPr>
          <p:cNvPr id="7" name="Shape 5"/>
          <p:cNvSpPr/>
          <p:nvPr/>
        </p:nvSpPr>
        <p:spPr>
          <a:xfrm>
            <a:off x="8394192" y="1417320"/>
            <a:ext cx="3246120" cy="2331720"/>
          </a:xfrm>
          <a:prstGeom prst="roundRect">
            <a:avLst>
              <a:gd name="adj" fmla="val 1961"/>
            </a:avLst>
          </a:prstGeom>
          <a:solidFill>
            <a:srgbClr val="FFFFFF"/>
          </a:solidFill>
          <a:ln w="12700">
            <a:solidFill>
              <a:srgbClr val="C9D4E3"/>
            </a:solidFill>
            <a:prstDash val="solid"/>
          </a:ln>
        </p:spPr>
      </p:sp>
      <p:sp>
        <p:nvSpPr>
          <p:cNvPr id="8" name="Shape 6"/>
          <p:cNvSpPr/>
          <p:nvPr/>
        </p:nvSpPr>
        <p:spPr>
          <a:xfrm>
            <a:off x="8394192" y="1417320"/>
            <a:ext cx="1082040" cy="582930"/>
          </a:xfrm>
          <a:prstGeom prst="rect">
            <a:avLst/>
          </a:prstGeom>
          <a:solidFill>
            <a:srgbClr val="0B1F33"/>
          </a:solidFill>
          <a:ln w="12700">
            <a:solidFill>
              <a:srgbClr val="FFFFFF"/>
            </a:solidFill>
            <a:prstDash val="solid"/>
          </a:ln>
        </p:spPr>
      </p:sp>
      <p:sp>
        <p:nvSpPr>
          <p:cNvPr id="9" name="Text 7"/>
          <p:cNvSpPr/>
          <p:nvPr/>
        </p:nvSpPr>
        <p:spPr>
          <a:xfrm>
            <a:off x="8430768" y="1472184"/>
            <a:ext cx="1008888" cy="509778"/>
          </a:xfrm>
          <a:prstGeom prst="rect">
            <a:avLst/>
          </a:prstGeom>
          <a:noFill/>
          <a:ln/>
        </p:spPr>
        <p:txBody>
          <a:bodyPr wrap="square" lIns="0" tIns="0" rIns="0" bIns="0" rtlCol="0" anchor="ctr"/>
          <a:lstStyle/>
          <a:p>
            <a:pPr algn="ctr" indent="0" marL="0">
              <a:buNone/>
            </a:pPr>
            <a:r>
              <a:rPr lang="en-US" sz="1200" b="1" dirty="0">
                <a:solidFill>
                  <a:srgbClr val="FFFFFF"/>
                </a:solidFill>
              </a:rPr>
              <a:t>id</a:t>
            </a:r>
            <a:endParaRPr lang="en-US" sz="1200" dirty="0"/>
          </a:p>
        </p:txBody>
      </p:sp>
      <p:sp>
        <p:nvSpPr>
          <p:cNvPr id="10" name="Shape 8"/>
          <p:cNvSpPr/>
          <p:nvPr/>
        </p:nvSpPr>
        <p:spPr>
          <a:xfrm>
            <a:off x="9476232" y="1417320"/>
            <a:ext cx="1082040" cy="582930"/>
          </a:xfrm>
          <a:prstGeom prst="rect">
            <a:avLst/>
          </a:prstGeom>
          <a:solidFill>
            <a:srgbClr val="0B1F33"/>
          </a:solidFill>
          <a:ln w="12700">
            <a:solidFill>
              <a:srgbClr val="FFFFFF"/>
            </a:solidFill>
            <a:prstDash val="solid"/>
          </a:ln>
        </p:spPr>
      </p:sp>
      <p:sp>
        <p:nvSpPr>
          <p:cNvPr id="11" name="Text 9"/>
          <p:cNvSpPr/>
          <p:nvPr/>
        </p:nvSpPr>
        <p:spPr>
          <a:xfrm>
            <a:off x="9512808" y="1472184"/>
            <a:ext cx="1008888" cy="509778"/>
          </a:xfrm>
          <a:prstGeom prst="rect">
            <a:avLst/>
          </a:prstGeom>
          <a:noFill/>
          <a:ln/>
        </p:spPr>
        <p:txBody>
          <a:bodyPr wrap="square" lIns="0" tIns="0" rIns="0" bIns="0" rtlCol="0" anchor="ctr"/>
          <a:lstStyle/>
          <a:p>
            <a:pPr algn="ctr" indent="0" marL="0">
              <a:buNone/>
            </a:pPr>
            <a:r>
              <a:rPr lang="en-US" sz="1200" b="1" dirty="0">
                <a:solidFill>
                  <a:srgbClr val="FFFFFF"/>
                </a:solidFill>
              </a:rPr>
              <a:t>nome</a:t>
            </a:r>
            <a:endParaRPr lang="en-US" sz="1200" dirty="0"/>
          </a:p>
        </p:txBody>
      </p:sp>
      <p:sp>
        <p:nvSpPr>
          <p:cNvPr id="12" name="Shape 10"/>
          <p:cNvSpPr/>
          <p:nvPr/>
        </p:nvSpPr>
        <p:spPr>
          <a:xfrm>
            <a:off x="10558272" y="1417320"/>
            <a:ext cx="1082040" cy="582930"/>
          </a:xfrm>
          <a:prstGeom prst="rect">
            <a:avLst/>
          </a:prstGeom>
          <a:solidFill>
            <a:srgbClr val="0B1F33"/>
          </a:solidFill>
          <a:ln w="12700">
            <a:solidFill>
              <a:srgbClr val="FFFFFF"/>
            </a:solidFill>
            <a:prstDash val="solid"/>
          </a:ln>
        </p:spPr>
      </p:sp>
      <p:sp>
        <p:nvSpPr>
          <p:cNvPr id="13" name="Text 11"/>
          <p:cNvSpPr/>
          <p:nvPr/>
        </p:nvSpPr>
        <p:spPr>
          <a:xfrm>
            <a:off x="10594848" y="1472184"/>
            <a:ext cx="1008888" cy="509778"/>
          </a:xfrm>
          <a:prstGeom prst="rect">
            <a:avLst/>
          </a:prstGeom>
          <a:noFill/>
          <a:ln/>
        </p:spPr>
        <p:txBody>
          <a:bodyPr wrap="square" lIns="0" tIns="0" rIns="0" bIns="0" rtlCol="0" anchor="ctr"/>
          <a:lstStyle/>
          <a:p>
            <a:pPr algn="ctr" indent="0" marL="0">
              <a:buNone/>
            </a:pPr>
            <a:r>
              <a:rPr lang="en-US" sz="1200" b="1" dirty="0">
                <a:solidFill>
                  <a:srgbClr val="FFFFFF"/>
                </a:solidFill>
              </a:rPr>
              <a:t>email</a:t>
            </a:r>
            <a:endParaRPr lang="en-US" sz="1200" dirty="0"/>
          </a:p>
        </p:txBody>
      </p:sp>
      <p:sp>
        <p:nvSpPr>
          <p:cNvPr id="14" name="Shape 12"/>
          <p:cNvSpPr/>
          <p:nvPr/>
        </p:nvSpPr>
        <p:spPr>
          <a:xfrm>
            <a:off x="8394192" y="2000250"/>
            <a:ext cx="1082040" cy="582930"/>
          </a:xfrm>
          <a:prstGeom prst="rect">
            <a:avLst/>
          </a:prstGeom>
          <a:solidFill>
            <a:srgbClr val="FFFFFF"/>
          </a:solidFill>
          <a:ln w="12700">
            <a:solidFill>
              <a:srgbClr val="D9E2EC"/>
            </a:solidFill>
            <a:prstDash val="solid"/>
          </a:ln>
        </p:spPr>
      </p:sp>
      <p:sp>
        <p:nvSpPr>
          <p:cNvPr id="15" name="Text 13"/>
          <p:cNvSpPr/>
          <p:nvPr/>
        </p:nvSpPr>
        <p:spPr>
          <a:xfrm>
            <a:off x="8430768" y="204597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101</a:t>
            </a:r>
            <a:endParaRPr lang="en-US" sz="1050" dirty="0"/>
          </a:p>
        </p:txBody>
      </p:sp>
      <p:sp>
        <p:nvSpPr>
          <p:cNvPr id="16" name="Shape 14"/>
          <p:cNvSpPr/>
          <p:nvPr/>
        </p:nvSpPr>
        <p:spPr>
          <a:xfrm>
            <a:off x="9476232" y="2000250"/>
            <a:ext cx="1082040" cy="582930"/>
          </a:xfrm>
          <a:prstGeom prst="rect">
            <a:avLst/>
          </a:prstGeom>
          <a:solidFill>
            <a:srgbClr val="FFFFFF"/>
          </a:solidFill>
          <a:ln w="12700">
            <a:solidFill>
              <a:srgbClr val="D9E2EC"/>
            </a:solidFill>
            <a:prstDash val="solid"/>
          </a:ln>
        </p:spPr>
      </p:sp>
      <p:sp>
        <p:nvSpPr>
          <p:cNvPr id="17" name="Text 15"/>
          <p:cNvSpPr/>
          <p:nvPr/>
        </p:nvSpPr>
        <p:spPr>
          <a:xfrm>
            <a:off x="9512808" y="204597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Ana</a:t>
            </a:r>
            <a:endParaRPr lang="en-US" sz="1050" dirty="0"/>
          </a:p>
        </p:txBody>
      </p:sp>
      <p:sp>
        <p:nvSpPr>
          <p:cNvPr id="18" name="Shape 16"/>
          <p:cNvSpPr/>
          <p:nvPr/>
        </p:nvSpPr>
        <p:spPr>
          <a:xfrm>
            <a:off x="10558272" y="2000250"/>
            <a:ext cx="1082040" cy="582930"/>
          </a:xfrm>
          <a:prstGeom prst="rect">
            <a:avLst/>
          </a:prstGeom>
          <a:solidFill>
            <a:srgbClr val="FFFFFF"/>
          </a:solidFill>
          <a:ln w="12700">
            <a:solidFill>
              <a:srgbClr val="D9E2EC"/>
            </a:solidFill>
            <a:prstDash val="solid"/>
          </a:ln>
        </p:spPr>
      </p:sp>
      <p:sp>
        <p:nvSpPr>
          <p:cNvPr id="19" name="Text 17"/>
          <p:cNvSpPr/>
          <p:nvPr/>
        </p:nvSpPr>
        <p:spPr>
          <a:xfrm>
            <a:off x="10594848" y="204597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ana@x.br</a:t>
            </a:r>
            <a:endParaRPr lang="en-US" sz="1050" dirty="0"/>
          </a:p>
        </p:txBody>
      </p:sp>
      <p:sp>
        <p:nvSpPr>
          <p:cNvPr id="20" name="Shape 18"/>
          <p:cNvSpPr/>
          <p:nvPr/>
        </p:nvSpPr>
        <p:spPr>
          <a:xfrm>
            <a:off x="8394192" y="2583180"/>
            <a:ext cx="1082040" cy="582930"/>
          </a:xfrm>
          <a:prstGeom prst="rect">
            <a:avLst/>
          </a:prstGeom>
          <a:solidFill>
            <a:srgbClr val="F8FAFD"/>
          </a:solidFill>
          <a:ln w="12700">
            <a:solidFill>
              <a:srgbClr val="D9E2EC"/>
            </a:solidFill>
            <a:prstDash val="solid"/>
          </a:ln>
        </p:spPr>
      </p:sp>
      <p:sp>
        <p:nvSpPr>
          <p:cNvPr id="21" name="Text 19"/>
          <p:cNvSpPr/>
          <p:nvPr/>
        </p:nvSpPr>
        <p:spPr>
          <a:xfrm>
            <a:off x="8430768" y="262890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102</a:t>
            </a:r>
            <a:endParaRPr lang="en-US" sz="1050" dirty="0"/>
          </a:p>
        </p:txBody>
      </p:sp>
      <p:sp>
        <p:nvSpPr>
          <p:cNvPr id="22" name="Shape 20"/>
          <p:cNvSpPr/>
          <p:nvPr/>
        </p:nvSpPr>
        <p:spPr>
          <a:xfrm>
            <a:off x="9476232" y="2583180"/>
            <a:ext cx="1082040" cy="582930"/>
          </a:xfrm>
          <a:prstGeom prst="rect">
            <a:avLst/>
          </a:prstGeom>
          <a:solidFill>
            <a:srgbClr val="F8FAFD"/>
          </a:solidFill>
          <a:ln w="12700">
            <a:solidFill>
              <a:srgbClr val="D9E2EC"/>
            </a:solidFill>
            <a:prstDash val="solid"/>
          </a:ln>
        </p:spPr>
      </p:sp>
      <p:sp>
        <p:nvSpPr>
          <p:cNvPr id="23" name="Text 21"/>
          <p:cNvSpPr/>
          <p:nvPr/>
        </p:nvSpPr>
        <p:spPr>
          <a:xfrm>
            <a:off x="9512808" y="262890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Beto</a:t>
            </a:r>
            <a:endParaRPr lang="en-US" sz="1050" dirty="0"/>
          </a:p>
        </p:txBody>
      </p:sp>
      <p:sp>
        <p:nvSpPr>
          <p:cNvPr id="24" name="Shape 22"/>
          <p:cNvSpPr/>
          <p:nvPr/>
        </p:nvSpPr>
        <p:spPr>
          <a:xfrm>
            <a:off x="10558272" y="2583180"/>
            <a:ext cx="1082040" cy="582930"/>
          </a:xfrm>
          <a:prstGeom prst="rect">
            <a:avLst/>
          </a:prstGeom>
          <a:solidFill>
            <a:srgbClr val="F8FAFD"/>
          </a:solidFill>
          <a:ln w="12700">
            <a:solidFill>
              <a:srgbClr val="D9E2EC"/>
            </a:solidFill>
            <a:prstDash val="solid"/>
          </a:ln>
        </p:spPr>
      </p:sp>
      <p:sp>
        <p:nvSpPr>
          <p:cNvPr id="25" name="Text 23"/>
          <p:cNvSpPr/>
          <p:nvPr/>
        </p:nvSpPr>
        <p:spPr>
          <a:xfrm>
            <a:off x="10594848" y="262890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beto@x.br</a:t>
            </a:r>
            <a:endParaRPr lang="en-US" sz="1050" dirty="0"/>
          </a:p>
        </p:txBody>
      </p:sp>
      <p:sp>
        <p:nvSpPr>
          <p:cNvPr id="26" name="Shape 24"/>
          <p:cNvSpPr/>
          <p:nvPr/>
        </p:nvSpPr>
        <p:spPr>
          <a:xfrm>
            <a:off x="8394192" y="3166110"/>
            <a:ext cx="1082040" cy="582930"/>
          </a:xfrm>
          <a:prstGeom prst="rect">
            <a:avLst/>
          </a:prstGeom>
          <a:solidFill>
            <a:srgbClr val="FFFFFF"/>
          </a:solidFill>
          <a:ln w="12700">
            <a:solidFill>
              <a:srgbClr val="D9E2EC"/>
            </a:solidFill>
            <a:prstDash val="solid"/>
          </a:ln>
        </p:spPr>
      </p:sp>
      <p:sp>
        <p:nvSpPr>
          <p:cNvPr id="27" name="Text 25"/>
          <p:cNvSpPr/>
          <p:nvPr/>
        </p:nvSpPr>
        <p:spPr>
          <a:xfrm>
            <a:off x="8430768" y="321183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103</a:t>
            </a:r>
            <a:endParaRPr lang="en-US" sz="1050" dirty="0"/>
          </a:p>
        </p:txBody>
      </p:sp>
      <p:sp>
        <p:nvSpPr>
          <p:cNvPr id="28" name="Shape 26"/>
          <p:cNvSpPr/>
          <p:nvPr/>
        </p:nvSpPr>
        <p:spPr>
          <a:xfrm>
            <a:off x="9476232" y="3166110"/>
            <a:ext cx="1082040" cy="582930"/>
          </a:xfrm>
          <a:prstGeom prst="rect">
            <a:avLst/>
          </a:prstGeom>
          <a:solidFill>
            <a:srgbClr val="FFFFFF"/>
          </a:solidFill>
          <a:ln w="12700">
            <a:solidFill>
              <a:srgbClr val="D9E2EC"/>
            </a:solidFill>
            <a:prstDash val="solid"/>
          </a:ln>
        </p:spPr>
      </p:sp>
      <p:sp>
        <p:nvSpPr>
          <p:cNvPr id="29" name="Text 27"/>
          <p:cNvSpPr/>
          <p:nvPr/>
        </p:nvSpPr>
        <p:spPr>
          <a:xfrm>
            <a:off x="9512808" y="321183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Caio</a:t>
            </a:r>
            <a:endParaRPr lang="en-US" sz="1050" dirty="0"/>
          </a:p>
        </p:txBody>
      </p:sp>
      <p:sp>
        <p:nvSpPr>
          <p:cNvPr id="30" name="Shape 28"/>
          <p:cNvSpPr/>
          <p:nvPr/>
        </p:nvSpPr>
        <p:spPr>
          <a:xfrm>
            <a:off x="10558272" y="3166110"/>
            <a:ext cx="1082040" cy="582930"/>
          </a:xfrm>
          <a:prstGeom prst="rect">
            <a:avLst/>
          </a:prstGeom>
          <a:solidFill>
            <a:srgbClr val="FFFFFF"/>
          </a:solidFill>
          <a:ln w="12700">
            <a:solidFill>
              <a:srgbClr val="D9E2EC"/>
            </a:solidFill>
            <a:prstDash val="solid"/>
          </a:ln>
        </p:spPr>
      </p:sp>
      <p:sp>
        <p:nvSpPr>
          <p:cNvPr id="31" name="Text 29"/>
          <p:cNvSpPr/>
          <p:nvPr/>
        </p:nvSpPr>
        <p:spPr>
          <a:xfrm>
            <a:off x="10594848" y="3211830"/>
            <a:ext cx="1008888" cy="518922"/>
          </a:xfrm>
          <a:prstGeom prst="rect">
            <a:avLst/>
          </a:prstGeom>
          <a:noFill/>
          <a:ln/>
        </p:spPr>
        <p:txBody>
          <a:bodyPr wrap="square" lIns="0" tIns="0" rIns="0" bIns="0" rtlCol="0" anchor="ctr"/>
          <a:lstStyle/>
          <a:p>
            <a:pPr algn="ctr" indent="0" marL="0">
              <a:buNone/>
            </a:pPr>
            <a:r>
              <a:rPr lang="en-US" sz="1050" dirty="0">
                <a:solidFill>
                  <a:srgbClr val="1F2937"/>
                </a:solidFill>
              </a:rPr>
              <a:t>caio@x.br</a:t>
            </a:r>
            <a:endParaRPr lang="en-US" sz="1050" dirty="0"/>
          </a:p>
        </p:txBody>
      </p:sp>
      <p:sp>
        <p:nvSpPr>
          <p:cNvPr id="32" name="Shape 30"/>
          <p:cNvSpPr/>
          <p:nvPr/>
        </p:nvSpPr>
        <p:spPr>
          <a:xfrm>
            <a:off x="8430768" y="4069080"/>
            <a:ext cx="960120" cy="502920"/>
          </a:xfrm>
          <a:prstGeom prst="roundRect">
            <a:avLst/>
          </a:prstGeom>
          <a:solidFill>
            <a:srgbClr val="FFF4D6"/>
          </a:solidFill>
          <a:ln w="12700">
            <a:solidFill>
              <a:srgbClr val="F59E0B"/>
            </a:solidFill>
            <a:prstDash val="solid"/>
          </a:ln>
        </p:spPr>
      </p:sp>
      <p:sp>
        <p:nvSpPr>
          <p:cNvPr id="33" name="Text 31"/>
          <p:cNvSpPr/>
          <p:nvPr/>
        </p:nvSpPr>
        <p:spPr>
          <a:xfrm>
            <a:off x="8430768" y="4224528"/>
            <a:ext cx="960120" cy="146304"/>
          </a:xfrm>
          <a:prstGeom prst="rect">
            <a:avLst/>
          </a:prstGeom>
          <a:noFill/>
          <a:ln/>
        </p:spPr>
        <p:txBody>
          <a:bodyPr wrap="square" lIns="0" tIns="0" rIns="0" bIns="0" rtlCol="0" anchor="ctr"/>
          <a:lstStyle/>
          <a:p>
            <a:pPr algn="ctr" indent="0" marL="0">
              <a:buNone/>
            </a:pPr>
            <a:r>
              <a:rPr lang="en-US" sz="1400" b="1" dirty="0">
                <a:solidFill>
                  <a:srgbClr val="A35D00"/>
                </a:solidFill>
              </a:rPr>
              <a:t>PK</a:t>
            </a:r>
            <a:endParaRPr lang="en-US" sz="1400" dirty="0"/>
          </a:p>
        </p:txBody>
      </p:sp>
      <p:sp>
        <p:nvSpPr>
          <p:cNvPr id="34" name="Shape 32"/>
          <p:cNvSpPr/>
          <p:nvPr/>
        </p:nvSpPr>
        <p:spPr>
          <a:xfrm>
            <a:off x="8915400" y="-960120"/>
            <a:ext cx="0" cy="914400"/>
          </a:xfrm>
          <a:prstGeom prst="line">
            <a:avLst/>
          </a:prstGeom>
          <a:noFill/>
          <a:ln w="12700">
            <a:solidFill>
              <a:srgbClr val="F59E0B"/>
            </a:solidFill>
            <a:prstDash val="solid"/>
            <a:headEnd type="none"/>
            <a:tailEnd type="triangle"/>
          </a:ln>
        </p:spPr>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Integridade referencial</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REFERÊNCIAS DEVEM APONTAR PARA DADOS EXISTENTES</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- 23</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A integridade referencial garante que uma chave estrangeira não aponte para uma tupla inexistente. Se ALUNO.curso_id referencia CURSO.id, inserir curso_id 99 só será permitido se o curso 99 existir, salvo NULL quando a regra aceitar ausência de vínculo. Isso evita registros órfãos e mantém relacionamentos semanticamente consistentes.</a:t>
            </a:r>
            <a:endParaRPr lang="en-US" sz="2400" dirty="0"/>
          </a:p>
        </p:txBody>
      </p:sp>
      <p:sp>
        <p:nvSpPr>
          <p:cNvPr id="7" name="Shape 5"/>
          <p:cNvSpPr/>
          <p:nvPr/>
        </p:nvSpPr>
        <p:spPr>
          <a:xfrm>
            <a:off x="8321040" y="1325880"/>
            <a:ext cx="3337560" cy="1417320"/>
          </a:xfrm>
          <a:prstGeom prst="roundRect">
            <a:avLst>
              <a:gd name="adj" fmla="val 5161"/>
            </a:avLst>
          </a:prstGeom>
          <a:solidFill>
            <a:srgbClr val="EAF1FF"/>
          </a:solidFill>
          <a:ln w="12700">
            <a:solidFill>
              <a:srgbClr val="C6D2E1"/>
            </a:solidFill>
            <a:prstDash val="solid"/>
          </a:ln>
        </p:spPr>
      </p:sp>
      <p:sp>
        <p:nvSpPr>
          <p:cNvPr id="8" name="Shape 6"/>
          <p:cNvSpPr/>
          <p:nvPr/>
        </p:nvSpPr>
        <p:spPr>
          <a:xfrm>
            <a:off x="8339328" y="1344168"/>
            <a:ext cx="73152" cy="1380744"/>
          </a:xfrm>
          <a:prstGeom prst="rect">
            <a:avLst/>
          </a:prstGeom>
          <a:solidFill>
            <a:srgbClr val="2463EB"/>
          </a:solidFill>
          <a:ln w="12700">
            <a:solidFill>
              <a:srgbClr val="2463EB"/>
            </a:solidFill>
            <a:prstDash val="solid"/>
          </a:ln>
        </p:spPr>
      </p:sp>
      <p:sp>
        <p:nvSpPr>
          <p:cNvPr id="9" name="Text 7"/>
          <p:cNvSpPr/>
          <p:nvPr/>
        </p:nvSpPr>
        <p:spPr>
          <a:xfrm>
            <a:off x="8522208" y="1490472"/>
            <a:ext cx="2990088" cy="256032"/>
          </a:xfrm>
          <a:prstGeom prst="rect">
            <a:avLst/>
          </a:prstGeom>
          <a:noFill/>
          <a:ln/>
        </p:spPr>
        <p:txBody>
          <a:bodyPr wrap="square" lIns="0" tIns="0" rIns="0" bIns="0" rtlCol="0" anchor="ctr"/>
          <a:lstStyle/>
          <a:p>
            <a:pPr indent="0" marL="0">
              <a:buNone/>
            </a:pPr>
            <a:r>
              <a:rPr lang="en-US" sz="1600" b="1" dirty="0">
                <a:solidFill>
                  <a:srgbClr val="0B1F33"/>
                </a:solidFill>
              </a:rPr>
              <a:t>CURSO</a:t>
            </a:r>
            <a:endParaRPr lang="en-US" sz="1600" dirty="0"/>
          </a:p>
        </p:txBody>
      </p:sp>
      <p:sp>
        <p:nvSpPr>
          <p:cNvPr id="10" name="Text 8"/>
          <p:cNvSpPr/>
          <p:nvPr/>
        </p:nvSpPr>
        <p:spPr>
          <a:xfrm>
            <a:off x="8522208" y="1856232"/>
            <a:ext cx="2990088" cy="758952"/>
          </a:xfrm>
          <a:prstGeom prst="rect">
            <a:avLst/>
          </a:prstGeom>
          <a:noFill/>
          <a:ln/>
        </p:spPr>
        <p:txBody>
          <a:bodyPr wrap="square" lIns="254" tIns="254" rIns="254" bIns="254" rtlCol="0" anchor="ctr"/>
          <a:lstStyle/>
          <a:p>
            <a:pPr indent="0" marL="0">
              <a:buNone/>
            </a:pPr>
            <a:r>
              <a:rPr lang="en-US" sz="1250" dirty="0">
                <a:solidFill>
                  <a:srgbClr val="1F2937"/>
                </a:solidFill>
              </a:rPr>
              <a:t>id PK</a:t>
            </a:r>
            <a:endParaRPr lang="en-US" sz="1250" dirty="0"/>
          </a:p>
          <a:p>
            <a:pPr indent="0" marL="0">
              <a:buNone/>
            </a:pPr>
            <a:r>
              <a:rPr lang="en-US" sz="1250" dirty="0">
                <a:solidFill>
                  <a:srgbClr val="1F2937"/>
                </a:solidFill>
              </a:rPr>
              <a:t>nome</a:t>
            </a:r>
            <a:endParaRPr lang="en-US" sz="1250" dirty="0"/>
          </a:p>
        </p:txBody>
      </p:sp>
      <p:sp>
        <p:nvSpPr>
          <p:cNvPr id="11" name="Shape 9"/>
          <p:cNvSpPr/>
          <p:nvPr/>
        </p:nvSpPr>
        <p:spPr>
          <a:xfrm>
            <a:off x="8321040" y="3794760"/>
            <a:ext cx="3337560" cy="1600200"/>
          </a:xfrm>
          <a:prstGeom prst="roundRect">
            <a:avLst>
              <a:gd name="adj" fmla="val 4571"/>
            </a:avLst>
          </a:prstGeom>
          <a:solidFill>
            <a:srgbClr val="E7F7F5"/>
          </a:solidFill>
          <a:ln w="12700">
            <a:solidFill>
              <a:srgbClr val="C6D2E1"/>
            </a:solidFill>
            <a:prstDash val="solid"/>
          </a:ln>
        </p:spPr>
      </p:sp>
      <p:sp>
        <p:nvSpPr>
          <p:cNvPr id="12" name="Shape 10"/>
          <p:cNvSpPr/>
          <p:nvPr/>
        </p:nvSpPr>
        <p:spPr>
          <a:xfrm>
            <a:off x="8339328" y="3813048"/>
            <a:ext cx="73152" cy="1563624"/>
          </a:xfrm>
          <a:prstGeom prst="rect">
            <a:avLst/>
          </a:prstGeom>
          <a:solidFill>
            <a:srgbClr val="0F766E"/>
          </a:solidFill>
          <a:ln w="12700">
            <a:solidFill>
              <a:srgbClr val="0F766E"/>
            </a:solidFill>
            <a:prstDash val="solid"/>
          </a:ln>
        </p:spPr>
      </p:sp>
      <p:sp>
        <p:nvSpPr>
          <p:cNvPr id="13" name="Text 11"/>
          <p:cNvSpPr/>
          <p:nvPr/>
        </p:nvSpPr>
        <p:spPr>
          <a:xfrm>
            <a:off x="8522208" y="3959352"/>
            <a:ext cx="2990088" cy="256032"/>
          </a:xfrm>
          <a:prstGeom prst="rect">
            <a:avLst/>
          </a:prstGeom>
          <a:noFill/>
          <a:ln/>
        </p:spPr>
        <p:txBody>
          <a:bodyPr wrap="square" lIns="0" tIns="0" rIns="0" bIns="0" rtlCol="0" anchor="ctr"/>
          <a:lstStyle/>
          <a:p>
            <a:pPr indent="0" marL="0">
              <a:buNone/>
            </a:pPr>
            <a:r>
              <a:rPr lang="en-US" sz="1600" b="1" dirty="0">
                <a:solidFill>
                  <a:srgbClr val="0B1F33"/>
                </a:solidFill>
              </a:rPr>
              <a:t>ALUNO</a:t>
            </a:r>
            <a:endParaRPr lang="en-US" sz="1600" dirty="0"/>
          </a:p>
        </p:txBody>
      </p:sp>
      <p:sp>
        <p:nvSpPr>
          <p:cNvPr id="14" name="Text 12"/>
          <p:cNvSpPr/>
          <p:nvPr/>
        </p:nvSpPr>
        <p:spPr>
          <a:xfrm>
            <a:off x="8522208" y="4325112"/>
            <a:ext cx="2990088" cy="941832"/>
          </a:xfrm>
          <a:prstGeom prst="rect">
            <a:avLst/>
          </a:prstGeom>
          <a:noFill/>
          <a:ln/>
        </p:spPr>
        <p:txBody>
          <a:bodyPr wrap="square" lIns="254" tIns="254" rIns="254" bIns="254" rtlCol="0" anchor="ctr"/>
          <a:lstStyle/>
          <a:p>
            <a:pPr indent="0" marL="0">
              <a:buNone/>
            </a:pPr>
            <a:r>
              <a:rPr lang="en-US" sz="1250" dirty="0">
                <a:solidFill>
                  <a:srgbClr val="1F2937"/>
                </a:solidFill>
              </a:rPr>
              <a:t>id PK</a:t>
            </a:r>
            <a:endParaRPr lang="en-US" sz="1250" dirty="0"/>
          </a:p>
          <a:p>
            <a:pPr indent="0" marL="0">
              <a:buNone/>
            </a:pPr>
            <a:r>
              <a:rPr lang="en-US" sz="1250" dirty="0">
                <a:solidFill>
                  <a:srgbClr val="1F2937"/>
                </a:solidFill>
              </a:rPr>
              <a:t>nome</a:t>
            </a:r>
            <a:endParaRPr lang="en-US" sz="1250" dirty="0"/>
          </a:p>
          <a:p>
            <a:pPr indent="0" marL="0">
              <a:buNone/>
            </a:pPr>
            <a:r>
              <a:rPr lang="en-US" sz="1250" dirty="0">
                <a:solidFill>
                  <a:srgbClr val="1F2937"/>
                </a:solidFill>
              </a:rPr>
              <a:t>curso_id FK</a:t>
            </a:r>
            <a:endParaRPr lang="en-US" sz="1250" dirty="0"/>
          </a:p>
        </p:txBody>
      </p:sp>
      <p:sp>
        <p:nvSpPr>
          <p:cNvPr id="15" name="Shape 13"/>
          <p:cNvSpPr/>
          <p:nvPr/>
        </p:nvSpPr>
        <p:spPr>
          <a:xfrm>
            <a:off x="9921240" y="3767328"/>
            <a:ext cx="0" cy="-960120"/>
          </a:xfrm>
          <a:prstGeom prst="line">
            <a:avLst/>
          </a:prstGeom>
          <a:noFill/>
          <a:ln w="12700">
            <a:solidFill>
              <a:srgbClr val="F59E0B"/>
            </a:solidFill>
            <a:prstDash val="solid"/>
            <a:tailEnd type="triangle"/>
          </a:ln>
        </p:spPr>
      </p:sp>
      <p:sp>
        <p:nvSpPr>
          <p:cNvPr id="16" name="Text 14"/>
          <p:cNvSpPr/>
          <p:nvPr/>
        </p:nvSpPr>
        <p:spPr>
          <a:xfrm>
            <a:off x="10104120" y="2880360"/>
            <a:ext cx="1325880" cy="228600"/>
          </a:xfrm>
          <a:prstGeom prst="rect">
            <a:avLst/>
          </a:prstGeom>
          <a:noFill/>
          <a:ln/>
        </p:spPr>
        <p:txBody>
          <a:bodyPr wrap="square" lIns="0" tIns="0" rIns="0" bIns="0" rtlCol="0" anchor="ctr"/>
          <a:lstStyle/>
          <a:p>
            <a:pPr indent="0" marL="0">
              <a:buNone/>
            </a:pPr>
            <a:r>
              <a:rPr lang="en-US" sz="1300" b="1" dirty="0">
                <a:solidFill>
                  <a:srgbClr val="A35D00"/>
                </a:solidFill>
              </a:rPr>
              <a:t>referencia</a:t>
            </a:r>
            <a:endParaRPr lang="en-US" sz="13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Constraints fundamentais</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NOT NULL, UNIQUE, CHECK E DEFAULT</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- 24</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Além de PRIMARY KEY e FOREIGN KEY, SQL oferece restrições úteis para expressar regras do modelo. NOT NULL torna um valor obrigatório; UNIQUE impede duplicidades conforme a semântica do SGBD; CHECK valida uma expressão booleana; DEFAULT fornece um valor quando a coluna não é informada. Essas restrições complementam a definição de domínios e chaves.</a:t>
            </a:r>
            <a:endParaRPr lang="en-US" sz="2400" dirty="0"/>
          </a:p>
        </p:txBody>
      </p:sp>
      <p:sp>
        <p:nvSpPr>
          <p:cNvPr id="7" name="Shape 5"/>
          <p:cNvSpPr/>
          <p:nvPr/>
        </p:nvSpPr>
        <p:spPr>
          <a:xfrm>
            <a:off x="8366760" y="1325880"/>
            <a:ext cx="1508760" cy="1170432"/>
          </a:xfrm>
          <a:prstGeom prst="roundRect">
            <a:avLst>
              <a:gd name="adj" fmla="val 6250"/>
            </a:avLst>
          </a:prstGeom>
          <a:solidFill>
            <a:srgbClr val="EAF1FF"/>
          </a:solidFill>
          <a:ln w="12700">
            <a:solidFill>
              <a:srgbClr val="C6D2E1"/>
            </a:solidFill>
            <a:prstDash val="solid"/>
          </a:ln>
        </p:spPr>
      </p:sp>
      <p:sp>
        <p:nvSpPr>
          <p:cNvPr id="8" name="Shape 6"/>
          <p:cNvSpPr/>
          <p:nvPr/>
        </p:nvSpPr>
        <p:spPr>
          <a:xfrm>
            <a:off x="8385048" y="1344168"/>
            <a:ext cx="73152" cy="1133856"/>
          </a:xfrm>
          <a:prstGeom prst="rect">
            <a:avLst/>
          </a:prstGeom>
          <a:solidFill>
            <a:srgbClr val="2463EB"/>
          </a:solidFill>
          <a:ln w="12700">
            <a:solidFill>
              <a:srgbClr val="2463EB"/>
            </a:solidFill>
            <a:prstDash val="solid"/>
          </a:ln>
        </p:spPr>
      </p:sp>
      <p:sp>
        <p:nvSpPr>
          <p:cNvPr id="9" name="Text 7"/>
          <p:cNvSpPr/>
          <p:nvPr/>
        </p:nvSpPr>
        <p:spPr>
          <a:xfrm>
            <a:off x="8567928" y="1490472"/>
            <a:ext cx="1161288" cy="256032"/>
          </a:xfrm>
          <a:prstGeom prst="rect">
            <a:avLst/>
          </a:prstGeom>
          <a:noFill/>
          <a:ln/>
        </p:spPr>
        <p:txBody>
          <a:bodyPr wrap="square" lIns="0" tIns="0" rIns="0" bIns="0" rtlCol="0" anchor="ctr"/>
          <a:lstStyle/>
          <a:p>
            <a:pPr indent="0" marL="0">
              <a:buNone/>
            </a:pPr>
            <a:r>
              <a:rPr lang="en-US" sz="1600" b="1" dirty="0">
                <a:solidFill>
                  <a:srgbClr val="0B1F33"/>
                </a:solidFill>
              </a:rPr>
              <a:t>NOT NULL</a:t>
            </a:r>
            <a:endParaRPr lang="en-US" sz="1600" dirty="0"/>
          </a:p>
        </p:txBody>
      </p:sp>
      <p:sp>
        <p:nvSpPr>
          <p:cNvPr id="10" name="Text 8"/>
          <p:cNvSpPr/>
          <p:nvPr/>
        </p:nvSpPr>
        <p:spPr>
          <a:xfrm>
            <a:off x="8567928" y="1856232"/>
            <a:ext cx="1161288" cy="512064"/>
          </a:xfrm>
          <a:prstGeom prst="rect">
            <a:avLst/>
          </a:prstGeom>
          <a:noFill/>
          <a:ln/>
        </p:spPr>
        <p:txBody>
          <a:bodyPr wrap="square" lIns="254" tIns="254" rIns="254" bIns="254" rtlCol="0" anchor="ctr"/>
          <a:lstStyle/>
          <a:p>
            <a:pPr indent="0" marL="0">
              <a:buNone/>
            </a:pPr>
            <a:r>
              <a:rPr lang="en-US" sz="1250" dirty="0">
                <a:solidFill>
                  <a:srgbClr val="1F2937"/>
                </a:solidFill>
              </a:rPr>
              <a:t>obrigatório</a:t>
            </a:r>
            <a:endParaRPr lang="en-US" sz="1250" dirty="0"/>
          </a:p>
        </p:txBody>
      </p:sp>
      <p:sp>
        <p:nvSpPr>
          <p:cNvPr id="11" name="Shape 9"/>
          <p:cNvSpPr/>
          <p:nvPr/>
        </p:nvSpPr>
        <p:spPr>
          <a:xfrm>
            <a:off x="10040112" y="1325880"/>
            <a:ext cx="1508760" cy="1170432"/>
          </a:xfrm>
          <a:prstGeom prst="roundRect">
            <a:avLst>
              <a:gd name="adj" fmla="val 6250"/>
            </a:avLst>
          </a:prstGeom>
          <a:solidFill>
            <a:srgbClr val="E7F7F5"/>
          </a:solidFill>
          <a:ln w="12700">
            <a:solidFill>
              <a:srgbClr val="C6D2E1"/>
            </a:solidFill>
            <a:prstDash val="solid"/>
          </a:ln>
        </p:spPr>
      </p:sp>
      <p:sp>
        <p:nvSpPr>
          <p:cNvPr id="12" name="Shape 10"/>
          <p:cNvSpPr/>
          <p:nvPr/>
        </p:nvSpPr>
        <p:spPr>
          <a:xfrm>
            <a:off x="10058400" y="1344168"/>
            <a:ext cx="73152" cy="1133856"/>
          </a:xfrm>
          <a:prstGeom prst="rect">
            <a:avLst/>
          </a:prstGeom>
          <a:solidFill>
            <a:srgbClr val="0F766E"/>
          </a:solidFill>
          <a:ln w="12700">
            <a:solidFill>
              <a:srgbClr val="0F766E"/>
            </a:solidFill>
            <a:prstDash val="solid"/>
          </a:ln>
        </p:spPr>
      </p:sp>
      <p:sp>
        <p:nvSpPr>
          <p:cNvPr id="13" name="Text 11"/>
          <p:cNvSpPr/>
          <p:nvPr/>
        </p:nvSpPr>
        <p:spPr>
          <a:xfrm>
            <a:off x="10241280" y="1490472"/>
            <a:ext cx="1161288" cy="256032"/>
          </a:xfrm>
          <a:prstGeom prst="rect">
            <a:avLst/>
          </a:prstGeom>
          <a:noFill/>
          <a:ln/>
        </p:spPr>
        <p:txBody>
          <a:bodyPr wrap="square" lIns="0" tIns="0" rIns="0" bIns="0" rtlCol="0" anchor="ctr"/>
          <a:lstStyle/>
          <a:p>
            <a:pPr indent="0" marL="0">
              <a:buNone/>
            </a:pPr>
            <a:r>
              <a:rPr lang="en-US" sz="1600" b="1" dirty="0">
                <a:solidFill>
                  <a:srgbClr val="0B1F33"/>
                </a:solidFill>
              </a:rPr>
              <a:t>UNIQUE</a:t>
            </a:r>
            <a:endParaRPr lang="en-US" sz="1600" dirty="0"/>
          </a:p>
        </p:txBody>
      </p:sp>
      <p:sp>
        <p:nvSpPr>
          <p:cNvPr id="14" name="Text 12"/>
          <p:cNvSpPr/>
          <p:nvPr/>
        </p:nvSpPr>
        <p:spPr>
          <a:xfrm>
            <a:off x="10241280" y="1856232"/>
            <a:ext cx="1161288" cy="512064"/>
          </a:xfrm>
          <a:prstGeom prst="rect">
            <a:avLst/>
          </a:prstGeom>
          <a:noFill/>
          <a:ln/>
        </p:spPr>
        <p:txBody>
          <a:bodyPr wrap="square" lIns="254" tIns="254" rIns="254" bIns="254" rtlCol="0" anchor="ctr"/>
          <a:lstStyle/>
          <a:p>
            <a:pPr indent="0" marL="0">
              <a:buNone/>
            </a:pPr>
            <a:r>
              <a:rPr lang="en-US" sz="1250" dirty="0">
                <a:solidFill>
                  <a:srgbClr val="1F2937"/>
                </a:solidFill>
              </a:rPr>
              <a:t>sem repetição</a:t>
            </a:r>
            <a:endParaRPr lang="en-US" sz="1250" dirty="0"/>
          </a:p>
        </p:txBody>
      </p:sp>
      <p:sp>
        <p:nvSpPr>
          <p:cNvPr id="15" name="Shape 13"/>
          <p:cNvSpPr/>
          <p:nvPr/>
        </p:nvSpPr>
        <p:spPr>
          <a:xfrm>
            <a:off x="8366760" y="2816352"/>
            <a:ext cx="1508760" cy="1170432"/>
          </a:xfrm>
          <a:prstGeom prst="roundRect">
            <a:avLst>
              <a:gd name="adj" fmla="val 6250"/>
            </a:avLst>
          </a:prstGeom>
          <a:solidFill>
            <a:srgbClr val="FFF4D6"/>
          </a:solidFill>
          <a:ln w="12700">
            <a:solidFill>
              <a:srgbClr val="C6D2E1"/>
            </a:solidFill>
            <a:prstDash val="solid"/>
          </a:ln>
        </p:spPr>
      </p:sp>
      <p:sp>
        <p:nvSpPr>
          <p:cNvPr id="16" name="Shape 14"/>
          <p:cNvSpPr/>
          <p:nvPr/>
        </p:nvSpPr>
        <p:spPr>
          <a:xfrm>
            <a:off x="8385048" y="2834640"/>
            <a:ext cx="73152" cy="1133856"/>
          </a:xfrm>
          <a:prstGeom prst="rect">
            <a:avLst/>
          </a:prstGeom>
          <a:solidFill>
            <a:srgbClr val="F59E0B"/>
          </a:solidFill>
          <a:ln w="12700">
            <a:solidFill>
              <a:srgbClr val="F59E0B"/>
            </a:solidFill>
            <a:prstDash val="solid"/>
          </a:ln>
        </p:spPr>
      </p:sp>
      <p:sp>
        <p:nvSpPr>
          <p:cNvPr id="17" name="Text 15"/>
          <p:cNvSpPr/>
          <p:nvPr/>
        </p:nvSpPr>
        <p:spPr>
          <a:xfrm>
            <a:off x="8567928" y="2980944"/>
            <a:ext cx="1161288" cy="256032"/>
          </a:xfrm>
          <a:prstGeom prst="rect">
            <a:avLst/>
          </a:prstGeom>
          <a:noFill/>
          <a:ln/>
        </p:spPr>
        <p:txBody>
          <a:bodyPr wrap="square" lIns="0" tIns="0" rIns="0" bIns="0" rtlCol="0" anchor="ctr"/>
          <a:lstStyle/>
          <a:p>
            <a:pPr indent="0" marL="0">
              <a:buNone/>
            </a:pPr>
            <a:r>
              <a:rPr lang="en-US" sz="1600" b="1" dirty="0">
                <a:solidFill>
                  <a:srgbClr val="0B1F33"/>
                </a:solidFill>
              </a:rPr>
              <a:t>CHECK</a:t>
            </a:r>
            <a:endParaRPr lang="en-US" sz="1600" dirty="0"/>
          </a:p>
        </p:txBody>
      </p:sp>
      <p:sp>
        <p:nvSpPr>
          <p:cNvPr id="18" name="Text 16"/>
          <p:cNvSpPr/>
          <p:nvPr/>
        </p:nvSpPr>
        <p:spPr>
          <a:xfrm>
            <a:off x="8567928" y="3346704"/>
            <a:ext cx="1161288" cy="512064"/>
          </a:xfrm>
          <a:prstGeom prst="rect">
            <a:avLst/>
          </a:prstGeom>
          <a:noFill/>
          <a:ln/>
        </p:spPr>
        <p:txBody>
          <a:bodyPr wrap="square" lIns="254" tIns="254" rIns="254" bIns="254" rtlCol="0" anchor="ctr"/>
          <a:lstStyle/>
          <a:p>
            <a:pPr indent="0" marL="0">
              <a:buNone/>
            </a:pPr>
            <a:r>
              <a:rPr lang="en-US" sz="1250" dirty="0">
                <a:solidFill>
                  <a:srgbClr val="1F2937"/>
                </a:solidFill>
              </a:rPr>
              <a:t>condição</a:t>
            </a:r>
            <a:endParaRPr lang="en-US" sz="1250" dirty="0"/>
          </a:p>
        </p:txBody>
      </p:sp>
      <p:sp>
        <p:nvSpPr>
          <p:cNvPr id="19" name="Shape 17"/>
          <p:cNvSpPr/>
          <p:nvPr/>
        </p:nvSpPr>
        <p:spPr>
          <a:xfrm>
            <a:off x="10040112" y="2816352"/>
            <a:ext cx="1508760" cy="1170432"/>
          </a:xfrm>
          <a:prstGeom prst="roundRect">
            <a:avLst>
              <a:gd name="adj" fmla="val 6250"/>
            </a:avLst>
          </a:prstGeom>
          <a:solidFill>
            <a:srgbClr val="F2F4F8"/>
          </a:solidFill>
          <a:ln w="12700">
            <a:solidFill>
              <a:srgbClr val="C6D2E1"/>
            </a:solidFill>
            <a:prstDash val="solid"/>
          </a:ln>
        </p:spPr>
      </p:sp>
      <p:sp>
        <p:nvSpPr>
          <p:cNvPr id="20" name="Shape 18"/>
          <p:cNvSpPr/>
          <p:nvPr/>
        </p:nvSpPr>
        <p:spPr>
          <a:xfrm>
            <a:off x="10058400" y="2834640"/>
            <a:ext cx="73152" cy="1133856"/>
          </a:xfrm>
          <a:prstGeom prst="rect">
            <a:avLst/>
          </a:prstGeom>
          <a:solidFill>
            <a:srgbClr val="0B1F33"/>
          </a:solidFill>
          <a:ln w="12700">
            <a:solidFill>
              <a:srgbClr val="0B1F33"/>
            </a:solidFill>
            <a:prstDash val="solid"/>
          </a:ln>
        </p:spPr>
      </p:sp>
      <p:sp>
        <p:nvSpPr>
          <p:cNvPr id="21" name="Text 19"/>
          <p:cNvSpPr/>
          <p:nvPr/>
        </p:nvSpPr>
        <p:spPr>
          <a:xfrm>
            <a:off x="10241280" y="2980944"/>
            <a:ext cx="1161288" cy="256032"/>
          </a:xfrm>
          <a:prstGeom prst="rect">
            <a:avLst/>
          </a:prstGeom>
          <a:noFill/>
          <a:ln/>
        </p:spPr>
        <p:txBody>
          <a:bodyPr wrap="square" lIns="0" tIns="0" rIns="0" bIns="0" rtlCol="0" anchor="ctr"/>
          <a:lstStyle/>
          <a:p>
            <a:pPr indent="0" marL="0">
              <a:buNone/>
            </a:pPr>
            <a:r>
              <a:rPr lang="en-US" sz="1600" b="1" dirty="0">
                <a:solidFill>
                  <a:srgbClr val="0B1F33"/>
                </a:solidFill>
              </a:rPr>
              <a:t>DEFAULT</a:t>
            </a:r>
            <a:endParaRPr lang="en-US" sz="1600" dirty="0"/>
          </a:p>
        </p:txBody>
      </p:sp>
      <p:sp>
        <p:nvSpPr>
          <p:cNvPr id="22" name="Text 20"/>
          <p:cNvSpPr/>
          <p:nvPr/>
        </p:nvSpPr>
        <p:spPr>
          <a:xfrm>
            <a:off x="10241280" y="3346704"/>
            <a:ext cx="1161288" cy="512064"/>
          </a:xfrm>
          <a:prstGeom prst="rect">
            <a:avLst/>
          </a:prstGeom>
          <a:noFill/>
          <a:ln/>
        </p:spPr>
        <p:txBody>
          <a:bodyPr wrap="square" lIns="254" tIns="254" rIns="254" bIns="254" rtlCol="0" anchor="ctr"/>
          <a:lstStyle/>
          <a:p>
            <a:pPr indent="0" marL="0">
              <a:buNone/>
            </a:pPr>
            <a:r>
              <a:rPr lang="en-US" sz="1250" dirty="0">
                <a:solidFill>
                  <a:srgbClr val="1F2937"/>
                </a:solidFill>
              </a:rPr>
              <a:t>valor padrão</a:t>
            </a:r>
            <a:endParaRPr lang="en-US" sz="1250" dirty="0"/>
          </a:p>
        </p:txBody>
      </p:sp>
      <p:sp>
        <p:nvSpPr>
          <p:cNvPr id="23" name="Text 21"/>
          <p:cNvSpPr/>
          <p:nvPr/>
        </p:nvSpPr>
        <p:spPr>
          <a:xfrm>
            <a:off x="8549640" y="4617720"/>
            <a:ext cx="2788920" cy="347472"/>
          </a:xfrm>
          <a:prstGeom prst="rect">
            <a:avLst/>
          </a:prstGeom>
          <a:noFill/>
          <a:ln/>
        </p:spPr>
        <p:txBody>
          <a:bodyPr wrap="square" lIns="0" tIns="0" rIns="0" bIns="0" rtlCol="0" anchor="ctr"/>
          <a:lstStyle/>
          <a:p>
            <a:pPr algn="ctr" indent="0" marL="0">
              <a:buNone/>
            </a:pPr>
            <a:r>
              <a:rPr lang="en-US" sz="2100" b="1" dirty="0">
                <a:solidFill>
                  <a:srgbClr val="0B1F33"/>
                </a:solidFill>
              </a:rPr>
              <a:t>constraints</a:t>
            </a:r>
            <a:endParaRPr lang="en-US" sz="2100" dirty="0"/>
          </a:p>
        </p:txBody>
      </p:sp>
      <p:sp>
        <p:nvSpPr>
          <p:cNvPr id="24" name="Shape 22"/>
          <p:cNvSpPr/>
          <p:nvPr/>
        </p:nvSpPr>
        <p:spPr>
          <a:xfrm>
            <a:off x="621792" y="5989320"/>
            <a:ext cx="2606040" cy="347472"/>
          </a:xfrm>
          <a:prstGeom prst="roundRect">
            <a:avLst>
              <a:gd name="adj" fmla="val 21053"/>
            </a:avLst>
          </a:prstGeom>
          <a:solidFill>
            <a:srgbClr val="EAF1FF"/>
          </a:solidFill>
          <a:ln w="12700">
            <a:solidFill>
              <a:srgbClr val="B8CCF6"/>
            </a:solidFill>
            <a:prstDash val="solid"/>
          </a:ln>
        </p:spPr>
      </p:sp>
      <p:sp>
        <p:nvSpPr>
          <p:cNvPr id="25" name="Text 23">
            <a:hlinkClick r:id="rId1" tooltip=""/>
          </p:cNvPr>
          <p:cNvSpPr/>
          <p:nvPr/>
        </p:nvSpPr>
        <p:spPr>
          <a:xfrm>
            <a:off x="777240" y="6053328"/>
            <a:ext cx="2267712" cy="182880"/>
          </a:xfrm>
          <a:prstGeom prst="rect">
            <a:avLst/>
          </a:prstGeom>
          <a:noFill/>
          <a:ln/>
        </p:spPr>
        <p:txBody>
          <a:bodyPr wrap="square" lIns="0" tIns="0" rIns="0" bIns="0" rtlCol="0" anchor="ctr"/>
          <a:lstStyle/>
          <a:p>
            <a:pPr indent="0" marL="0">
              <a:buNone/>
            </a:pPr>
            <a:r>
              <a:rPr lang="en-US" sz="1250" b="1" u="sng" dirty="0">
                <a:solidFill>
                  <a:srgbClr val="2463EB"/>
                </a:solidFill>
                <a:hlinkClick r:id="rId1" invalidUrl="" action="" tgtFrame="" tooltip="" history="1" highlightClick="0" endSnd="0">
                  <a:extLst>
                    <a:ext uri="{A12FA001-AC4F-418D-AE19-62706E023703}">
                      <ahyp:hlinkClr xmlns:ahyp="http://schemas.microsoft.com/office/drawing/2018/hyperlinkcolor" val="tx"/>
                    </a:ext>
                  </a:extLst>
                </a:hlinkClick>
              </a:rPr>
              <a:t>PostgreSQL 18 — Constraints</a:t>
            </a:r>
            <a:endParaRPr lang="en-US" sz="125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Ações referenciais</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O QUE ACONTECE AO ATUALIZAR OU EXCLUIR UMA REFERÊNCIA</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- 25</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Uma FOREIGN KEY pode definir ações para UPDATE e DELETE. NO ACTION ou RESTRICT normalmente impedem a operação que quebraria a referência. CASCADE propaga a alteração ou exclusão aos registros dependentes. SET NULL remove o vínculo preservando a linha, desde que a coluna aceite NULL. A escolha deve refletir a regra do negócio.</a:t>
            </a:r>
            <a:endParaRPr lang="en-US" sz="2400" dirty="0"/>
          </a:p>
        </p:txBody>
      </p:sp>
      <p:sp>
        <p:nvSpPr>
          <p:cNvPr id="7" name="Shape 5"/>
          <p:cNvSpPr/>
          <p:nvPr/>
        </p:nvSpPr>
        <p:spPr>
          <a:xfrm>
            <a:off x="8275320" y="1325880"/>
            <a:ext cx="3429000" cy="1005840"/>
          </a:xfrm>
          <a:prstGeom prst="roundRect">
            <a:avLst>
              <a:gd name="adj" fmla="val 7273"/>
            </a:avLst>
          </a:prstGeom>
          <a:solidFill>
            <a:srgbClr val="FDECEC"/>
          </a:solidFill>
          <a:ln w="12700">
            <a:solidFill>
              <a:srgbClr val="C6D2E1"/>
            </a:solidFill>
            <a:prstDash val="solid"/>
          </a:ln>
        </p:spPr>
      </p:sp>
      <p:sp>
        <p:nvSpPr>
          <p:cNvPr id="8" name="Shape 6"/>
          <p:cNvSpPr/>
          <p:nvPr/>
        </p:nvSpPr>
        <p:spPr>
          <a:xfrm>
            <a:off x="8293608" y="1344168"/>
            <a:ext cx="73152" cy="969264"/>
          </a:xfrm>
          <a:prstGeom prst="rect">
            <a:avLst/>
          </a:prstGeom>
          <a:solidFill>
            <a:srgbClr val="DC2626"/>
          </a:solidFill>
          <a:ln w="12700">
            <a:solidFill>
              <a:srgbClr val="DC2626"/>
            </a:solidFill>
            <a:prstDash val="solid"/>
          </a:ln>
        </p:spPr>
      </p:sp>
      <p:sp>
        <p:nvSpPr>
          <p:cNvPr id="9" name="Text 7"/>
          <p:cNvSpPr/>
          <p:nvPr/>
        </p:nvSpPr>
        <p:spPr>
          <a:xfrm>
            <a:off x="8476488" y="1490472"/>
            <a:ext cx="3081528" cy="256032"/>
          </a:xfrm>
          <a:prstGeom prst="rect">
            <a:avLst/>
          </a:prstGeom>
          <a:noFill/>
          <a:ln/>
        </p:spPr>
        <p:txBody>
          <a:bodyPr wrap="square" lIns="0" tIns="0" rIns="0" bIns="0" rtlCol="0" anchor="ctr"/>
          <a:lstStyle/>
          <a:p>
            <a:pPr indent="0" marL="0">
              <a:buNone/>
            </a:pPr>
            <a:r>
              <a:rPr lang="en-US" sz="1600" b="1" dirty="0">
                <a:solidFill>
                  <a:srgbClr val="0B1F33"/>
                </a:solidFill>
              </a:rPr>
              <a:t>ON DELETE</a:t>
            </a:r>
            <a:endParaRPr lang="en-US" sz="1600" dirty="0"/>
          </a:p>
        </p:txBody>
      </p:sp>
      <p:sp>
        <p:nvSpPr>
          <p:cNvPr id="10" name="Text 8"/>
          <p:cNvSpPr/>
          <p:nvPr/>
        </p:nvSpPr>
        <p:spPr>
          <a:xfrm>
            <a:off x="8476488" y="1856232"/>
            <a:ext cx="3081528" cy="347472"/>
          </a:xfrm>
          <a:prstGeom prst="rect">
            <a:avLst/>
          </a:prstGeom>
          <a:noFill/>
          <a:ln/>
        </p:spPr>
        <p:txBody>
          <a:bodyPr wrap="square" lIns="254" tIns="254" rIns="254" bIns="254" rtlCol="0" anchor="ctr"/>
          <a:lstStyle/>
          <a:p>
            <a:pPr indent="0" marL="0">
              <a:buNone/>
            </a:pPr>
            <a:r>
              <a:rPr lang="en-US" sz="1250" dirty="0">
                <a:solidFill>
                  <a:srgbClr val="1F2937"/>
                </a:solidFill>
              </a:rPr>
              <a:t>NO ACTION / RESTRICT</a:t>
            </a:r>
            <a:endParaRPr lang="en-US" sz="1250" dirty="0"/>
          </a:p>
        </p:txBody>
      </p:sp>
      <p:sp>
        <p:nvSpPr>
          <p:cNvPr id="11" name="Shape 9"/>
          <p:cNvSpPr/>
          <p:nvPr/>
        </p:nvSpPr>
        <p:spPr>
          <a:xfrm>
            <a:off x="8275320" y="2697480"/>
            <a:ext cx="3429000" cy="1005840"/>
          </a:xfrm>
          <a:prstGeom prst="roundRect">
            <a:avLst>
              <a:gd name="adj" fmla="val 7273"/>
            </a:avLst>
          </a:prstGeom>
          <a:solidFill>
            <a:srgbClr val="FFF4D6"/>
          </a:solidFill>
          <a:ln w="12700">
            <a:solidFill>
              <a:srgbClr val="C6D2E1"/>
            </a:solidFill>
            <a:prstDash val="solid"/>
          </a:ln>
        </p:spPr>
      </p:sp>
      <p:sp>
        <p:nvSpPr>
          <p:cNvPr id="12" name="Shape 10"/>
          <p:cNvSpPr/>
          <p:nvPr/>
        </p:nvSpPr>
        <p:spPr>
          <a:xfrm>
            <a:off x="8293608" y="2715768"/>
            <a:ext cx="73152" cy="969264"/>
          </a:xfrm>
          <a:prstGeom prst="rect">
            <a:avLst/>
          </a:prstGeom>
          <a:solidFill>
            <a:srgbClr val="F59E0B"/>
          </a:solidFill>
          <a:ln w="12700">
            <a:solidFill>
              <a:srgbClr val="F59E0B"/>
            </a:solidFill>
            <a:prstDash val="solid"/>
          </a:ln>
        </p:spPr>
      </p:sp>
      <p:sp>
        <p:nvSpPr>
          <p:cNvPr id="13" name="Text 11"/>
          <p:cNvSpPr/>
          <p:nvPr/>
        </p:nvSpPr>
        <p:spPr>
          <a:xfrm>
            <a:off x="8476488" y="2862072"/>
            <a:ext cx="3081528" cy="256032"/>
          </a:xfrm>
          <a:prstGeom prst="rect">
            <a:avLst/>
          </a:prstGeom>
          <a:noFill/>
          <a:ln/>
        </p:spPr>
        <p:txBody>
          <a:bodyPr wrap="square" lIns="0" tIns="0" rIns="0" bIns="0" rtlCol="0" anchor="ctr"/>
          <a:lstStyle/>
          <a:p>
            <a:pPr indent="0" marL="0">
              <a:buNone/>
            </a:pPr>
            <a:r>
              <a:rPr lang="en-US" sz="1600" b="1" dirty="0">
                <a:solidFill>
                  <a:srgbClr val="0B1F33"/>
                </a:solidFill>
              </a:rPr>
              <a:t>ON DELETE CASCADE</a:t>
            </a:r>
            <a:endParaRPr lang="en-US" sz="1600" dirty="0"/>
          </a:p>
        </p:txBody>
      </p:sp>
      <p:sp>
        <p:nvSpPr>
          <p:cNvPr id="14" name="Text 12"/>
          <p:cNvSpPr/>
          <p:nvPr/>
        </p:nvSpPr>
        <p:spPr>
          <a:xfrm>
            <a:off x="8476488" y="3227832"/>
            <a:ext cx="3081528" cy="347472"/>
          </a:xfrm>
          <a:prstGeom prst="rect">
            <a:avLst/>
          </a:prstGeom>
          <a:noFill/>
          <a:ln/>
        </p:spPr>
        <p:txBody>
          <a:bodyPr wrap="square" lIns="254" tIns="254" rIns="254" bIns="254" rtlCol="0" anchor="ctr"/>
          <a:lstStyle/>
          <a:p>
            <a:pPr indent="0" marL="0">
              <a:buNone/>
            </a:pPr>
            <a:r>
              <a:rPr lang="en-US" sz="1250" dirty="0">
                <a:solidFill>
                  <a:srgbClr val="1F2937"/>
                </a:solidFill>
              </a:rPr>
              <a:t>remove dependentes</a:t>
            </a:r>
            <a:endParaRPr lang="en-US" sz="1250" dirty="0"/>
          </a:p>
        </p:txBody>
      </p:sp>
      <p:sp>
        <p:nvSpPr>
          <p:cNvPr id="15" name="Shape 13"/>
          <p:cNvSpPr/>
          <p:nvPr/>
        </p:nvSpPr>
        <p:spPr>
          <a:xfrm>
            <a:off x="8275320" y="4069080"/>
            <a:ext cx="3429000" cy="1005840"/>
          </a:xfrm>
          <a:prstGeom prst="roundRect">
            <a:avLst>
              <a:gd name="adj" fmla="val 7273"/>
            </a:avLst>
          </a:prstGeom>
          <a:solidFill>
            <a:srgbClr val="E7F7F5"/>
          </a:solidFill>
          <a:ln w="12700">
            <a:solidFill>
              <a:srgbClr val="C6D2E1"/>
            </a:solidFill>
            <a:prstDash val="solid"/>
          </a:ln>
        </p:spPr>
      </p:sp>
      <p:sp>
        <p:nvSpPr>
          <p:cNvPr id="16" name="Shape 14"/>
          <p:cNvSpPr/>
          <p:nvPr/>
        </p:nvSpPr>
        <p:spPr>
          <a:xfrm>
            <a:off x="8293608" y="4087368"/>
            <a:ext cx="73152" cy="969264"/>
          </a:xfrm>
          <a:prstGeom prst="rect">
            <a:avLst/>
          </a:prstGeom>
          <a:solidFill>
            <a:srgbClr val="0F766E"/>
          </a:solidFill>
          <a:ln w="12700">
            <a:solidFill>
              <a:srgbClr val="0F766E"/>
            </a:solidFill>
            <a:prstDash val="solid"/>
          </a:ln>
        </p:spPr>
      </p:sp>
      <p:sp>
        <p:nvSpPr>
          <p:cNvPr id="17" name="Text 15"/>
          <p:cNvSpPr/>
          <p:nvPr/>
        </p:nvSpPr>
        <p:spPr>
          <a:xfrm>
            <a:off x="8476488" y="4233672"/>
            <a:ext cx="3081528" cy="256032"/>
          </a:xfrm>
          <a:prstGeom prst="rect">
            <a:avLst/>
          </a:prstGeom>
          <a:noFill/>
          <a:ln/>
        </p:spPr>
        <p:txBody>
          <a:bodyPr wrap="square" lIns="0" tIns="0" rIns="0" bIns="0" rtlCol="0" anchor="ctr"/>
          <a:lstStyle/>
          <a:p>
            <a:pPr indent="0" marL="0">
              <a:buNone/>
            </a:pPr>
            <a:r>
              <a:rPr lang="en-US" sz="1600" b="1" dirty="0">
                <a:solidFill>
                  <a:srgbClr val="0B1F33"/>
                </a:solidFill>
              </a:rPr>
              <a:t>ON DELETE SET NULL</a:t>
            </a:r>
            <a:endParaRPr lang="en-US" sz="1600" dirty="0"/>
          </a:p>
        </p:txBody>
      </p:sp>
      <p:sp>
        <p:nvSpPr>
          <p:cNvPr id="18" name="Text 16"/>
          <p:cNvSpPr/>
          <p:nvPr/>
        </p:nvSpPr>
        <p:spPr>
          <a:xfrm>
            <a:off x="8476488" y="4599432"/>
            <a:ext cx="3081528" cy="347472"/>
          </a:xfrm>
          <a:prstGeom prst="rect">
            <a:avLst/>
          </a:prstGeom>
          <a:noFill/>
          <a:ln/>
        </p:spPr>
        <p:txBody>
          <a:bodyPr wrap="square" lIns="254" tIns="254" rIns="254" bIns="254" rtlCol="0" anchor="ctr"/>
          <a:lstStyle/>
          <a:p>
            <a:pPr indent="0" marL="0">
              <a:buNone/>
            </a:pPr>
            <a:r>
              <a:rPr lang="en-US" sz="1250" dirty="0">
                <a:solidFill>
                  <a:srgbClr val="1F2937"/>
                </a:solidFill>
              </a:rPr>
              <a:t>mantém linha, remove vínculo</a:t>
            </a:r>
            <a:endParaRPr lang="en-US" sz="125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Um caso integrado: Curso e Aluno</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DO CONCEITO ÀS RELAÇÕES</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- 26</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Considere uma instituição em que cada aluno pertence a um curso. CURSO possui id e nome; ALUNO possui id, nome, email e curso_id. A relação 1:N é implementada com a chave estrangeira curso_id em ALUNO. Podemos ainda exigir email único, nome obrigatório e referência válida para o curso cadastrado.</a:t>
            </a:r>
            <a:endParaRPr lang="en-US" sz="2400" dirty="0"/>
          </a:p>
        </p:txBody>
      </p:sp>
      <p:sp>
        <p:nvSpPr>
          <p:cNvPr id="7" name="Shape 5"/>
          <p:cNvSpPr/>
          <p:nvPr/>
        </p:nvSpPr>
        <p:spPr>
          <a:xfrm>
            <a:off x="8302752" y="1325880"/>
            <a:ext cx="3364992" cy="1234440"/>
          </a:xfrm>
          <a:prstGeom prst="roundRect">
            <a:avLst>
              <a:gd name="adj" fmla="val 5926"/>
            </a:avLst>
          </a:prstGeom>
          <a:solidFill>
            <a:srgbClr val="EAF1FF"/>
          </a:solidFill>
          <a:ln w="12700">
            <a:solidFill>
              <a:srgbClr val="C6D2E1"/>
            </a:solidFill>
            <a:prstDash val="solid"/>
          </a:ln>
        </p:spPr>
      </p:sp>
      <p:sp>
        <p:nvSpPr>
          <p:cNvPr id="8" name="Shape 6"/>
          <p:cNvSpPr/>
          <p:nvPr/>
        </p:nvSpPr>
        <p:spPr>
          <a:xfrm>
            <a:off x="8321040" y="1344168"/>
            <a:ext cx="73152" cy="1197864"/>
          </a:xfrm>
          <a:prstGeom prst="rect">
            <a:avLst/>
          </a:prstGeom>
          <a:solidFill>
            <a:srgbClr val="2463EB"/>
          </a:solidFill>
          <a:ln w="12700">
            <a:solidFill>
              <a:srgbClr val="2463EB"/>
            </a:solidFill>
            <a:prstDash val="solid"/>
          </a:ln>
        </p:spPr>
      </p:sp>
      <p:sp>
        <p:nvSpPr>
          <p:cNvPr id="9" name="Text 7"/>
          <p:cNvSpPr/>
          <p:nvPr/>
        </p:nvSpPr>
        <p:spPr>
          <a:xfrm>
            <a:off x="8503920" y="1490472"/>
            <a:ext cx="3017520" cy="256032"/>
          </a:xfrm>
          <a:prstGeom prst="rect">
            <a:avLst/>
          </a:prstGeom>
          <a:noFill/>
          <a:ln/>
        </p:spPr>
        <p:txBody>
          <a:bodyPr wrap="square" lIns="0" tIns="0" rIns="0" bIns="0" rtlCol="0" anchor="ctr"/>
          <a:lstStyle/>
          <a:p>
            <a:pPr indent="0" marL="0">
              <a:buNone/>
            </a:pPr>
            <a:r>
              <a:rPr lang="en-US" sz="1600" b="1" dirty="0">
                <a:solidFill>
                  <a:srgbClr val="0B1F33"/>
                </a:solidFill>
              </a:rPr>
              <a:t>CURSO</a:t>
            </a:r>
            <a:endParaRPr lang="en-US" sz="1600" dirty="0"/>
          </a:p>
        </p:txBody>
      </p:sp>
      <p:sp>
        <p:nvSpPr>
          <p:cNvPr id="10" name="Text 8"/>
          <p:cNvSpPr/>
          <p:nvPr/>
        </p:nvSpPr>
        <p:spPr>
          <a:xfrm>
            <a:off x="8503920" y="1856232"/>
            <a:ext cx="3017520" cy="576072"/>
          </a:xfrm>
          <a:prstGeom prst="rect">
            <a:avLst/>
          </a:prstGeom>
          <a:noFill/>
          <a:ln/>
        </p:spPr>
        <p:txBody>
          <a:bodyPr wrap="square" lIns="254" tIns="254" rIns="254" bIns="254" rtlCol="0" anchor="ctr"/>
          <a:lstStyle/>
          <a:p>
            <a:pPr indent="0" marL="0">
              <a:buNone/>
            </a:pPr>
            <a:r>
              <a:rPr lang="en-US" sz="1250" dirty="0">
                <a:solidFill>
                  <a:srgbClr val="1F2937"/>
                </a:solidFill>
              </a:rPr>
              <a:t>id PK</a:t>
            </a:r>
            <a:endParaRPr lang="en-US" sz="1250" dirty="0"/>
          </a:p>
          <a:p>
            <a:pPr indent="0" marL="0">
              <a:buNone/>
            </a:pPr>
            <a:r>
              <a:rPr lang="en-US" sz="1250" dirty="0">
                <a:solidFill>
                  <a:srgbClr val="1F2937"/>
                </a:solidFill>
              </a:rPr>
              <a:t>nome</a:t>
            </a:r>
            <a:endParaRPr lang="en-US" sz="1250" dirty="0"/>
          </a:p>
        </p:txBody>
      </p:sp>
      <p:sp>
        <p:nvSpPr>
          <p:cNvPr id="11" name="Shape 9"/>
          <p:cNvSpPr/>
          <p:nvPr/>
        </p:nvSpPr>
        <p:spPr>
          <a:xfrm>
            <a:off x="8302752" y="4005072"/>
            <a:ext cx="3364992" cy="1417320"/>
          </a:xfrm>
          <a:prstGeom prst="roundRect">
            <a:avLst>
              <a:gd name="adj" fmla="val 5161"/>
            </a:avLst>
          </a:prstGeom>
          <a:solidFill>
            <a:srgbClr val="E7F7F5"/>
          </a:solidFill>
          <a:ln w="12700">
            <a:solidFill>
              <a:srgbClr val="C6D2E1"/>
            </a:solidFill>
            <a:prstDash val="solid"/>
          </a:ln>
        </p:spPr>
      </p:sp>
      <p:sp>
        <p:nvSpPr>
          <p:cNvPr id="12" name="Shape 10"/>
          <p:cNvSpPr/>
          <p:nvPr/>
        </p:nvSpPr>
        <p:spPr>
          <a:xfrm>
            <a:off x="8321040" y="4023360"/>
            <a:ext cx="73152" cy="1380744"/>
          </a:xfrm>
          <a:prstGeom prst="rect">
            <a:avLst/>
          </a:prstGeom>
          <a:solidFill>
            <a:srgbClr val="0F766E"/>
          </a:solidFill>
          <a:ln w="12700">
            <a:solidFill>
              <a:srgbClr val="0F766E"/>
            </a:solidFill>
            <a:prstDash val="solid"/>
          </a:ln>
        </p:spPr>
      </p:sp>
      <p:sp>
        <p:nvSpPr>
          <p:cNvPr id="13" name="Text 11"/>
          <p:cNvSpPr/>
          <p:nvPr/>
        </p:nvSpPr>
        <p:spPr>
          <a:xfrm>
            <a:off x="8503920" y="4169664"/>
            <a:ext cx="3017520" cy="256032"/>
          </a:xfrm>
          <a:prstGeom prst="rect">
            <a:avLst/>
          </a:prstGeom>
          <a:noFill/>
          <a:ln/>
        </p:spPr>
        <p:txBody>
          <a:bodyPr wrap="square" lIns="0" tIns="0" rIns="0" bIns="0" rtlCol="0" anchor="ctr"/>
          <a:lstStyle/>
          <a:p>
            <a:pPr indent="0" marL="0">
              <a:buNone/>
            </a:pPr>
            <a:r>
              <a:rPr lang="en-US" sz="1600" b="1" dirty="0">
                <a:solidFill>
                  <a:srgbClr val="0B1F33"/>
                </a:solidFill>
              </a:rPr>
              <a:t>ALUNO</a:t>
            </a:r>
            <a:endParaRPr lang="en-US" sz="1600" dirty="0"/>
          </a:p>
        </p:txBody>
      </p:sp>
      <p:sp>
        <p:nvSpPr>
          <p:cNvPr id="14" name="Text 12"/>
          <p:cNvSpPr/>
          <p:nvPr/>
        </p:nvSpPr>
        <p:spPr>
          <a:xfrm>
            <a:off x="8503920" y="4535424"/>
            <a:ext cx="3017520" cy="758952"/>
          </a:xfrm>
          <a:prstGeom prst="rect">
            <a:avLst/>
          </a:prstGeom>
          <a:noFill/>
          <a:ln/>
        </p:spPr>
        <p:txBody>
          <a:bodyPr wrap="square" lIns="254" tIns="254" rIns="254" bIns="254" rtlCol="0" anchor="ctr"/>
          <a:lstStyle/>
          <a:p>
            <a:pPr indent="0" marL="0">
              <a:buNone/>
            </a:pPr>
            <a:r>
              <a:rPr lang="en-US" sz="1250" dirty="0">
                <a:solidFill>
                  <a:srgbClr val="1F2937"/>
                </a:solidFill>
              </a:rPr>
              <a:t>id PK</a:t>
            </a:r>
            <a:endParaRPr lang="en-US" sz="1250" dirty="0"/>
          </a:p>
          <a:p>
            <a:pPr indent="0" marL="0">
              <a:buNone/>
            </a:pPr>
            <a:r>
              <a:rPr lang="en-US" sz="1250" dirty="0">
                <a:solidFill>
                  <a:srgbClr val="1F2937"/>
                </a:solidFill>
              </a:rPr>
              <a:t>nome</a:t>
            </a:r>
            <a:endParaRPr lang="en-US" sz="1250" dirty="0"/>
          </a:p>
          <a:p>
            <a:pPr indent="0" marL="0">
              <a:buNone/>
            </a:pPr>
            <a:r>
              <a:rPr lang="en-US" sz="1250" dirty="0">
                <a:solidFill>
                  <a:srgbClr val="1F2937"/>
                </a:solidFill>
              </a:rPr>
              <a:t>email UNIQUE</a:t>
            </a:r>
            <a:endParaRPr lang="en-US" sz="1250" dirty="0"/>
          </a:p>
          <a:p>
            <a:pPr indent="0" marL="0">
              <a:buNone/>
            </a:pPr>
            <a:r>
              <a:rPr lang="en-US" sz="1250" dirty="0">
                <a:solidFill>
                  <a:srgbClr val="1F2937"/>
                </a:solidFill>
              </a:rPr>
              <a:t>curso_id FK</a:t>
            </a:r>
            <a:endParaRPr lang="en-US" sz="1250" dirty="0"/>
          </a:p>
        </p:txBody>
      </p:sp>
      <p:sp>
        <p:nvSpPr>
          <p:cNvPr id="15" name="Shape 13"/>
          <p:cNvSpPr/>
          <p:nvPr/>
        </p:nvSpPr>
        <p:spPr>
          <a:xfrm>
            <a:off x="9985248" y="3986784"/>
            <a:ext cx="0" cy="-1417320"/>
          </a:xfrm>
          <a:prstGeom prst="line">
            <a:avLst/>
          </a:prstGeom>
          <a:noFill/>
          <a:ln w="12700">
            <a:solidFill>
              <a:srgbClr val="F59E0B"/>
            </a:solidFill>
            <a:prstDash val="solid"/>
            <a:tailEnd type="triangle"/>
          </a:ln>
        </p:spPr>
      </p:sp>
      <p:sp>
        <p:nvSpPr>
          <p:cNvPr id="16" name="Text 14"/>
          <p:cNvSpPr/>
          <p:nvPr/>
        </p:nvSpPr>
        <p:spPr>
          <a:xfrm>
            <a:off x="10195560" y="3108960"/>
            <a:ext cx="822960" cy="228600"/>
          </a:xfrm>
          <a:prstGeom prst="rect">
            <a:avLst/>
          </a:prstGeom>
          <a:noFill/>
          <a:ln/>
        </p:spPr>
        <p:txBody>
          <a:bodyPr wrap="square" lIns="0" tIns="0" rIns="0" bIns="0" rtlCol="0" anchor="ctr"/>
          <a:lstStyle/>
          <a:p>
            <a:pPr indent="0" marL="0">
              <a:buNone/>
            </a:pPr>
            <a:r>
              <a:rPr lang="en-US" sz="1400" b="1" dirty="0">
                <a:solidFill>
                  <a:srgbClr val="8A5600"/>
                </a:solidFill>
              </a:rPr>
              <a:t>1 : N</a:t>
            </a:r>
            <a:endParaRPr lang="en-US" sz="14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Do modelo conceitual ao relacional</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MAPEAMENTO DE ENTIDADES E RELACIONAMENTOS</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- 27</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No mapeamento básico, entidades tornam-se relações, atributos tornam-se colunas e identificadores tornam-se chaves. Em relacionamentos 1:N, a chave do lado 1 costuma migrar como chave estrangeira para o lado N. Relacionamentos M:N geralmente originam uma nova relação associativa, cujas chaves estrangeiras conectam as entidades participantes e podem formar chave composta.</a:t>
            </a:r>
            <a:endParaRPr lang="en-US" sz="2400" dirty="0"/>
          </a:p>
        </p:txBody>
      </p:sp>
      <p:sp>
        <p:nvSpPr>
          <p:cNvPr id="7" name="Shape 5"/>
          <p:cNvSpPr/>
          <p:nvPr/>
        </p:nvSpPr>
        <p:spPr>
          <a:xfrm>
            <a:off x="8275320" y="1234440"/>
            <a:ext cx="3429000" cy="1051560"/>
          </a:xfrm>
          <a:prstGeom prst="roundRect">
            <a:avLst>
              <a:gd name="adj" fmla="val 6957"/>
            </a:avLst>
          </a:prstGeom>
          <a:solidFill>
            <a:srgbClr val="F2F4F8"/>
          </a:solidFill>
          <a:ln w="12700">
            <a:solidFill>
              <a:srgbClr val="C6D2E1"/>
            </a:solidFill>
            <a:prstDash val="solid"/>
          </a:ln>
        </p:spPr>
      </p:sp>
      <p:sp>
        <p:nvSpPr>
          <p:cNvPr id="8" name="Shape 6"/>
          <p:cNvSpPr/>
          <p:nvPr/>
        </p:nvSpPr>
        <p:spPr>
          <a:xfrm>
            <a:off x="8293608" y="1252728"/>
            <a:ext cx="73152" cy="1014984"/>
          </a:xfrm>
          <a:prstGeom prst="rect">
            <a:avLst/>
          </a:prstGeom>
          <a:solidFill>
            <a:srgbClr val="0B1F33"/>
          </a:solidFill>
          <a:ln w="12700">
            <a:solidFill>
              <a:srgbClr val="0B1F33"/>
            </a:solidFill>
            <a:prstDash val="solid"/>
          </a:ln>
        </p:spPr>
      </p:sp>
      <p:sp>
        <p:nvSpPr>
          <p:cNvPr id="9" name="Text 7"/>
          <p:cNvSpPr/>
          <p:nvPr/>
        </p:nvSpPr>
        <p:spPr>
          <a:xfrm>
            <a:off x="8476488" y="1399032"/>
            <a:ext cx="3081528" cy="256032"/>
          </a:xfrm>
          <a:prstGeom prst="rect">
            <a:avLst/>
          </a:prstGeom>
          <a:noFill/>
          <a:ln/>
        </p:spPr>
        <p:txBody>
          <a:bodyPr wrap="square" lIns="0" tIns="0" rIns="0" bIns="0" rtlCol="0" anchor="ctr"/>
          <a:lstStyle/>
          <a:p>
            <a:pPr indent="0" marL="0">
              <a:buNone/>
            </a:pPr>
            <a:r>
              <a:rPr lang="en-US" sz="1600" b="1" dirty="0">
                <a:solidFill>
                  <a:srgbClr val="0B1F33"/>
                </a:solidFill>
              </a:rPr>
              <a:t>CONCEITUAL</a:t>
            </a:r>
            <a:endParaRPr lang="en-US" sz="1600" dirty="0"/>
          </a:p>
        </p:txBody>
      </p:sp>
      <p:sp>
        <p:nvSpPr>
          <p:cNvPr id="10" name="Text 8"/>
          <p:cNvSpPr/>
          <p:nvPr/>
        </p:nvSpPr>
        <p:spPr>
          <a:xfrm>
            <a:off x="8476488" y="1764792"/>
            <a:ext cx="3081528" cy="393192"/>
          </a:xfrm>
          <a:prstGeom prst="rect">
            <a:avLst/>
          </a:prstGeom>
          <a:noFill/>
          <a:ln/>
        </p:spPr>
        <p:txBody>
          <a:bodyPr wrap="square" lIns="254" tIns="254" rIns="254" bIns="254" rtlCol="0" anchor="ctr"/>
          <a:lstStyle/>
          <a:p>
            <a:pPr indent="0" marL="0">
              <a:buNone/>
            </a:pPr>
            <a:r>
              <a:rPr lang="en-US" sz="1250" dirty="0">
                <a:solidFill>
                  <a:srgbClr val="1F2937"/>
                </a:solidFill>
              </a:rPr>
              <a:t>ALUNO — pertence — CURSO</a:t>
            </a:r>
            <a:endParaRPr lang="en-US" sz="1250" dirty="0"/>
          </a:p>
        </p:txBody>
      </p:sp>
      <p:sp>
        <p:nvSpPr>
          <p:cNvPr id="11" name="Shape 9"/>
          <p:cNvSpPr/>
          <p:nvPr/>
        </p:nvSpPr>
        <p:spPr>
          <a:xfrm>
            <a:off x="9528048" y="2578608"/>
            <a:ext cx="868680" cy="548640"/>
          </a:xfrm>
          <a:prstGeom prst="chevron">
            <a:avLst/>
          </a:prstGeom>
          <a:solidFill>
            <a:srgbClr val="2463EB"/>
          </a:solidFill>
          <a:ln w="12700">
            <a:solidFill>
              <a:srgbClr val="2463EB"/>
            </a:solidFill>
            <a:prstDash val="solid"/>
          </a:ln>
        </p:spPr>
      </p:sp>
      <p:sp>
        <p:nvSpPr>
          <p:cNvPr id="12" name="Shape 10"/>
          <p:cNvSpPr/>
          <p:nvPr/>
        </p:nvSpPr>
        <p:spPr>
          <a:xfrm>
            <a:off x="8275320" y="3474720"/>
            <a:ext cx="3429000" cy="1572768"/>
          </a:xfrm>
          <a:prstGeom prst="roundRect">
            <a:avLst>
              <a:gd name="adj" fmla="val 4651"/>
            </a:avLst>
          </a:prstGeom>
          <a:solidFill>
            <a:srgbClr val="EAF1FF"/>
          </a:solidFill>
          <a:ln w="12700">
            <a:solidFill>
              <a:srgbClr val="C6D2E1"/>
            </a:solidFill>
            <a:prstDash val="solid"/>
          </a:ln>
        </p:spPr>
      </p:sp>
      <p:sp>
        <p:nvSpPr>
          <p:cNvPr id="13" name="Shape 11"/>
          <p:cNvSpPr/>
          <p:nvPr/>
        </p:nvSpPr>
        <p:spPr>
          <a:xfrm>
            <a:off x="8293608" y="3493008"/>
            <a:ext cx="73152" cy="1536192"/>
          </a:xfrm>
          <a:prstGeom prst="rect">
            <a:avLst/>
          </a:prstGeom>
          <a:solidFill>
            <a:srgbClr val="2463EB"/>
          </a:solidFill>
          <a:ln w="12700">
            <a:solidFill>
              <a:srgbClr val="2463EB"/>
            </a:solidFill>
            <a:prstDash val="solid"/>
          </a:ln>
        </p:spPr>
      </p:sp>
      <p:sp>
        <p:nvSpPr>
          <p:cNvPr id="14" name="Text 12"/>
          <p:cNvSpPr/>
          <p:nvPr/>
        </p:nvSpPr>
        <p:spPr>
          <a:xfrm>
            <a:off x="8476488" y="3639312"/>
            <a:ext cx="3081528" cy="256032"/>
          </a:xfrm>
          <a:prstGeom prst="rect">
            <a:avLst/>
          </a:prstGeom>
          <a:noFill/>
          <a:ln/>
        </p:spPr>
        <p:txBody>
          <a:bodyPr wrap="square" lIns="0" tIns="0" rIns="0" bIns="0" rtlCol="0" anchor="ctr"/>
          <a:lstStyle/>
          <a:p>
            <a:pPr indent="0" marL="0">
              <a:buNone/>
            </a:pPr>
            <a:r>
              <a:rPr lang="en-US" sz="1600" b="1" dirty="0">
                <a:solidFill>
                  <a:srgbClr val="0B1F33"/>
                </a:solidFill>
              </a:rPr>
              <a:t>RELACIONAL</a:t>
            </a:r>
            <a:endParaRPr lang="en-US" sz="1600" dirty="0"/>
          </a:p>
        </p:txBody>
      </p:sp>
      <p:sp>
        <p:nvSpPr>
          <p:cNvPr id="15" name="Text 13"/>
          <p:cNvSpPr/>
          <p:nvPr/>
        </p:nvSpPr>
        <p:spPr>
          <a:xfrm>
            <a:off x="8476488" y="4005072"/>
            <a:ext cx="3081528" cy="914400"/>
          </a:xfrm>
          <a:prstGeom prst="rect">
            <a:avLst/>
          </a:prstGeom>
          <a:noFill/>
          <a:ln/>
        </p:spPr>
        <p:txBody>
          <a:bodyPr wrap="square" lIns="254" tIns="254" rIns="254" bIns="254" rtlCol="0" anchor="ctr"/>
          <a:lstStyle/>
          <a:p>
            <a:pPr indent="0" marL="0">
              <a:buNone/>
            </a:pPr>
            <a:r>
              <a:rPr lang="en-US" sz="1250" dirty="0">
                <a:solidFill>
                  <a:srgbClr val="1F2937"/>
                </a:solidFill>
              </a:rPr>
              <a:t>CURSO(id PK, nome)</a:t>
            </a:r>
            <a:endParaRPr lang="en-US" sz="1250" dirty="0"/>
          </a:p>
          <a:p>
            <a:pPr indent="0" marL="0">
              <a:buNone/>
            </a:pPr>
            <a:r>
              <a:rPr lang="en-US" sz="1250" dirty="0">
                <a:solidFill>
                  <a:srgbClr val="1F2937"/>
                </a:solidFill>
              </a:rPr>
              <a:t>ALUNO(id PK, nome, curso_id FK)</a:t>
            </a:r>
            <a:endParaRPr lang="en-US" sz="125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DDL materializa o esquema</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COMO OS CONCEITOS APARECEM EM SQL</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- 28</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Data Definition Language é a parte de SQL usada para definir e alterar estruturas do banco. CREATE TABLE descreve relações, atributos, tipos e restrições; ALTER TABLE modifica o esquema; DROP remove objetos. Assim, DDL não substitui o modelo relacional: ela é um mecanismo concreto para implementar, em um SGBD, decisões tomadas durante a modelagem.</a:t>
            </a:r>
            <a:endParaRPr lang="en-US" sz="2400" dirty="0"/>
          </a:p>
        </p:txBody>
      </p:sp>
      <p:sp>
        <p:nvSpPr>
          <p:cNvPr id="7" name="Shape 5"/>
          <p:cNvSpPr/>
          <p:nvPr/>
        </p:nvSpPr>
        <p:spPr>
          <a:xfrm>
            <a:off x="8275320" y="1325880"/>
            <a:ext cx="3429000" cy="4297680"/>
          </a:xfrm>
          <a:prstGeom prst="roundRect">
            <a:avLst>
              <a:gd name="adj" fmla="val 1600"/>
            </a:avLst>
          </a:prstGeom>
          <a:solidFill>
            <a:srgbClr val="0D1726"/>
          </a:solidFill>
          <a:ln w="12700">
            <a:solidFill>
              <a:srgbClr val="20324A"/>
            </a:solidFill>
            <a:prstDash val="solid"/>
          </a:ln>
        </p:spPr>
      </p:sp>
      <p:sp>
        <p:nvSpPr>
          <p:cNvPr id="8" name="Text 6"/>
          <p:cNvSpPr/>
          <p:nvPr/>
        </p:nvSpPr>
        <p:spPr>
          <a:xfrm>
            <a:off x="8503920" y="1572768"/>
            <a:ext cx="914400" cy="274320"/>
          </a:xfrm>
          <a:prstGeom prst="rect">
            <a:avLst/>
          </a:prstGeom>
          <a:noFill/>
          <a:ln/>
        </p:spPr>
        <p:txBody>
          <a:bodyPr wrap="square" lIns="0" tIns="0" rIns="0" bIns="0" rtlCol="0" anchor="ctr"/>
          <a:lstStyle/>
          <a:p>
            <a:pPr indent="0" marL="0">
              <a:buNone/>
            </a:pPr>
            <a:r>
              <a:rPr lang="en-US" sz="1300" b="1" dirty="0">
                <a:solidFill>
                  <a:srgbClr val="8FB3FF"/>
                </a:solidFill>
              </a:rPr>
              <a:t>DDL</a:t>
            </a:r>
            <a:endParaRPr lang="en-US" sz="1300" dirty="0"/>
          </a:p>
        </p:txBody>
      </p:sp>
      <p:sp>
        <p:nvSpPr>
          <p:cNvPr id="9" name="Text 7"/>
          <p:cNvSpPr/>
          <p:nvPr/>
        </p:nvSpPr>
        <p:spPr>
          <a:xfrm>
            <a:off x="8503920" y="2011680"/>
            <a:ext cx="2880360" cy="3273552"/>
          </a:xfrm>
          <a:prstGeom prst="rect">
            <a:avLst/>
          </a:prstGeom>
          <a:noFill/>
          <a:ln/>
        </p:spPr>
        <p:txBody>
          <a:bodyPr wrap="square" lIns="254" tIns="254" rIns="254" bIns="254" rtlCol="0" anchor="ctr"/>
          <a:lstStyle/>
          <a:p>
            <a:pPr indent="0" marL="0">
              <a:buNone/>
            </a:pPr>
            <a:r>
              <a:rPr lang="en-US" sz="1400" dirty="0">
                <a:solidFill>
                  <a:srgbClr val="EAF0F8"/>
                </a:solidFill>
                <a:latin typeface="Aptos Mono" pitchFamily="34" charset="0"/>
                <a:ea typeface="Aptos Mono" pitchFamily="34" charset="-122"/>
                <a:cs typeface="Aptos Mono" pitchFamily="34" charset="-120"/>
              </a:rPr>
              <a:t>CREATE TABLE aluno (</a:t>
            </a:r>
            <a:endParaRPr lang="en-US" sz="1400" dirty="0"/>
          </a:p>
          <a:p>
            <a:pPr indent="0" marL="0">
              <a:buNone/>
            </a:pPr>
            <a:r>
              <a:rPr lang="en-US" sz="1400" dirty="0">
                <a:solidFill>
                  <a:srgbClr val="EAF0F8"/>
                </a:solidFill>
                <a:latin typeface="Aptos Mono" pitchFamily="34" charset="0"/>
                <a:ea typeface="Aptos Mono" pitchFamily="34" charset="-122"/>
                <a:cs typeface="Aptos Mono" pitchFamily="34" charset="-120"/>
              </a:rPr>
              <a:t>  id INTEGER PRIMARY KEY,</a:t>
            </a:r>
            <a:endParaRPr lang="en-US" sz="1400" dirty="0"/>
          </a:p>
          <a:p>
            <a:pPr indent="0" marL="0">
              <a:buNone/>
            </a:pPr>
            <a:r>
              <a:rPr lang="en-US" sz="1400" dirty="0">
                <a:solidFill>
                  <a:srgbClr val="EAF0F8"/>
                </a:solidFill>
                <a:latin typeface="Aptos Mono" pitchFamily="34" charset="0"/>
                <a:ea typeface="Aptos Mono" pitchFamily="34" charset="-122"/>
                <a:cs typeface="Aptos Mono" pitchFamily="34" charset="-120"/>
              </a:rPr>
              <a:t>  nome VARCHAR(120) NOT NULL</a:t>
            </a:r>
            <a:endParaRPr lang="en-US" sz="1400" dirty="0"/>
          </a:p>
          <a:p>
            <a:pPr indent="0" marL="0">
              <a:buNone/>
            </a:pPr>
            <a:r>
              <a:rPr lang="en-US" sz="1400" dirty="0">
                <a:solidFill>
                  <a:srgbClr val="EAF0F8"/>
                </a:solidFill>
                <a:latin typeface="Aptos Mono" pitchFamily="34" charset="0"/>
                <a:ea typeface="Aptos Mono" pitchFamily="34" charset="-122"/>
                <a:cs typeface="Aptos Mono" pitchFamily="34" charset="-120"/>
              </a:rPr>
              <a:t>);</a:t>
            </a:r>
            <a:endParaRPr lang="en-US" sz="14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CREATE TABLE com integridade</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EXEMPLO COMPLETO EM SQL</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- 29</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O script ao lado implementa CURSO e ALUNO com chaves e restrições. A chave primária identifica cada linha; UNIQUE protege o email; NOT NULL torna dados obrigatórios; CHECK restringe o domínio; FOREIGN KEY garante referência válida. Observe como uma pequena definição de tabela concentra várias decisões que antes foram descritas conceitualmente.</a:t>
            </a:r>
            <a:endParaRPr lang="en-US" sz="2400" dirty="0"/>
          </a:p>
        </p:txBody>
      </p:sp>
      <p:sp>
        <p:nvSpPr>
          <p:cNvPr id="7" name="Shape 5"/>
          <p:cNvSpPr/>
          <p:nvPr/>
        </p:nvSpPr>
        <p:spPr>
          <a:xfrm>
            <a:off x="8275320" y="1325880"/>
            <a:ext cx="3429000" cy="4297680"/>
          </a:xfrm>
          <a:prstGeom prst="roundRect">
            <a:avLst>
              <a:gd name="adj" fmla="val 1600"/>
            </a:avLst>
          </a:prstGeom>
          <a:solidFill>
            <a:srgbClr val="0D1726"/>
          </a:solidFill>
          <a:ln w="12700">
            <a:solidFill>
              <a:srgbClr val="20324A"/>
            </a:solidFill>
            <a:prstDash val="solid"/>
          </a:ln>
        </p:spPr>
      </p:sp>
      <p:sp>
        <p:nvSpPr>
          <p:cNvPr id="8" name="Text 6"/>
          <p:cNvSpPr/>
          <p:nvPr/>
        </p:nvSpPr>
        <p:spPr>
          <a:xfrm>
            <a:off x="8503920" y="1572768"/>
            <a:ext cx="914400" cy="274320"/>
          </a:xfrm>
          <a:prstGeom prst="rect">
            <a:avLst/>
          </a:prstGeom>
          <a:noFill/>
          <a:ln/>
        </p:spPr>
        <p:txBody>
          <a:bodyPr wrap="square" lIns="0" tIns="0" rIns="0" bIns="0" rtlCol="0" anchor="ctr"/>
          <a:lstStyle/>
          <a:p>
            <a:pPr indent="0" marL="0">
              <a:buNone/>
            </a:pPr>
            <a:r>
              <a:rPr lang="en-US" sz="1300" b="1" dirty="0">
                <a:solidFill>
                  <a:srgbClr val="8FB3FF"/>
                </a:solidFill>
              </a:rPr>
              <a:t>SQL</a:t>
            </a:r>
            <a:endParaRPr lang="en-US" sz="1300" dirty="0"/>
          </a:p>
        </p:txBody>
      </p:sp>
      <p:sp>
        <p:nvSpPr>
          <p:cNvPr id="9" name="Text 7"/>
          <p:cNvSpPr/>
          <p:nvPr/>
        </p:nvSpPr>
        <p:spPr>
          <a:xfrm>
            <a:off x="8503920" y="2011680"/>
            <a:ext cx="2880360" cy="3273552"/>
          </a:xfrm>
          <a:prstGeom prst="rect">
            <a:avLst/>
          </a:prstGeom>
          <a:noFill/>
          <a:ln/>
        </p:spPr>
        <p:txBody>
          <a:bodyPr wrap="square" lIns="254" tIns="254" rIns="254" bIns="254" rtlCol="0" anchor="ctr"/>
          <a:lstStyle/>
          <a:p>
            <a:pPr indent="0" marL="0">
              <a:buNone/>
            </a:pPr>
            <a:r>
              <a:rPr lang="en-US" sz="1400" dirty="0">
                <a:solidFill>
                  <a:srgbClr val="EAF0F8"/>
                </a:solidFill>
                <a:latin typeface="Aptos Mono" pitchFamily="34" charset="0"/>
                <a:ea typeface="Aptos Mono" pitchFamily="34" charset="-122"/>
                <a:cs typeface="Aptos Mono" pitchFamily="34" charset="-120"/>
              </a:rPr>
              <a:t>CREATE TABLE curso (</a:t>
            </a:r>
            <a:endParaRPr lang="en-US" sz="1400" dirty="0"/>
          </a:p>
          <a:p>
            <a:pPr indent="0" marL="0">
              <a:buNone/>
            </a:pPr>
            <a:r>
              <a:rPr lang="en-US" sz="1400" dirty="0">
                <a:solidFill>
                  <a:srgbClr val="EAF0F8"/>
                </a:solidFill>
                <a:latin typeface="Aptos Mono" pitchFamily="34" charset="0"/>
                <a:ea typeface="Aptos Mono" pitchFamily="34" charset="-122"/>
                <a:cs typeface="Aptos Mono" pitchFamily="34" charset="-120"/>
              </a:rPr>
              <a:t>  id INTEGER PRIMARY KEY,</a:t>
            </a:r>
            <a:endParaRPr lang="en-US" sz="1400" dirty="0"/>
          </a:p>
          <a:p>
            <a:pPr indent="0" marL="0">
              <a:buNone/>
            </a:pPr>
            <a:r>
              <a:rPr lang="en-US" sz="1400" dirty="0">
                <a:solidFill>
                  <a:srgbClr val="EAF0F8"/>
                </a:solidFill>
                <a:latin typeface="Aptos Mono" pitchFamily="34" charset="0"/>
                <a:ea typeface="Aptos Mono" pitchFamily="34" charset="-122"/>
                <a:cs typeface="Aptos Mono" pitchFamily="34" charset="-120"/>
              </a:rPr>
              <a:t>  nome TEXT NOT NULL UNIQUE</a:t>
            </a:r>
            <a:endParaRPr lang="en-US" sz="1400" dirty="0"/>
          </a:p>
          <a:p>
            <a:pPr indent="0" marL="0">
              <a:buNone/>
            </a:pPr>
            <a:r>
              <a:rPr lang="en-US" sz="1400" dirty="0">
                <a:solidFill>
                  <a:srgbClr val="EAF0F8"/>
                </a:solidFill>
                <a:latin typeface="Aptos Mono" pitchFamily="34" charset="0"/>
                <a:ea typeface="Aptos Mono" pitchFamily="34" charset="-122"/>
                <a:cs typeface="Aptos Mono" pitchFamily="34" charset="-120"/>
              </a:rPr>
              <a:t>);</a:t>
            </a:r>
            <a:endParaRPr lang="en-US" sz="1400" dirty="0"/>
          </a:p>
          <a:p>
            <a:pPr indent="0" marL="0">
              <a:buNone/>
            </a:pPr>
            <a:endParaRPr lang="en-US" sz="1400" dirty="0"/>
          </a:p>
          <a:p>
            <a:pPr indent="0" marL="0">
              <a:buNone/>
            </a:pPr>
            <a:r>
              <a:rPr lang="en-US" sz="1400" dirty="0">
                <a:solidFill>
                  <a:srgbClr val="EAF0F8"/>
                </a:solidFill>
                <a:latin typeface="Aptos Mono" pitchFamily="34" charset="0"/>
                <a:ea typeface="Aptos Mono" pitchFamily="34" charset="-122"/>
                <a:cs typeface="Aptos Mono" pitchFamily="34" charset="-120"/>
              </a:rPr>
              <a:t>CREATE TABLE aluno (</a:t>
            </a:r>
            <a:endParaRPr lang="en-US" sz="1400" dirty="0"/>
          </a:p>
          <a:p>
            <a:pPr indent="0" marL="0">
              <a:buNone/>
            </a:pPr>
            <a:r>
              <a:rPr lang="en-US" sz="1400" dirty="0">
                <a:solidFill>
                  <a:srgbClr val="EAF0F8"/>
                </a:solidFill>
                <a:latin typeface="Aptos Mono" pitchFamily="34" charset="0"/>
                <a:ea typeface="Aptos Mono" pitchFamily="34" charset="-122"/>
                <a:cs typeface="Aptos Mono" pitchFamily="34" charset="-120"/>
              </a:rPr>
              <a:t>  id INTEGER PRIMARY KEY,</a:t>
            </a:r>
            <a:endParaRPr lang="en-US" sz="1400" dirty="0"/>
          </a:p>
          <a:p>
            <a:pPr indent="0" marL="0">
              <a:buNone/>
            </a:pPr>
            <a:r>
              <a:rPr lang="en-US" sz="1400" dirty="0">
                <a:solidFill>
                  <a:srgbClr val="EAF0F8"/>
                </a:solidFill>
                <a:latin typeface="Aptos Mono" pitchFamily="34" charset="0"/>
                <a:ea typeface="Aptos Mono" pitchFamily="34" charset="-122"/>
                <a:cs typeface="Aptos Mono" pitchFamily="34" charset="-120"/>
              </a:rPr>
              <a:t>  nome TEXT NOT NULL,</a:t>
            </a:r>
            <a:endParaRPr lang="en-US" sz="1400" dirty="0"/>
          </a:p>
          <a:p>
            <a:pPr indent="0" marL="0">
              <a:buNone/>
            </a:pPr>
            <a:r>
              <a:rPr lang="en-US" sz="1400" dirty="0">
                <a:solidFill>
                  <a:srgbClr val="EAF0F8"/>
                </a:solidFill>
                <a:latin typeface="Aptos Mono" pitchFamily="34" charset="0"/>
                <a:ea typeface="Aptos Mono" pitchFamily="34" charset="-122"/>
                <a:cs typeface="Aptos Mono" pitchFamily="34" charset="-120"/>
              </a:rPr>
              <a:t>  email TEXT UNIQUE,</a:t>
            </a:r>
            <a:endParaRPr lang="en-US" sz="1400" dirty="0"/>
          </a:p>
          <a:p>
            <a:pPr indent="0" marL="0">
              <a:buNone/>
            </a:pPr>
            <a:r>
              <a:rPr lang="en-US" sz="1400" dirty="0">
                <a:solidFill>
                  <a:srgbClr val="EAF0F8"/>
                </a:solidFill>
                <a:latin typeface="Aptos Mono" pitchFamily="34" charset="0"/>
                <a:ea typeface="Aptos Mono" pitchFamily="34" charset="-122"/>
                <a:cs typeface="Aptos Mono" pitchFamily="34" charset="-120"/>
              </a:rPr>
              <a:t>  idade INTEGER CHECK (idade &gt;= 16),</a:t>
            </a:r>
            <a:endParaRPr lang="en-US" sz="1400" dirty="0"/>
          </a:p>
          <a:p>
            <a:pPr indent="0" marL="0">
              <a:buNone/>
            </a:pPr>
            <a:r>
              <a:rPr lang="en-US" sz="1400" dirty="0">
                <a:solidFill>
                  <a:srgbClr val="EAF0F8"/>
                </a:solidFill>
                <a:latin typeface="Aptos Mono" pitchFamily="34" charset="0"/>
                <a:ea typeface="Aptos Mono" pitchFamily="34" charset="-122"/>
                <a:cs typeface="Aptos Mono" pitchFamily="34" charset="-120"/>
              </a:rPr>
              <a:t>  curso_id INTEGER NOT NULL</a:t>
            </a:r>
            <a:endParaRPr lang="en-US" sz="1400" dirty="0"/>
          </a:p>
          <a:p>
            <a:pPr indent="0" marL="0">
              <a:buNone/>
            </a:pPr>
            <a:r>
              <a:rPr lang="en-US" sz="1400" dirty="0">
                <a:solidFill>
                  <a:srgbClr val="EAF0F8"/>
                </a:solidFill>
                <a:latin typeface="Aptos Mono" pitchFamily="34" charset="0"/>
                <a:ea typeface="Aptos Mono" pitchFamily="34" charset="-122"/>
                <a:cs typeface="Aptos Mono" pitchFamily="34" charset="-120"/>
              </a:rPr>
              <a:t>    REFERENCES curso(id)</a:t>
            </a:r>
            <a:endParaRPr lang="en-US" sz="1400" dirty="0"/>
          </a:p>
          <a:p>
            <a:pPr indent="0" marL="0">
              <a:buNone/>
            </a:pPr>
            <a:r>
              <a:rPr lang="en-US" sz="1400" dirty="0">
                <a:solidFill>
                  <a:srgbClr val="EAF0F8"/>
                </a:solidFill>
                <a:latin typeface="Aptos Mono" pitchFamily="34" charset="0"/>
                <a:ea typeface="Aptos Mono" pitchFamily="34" charset="-122"/>
                <a:cs typeface="Aptos Mono" pitchFamily="34" charset="-120"/>
              </a:rPr>
              <a:t>);</a:t>
            </a:r>
            <a:endParaRPr lang="en-US" sz="14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Atualização contemporânea</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POSTGRESQL 18 E RESTRIÇÕES TEMPORAIS</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- 30</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SGBDs relacionais continuam evoluindo sem abandonar os fundamentos do modelo. O PostgreSQL 18 acrescentou recursos para restrições sobre intervalos temporais, incluindo PRIMARY KEY, UNIQUE e FOREIGN KEY com semântica de não sobreposição. Para iniciantes, a mensagem principal é simples: os mesmos princípios de chave e integridade continuam sendo ampliados para novos tipos de regra.</a:t>
            </a:r>
            <a:endParaRPr lang="en-US" sz="2400" dirty="0"/>
          </a:p>
        </p:txBody>
      </p:sp>
      <p:sp>
        <p:nvSpPr>
          <p:cNvPr id="7" name="Shape 5"/>
          <p:cNvSpPr/>
          <p:nvPr/>
        </p:nvSpPr>
        <p:spPr>
          <a:xfrm>
            <a:off x="8339328" y="1325880"/>
            <a:ext cx="3291840" cy="1051560"/>
          </a:xfrm>
          <a:prstGeom prst="roundRect">
            <a:avLst>
              <a:gd name="adj" fmla="val 6957"/>
            </a:avLst>
          </a:prstGeom>
          <a:solidFill>
            <a:srgbClr val="EAF1FF"/>
          </a:solidFill>
          <a:ln w="12700">
            <a:solidFill>
              <a:srgbClr val="C6D2E1"/>
            </a:solidFill>
            <a:prstDash val="solid"/>
          </a:ln>
        </p:spPr>
      </p:sp>
      <p:sp>
        <p:nvSpPr>
          <p:cNvPr id="8" name="Shape 6"/>
          <p:cNvSpPr/>
          <p:nvPr/>
        </p:nvSpPr>
        <p:spPr>
          <a:xfrm>
            <a:off x="8357616" y="1344168"/>
            <a:ext cx="73152" cy="1014984"/>
          </a:xfrm>
          <a:prstGeom prst="rect">
            <a:avLst/>
          </a:prstGeom>
          <a:solidFill>
            <a:srgbClr val="2463EB"/>
          </a:solidFill>
          <a:ln w="12700">
            <a:solidFill>
              <a:srgbClr val="2463EB"/>
            </a:solidFill>
            <a:prstDash val="solid"/>
          </a:ln>
        </p:spPr>
      </p:sp>
      <p:sp>
        <p:nvSpPr>
          <p:cNvPr id="9" name="Text 7"/>
          <p:cNvSpPr/>
          <p:nvPr/>
        </p:nvSpPr>
        <p:spPr>
          <a:xfrm>
            <a:off x="8540496" y="1490472"/>
            <a:ext cx="2944368" cy="256032"/>
          </a:xfrm>
          <a:prstGeom prst="rect">
            <a:avLst/>
          </a:prstGeom>
          <a:noFill/>
          <a:ln/>
        </p:spPr>
        <p:txBody>
          <a:bodyPr wrap="square" lIns="0" tIns="0" rIns="0" bIns="0" rtlCol="0" anchor="ctr"/>
          <a:lstStyle/>
          <a:p>
            <a:pPr indent="0" marL="0">
              <a:buNone/>
            </a:pPr>
            <a:r>
              <a:rPr lang="en-US" sz="1600" b="1" dirty="0">
                <a:solidFill>
                  <a:srgbClr val="0B1F33"/>
                </a:solidFill>
              </a:rPr>
              <a:t>POSTGRESQL 18</a:t>
            </a:r>
            <a:endParaRPr lang="en-US" sz="1600" dirty="0"/>
          </a:p>
        </p:txBody>
      </p:sp>
      <p:sp>
        <p:nvSpPr>
          <p:cNvPr id="10" name="Text 8"/>
          <p:cNvSpPr/>
          <p:nvPr/>
        </p:nvSpPr>
        <p:spPr>
          <a:xfrm>
            <a:off x="8540496" y="1856232"/>
            <a:ext cx="2944368" cy="393192"/>
          </a:xfrm>
          <a:prstGeom prst="rect">
            <a:avLst/>
          </a:prstGeom>
          <a:noFill/>
          <a:ln/>
        </p:spPr>
        <p:txBody>
          <a:bodyPr wrap="square" lIns="254" tIns="254" rIns="254" bIns="254" rtlCol="0" anchor="ctr"/>
          <a:lstStyle/>
          <a:p>
            <a:pPr indent="0" marL="0">
              <a:buNone/>
            </a:pPr>
            <a:r>
              <a:rPr lang="en-US" sz="1250" dirty="0">
                <a:solidFill>
                  <a:srgbClr val="1F2937"/>
                </a:solidFill>
              </a:rPr>
              <a:t>restrições temporais</a:t>
            </a:r>
            <a:endParaRPr lang="en-US" sz="1250" dirty="0"/>
          </a:p>
        </p:txBody>
      </p:sp>
      <p:sp>
        <p:nvSpPr>
          <p:cNvPr id="11" name="Shape 9"/>
          <p:cNvSpPr/>
          <p:nvPr/>
        </p:nvSpPr>
        <p:spPr>
          <a:xfrm>
            <a:off x="8641080" y="3154680"/>
            <a:ext cx="2697480" cy="0"/>
          </a:xfrm>
          <a:prstGeom prst="line">
            <a:avLst/>
          </a:prstGeom>
          <a:noFill/>
          <a:ln w="12700">
            <a:solidFill>
              <a:srgbClr val="C9D4E3"/>
            </a:solidFill>
            <a:prstDash val="solid"/>
          </a:ln>
        </p:spPr>
      </p:sp>
      <p:sp>
        <p:nvSpPr>
          <p:cNvPr id="12" name="Shape 10"/>
          <p:cNvSpPr/>
          <p:nvPr/>
        </p:nvSpPr>
        <p:spPr>
          <a:xfrm>
            <a:off x="8732520" y="2816352"/>
            <a:ext cx="1143000" cy="676656"/>
          </a:xfrm>
          <a:prstGeom prst="roundRect">
            <a:avLst/>
          </a:prstGeom>
          <a:solidFill>
            <a:srgbClr val="E7F7F5"/>
          </a:solidFill>
          <a:ln w="12700">
            <a:solidFill>
              <a:srgbClr val="0F766E"/>
            </a:solidFill>
            <a:prstDash val="solid"/>
          </a:ln>
        </p:spPr>
      </p:sp>
      <p:sp>
        <p:nvSpPr>
          <p:cNvPr id="13" name="Shape 11"/>
          <p:cNvSpPr/>
          <p:nvPr/>
        </p:nvSpPr>
        <p:spPr>
          <a:xfrm>
            <a:off x="10058400" y="2816352"/>
            <a:ext cx="1005840" cy="676656"/>
          </a:xfrm>
          <a:prstGeom prst="roundRect">
            <a:avLst/>
          </a:prstGeom>
          <a:solidFill>
            <a:srgbClr val="FFF4D6"/>
          </a:solidFill>
          <a:ln w="12700">
            <a:solidFill>
              <a:srgbClr val="F59E0B"/>
            </a:solidFill>
            <a:prstDash val="solid"/>
          </a:ln>
        </p:spPr>
      </p:sp>
      <p:sp>
        <p:nvSpPr>
          <p:cNvPr id="14" name="Text 12"/>
          <p:cNvSpPr/>
          <p:nvPr/>
        </p:nvSpPr>
        <p:spPr>
          <a:xfrm>
            <a:off x="8778240" y="3054096"/>
            <a:ext cx="1051560" cy="164592"/>
          </a:xfrm>
          <a:prstGeom prst="rect">
            <a:avLst/>
          </a:prstGeom>
          <a:noFill/>
          <a:ln/>
        </p:spPr>
        <p:txBody>
          <a:bodyPr wrap="square" lIns="0" tIns="0" rIns="0" bIns="0" rtlCol="0" anchor="ctr"/>
          <a:lstStyle/>
          <a:p>
            <a:pPr algn="ctr" indent="0" marL="0">
              <a:buNone/>
            </a:pPr>
            <a:r>
              <a:rPr lang="en-US" sz="1300" b="1" dirty="0">
                <a:solidFill>
                  <a:srgbClr val="0F766E"/>
                </a:solidFill>
              </a:rPr>
              <a:t>08–12h</a:t>
            </a:r>
            <a:endParaRPr lang="en-US" sz="1300" dirty="0"/>
          </a:p>
        </p:txBody>
      </p:sp>
      <p:sp>
        <p:nvSpPr>
          <p:cNvPr id="15" name="Text 13"/>
          <p:cNvSpPr/>
          <p:nvPr/>
        </p:nvSpPr>
        <p:spPr>
          <a:xfrm>
            <a:off x="10076688" y="3054096"/>
            <a:ext cx="960120" cy="164592"/>
          </a:xfrm>
          <a:prstGeom prst="rect">
            <a:avLst/>
          </a:prstGeom>
          <a:noFill/>
          <a:ln/>
        </p:spPr>
        <p:txBody>
          <a:bodyPr wrap="square" lIns="0" tIns="0" rIns="0" bIns="0" rtlCol="0" anchor="ctr"/>
          <a:lstStyle/>
          <a:p>
            <a:pPr algn="ctr" indent="0" marL="0">
              <a:buNone/>
            </a:pPr>
            <a:r>
              <a:rPr lang="en-US" sz="1300" b="1" dirty="0">
                <a:solidFill>
                  <a:srgbClr val="8A5600"/>
                </a:solidFill>
              </a:rPr>
              <a:t>13–15h</a:t>
            </a:r>
            <a:endParaRPr lang="en-US" sz="1300" dirty="0"/>
          </a:p>
        </p:txBody>
      </p:sp>
      <p:sp>
        <p:nvSpPr>
          <p:cNvPr id="16" name="Text 14"/>
          <p:cNvSpPr/>
          <p:nvPr/>
        </p:nvSpPr>
        <p:spPr>
          <a:xfrm>
            <a:off x="8686800" y="4206240"/>
            <a:ext cx="2651760" cy="320040"/>
          </a:xfrm>
          <a:prstGeom prst="rect">
            <a:avLst/>
          </a:prstGeom>
          <a:noFill/>
          <a:ln/>
        </p:spPr>
        <p:txBody>
          <a:bodyPr wrap="square" lIns="0" tIns="0" rIns="0" bIns="0" rtlCol="0" anchor="ctr"/>
          <a:lstStyle/>
          <a:p>
            <a:pPr algn="ctr" indent="0" marL="0">
              <a:buNone/>
            </a:pPr>
            <a:r>
              <a:rPr lang="en-US" sz="1600" b="1" dirty="0">
                <a:solidFill>
                  <a:srgbClr val="0B1F33"/>
                </a:solidFill>
              </a:rPr>
              <a:t>não sobrepor períodos</a:t>
            </a:r>
            <a:endParaRPr lang="en-US" sz="1600" dirty="0"/>
          </a:p>
        </p:txBody>
      </p:sp>
      <p:sp>
        <p:nvSpPr>
          <p:cNvPr id="17" name="Shape 15"/>
          <p:cNvSpPr/>
          <p:nvPr/>
        </p:nvSpPr>
        <p:spPr>
          <a:xfrm>
            <a:off x="621792" y="5989320"/>
            <a:ext cx="2606040" cy="347472"/>
          </a:xfrm>
          <a:prstGeom prst="roundRect">
            <a:avLst>
              <a:gd name="adj" fmla="val 21053"/>
            </a:avLst>
          </a:prstGeom>
          <a:solidFill>
            <a:srgbClr val="EAF1FF"/>
          </a:solidFill>
          <a:ln w="12700">
            <a:solidFill>
              <a:srgbClr val="B8CCF6"/>
            </a:solidFill>
            <a:prstDash val="solid"/>
          </a:ln>
        </p:spPr>
      </p:sp>
      <p:sp>
        <p:nvSpPr>
          <p:cNvPr id="18" name="Text 16">
            <a:hlinkClick r:id="rId1" tooltip=""/>
          </p:cNvPr>
          <p:cNvSpPr/>
          <p:nvPr/>
        </p:nvSpPr>
        <p:spPr>
          <a:xfrm>
            <a:off x="777240" y="6053328"/>
            <a:ext cx="2267712" cy="182880"/>
          </a:xfrm>
          <a:prstGeom prst="rect">
            <a:avLst/>
          </a:prstGeom>
          <a:noFill/>
          <a:ln/>
        </p:spPr>
        <p:txBody>
          <a:bodyPr wrap="square" lIns="0" tIns="0" rIns="0" bIns="0" rtlCol="0" anchor="ctr"/>
          <a:lstStyle/>
          <a:p>
            <a:pPr indent="0" marL="0">
              <a:buNone/>
            </a:pPr>
            <a:r>
              <a:rPr lang="en-US" sz="1250" b="1" u="sng" dirty="0">
                <a:solidFill>
                  <a:srgbClr val="2463EB"/>
                </a:solidFill>
                <a:hlinkClick r:id="rId1" invalidUrl="" action="" tgtFrame="" tooltip="" history="1" highlightClick="0" endSnd="0">
                  <a:extLst>
                    <a:ext uri="{A12FA001-AC4F-418D-AE19-62706E023703}">
                      <ahyp:hlinkClr xmlns:ahyp="http://schemas.microsoft.com/office/drawing/2018/hyperlinkcolor" val="tx"/>
                    </a:ext>
                  </a:extLst>
                </a:hlinkClick>
              </a:rPr>
              <a:t>PostgreSQL 18 — novidades</a:t>
            </a:r>
            <a:endParaRPr lang="en-US" sz="125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Prática 1 — preparar a ferramenta</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DBEAVER COMMUNITY COM SQLITE</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- 31</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Use o DBeaver Community, gratuito e de código aberto, com um banco SQLite local. Instale o DBeaver, crie uma nova conexão SQLite e selecione um arquivo de banco, por exemplo aula_relacional.db. Para esta prática, o SQLite evita configurar um servidor e permite concentrar a aula em relações, chaves, constraints e testes de integridade.</a:t>
            </a:r>
            <a:endParaRPr lang="en-US" sz="2400" dirty="0"/>
          </a:p>
        </p:txBody>
      </p:sp>
      <p:sp>
        <p:nvSpPr>
          <p:cNvPr id="7" name="Shape 5"/>
          <p:cNvSpPr/>
          <p:nvPr/>
        </p:nvSpPr>
        <p:spPr>
          <a:xfrm>
            <a:off x="8275320" y="1298448"/>
            <a:ext cx="3456432" cy="4407408"/>
          </a:xfrm>
          <a:prstGeom prst="roundRect">
            <a:avLst>
              <a:gd name="adj" fmla="val 1323"/>
            </a:avLst>
          </a:prstGeom>
          <a:solidFill>
            <a:srgbClr val="FFFFFF"/>
          </a:solidFill>
          <a:ln w="12700">
            <a:solidFill>
              <a:srgbClr val="BFD0E2"/>
            </a:solidFill>
            <a:prstDash val="solid"/>
          </a:ln>
        </p:spPr>
      </p:sp>
      <p:sp>
        <p:nvSpPr>
          <p:cNvPr id="8" name="Shape 6"/>
          <p:cNvSpPr/>
          <p:nvPr/>
        </p:nvSpPr>
        <p:spPr>
          <a:xfrm>
            <a:off x="8275320" y="1298448"/>
            <a:ext cx="3456432" cy="475488"/>
          </a:xfrm>
          <a:prstGeom prst="rect">
            <a:avLst/>
          </a:prstGeom>
          <a:solidFill>
            <a:srgbClr val="0B1F33"/>
          </a:solidFill>
          <a:ln w="12700">
            <a:solidFill>
              <a:srgbClr val="0B1F33"/>
            </a:solidFill>
            <a:prstDash val="solid"/>
          </a:ln>
        </p:spPr>
      </p:sp>
      <p:sp>
        <p:nvSpPr>
          <p:cNvPr id="9" name="Text 7"/>
          <p:cNvSpPr/>
          <p:nvPr/>
        </p:nvSpPr>
        <p:spPr>
          <a:xfrm>
            <a:off x="8467344" y="1453896"/>
            <a:ext cx="3063240" cy="164592"/>
          </a:xfrm>
          <a:prstGeom prst="rect">
            <a:avLst/>
          </a:prstGeom>
          <a:noFill/>
          <a:ln/>
        </p:spPr>
        <p:txBody>
          <a:bodyPr wrap="square" lIns="0" tIns="0" rIns="0" bIns="0" rtlCol="0" anchor="ctr"/>
          <a:lstStyle/>
          <a:p>
            <a:pPr indent="0" marL="0">
              <a:buNone/>
            </a:pPr>
            <a:r>
              <a:rPr lang="en-US" sz="1350" b="1" dirty="0">
                <a:solidFill>
                  <a:srgbClr val="FFFFFF"/>
                </a:solidFill>
              </a:rPr>
              <a:t>DBeaver Community + SQLite</a:t>
            </a:r>
            <a:endParaRPr lang="en-US" sz="1350" dirty="0"/>
          </a:p>
        </p:txBody>
      </p:sp>
      <p:sp>
        <p:nvSpPr>
          <p:cNvPr id="10" name="Shape 8"/>
          <p:cNvSpPr/>
          <p:nvPr/>
        </p:nvSpPr>
        <p:spPr>
          <a:xfrm>
            <a:off x="8549640" y="2057400"/>
            <a:ext cx="2880360" cy="438912"/>
          </a:xfrm>
          <a:prstGeom prst="roundRect">
            <a:avLst/>
          </a:prstGeom>
          <a:solidFill>
            <a:srgbClr val="EAF1FF"/>
          </a:solidFill>
          <a:ln w="12700">
            <a:solidFill>
              <a:srgbClr val="2463EB"/>
            </a:solidFill>
            <a:prstDash val="solid"/>
          </a:ln>
        </p:spPr>
      </p:sp>
      <p:sp>
        <p:nvSpPr>
          <p:cNvPr id="11" name="Text 9"/>
          <p:cNvSpPr/>
          <p:nvPr/>
        </p:nvSpPr>
        <p:spPr>
          <a:xfrm>
            <a:off x="8705088" y="2185416"/>
            <a:ext cx="2560320" cy="164592"/>
          </a:xfrm>
          <a:prstGeom prst="rect">
            <a:avLst/>
          </a:prstGeom>
          <a:noFill/>
          <a:ln/>
        </p:spPr>
        <p:txBody>
          <a:bodyPr wrap="square" lIns="0" tIns="0" rIns="0" bIns="0" rtlCol="0" anchor="ctr"/>
          <a:lstStyle/>
          <a:p>
            <a:pPr indent="0" marL="0">
              <a:buNone/>
            </a:pPr>
            <a:r>
              <a:rPr lang="en-US" sz="1280" b="1" dirty="0">
                <a:solidFill>
                  <a:srgbClr val="2463EB"/>
                </a:solidFill>
              </a:rPr>
              <a:t>1. Nova conexão → SQLite</a:t>
            </a:r>
            <a:endParaRPr lang="en-US" sz="1280" dirty="0"/>
          </a:p>
        </p:txBody>
      </p:sp>
      <p:sp>
        <p:nvSpPr>
          <p:cNvPr id="12" name="Shape 10"/>
          <p:cNvSpPr/>
          <p:nvPr/>
        </p:nvSpPr>
        <p:spPr>
          <a:xfrm>
            <a:off x="8549640" y="2679192"/>
            <a:ext cx="2880360" cy="438912"/>
          </a:xfrm>
          <a:prstGeom prst="roundRect">
            <a:avLst/>
          </a:prstGeom>
          <a:solidFill>
            <a:srgbClr val="F5F7FA"/>
          </a:solidFill>
          <a:ln w="12700">
            <a:solidFill>
              <a:srgbClr val="D8E0EA"/>
            </a:solidFill>
            <a:prstDash val="solid"/>
          </a:ln>
        </p:spPr>
      </p:sp>
      <p:sp>
        <p:nvSpPr>
          <p:cNvPr id="13" name="Text 11"/>
          <p:cNvSpPr/>
          <p:nvPr/>
        </p:nvSpPr>
        <p:spPr>
          <a:xfrm>
            <a:off x="8705088" y="2807208"/>
            <a:ext cx="2560320" cy="164592"/>
          </a:xfrm>
          <a:prstGeom prst="rect">
            <a:avLst/>
          </a:prstGeom>
          <a:noFill/>
          <a:ln/>
        </p:spPr>
        <p:txBody>
          <a:bodyPr wrap="square" lIns="0" tIns="0" rIns="0" bIns="0" rtlCol="0" anchor="ctr"/>
          <a:lstStyle/>
          <a:p>
            <a:pPr indent="0" marL="0">
              <a:buNone/>
            </a:pPr>
            <a:r>
              <a:rPr lang="en-US" sz="1280" dirty="0">
                <a:solidFill>
                  <a:srgbClr val="1F2937"/>
                </a:solidFill>
              </a:rPr>
              <a:t>2. SQL Editor → novo script</a:t>
            </a:r>
            <a:endParaRPr lang="en-US" sz="1280" dirty="0"/>
          </a:p>
        </p:txBody>
      </p:sp>
      <p:sp>
        <p:nvSpPr>
          <p:cNvPr id="14" name="Shape 12"/>
          <p:cNvSpPr/>
          <p:nvPr/>
        </p:nvSpPr>
        <p:spPr>
          <a:xfrm>
            <a:off x="8549640" y="3300984"/>
            <a:ext cx="2880360" cy="438912"/>
          </a:xfrm>
          <a:prstGeom prst="roundRect">
            <a:avLst/>
          </a:prstGeom>
          <a:solidFill>
            <a:srgbClr val="F5F7FA"/>
          </a:solidFill>
          <a:ln w="12700">
            <a:solidFill>
              <a:srgbClr val="D8E0EA"/>
            </a:solidFill>
            <a:prstDash val="solid"/>
          </a:ln>
        </p:spPr>
      </p:sp>
      <p:sp>
        <p:nvSpPr>
          <p:cNvPr id="15" name="Text 13"/>
          <p:cNvSpPr/>
          <p:nvPr/>
        </p:nvSpPr>
        <p:spPr>
          <a:xfrm>
            <a:off x="8705088" y="3429000"/>
            <a:ext cx="2560320" cy="164592"/>
          </a:xfrm>
          <a:prstGeom prst="rect">
            <a:avLst/>
          </a:prstGeom>
          <a:noFill/>
          <a:ln/>
        </p:spPr>
        <p:txBody>
          <a:bodyPr wrap="square" lIns="0" tIns="0" rIns="0" bIns="0" rtlCol="0" anchor="ctr"/>
          <a:lstStyle/>
          <a:p>
            <a:pPr indent="0" marL="0">
              <a:buNone/>
            </a:pPr>
            <a:r>
              <a:rPr lang="en-US" sz="1280" dirty="0">
                <a:solidFill>
                  <a:srgbClr val="1F2937"/>
                </a:solidFill>
              </a:rPr>
              <a:t>3. Executar CREATE TABLE</a:t>
            </a:r>
            <a:endParaRPr lang="en-US" sz="1280" dirty="0"/>
          </a:p>
        </p:txBody>
      </p:sp>
      <p:sp>
        <p:nvSpPr>
          <p:cNvPr id="16" name="Shape 14"/>
          <p:cNvSpPr/>
          <p:nvPr/>
        </p:nvSpPr>
        <p:spPr>
          <a:xfrm>
            <a:off x="8549640" y="3922776"/>
            <a:ext cx="2880360" cy="438912"/>
          </a:xfrm>
          <a:prstGeom prst="roundRect">
            <a:avLst/>
          </a:prstGeom>
          <a:solidFill>
            <a:srgbClr val="F5F7FA"/>
          </a:solidFill>
          <a:ln w="12700">
            <a:solidFill>
              <a:srgbClr val="D8E0EA"/>
            </a:solidFill>
            <a:prstDash val="solid"/>
          </a:ln>
        </p:spPr>
      </p:sp>
      <p:sp>
        <p:nvSpPr>
          <p:cNvPr id="17" name="Text 15"/>
          <p:cNvSpPr/>
          <p:nvPr/>
        </p:nvSpPr>
        <p:spPr>
          <a:xfrm>
            <a:off x="8705088" y="4050792"/>
            <a:ext cx="2560320" cy="164592"/>
          </a:xfrm>
          <a:prstGeom prst="rect">
            <a:avLst/>
          </a:prstGeom>
          <a:noFill/>
          <a:ln/>
        </p:spPr>
        <p:txBody>
          <a:bodyPr wrap="square" lIns="0" tIns="0" rIns="0" bIns="0" rtlCol="0" anchor="ctr"/>
          <a:lstStyle/>
          <a:p>
            <a:pPr indent="0" marL="0">
              <a:buNone/>
            </a:pPr>
            <a:r>
              <a:rPr lang="en-US" sz="1280" dirty="0">
                <a:solidFill>
                  <a:srgbClr val="1F2937"/>
                </a:solidFill>
              </a:rPr>
              <a:t>4. Testar INSERT / DELETE</a:t>
            </a:r>
            <a:endParaRPr lang="en-US" sz="1280" dirty="0"/>
          </a:p>
        </p:txBody>
      </p:sp>
      <p:sp>
        <p:nvSpPr>
          <p:cNvPr id="18" name="Shape 16"/>
          <p:cNvSpPr/>
          <p:nvPr/>
        </p:nvSpPr>
        <p:spPr>
          <a:xfrm>
            <a:off x="8549640" y="4544568"/>
            <a:ext cx="2880360" cy="438912"/>
          </a:xfrm>
          <a:prstGeom prst="roundRect">
            <a:avLst/>
          </a:prstGeom>
          <a:solidFill>
            <a:srgbClr val="F5F7FA"/>
          </a:solidFill>
          <a:ln w="12700">
            <a:solidFill>
              <a:srgbClr val="D8E0EA"/>
            </a:solidFill>
            <a:prstDash val="solid"/>
          </a:ln>
        </p:spPr>
      </p:sp>
      <p:sp>
        <p:nvSpPr>
          <p:cNvPr id="19" name="Text 17"/>
          <p:cNvSpPr/>
          <p:nvPr/>
        </p:nvSpPr>
        <p:spPr>
          <a:xfrm>
            <a:off x="8705088" y="4672584"/>
            <a:ext cx="2560320" cy="164592"/>
          </a:xfrm>
          <a:prstGeom prst="rect">
            <a:avLst/>
          </a:prstGeom>
          <a:noFill/>
          <a:ln/>
        </p:spPr>
        <p:txBody>
          <a:bodyPr wrap="square" lIns="0" tIns="0" rIns="0" bIns="0" rtlCol="0" anchor="ctr"/>
          <a:lstStyle/>
          <a:p>
            <a:pPr indent="0" marL="0">
              <a:buNone/>
            </a:pPr>
            <a:r>
              <a:rPr lang="en-US" sz="1280" dirty="0">
                <a:solidFill>
                  <a:srgbClr val="1F2937"/>
                </a:solidFill>
              </a:rPr>
              <a:t>5. Inspecionar dados e chaves</a:t>
            </a:r>
            <a:endParaRPr lang="en-US" sz="1280" dirty="0"/>
          </a:p>
        </p:txBody>
      </p:sp>
      <p:sp>
        <p:nvSpPr>
          <p:cNvPr id="20" name="Shape 18"/>
          <p:cNvSpPr/>
          <p:nvPr/>
        </p:nvSpPr>
        <p:spPr>
          <a:xfrm>
            <a:off x="621792" y="5989320"/>
            <a:ext cx="2606040" cy="347472"/>
          </a:xfrm>
          <a:prstGeom prst="roundRect">
            <a:avLst>
              <a:gd name="adj" fmla="val 21053"/>
            </a:avLst>
          </a:prstGeom>
          <a:solidFill>
            <a:srgbClr val="EAF1FF"/>
          </a:solidFill>
          <a:ln w="12700">
            <a:solidFill>
              <a:srgbClr val="B8CCF6"/>
            </a:solidFill>
            <a:prstDash val="solid"/>
          </a:ln>
        </p:spPr>
      </p:sp>
      <p:sp>
        <p:nvSpPr>
          <p:cNvPr id="21" name="Text 19">
            <a:hlinkClick r:id="rId1" tooltip=""/>
          </p:cNvPr>
          <p:cNvSpPr/>
          <p:nvPr/>
        </p:nvSpPr>
        <p:spPr>
          <a:xfrm>
            <a:off x="777240" y="6053328"/>
            <a:ext cx="2267712" cy="182880"/>
          </a:xfrm>
          <a:prstGeom prst="rect">
            <a:avLst/>
          </a:prstGeom>
          <a:noFill/>
          <a:ln/>
        </p:spPr>
        <p:txBody>
          <a:bodyPr wrap="square" lIns="0" tIns="0" rIns="0" bIns="0" rtlCol="0" anchor="ctr"/>
          <a:lstStyle/>
          <a:p>
            <a:pPr indent="0" marL="0">
              <a:buNone/>
            </a:pPr>
            <a:r>
              <a:rPr lang="en-US" sz="1250" b="1" u="sng" dirty="0">
                <a:solidFill>
                  <a:srgbClr val="2463EB"/>
                </a:solidFill>
                <a:hlinkClick r:id="rId1" invalidUrl="" action="" tgtFrame="" tooltip="" history="1" highlightClick="0" endSnd="0">
                  <a:extLst>
                    <a:ext uri="{A12FA001-AC4F-418D-AE19-62706E023703}">
                      <ahyp:hlinkClr xmlns:ahyp="http://schemas.microsoft.com/office/drawing/2018/hyperlinkcolor" val="tx"/>
                    </a:ext>
                  </a:extLst>
                </a:hlinkClick>
              </a:rPr>
              <a:t>DBeaver Community</a:t>
            </a:r>
            <a:endParaRPr lang="en-US" sz="125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Prática 2 — abrir o SQL Editor</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CRIAR UM SCRIPT PARA O ESQUEMA</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- 32</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Com a conexão aberta, clique com o botão direito no banco e escolha SQL Editor &gt; New SQL Script. Antes de criar tabelas, execute PRAGMA foreign_keys = ON; para ativar a verificação de chaves estrangeiras no SQLite. Em seguida, escreva primeiro CURSO e depois ALUNO, respeitando a dependência criada pela FOREIGN KEY.</a:t>
            </a:r>
            <a:endParaRPr lang="en-US" sz="2400" dirty="0"/>
          </a:p>
        </p:txBody>
      </p:sp>
      <p:sp>
        <p:nvSpPr>
          <p:cNvPr id="7" name="Shape 5"/>
          <p:cNvSpPr/>
          <p:nvPr/>
        </p:nvSpPr>
        <p:spPr>
          <a:xfrm>
            <a:off x="8275320" y="1298448"/>
            <a:ext cx="3456432" cy="4407408"/>
          </a:xfrm>
          <a:prstGeom prst="roundRect">
            <a:avLst>
              <a:gd name="adj" fmla="val 1323"/>
            </a:avLst>
          </a:prstGeom>
          <a:solidFill>
            <a:srgbClr val="FFFFFF"/>
          </a:solidFill>
          <a:ln w="12700">
            <a:solidFill>
              <a:srgbClr val="BFD0E2"/>
            </a:solidFill>
            <a:prstDash val="solid"/>
          </a:ln>
        </p:spPr>
      </p:sp>
      <p:sp>
        <p:nvSpPr>
          <p:cNvPr id="8" name="Shape 6"/>
          <p:cNvSpPr/>
          <p:nvPr/>
        </p:nvSpPr>
        <p:spPr>
          <a:xfrm>
            <a:off x="8275320" y="1298448"/>
            <a:ext cx="3456432" cy="475488"/>
          </a:xfrm>
          <a:prstGeom prst="rect">
            <a:avLst/>
          </a:prstGeom>
          <a:solidFill>
            <a:srgbClr val="0B1F33"/>
          </a:solidFill>
          <a:ln w="12700">
            <a:solidFill>
              <a:srgbClr val="0B1F33"/>
            </a:solidFill>
            <a:prstDash val="solid"/>
          </a:ln>
        </p:spPr>
      </p:sp>
      <p:sp>
        <p:nvSpPr>
          <p:cNvPr id="9" name="Text 7"/>
          <p:cNvSpPr/>
          <p:nvPr/>
        </p:nvSpPr>
        <p:spPr>
          <a:xfrm>
            <a:off x="8467344" y="1453896"/>
            <a:ext cx="3063240" cy="164592"/>
          </a:xfrm>
          <a:prstGeom prst="rect">
            <a:avLst/>
          </a:prstGeom>
          <a:noFill/>
          <a:ln/>
        </p:spPr>
        <p:txBody>
          <a:bodyPr wrap="square" lIns="0" tIns="0" rIns="0" bIns="0" rtlCol="0" anchor="ctr"/>
          <a:lstStyle/>
          <a:p>
            <a:pPr indent="0" marL="0">
              <a:buNone/>
            </a:pPr>
            <a:r>
              <a:rPr lang="en-US" sz="1350" b="1" dirty="0">
                <a:solidFill>
                  <a:srgbClr val="FFFFFF"/>
                </a:solidFill>
              </a:rPr>
              <a:t>DBeaver Community + SQLite</a:t>
            </a:r>
            <a:endParaRPr lang="en-US" sz="1350" dirty="0"/>
          </a:p>
        </p:txBody>
      </p:sp>
      <p:sp>
        <p:nvSpPr>
          <p:cNvPr id="10" name="Shape 8"/>
          <p:cNvSpPr/>
          <p:nvPr/>
        </p:nvSpPr>
        <p:spPr>
          <a:xfrm>
            <a:off x="8549640" y="2057400"/>
            <a:ext cx="2880360" cy="438912"/>
          </a:xfrm>
          <a:prstGeom prst="roundRect">
            <a:avLst/>
          </a:prstGeom>
          <a:solidFill>
            <a:srgbClr val="F5F7FA"/>
          </a:solidFill>
          <a:ln w="12700">
            <a:solidFill>
              <a:srgbClr val="D8E0EA"/>
            </a:solidFill>
            <a:prstDash val="solid"/>
          </a:ln>
        </p:spPr>
      </p:sp>
      <p:sp>
        <p:nvSpPr>
          <p:cNvPr id="11" name="Text 9"/>
          <p:cNvSpPr/>
          <p:nvPr/>
        </p:nvSpPr>
        <p:spPr>
          <a:xfrm>
            <a:off x="8705088" y="2185416"/>
            <a:ext cx="2560320" cy="164592"/>
          </a:xfrm>
          <a:prstGeom prst="rect">
            <a:avLst/>
          </a:prstGeom>
          <a:noFill/>
          <a:ln/>
        </p:spPr>
        <p:txBody>
          <a:bodyPr wrap="square" lIns="0" tIns="0" rIns="0" bIns="0" rtlCol="0" anchor="ctr"/>
          <a:lstStyle/>
          <a:p>
            <a:pPr indent="0" marL="0">
              <a:buNone/>
            </a:pPr>
            <a:r>
              <a:rPr lang="en-US" sz="1280" dirty="0">
                <a:solidFill>
                  <a:srgbClr val="1F2937"/>
                </a:solidFill>
              </a:rPr>
              <a:t>1. Nova conexão → SQLite</a:t>
            </a:r>
            <a:endParaRPr lang="en-US" sz="1280" dirty="0"/>
          </a:p>
        </p:txBody>
      </p:sp>
      <p:sp>
        <p:nvSpPr>
          <p:cNvPr id="12" name="Shape 10"/>
          <p:cNvSpPr/>
          <p:nvPr/>
        </p:nvSpPr>
        <p:spPr>
          <a:xfrm>
            <a:off x="8549640" y="2679192"/>
            <a:ext cx="2880360" cy="438912"/>
          </a:xfrm>
          <a:prstGeom prst="roundRect">
            <a:avLst/>
          </a:prstGeom>
          <a:solidFill>
            <a:srgbClr val="EAF1FF"/>
          </a:solidFill>
          <a:ln w="12700">
            <a:solidFill>
              <a:srgbClr val="2463EB"/>
            </a:solidFill>
            <a:prstDash val="solid"/>
          </a:ln>
        </p:spPr>
      </p:sp>
      <p:sp>
        <p:nvSpPr>
          <p:cNvPr id="13" name="Text 11"/>
          <p:cNvSpPr/>
          <p:nvPr/>
        </p:nvSpPr>
        <p:spPr>
          <a:xfrm>
            <a:off x="8705088" y="2807208"/>
            <a:ext cx="2560320" cy="164592"/>
          </a:xfrm>
          <a:prstGeom prst="rect">
            <a:avLst/>
          </a:prstGeom>
          <a:noFill/>
          <a:ln/>
        </p:spPr>
        <p:txBody>
          <a:bodyPr wrap="square" lIns="0" tIns="0" rIns="0" bIns="0" rtlCol="0" anchor="ctr"/>
          <a:lstStyle/>
          <a:p>
            <a:pPr indent="0" marL="0">
              <a:buNone/>
            </a:pPr>
            <a:r>
              <a:rPr lang="en-US" sz="1280" b="1" dirty="0">
                <a:solidFill>
                  <a:srgbClr val="2463EB"/>
                </a:solidFill>
              </a:rPr>
              <a:t>2. SQL Editor → novo script</a:t>
            </a:r>
            <a:endParaRPr lang="en-US" sz="1280" dirty="0"/>
          </a:p>
        </p:txBody>
      </p:sp>
      <p:sp>
        <p:nvSpPr>
          <p:cNvPr id="14" name="Shape 12"/>
          <p:cNvSpPr/>
          <p:nvPr/>
        </p:nvSpPr>
        <p:spPr>
          <a:xfrm>
            <a:off x="8549640" y="3300984"/>
            <a:ext cx="2880360" cy="438912"/>
          </a:xfrm>
          <a:prstGeom prst="roundRect">
            <a:avLst/>
          </a:prstGeom>
          <a:solidFill>
            <a:srgbClr val="F5F7FA"/>
          </a:solidFill>
          <a:ln w="12700">
            <a:solidFill>
              <a:srgbClr val="D8E0EA"/>
            </a:solidFill>
            <a:prstDash val="solid"/>
          </a:ln>
        </p:spPr>
      </p:sp>
      <p:sp>
        <p:nvSpPr>
          <p:cNvPr id="15" name="Text 13"/>
          <p:cNvSpPr/>
          <p:nvPr/>
        </p:nvSpPr>
        <p:spPr>
          <a:xfrm>
            <a:off x="8705088" y="3429000"/>
            <a:ext cx="2560320" cy="164592"/>
          </a:xfrm>
          <a:prstGeom prst="rect">
            <a:avLst/>
          </a:prstGeom>
          <a:noFill/>
          <a:ln/>
        </p:spPr>
        <p:txBody>
          <a:bodyPr wrap="square" lIns="0" tIns="0" rIns="0" bIns="0" rtlCol="0" anchor="ctr"/>
          <a:lstStyle/>
          <a:p>
            <a:pPr indent="0" marL="0">
              <a:buNone/>
            </a:pPr>
            <a:r>
              <a:rPr lang="en-US" sz="1280" dirty="0">
                <a:solidFill>
                  <a:srgbClr val="1F2937"/>
                </a:solidFill>
              </a:rPr>
              <a:t>3. Executar CREATE TABLE</a:t>
            </a:r>
            <a:endParaRPr lang="en-US" sz="1280" dirty="0"/>
          </a:p>
        </p:txBody>
      </p:sp>
      <p:sp>
        <p:nvSpPr>
          <p:cNvPr id="16" name="Shape 14"/>
          <p:cNvSpPr/>
          <p:nvPr/>
        </p:nvSpPr>
        <p:spPr>
          <a:xfrm>
            <a:off x="8549640" y="3922776"/>
            <a:ext cx="2880360" cy="438912"/>
          </a:xfrm>
          <a:prstGeom prst="roundRect">
            <a:avLst/>
          </a:prstGeom>
          <a:solidFill>
            <a:srgbClr val="F5F7FA"/>
          </a:solidFill>
          <a:ln w="12700">
            <a:solidFill>
              <a:srgbClr val="D8E0EA"/>
            </a:solidFill>
            <a:prstDash val="solid"/>
          </a:ln>
        </p:spPr>
      </p:sp>
      <p:sp>
        <p:nvSpPr>
          <p:cNvPr id="17" name="Text 15"/>
          <p:cNvSpPr/>
          <p:nvPr/>
        </p:nvSpPr>
        <p:spPr>
          <a:xfrm>
            <a:off x="8705088" y="4050792"/>
            <a:ext cx="2560320" cy="164592"/>
          </a:xfrm>
          <a:prstGeom prst="rect">
            <a:avLst/>
          </a:prstGeom>
          <a:noFill/>
          <a:ln/>
        </p:spPr>
        <p:txBody>
          <a:bodyPr wrap="square" lIns="0" tIns="0" rIns="0" bIns="0" rtlCol="0" anchor="ctr"/>
          <a:lstStyle/>
          <a:p>
            <a:pPr indent="0" marL="0">
              <a:buNone/>
            </a:pPr>
            <a:r>
              <a:rPr lang="en-US" sz="1280" dirty="0">
                <a:solidFill>
                  <a:srgbClr val="1F2937"/>
                </a:solidFill>
              </a:rPr>
              <a:t>4. Testar INSERT / DELETE</a:t>
            </a:r>
            <a:endParaRPr lang="en-US" sz="1280" dirty="0"/>
          </a:p>
        </p:txBody>
      </p:sp>
      <p:sp>
        <p:nvSpPr>
          <p:cNvPr id="18" name="Shape 16"/>
          <p:cNvSpPr/>
          <p:nvPr/>
        </p:nvSpPr>
        <p:spPr>
          <a:xfrm>
            <a:off x="8549640" y="4544568"/>
            <a:ext cx="2880360" cy="438912"/>
          </a:xfrm>
          <a:prstGeom prst="roundRect">
            <a:avLst/>
          </a:prstGeom>
          <a:solidFill>
            <a:srgbClr val="F5F7FA"/>
          </a:solidFill>
          <a:ln w="12700">
            <a:solidFill>
              <a:srgbClr val="D8E0EA"/>
            </a:solidFill>
            <a:prstDash val="solid"/>
          </a:ln>
        </p:spPr>
      </p:sp>
      <p:sp>
        <p:nvSpPr>
          <p:cNvPr id="19" name="Text 17"/>
          <p:cNvSpPr/>
          <p:nvPr/>
        </p:nvSpPr>
        <p:spPr>
          <a:xfrm>
            <a:off x="8705088" y="4672584"/>
            <a:ext cx="2560320" cy="164592"/>
          </a:xfrm>
          <a:prstGeom prst="rect">
            <a:avLst/>
          </a:prstGeom>
          <a:noFill/>
          <a:ln/>
        </p:spPr>
        <p:txBody>
          <a:bodyPr wrap="square" lIns="0" tIns="0" rIns="0" bIns="0" rtlCol="0" anchor="ctr"/>
          <a:lstStyle/>
          <a:p>
            <a:pPr indent="0" marL="0">
              <a:buNone/>
            </a:pPr>
            <a:r>
              <a:rPr lang="en-US" sz="1280" dirty="0">
                <a:solidFill>
                  <a:srgbClr val="1F2937"/>
                </a:solidFill>
              </a:rPr>
              <a:t>5. Inspecionar dados e chaves</a:t>
            </a:r>
            <a:endParaRPr lang="en-US" sz="1280" dirty="0"/>
          </a:p>
        </p:txBody>
      </p:sp>
      <p:sp>
        <p:nvSpPr>
          <p:cNvPr id="20" name="Shape 18"/>
          <p:cNvSpPr/>
          <p:nvPr/>
        </p:nvSpPr>
        <p:spPr>
          <a:xfrm>
            <a:off x="621792" y="5989320"/>
            <a:ext cx="2606040" cy="347472"/>
          </a:xfrm>
          <a:prstGeom prst="roundRect">
            <a:avLst>
              <a:gd name="adj" fmla="val 21053"/>
            </a:avLst>
          </a:prstGeom>
          <a:solidFill>
            <a:srgbClr val="EAF1FF"/>
          </a:solidFill>
          <a:ln w="12700">
            <a:solidFill>
              <a:srgbClr val="B8CCF6"/>
            </a:solidFill>
            <a:prstDash val="solid"/>
          </a:ln>
        </p:spPr>
      </p:sp>
      <p:sp>
        <p:nvSpPr>
          <p:cNvPr id="21" name="Text 19">
            <a:hlinkClick r:id="rId1" tooltip=""/>
          </p:cNvPr>
          <p:cNvSpPr/>
          <p:nvPr/>
        </p:nvSpPr>
        <p:spPr>
          <a:xfrm>
            <a:off x="777240" y="6053328"/>
            <a:ext cx="2267712" cy="182880"/>
          </a:xfrm>
          <a:prstGeom prst="rect">
            <a:avLst/>
          </a:prstGeom>
          <a:noFill/>
          <a:ln/>
        </p:spPr>
        <p:txBody>
          <a:bodyPr wrap="square" lIns="0" tIns="0" rIns="0" bIns="0" rtlCol="0" anchor="ctr"/>
          <a:lstStyle/>
          <a:p>
            <a:pPr indent="0" marL="0">
              <a:buNone/>
            </a:pPr>
            <a:r>
              <a:rPr lang="en-US" sz="1250" b="1" u="sng" dirty="0">
                <a:solidFill>
                  <a:srgbClr val="2463EB"/>
                </a:solidFill>
                <a:hlinkClick r:id="rId1" invalidUrl="" action="" tgtFrame="" tooltip="" history="1" highlightClick="0" endSnd="0">
                  <a:extLst>
                    <a:ext uri="{A12FA001-AC4F-418D-AE19-62706E023703}">
                      <ahyp:hlinkClr xmlns:ahyp="http://schemas.microsoft.com/office/drawing/2018/hyperlinkcolor" val="tx"/>
                    </a:ext>
                  </a:extLst>
                </a:hlinkClick>
              </a:rPr>
              <a:t>SQLite — Foreign Keys</a:t>
            </a:r>
            <a:endParaRPr lang="en-US" sz="125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Prática 3 — criar as relações</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EXECUTAR DDL E VERIFICAR A ESTRUTURA</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- 33</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Crie CURSO com id INTEGER PRIMARY KEY e nome TEXT NOT NULL UNIQUE. Depois crie ALUNO com id INTEGER PRIMARY KEY, nome TEXT NOT NULL, email TEXT UNIQUE, idade INTEGER CHECK(idade &gt;= 16) e curso_id INTEGER NOT NULL REFERENCES curso(id). Execute o script e atualize a árvore de objetos para visualizar as tabelas criadas.</a:t>
            </a:r>
            <a:endParaRPr lang="en-US" sz="2400" dirty="0"/>
          </a:p>
        </p:txBody>
      </p:sp>
      <p:sp>
        <p:nvSpPr>
          <p:cNvPr id="7" name="Shape 5"/>
          <p:cNvSpPr/>
          <p:nvPr/>
        </p:nvSpPr>
        <p:spPr>
          <a:xfrm>
            <a:off x="8275320" y="1298448"/>
            <a:ext cx="3456432" cy="4407408"/>
          </a:xfrm>
          <a:prstGeom prst="roundRect">
            <a:avLst>
              <a:gd name="adj" fmla="val 1323"/>
            </a:avLst>
          </a:prstGeom>
          <a:solidFill>
            <a:srgbClr val="FFFFFF"/>
          </a:solidFill>
          <a:ln w="12700">
            <a:solidFill>
              <a:srgbClr val="BFD0E2"/>
            </a:solidFill>
            <a:prstDash val="solid"/>
          </a:ln>
        </p:spPr>
      </p:sp>
      <p:sp>
        <p:nvSpPr>
          <p:cNvPr id="8" name="Shape 6"/>
          <p:cNvSpPr/>
          <p:nvPr/>
        </p:nvSpPr>
        <p:spPr>
          <a:xfrm>
            <a:off x="8275320" y="1298448"/>
            <a:ext cx="3456432" cy="475488"/>
          </a:xfrm>
          <a:prstGeom prst="rect">
            <a:avLst/>
          </a:prstGeom>
          <a:solidFill>
            <a:srgbClr val="0B1F33"/>
          </a:solidFill>
          <a:ln w="12700">
            <a:solidFill>
              <a:srgbClr val="0B1F33"/>
            </a:solidFill>
            <a:prstDash val="solid"/>
          </a:ln>
        </p:spPr>
      </p:sp>
      <p:sp>
        <p:nvSpPr>
          <p:cNvPr id="9" name="Text 7"/>
          <p:cNvSpPr/>
          <p:nvPr/>
        </p:nvSpPr>
        <p:spPr>
          <a:xfrm>
            <a:off x="8467344" y="1453896"/>
            <a:ext cx="3063240" cy="164592"/>
          </a:xfrm>
          <a:prstGeom prst="rect">
            <a:avLst/>
          </a:prstGeom>
          <a:noFill/>
          <a:ln/>
        </p:spPr>
        <p:txBody>
          <a:bodyPr wrap="square" lIns="0" tIns="0" rIns="0" bIns="0" rtlCol="0" anchor="ctr"/>
          <a:lstStyle/>
          <a:p>
            <a:pPr indent="0" marL="0">
              <a:buNone/>
            </a:pPr>
            <a:r>
              <a:rPr lang="en-US" sz="1350" b="1" dirty="0">
                <a:solidFill>
                  <a:srgbClr val="FFFFFF"/>
                </a:solidFill>
              </a:rPr>
              <a:t>DBeaver Community + SQLite</a:t>
            </a:r>
            <a:endParaRPr lang="en-US" sz="1350" dirty="0"/>
          </a:p>
        </p:txBody>
      </p:sp>
      <p:sp>
        <p:nvSpPr>
          <p:cNvPr id="10" name="Shape 8"/>
          <p:cNvSpPr/>
          <p:nvPr/>
        </p:nvSpPr>
        <p:spPr>
          <a:xfrm>
            <a:off x="8549640" y="2057400"/>
            <a:ext cx="2880360" cy="438912"/>
          </a:xfrm>
          <a:prstGeom prst="roundRect">
            <a:avLst/>
          </a:prstGeom>
          <a:solidFill>
            <a:srgbClr val="F5F7FA"/>
          </a:solidFill>
          <a:ln w="12700">
            <a:solidFill>
              <a:srgbClr val="D8E0EA"/>
            </a:solidFill>
            <a:prstDash val="solid"/>
          </a:ln>
        </p:spPr>
      </p:sp>
      <p:sp>
        <p:nvSpPr>
          <p:cNvPr id="11" name="Text 9"/>
          <p:cNvSpPr/>
          <p:nvPr/>
        </p:nvSpPr>
        <p:spPr>
          <a:xfrm>
            <a:off x="8705088" y="2185416"/>
            <a:ext cx="2560320" cy="164592"/>
          </a:xfrm>
          <a:prstGeom prst="rect">
            <a:avLst/>
          </a:prstGeom>
          <a:noFill/>
          <a:ln/>
        </p:spPr>
        <p:txBody>
          <a:bodyPr wrap="square" lIns="0" tIns="0" rIns="0" bIns="0" rtlCol="0" anchor="ctr"/>
          <a:lstStyle/>
          <a:p>
            <a:pPr indent="0" marL="0">
              <a:buNone/>
            </a:pPr>
            <a:r>
              <a:rPr lang="en-US" sz="1280" dirty="0">
                <a:solidFill>
                  <a:srgbClr val="1F2937"/>
                </a:solidFill>
              </a:rPr>
              <a:t>1. Nova conexão → SQLite</a:t>
            </a:r>
            <a:endParaRPr lang="en-US" sz="1280" dirty="0"/>
          </a:p>
        </p:txBody>
      </p:sp>
      <p:sp>
        <p:nvSpPr>
          <p:cNvPr id="12" name="Shape 10"/>
          <p:cNvSpPr/>
          <p:nvPr/>
        </p:nvSpPr>
        <p:spPr>
          <a:xfrm>
            <a:off x="8549640" y="2679192"/>
            <a:ext cx="2880360" cy="438912"/>
          </a:xfrm>
          <a:prstGeom prst="roundRect">
            <a:avLst/>
          </a:prstGeom>
          <a:solidFill>
            <a:srgbClr val="F5F7FA"/>
          </a:solidFill>
          <a:ln w="12700">
            <a:solidFill>
              <a:srgbClr val="D8E0EA"/>
            </a:solidFill>
            <a:prstDash val="solid"/>
          </a:ln>
        </p:spPr>
      </p:sp>
      <p:sp>
        <p:nvSpPr>
          <p:cNvPr id="13" name="Text 11"/>
          <p:cNvSpPr/>
          <p:nvPr/>
        </p:nvSpPr>
        <p:spPr>
          <a:xfrm>
            <a:off x="8705088" y="2807208"/>
            <a:ext cx="2560320" cy="164592"/>
          </a:xfrm>
          <a:prstGeom prst="rect">
            <a:avLst/>
          </a:prstGeom>
          <a:noFill/>
          <a:ln/>
        </p:spPr>
        <p:txBody>
          <a:bodyPr wrap="square" lIns="0" tIns="0" rIns="0" bIns="0" rtlCol="0" anchor="ctr"/>
          <a:lstStyle/>
          <a:p>
            <a:pPr indent="0" marL="0">
              <a:buNone/>
            </a:pPr>
            <a:r>
              <a:rPr lang="en-US" sz="1280" dirty="0">
                <a:solidFill>
                  <a:srgbClr val="1F2937"/>
                </a:solidFill>
              </a:rPr>
              <a:t>2. SQL Editor → novo script</a:t>
            </a:r>
            <a:endParaRPr lang="en-US" sz="1280" dirty="0"/>
          </a:p>
        </p:txBody>
      </p:sp>
      <p:sp>
        <p:nvSpPr>
          <p:cNvPr id="14" name="Shape 12"/>
          <p:cNvSpPr/>
          <p:nvPr/>
        </p:nvSpPr>
        <p:spPr>
          <a:xfrm>
            <a:off x="8549640" y="3300984"/>
            <a:ext cx="2880360" cy="438912"/>
          </a:xfrm>
          <a:prstGeom prst="roundRect">
            <a:avLst/>
          </a:prstGeom>
          <a:solidFill>
            <a:srgbClr val="EAF1FF"/>
          </a:solidFill>
          <a:ln w="12700">
            <a:solidFill>
              <a:srgbClr val="2463EB"/>
            </a:solidFill>
            <a:prstDash val="solid"/>
          </a:ln>
        </p:spPr>
      </p:sp>
      <p:sp>
        <p:nvSpPr>
          <p:cNvPr id="15" name="Text 13"/>
          <p:cNvSpPr/>
          <p:nvPr/>
        </p:nvSpPr>
        <p:spPr>
          <a:xfrm>
            <a:off x="8705088" y="3429000"/>
            <a:ext cx="2560320" cy="164592"/>
          </a:xfrm>
          <a:prstGeom prst="rect">
            <a:avLst/>
          </a:prstGeom>
          <a:noFill/>
          <a:ln/>
        </p:spPr>
        <p:txBody>
          <a:bodyPr wrap="square" lIns="0" tIns="0" rIns="0" bIns="0" rtlCol="0" anchor="ctr"/>
          <a:lstStyle/>
          <a:p>
            <a:pPr indent="0" marL="0">
              <a:buNone/>
            </a:pPr>
            <a:r>
              <a:rPr lang="en-US" sz="1280" b="1" dirty="0">
                <a:solidFill>
                  <a:srgbClr val="2463EB"/>
                </a:solidFill>
              </a:rPr>
              <a:t>3. Executar CREATE TABLE</a:t>
            </a:r>
            <a:endParaRPr lang="en-US" sz="1280" dirty="0"/>
          </a:p>
        </p:txBody>
      </p:sp>
      <p:sp>
        <p:nvSpPr>
          <p:cNvPr id="16" name="Shape 14"/>
          <p:cNvSpPr/>
          <p:nvPr/>
        </p:nvSpPr>
        <p:spPr>
          <a:xfrm>
            <a:off x="8549640" y="3922776"/>
            <a:ext cx="2880360" cy="438912"/>
          </a:xfrm>
          <a:prstGeom prst="roundRect">
            <a:avLst/>
          </a:prstGeom>
          <a:solidFill>
            <a:srgbClr val="F5F7FA"/>
          </a:solidFill>
          <a:ln w="12700">
            <a:solidFill>
              <a:srgbClr val="D8E0EA"/>
            </a:solidFill>
            <a:prstDash val="solid"/>
          </a:ln>
        </p:spPr>
      </p:sp>
      <p:sp>
        <p:nvSpPr>
          <p:cNvPr id="17" name="Text 15"/>
          <p:cNvSpPr/>
          <p:nvPr/>
        </p:nvSpPr>
        <p:spPr>
          <a:xfrm>
            <a:off x="8705088" y="4050792"/>
            <a:ext cx="2560320" cy="164592"/>
          </a:xfrm>
          <a:prstGeom prst="rect">
            <a:avLst/>
          </a:prstGeom>
          <a:noFill/>
          <a:ln/>
        </p:spPr>
        <p:txBody>
          <a:bodyPr wrap="square" lIns="0" tIns="0" rIns="0" bIns="0" rtlCol="0" anchor="ctr"/>
          <a:lstStyle/>
          <a:p>
            <a:pPr indent="0" marL="0">
              <a:buNone/>
            </a:pPr>
            <a:r>
              <a:rPr lang="en-US" sz="1280" dirty="0">
                <a:solidFill>
                  <a:srgbClr val="1F2937"/>
                </a:solidFill>
              </a:rPr>
              <a:t>4. Testar INSERT / DELETE</a:t>
            </a:r>
            <a:endParaRPr lang="en-US" sz="1280" dirty="0"/>
          </a:p>
        </p:txBody>
      </p:sp>
      <p:sp>
        <p:nvSpPr>
          <p:cNvPr id="18" name="Shape 16"/>
          <p:cNvSpPr/>
          <p:nvPr/>
        </p:nvSpPr>
        <p:spPr>
          <a:xfrm>
            <a:off x="8549640" y="4544568"/>
            <a:ext cx="2880360" cy="438912"/>
          </a:xfrm>
          <a:prstGeom prst="roundRect">
            <a:avLst/>
          </a:prstGeom>
          <a:solidFill>
            <a:srgbClr val="F5F7FA"/>
          </a:solidFill>
          <a:ln w="12700">
            <a:solidFill>
              <a:srgbClr val="D8E0EA"/>
            </a:solidFill>
            <a:prstDash val="solid"/>
          </a:ln>
        </p:spPr>
      </p:sp>
      <p:sp>
        <p:nvSpPr>
          <p:cNvPr id="19" name="Text 17"/>
          <p:cNvSpPr/>
          <p:nvPr/>
        </p:nvSpPr>
        <p:spPr>
          <a:xfrm>
            <a:off x="8705088" y="4672584"/>
            <a:ext cx="2560320" cy="164592"/>
          </a:xfrm>
          <a:prstGeom prst="rect">
            <a:avLst/>
          </a:prstGeom>
          <a:noFill/>
          <a:ln/>
        </p:spPr>
        <p:txBody>
          <a:bodyPr wrap="square" lIns="0" tIns="0" rIns="0" bIns="0" rtlCol="0" anchor="ctr"/>
          <a:lstStyle/>
          <a:p>
            <a:pPr indent="0" marL="0">
              <a:buNone/>
            </a:pPr>
            <a:r>
              <a:rPr lang="en-US" sz="1280" dirty="0">
                <a:solidFill>
                  <a:srgbClr val="1F2937"/>
                </a:solidFill>
              </a:rPr>
              <a:t>5. Inspecionar dados e chaves</a:t>
            </a:r>
            <a:endParaRPr lang="en-US" sz="128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Prática 4 — inserir dados válidos</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TESTAR UMA INSTÂNCIA CORRETA</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- 34</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Insira primeiro dois cursos e depois alguns alunos referenciando seus ids. Verifique os resultados com SELECT * FROM curso; e SELECT * FROM aluno;. Observe que o esquema permaneceu fixo enquanto a instância mudou com cada INSERT. Confirme também que emails não se repetem e que todos os alunos apontam para cursos existentes.</a:t>
            </a:r>
            <a:endParaRPr lang="en-US" sz="2400" dirty="0"/>
          </a:p>
        </p:txBody>
      </p:sp>
      <p:sp>
        <p:nvSpPr>
          <p:cNvPr id="7" name="Shape 5"/>
          <p:cNvSpPr/>
          <p:nvPr/>
        </p:nvSpPr>
        <p:spPr>
          <a:xfrm>
            <a:off x="8275320" y="1298448"/>
            <a:ext cx="3456432" cy="4407408"/>
          </a:xfrm>
          <a:prstGeom prst="roundRect">
            <a:avLst>
              <a:gd name="adj" fmla="val 1323"/>
            </a:avLst>
          </a:prstGeom>
          <a:solidFill>
            <a:srgbClr val="FFFFFF"/>
          </a:solidFill>
          <a:ln w="12700">
            <a:solidFill>
              <a:srgbClr val="BFD0E2"/>
            </a:solidFill>
            <a:prstDash val="solid"/>
          </a:ln>
        </p:spPr>
      </p:sp>
      <p:sp>
        <p:nvSpPr>
          <p:cNvPr id="8" name="Shape 6"/>
          <p:cNvSpPr/>
          <p:nvPr/>
        </p:nvSpPr>
        <p:spPr>
          <a:xfrm>
            <a:off x="8275320" y="1298448"/>
            <a:ext cx="3456432" cy="475488"/>
          </a:xfrm>
          <a:prstGeom prst="rect">
            <a:avLst/>
          </a:prstGeom>
          <a:solidFill>
            <a:srgbClr val="0B1F33"/>
          </a:solidFill>
          <a:ln w="12700">
            <a:solidFill>
              <a:srgbClr val="0B1F33"/>
            </a:solidFill>
            <a:prstDash val="solid"/>
          </a:ln>
        </p:spPr>
      </p:sp>
      <p:sp>
        <p:nvSpPr>
          <p:cNvPr id="9" name="Text 7"/>
          <p:cNvSpPr/>
          <p:nvPr/>
        </p:nvSpPr>
        <p:spPr>
          <a:xfrm>
            <a:off x="8467344" y="1453896"/>
            <a:ext cx="3063240" cy="164592"/>
          </a:xfrm>
          <a:prstGeom prst="rect">
            <a:avLst/>
          </a:prstGeom>
          <a:noFill/>
          <a:ln/>
        </p:spPr>
        <p:txBody>
          <a:bodyPr wrap="square" lIns="0" tIns="0" rIns="0" bIns="0" rtlCol="0" anchor="ctr"/>
          <a:lstStyle/>
          <a:p>
            <a:pPr indent="0" marL="0">
              <a:buNone/>
            </a:pPr>
            <a:r>
              <a:rPr lang="en-US" sz="1350" b="1" dirty="0">
                <a:solidFill>
                  <a:srgbClr val="FFFFFF"/>
                </a:solidFill>
              </a:rPr>
              <a:t>DBeaver Community + SQLite</a:t>
            </a:r>
            <a:endParaRPr lang="en-US" sz="1350" dirty="0"/>
          </a:p>
        </p:txBody>
      </p:sp>
      <p:sp>
        <p:nvSpPr>
          <p:cNvPr id="10" name="Shape 8"/>
          <p:cNvSpPr/>
          <p:nvPr/>
        </p:nvSpPr>
        <p:spPr>
          <a:xfrm>
            <a:off x="8549640" y="2057400"/>
            <a:ext cx="2880360" cy="438912"/>
          </a:xfrm>
          <a:prstGeom prst="roundRect">
            <a:avLst/>
          </a:prstGeom>
          <a:solidFill>
            <a:srgbClr val="F5F7FA"/>
          </a:solidFill>
          <a:ln w="12700">
            <a:solidFill>
              <a:srgbClr val="D8E0EA"/>
            </a:solidFill>
            <a:prstDash val="solid"/>
          </a:ln>
        </p:spPr>
      </p:sp>
      <p:sp>
        <p:nvSpPr>
          <p:cNvPr id="11" name="Text 9"/>
          <p:cNvSpPr/>
          <p:nvPr/>
        </p:nvSpPr>
        <p:spPr>
          <a:xfrm>
            <a:off x="8705088" y="2185416"/>
            <a:ext cx="2560320" cy="164592"/>
          </a:xfrm>
          <a:prstGeom prst="rect">
            <a:avLst/>
          </a:prstGeom>
          <a:noFill/>
          <a:ln/>
        </p:spPr>
        <p:txBody>
          <a:bodyPr wrap="square" lIns="0" tIns="0" rIns="0" bIns="0" rtlCol="0" anchor="ctr"/>
          <a:lstStyle/>
          <a:p>
            <a:pPr indent="0" marL="0">
              <a:buNone/>
            </a:pPr>
            <a:r>
              <a:rPr lang="en-US" sz="1280" dirty="0">
                <a:solidFill>
                  <a:srgbClr val="1F2937"/>
                </a:solidFill>
              </a:rPr>
              <a:t>1. Nova conexão → SQLite</a:t>
            </a:r>
            <a:endParaRPr lang="en-US" sz="1280" dirty="0"/>
          </a:p>
        </p:txBody>
      </p:sp>
      <p:sp>
        <p:nvSpPr>
          <p:cNvPr id="12" name="Shape 10"/>
          <p:cNvSpPr/>
          <p:nvPr/>
        </p:nvSpPr>
        <p:spPr>
          <a:xfrm>
            <a:off x="8549640" y="2679192"/>
            <a:ext cx="2880360" cy="438912"/>
          </a:xfrm>
          <a:prstGeom prst="roundRect">
            <a:avLst/>
          </a:prstGeom>
          <a:solidFill>
            <a:srgbClr val="F5F7FA"/>
          </a:solidFill>
          <a:ln w="12700">
            <a:solidFill>
              <a:srgbClr val="D8E0EA"/>
            </a:solidFill>
            <a:prstDash val="solid"/>
          </a:ln>
        </p:spPr>
      </p:sp>
      <p:sp>
        <p:nvSpPr>
          <p:cNvPr id="13" name="Text 11"/>
          <p:cNvSpPr/>
          <p:nvPr/>
        </p:nvSpPr>
        <p:spPr>
          <a:xfrm>
            <a:off x="8705088" y="2807208"/>
            <a:ext cx="2560320" cy="164592"/>
          </a:xfrm>
          <a:prstGeom prst="rect">
            <a:avLst/>
          </a:prstGeom>
          <a:noFill/>
          <a:ln/>
        </p:spPr>
        <p:txBody>
          <a:bodyPr wrap="square" lIns="0" tIns="0" rIns="0" bIns="0" rtlCol="0" anchor="ctr"/>
          <a:lstStyle/>
          <a:p>
            <a:pPr indent="0" marL="0">
              <a:buNone/>
            </a:pPr>
            <a:r>
              <a:rPr lang="en-US" sz="1280" dirty="0">
                <a:solidFill>
                  <a:srgbClr val="1F2937"/>
                </a:solidFill>
              </a:rPr>
              <a:t>2. SQL Editor → novo script</a:t>
            </a:r>
            <a:endParaRPr lang="en-US" sz="1280" dirty="0"/>
          </a:p>
        </p:txBody>
      </p:sp>
      <p:sp>
        <p:nvSpPr>
          <p:cNvPr id="14" name="Shape 12"/>
          <p:cNvSpPr/>
          <p:nvPr/>
        </p:nvSpPr>
        <p:spPr>
          <a:xfrm>
            <a:off x="8549640" y="3300984"/>
            <a:ext cx="2880360" cy="438912"/>
          </a:xfrm>
          <a:prstGeom prst="roundRect">
            <a:avLst/>
          </a:prstGeom>
          <a:solidFill>
            <a:srgbClr val="F5F7FA"/>
          </a:solidFill>
          <a:ln w="12700">
            <a:solidFill>
              <a:srgbClr val="D8E0EA"/>
            </a:solidFill>
            <a:prstDash val="solid"/>
          </a:ln>
        </p:spPr>
      </p:sp>
      <p:sp>
        <p:nvSpPr>
          <p:cNvPr id="15" name="Text 13"/>
          <p:cNvSpPr/>
          <p:nvPr/>
        </p:nvSpPr>
        <p:spPr>
          <a:xfrm>
            <a:off x="8705088" y="3429000"/>
            <a:ext cx="2560320" cy="164592"/>
          </a:xfrm>
          <a:prstGeom prst="rect">
            <a:avLst/>
          </a:prstGeom>
          <a:noFill/>
          <a:ln/>
        </p:spPr>
        <p:txBody>
          <a:bodyPr wrap="square" lIns="0" tIns="0" rIns="0" bIns="0" rtlCol="0" anchor="ctr"/>
          <a:lstStyle/>
          <a:p>
            <a:pPr indent="0" marL="0">
              <a:buNone/>
            </a:pPr>
            <a:r>
              <a:rPr lang="en-US" sz="1280" dirty="0">
                <a:solidFill>
                  <a:srgbClr val="1F2937"/>
                </a:solidFill>
              </a:rPr>
              <a:t>3. Executar CREATE TABLE</a:t>
            </a:r>
            <a:endParaRPr lang="en-US" sz="1280" dirty="0"/>
          </a:p>
        </p:txBody>
      </p:sp>
      <p:sp>
        <p:nvSpPr>
          <p:cNvPr id="16" name="Shape 14"/>
          <p:cNvSpPr/>
          <p:nvPr/>
        </p:nvSpPr>
        <p:spPr>
          <a:xfrm>
            <a:off x="8549640" y="3922776"/>
            <a:ext cx="2880360" cy="438912"/>
          </a:xfrm>
          <a:prstGeom prst="roundRect">
            <a:avLst/>
          </a:prstGeom>
          <a:solidFill>
            <a:srgbClr val="EAF1FF"/>
          </a:solidFill>
          <a:ln w="12700">
            <a:solidFill>
              <a:srgbClr val="2463EB"/>
            </a:solidFill>
            <a:prstDash val="solid"/>
          </a:ln>
        </p:spPr>
      </p:sp>
      <p:sp>
        <p:nvSpPr>
          <p:cNvPr id="17" name="Text 15"/>
          <p:cNvSpPr/>
          <p:nvPr/>
        </p:nvSpPr>
        <p:spPr>
          <a:xfrm>
            <a:off x="8705088" y="4050792"/>
            <a:ext cx="2560320" cy="164592"/>
          </a:xfrm>
          <a:prstGeom prst="rect">
            <a:avLst/>
          </a:prstGeom>
          <a:noFill/>
          <a:ln/>
        </p:spPr>
        <p:txBody>
          <a:bodyPr wrap="square" lIns="0" tIns="0" rIns="0" bIns="0" rtlCol="0" anchor="ctr"/>
          <a:lstStyle/>
          <a:p>
            <a:pPr indent="0" marL="0">
              <a:buNone/>
            </a:pPr>
            <a:r>
              <a:rPr lang="en-US" sz="1280" b="1" dirty="0">
                <a:solidFill>
                  <a:srgbClr val="2463EB"/>
                </a:solidFill>
              </a:rPr>
              <a:t>4. Testar INSERT / DELETE</a:t>
            </a:r>
            <a:endParaRPr lang="en-US" sz="1280" dirty="0"/>
          </a:p>
        </p:txBody>
      </p:sp>
      <p:sp>
        <p:nvSpPr>
          <p:cNvPr id="18" name="Shape 16"/>
          <p:cNvSpPr/>
          <p:nvPr/>
        </p:nvSpPr>
        <p:spPr>
          <a:xfrm>
            <a:off x="8549640" y="4544568"/>
            <a:ext cx="2880360" cy="438912"/>
          </a:xfrm>
          <a:prstGeom prst="roundRect">
            <a:avLst/>
          </a:prstGeom>
          <a:solidFill>
            <a:srgbClr val="F5F7FA"/>
          </a:solidFill>
          <a:ln w="12700">
            <a:solidFill>
              <a:srgbClr val="D8E0EA"/>
            </a:solidFill>
            <a:prstDash val="solid"/>
          </a:ln>
        </p:spPr>
      </p:sp>
      <p:sp>
        <p:nvSpPr>
          <p:cNvPr id="19" name="Text 17"/>
          <p:cNvSpPr/>
          <p:nvPr/>
        </p:nvSpPr>
        <p:spPr>
          <a:xfrm>
            <a:off x="8705088" y="4672584"/>
            <a:ext cx="2560320" cy="164592"/>
          </a:xfrm>
          <a:prstGeom prst="rect">
            <a:avLst/>
          </a:prstGeom>
          <a:noFill/>
          <a:ln/>
        </p:spPr>
        <p:txBody>
          <a:bodyPr wrap="square" lIns="0" tIns="0" rIns="0" bIns="0" rtlCol="0" anchor="ctr"/>
          <a:lstStyle/>
          <a:p>
            <a:pPr indent="0" marL="0">
              <a:buNone/>
            </a:pPr>
            <a:r>
              <a:rPr lang="en-US" sz="1280" dirty="0">
                <a:solidFill>
                  <a:srgbClr val="1F2937"/>
                </a:solidFill>
              </a:rPr>
              <a:t>5. Inspecionar dados e chaves</a:t>
            </a:r>
            <a:endParaRPr lang="en-US" sz="128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Prática 5 — provocar violações</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APRENDER OBSERVANDO O SGBD REJEITAR ERROS</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- 35</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Agora tente inserir um aluno com idade 12, repetir um email já cadastrado e usar curso_id 99. Cada operação deve falhar por uma razão diferente: CHECK, UNIQUE e FOREIGN KEY. Em seguida, tente excluir um curso ainda referenciado. Analise as mensagens do SGBD e identifique qual regra do modelo relacional foi protegida em cada caso.</a:t>
            </a:r>
            <a:endParaRPr lang="en-US" sz="2400" dirty="0"/>
          </a:p>
        </p:txBody>
      </p:sp>
      <p:sp>
        <p:nvSpPr>
          <p:cNvPr id="7" name="Shape 5"/>
          <p:cNvSpPr/>
          <p:nvPr/>
        </p:nvSpPr>
        <p:spPr>
          <a:xfrm>
            <a:off x="8275320" y="1298448"/>
            <a:ext cx="3456432" cy="4407408"/>
          </a:xfrm>
          <a:prstGeom prst="roundRect">
            <a:avLst>
              <a:gd name="adj" fmla="val 1323"/>
            </a:avLst>
          </a:prstGeom>
          <a:solidFill>
            <a:srgbClr val="FFFFFF"/>
          </a:solidFill>
          <a:ln w="12700">
            <a:solidFill>
              <a:srgbClr val="BFD0E2"/>
            </a:solidFill>
            <a:prstDash val="solid"/>
          </a:ln>
        </p:spPr>
      </p:sp>
      <p:sp>
        <p:nvSpPr>
          <p:cNvPr id="8" name="Shape 6"/>
          <p:cNvSpPr/>
          <p:nvPr/>
        </p:nvSpPr>
        <p:spPr>
          <a:xfrm>
            <a:off x="8275320" y="1298448"/>
            <a:ext cx="3456432" cy="475488"/>
          </a:xfrm>
          <a:prstGeom prst="rect">
            <a:avLst/>
          </a:prstGeom>
          <a:solidFill>
            <a:srgbClr val="0B1F33"/>
          </a:solidFill>
          <a:ln w="12700">
            <a:solidFill>
              <a:srgbClr val="0B1F33"/>
            </a:solidFill>
            <a:prstDash val="solid"/>
          </a:ln>
        </p:spPr>
      </p:sp>
      <p:sp>
        <p:nvSpPr>
          <p:cNvPr id="9" name="Text 7"/>
          <p:cNvSpPr/>
          <p:nvPr/>
        </p:nvSpPr>
        <p:spPr>
          <a:xfrm>
            <a:off x="8467344" y="1453896"/>
            <a:ext cx="3063240" cy="164592"/>
          </a:xfrm>
          <a:prstGeom prst="rect">
            <a:avLst/>
          </a:prstGeom>
          <a:noFill/>
          <a:ln/>
        </p:spPr>
        <p:txBody>
          <a:bodyPr wrap="square" lIns="0" tIns="0" rIns="0" bIns="0" rtlCol="0" anchor="ctr"/>
          <a:lstStyle/>
          <a:p>
            <a:pPr indent="0" marL="0">
              <a:buNone/>
            </a:pPr>
            <a:r>
              <a:rPr lang="en-US" sz="1350" b="1" dirty="0">
                <a:solidFill>
                  <a:srgbClr val="FFFFFF"/>
                </a:solidFill>
              </a:rPr>
              <a:t>DBeaver Community + SQLite</a:t>
            </a:r>
            <a:endParaRPr lang="en-US" sz="1350" dirty="0"/>
          </a:p>
        </p:txBody>
      </p:sp>
      <p:sp>
        <p:nvSpPr>
          <p:cNvPr id="10" name="Shape 8"/>
          <p:cNvSpPr/>
          <p:nvPr/>
        </p:nvSpPr>
        <p:spPr>
          <a:xfrm>
            <a:off x="8549640" y="2057400"/>
            <a:ext cx="2880360" cy="438912"/>
          </a:xfrm>
          <a:prstGeom prst="roundRect">
            <a:avLst/>
          </a:prstGeom>
          <a:solidFill>
            <a:srgbClr val="F5F7FA"/>
          </a:solidFill>
          <a:ln w="12700">
            <a:solidFill>
              <a:srgbClr val="D8E0EA"/>
            </a:solidFill>
            <a:prstDash val="solid"/>
          </a:ln>
        </p:spPr>
      </p:sp>
      <p:sp>
        <p:nvSpPr>
          <p:cNvPr id="11" name="Text 9"/>
          <p:cNvSpPr/>
          <p:nvPr/>
        </p:nvSpPr>
        <p:spPr>
          <a:xfrm>
            <a:off x="8705088" y="2185416"/>
            <a:ext cx="2560320" cy="164592"/>
          </a:xfrm>
          <a:prstGeom prst="rect">
            <a:avLst/>
          </a:prstGeom>
          <a:noFill/>
          <a:ln/>
        </p:spPr>
        <p:txBody>
          <a:bodyPr wrap="square" lIns="0" tIns="0" rIns="0" bIns="0" rtlCol="0" anchor="ctr"/>
          <a:lstStyle/>
          <a:p>
            <a:pPr indent="0" marL="0">
              <a:buNone/>
            </a:pPr>
            <a:r>
              <a:rPr lang="en-US" sz="1280" dirty="0">
                <a:solidFill>
                  <a:srgbClr val="1F2937"/>
                </a:solidFill>
              </a:rPr>
              <a:t>1. Nova conexão → SQLite</a:t>
            </a:r>
            <a:endParaRPr lang="en-US" sz="1280" dirty="0"/>
          </a:p>
        </p:txBody>
      </p:sp>
      <p:sp>
        <p:nvSpPr>
          <p:cNvPr id="12" name="Shape 10"/>
          <p:cNvSpPr/>
          <p:nvPr/>
        </p:nvSpPr>
        <p:spPr>
          <a:xfrm>
            <a:off x="8549640" y="2679192"/>
            <a:ext cx="2880360" cy="438912"/>
          </a:xfrm>
          <a:prstGeom prst="roundRect">
            <a:avLst/>
          </a:prstGeom>
          <a:solidFill>
            <a:srgbClr val="F5F7FA"/>
          </a:solidFill>
          <a:ln w="12700">
            <a:solidFill>
              <a:srgbClr val="D8E0EA"/>
            </a:solidFill>
            <a:prstDash val="solid"/>
          </a:ln>
        </p:spPr>
      </p:sp>
      <p:sp>
        <p:nvSpPr>
          <p:cNvPr id="13" name="Text 11"/>
          <p:cNvSpPr/>
          <p:nvPr/>
        </p:nvSpPr>
        <p:spPr>
          <a:xfrm>
            <a:off x="8705088" y="2807208"/>
            <a:ext cx="2560320" cy="164592"/>
          </a:xfrm>
          <a:prstGeom prst="rect">
            <a:avLst/>
          </a:prstGeom>
          <a:noFill/>
          <a:ln/>
        </p:spPr>
        <p:txBody>
          <a:bodyPr wrap="square" lIns="0" tIns="0" rIns="0" bIns="0" rtlCol="0" anchor="ctr"/>
          <a:lstStyle/>
          <a:p>
            <a:pPr indent="0" marL="0">
              <a:buNone/>
            </a:pPr>
            <a:r>
              <a:rPr lang="en-US" sz="1280" dirty="0">
                <a:solidFill>
                  <a:srgbClr val="1F2937"/>
                </a:solidFill>
              </a:rPr>
              <a:t>2. SQL Editor → novo script</a:t>
            </a:r>
            <a:endParaRPr lang="en-US" sz="1280" dirty="0"/>
          </a:p>
        </p:txBody>
      </p:sp>
      <p:sp>
        <p:nvSpPr>
          <p:cNvPr id="14" name="Shape 12"/>
          <p:cNvSpPr/>
          <p:nvPr/>
        </p:nvSpPr>
        <p:spPr>
          <a:xfrm>
            <a:off x="8549640" y="3300984"/>
            <a:ext cx="2880360" cy="438912"/>
          </a:xfrm>
          <a:prstGeom prst="roundRect">
            <a:avLst/>
          </a:prstGeom>
          <a:solidFill>
            <a:srgbClr val="F5F7FA"/>
          </a:solidFill>
          <a:ln w="12700">
            <a:solidFill>
              <a:srgbClr val="D8E0EA"/>
            </a:solidFill>
            <a:prstDash val="solid"/>
          </a:ln>
        </p:spPr>
      </p:sp>
      <p:sp>
        <p:nvSpPr>
          <p:cNvPr id="15" name="Text 13"/>
          <p:cNvSpPr/>
          <p:nvPr/>
        </p:nvSpPr>
        <p:spPr>
          <a:xfrm>
            <a:off x="8705088" y="3429000"/>
            <a:ext cx="2560320" cy="164592"/>
          </a:xfrm>
          <a:prstGeom prst="rect">
            <a:avLst/>
          </a:prstGeom>
          <a:noFill/>
          <a:ln/>
        </p:spPr>
        <p:txBody>
          <a:bodyPr wrap="square" lIns="0" tIns="0" rIns="0" bIns="0" rtlCol="0" anchor="ctr"/>
          <a:lstStyle/>
          <a:p>
            <a:pPr indent="0" marL="0">
              <a:buNone/>
            </a:pPr>
            <a:r>
              <a:rPr lang="en-US" sz="1280" dirty="0">
                <a:solidFill>
                  <a:srgbClr val="1F2937"/>
                </a:solidFill>
              </a:rPr>
              <a:t>3. Executar CREATE TABLE</a:t>
            </a:r>
            <a:endParaRPr lang="en-US" sz="1280" dirty="0"/>
          </a:p>
        </p:txBody>
      </p:sp>
      <p:sp>
        <p:nvSpPr>
          <p:cNvPr id="16" name="Shape 14"/>
          <p:cNvSpPr/>
          <p:nvPr/>
        </p:nvSpPr>
        <p:spPr>
          <a:xfrm>
            <a:off x="8549640" y="3922776"/>
            <a:ext cx="2880360" cy="438912"/>
          </a:xfrm>
          <a:prstGeom prst="roundRect">
            <a:avLst/>
          </a:prstGeom>
          <a:solidFill>
            <a:srgbClr val="EAF1FF"/>
          </a:solidFill>
          <a:ln w="12700">
            <a:solidFill>
              <a:srgbClr val="2463EB"/>
            </a:solidFill>
            <a:prstDash val="solid"/>
          </a:ln>
        </p:spPr>
      </p:sp>
      <p:sp>
        <p:nvSpPr>
          <p:cNvPr id="17" name="Text 15"/>
          <p:cNvSpPr/>
          <p:nvPr/>
        </p:nvSpPr>
        <p:spPr>
          <a:xfrm>
            <a:off x="8705088" y="4050792"/>
            <a:ext cx="2560320" cy="164592"/>
          </a:xfrm>
          <a:prstGeom prst="rect">
            <a:avLst/>
          </a:prstGeom>
          <a:noFill/>
          <a:ln/>
        </p:spPr>
        <p:txBody>
          <a:bodyPr wrap="square" lIns="0" tIns="0" rIns="0" bIns="0" rtlCol="0" anchor="ctr"/>
          <a:lstStyle/>
          <a:p>
            <a:pPr indent="0" marL="0">
              <a:buNone/>
            </a:pPr>
            <a:r>
              <a:rPr lang="en-US" sz="1280" b="1" dirty="0">
                <a:solidFill>
                  <a:srgbClr val="2463EB"/>
                </a:solidFill>
              </a:rPr>
              <a:t>4. Testar INSERT / DELETE</a:t>
            </a:r>
            <a:endParaRPr lang="en-US" sz="1280" dirty="0"/>
          </a:p>
        </p:txBody>
      </p:sp>
      <p:sp>
        <p:nvSpPr>
          <p:cNvPr id="18" name="Shape 16"/>
          <p:cNvSpPr/>
          <p:nvPr/>
        </p:nvSpPr>
        <p:spPr>
          <a:xfrm>
            <a:off x="8549640" y="4544568"/>
            <a:ext cx="2880360" cy="438912"/>
          </a:xfrm>
          <a:prstGeom prst="roundRect">
            <a:avLst/>
          </a:prstGeom>
          <a:solidFill>
            <a:srgbClr val="F5F7FA"/>
          </a:solidFill>
          <a:ln w="12700">
            <a:solidFill>
              <a:srgbClr val="D8E0EA"/>
            </a:solidFill>
            <a:prstDash val="solid"/>
          </a:ln>
        </p:spPr>
      </p:sp>
      <p:sp>
        <p:nvSpPr>
          <p:cNvPr id="19" name="Text 17"/>
          <p:cNvSpPr/>
          <p:nvPr/>
        </p:nvSpPr>
        <p:spPr>
          <a:xfrm>
            <a:off x="8705088" y="4672584"/>
            <a:ext cx="2560320" cy="164592"/>
          </a:xfrm>
          <a:prstGeom prst="rect">
            <a:avLst/>
          </a:prstGeom>
          <a:noFill/>
          <a:ln/>
        </p:spPr>
        <p:txBody>
          <a:bodyPr wrap="square" lIns="0" tIns="0" rIns="0" bIns="0" rtlCol="0" anchor="ctr"/>
          <a:lstStyle/>
          <a:p>
            <a:pPr indent="0" marL="0">
              <a:buNone/>
            </a:pPr>
            <a:r>
              <a:rPr lang="en-US" sz="1280" dirty="0">
                <a:solidFill>
                  <a:srgbClr val="1F2937"/>
                </a:solidFill>
              </a:rPr>
              <a:t>5. Inspecionar dados e chaves</a:t>
            </a:r>
            <a:endParaRPr lang="en-US" sz="128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Prática 6 — consultar e inspecionar vínculos</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VISUALIZAR RELAÇÕES POR MEIO DE JOIN</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- 36</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Finalize usando uma consulta com JOIN para exibir aluno e curso na mesma resposta. O JOIN não altera a estrutura das tabelas; ele combina tuplas relacionadas pela condição ALUNO.curso_id = CURSO.id. Esse exercício reforça que as relações permanecem separadas para organização e integridade, mas podem ser recombinadas quando uma consulta precisa apresentar informações integradas.</a:t>
            </a:r>
            <a:endParaRPr lang="en-US" sz="2400" dirty="0"/>
          </a:p>
        </p:txBody>
      </p:sp>
      <p:sp>
        <p:nvSpPr>
          <p:cNvPr id="7" name="Shape 5"/>
          <p:cNvSpPr/>
          <p:nvPr/>
        </p:nvSpPr>
        <p:spPr>
          <a:xfrm>
            <a:off x="8275320" y="1298448"/>
            <a:ext cx="3456432" cy="4407408"/>
          </a:xfrm>
          <a:prstGeom prst="roundRect">
            <a:avLst>
              <a:gd name="adj" fmla="val 1323"/>
            </a:avLst>
          </a:prstGeom>
          <a:solidFill>
            <a:srgbClr val="FFFFFF"/>
          </a:solidFill>
          <a:ln w="12700">
            <a:solidFill>
              <a:srgbClr val="BFD0E2"/>
            </a:solidFill>
            <a:prstDash val="solid"/>
          </a:ln>
        </p:spPr>
      </p:sp>
      <p:sp>
        <p:nvSpPr>
          <p:cNvPr id="8" name="Shape 6"/>
          <p:cNvSpPr/>
          <p:nvPr/>
        </p:nvSpPr>
        <p:spPr>
          <a:xfrm>
            <a:off x="8275320" y="1298448"/>
            <a:ext cx="3456432" cy="475488"/>
          </a:xfrm>
          <a:prstGeom prst="rect">
            <a:avLst/>
          </a:prstGeom>
          <a:solidFill>
            <a:srgbClr val="0B1F33"/>
          </a:solidFill>
          <a:ln w="12700">
            <a:solidFill>
              <a:srgbClr val="0B1F33"/>
            </a:solidFill>
            <a:prstDash val="solid"/>
          </a:ln>
        </p:spPr>
      </p:sp>
      <p:sp>
        <p:nvSpPr>
          <p:cNvPr id="9" name="Text 7"/>
          <p:cNvSpPr/>
          <p:nvPr/>
        </p:nvSpPr>
        <p:spPr>
          <a:xfrm>
            <a:off x="8467344" y="1453896"/>
            <a:ext cx="3063240" cy="164592"/>
          </a:xfrm>
          <a:prstGeom prst="rect">
            <a:avLst/>
          </a:prstGeom>
          <a:noFill/>
          <a:ln/>
        </p:spPr>
        <p:txBody>
          <a:bodyPr wrap="square" lIns="0" tIns="0" rIns="0" bIns="0" rtlCol="0" anchor="ctr"/>
          <a:lstStyle/>
          <a:p>
            <a:pPr indent="0" marL="0">
              <a:buNone/>
            </a:pPr>
            <a:r>
              <a:rPr lang="en-US" sz="1350" b="1" dirty="0">
                <a:solidFill>
                  <a:srgbClr val="FFFFFF"/>
                </a:solidFill>
              </a:rPr>
              <a:t>DBeaver Community + SQLite</a:t>
            </a:r>
            <a:endParaRPr lang="en-US" sz="1350" dirty="0"/>
          </a:p>
        </p:txBody>
      </p:sp>
      <p:sp>
        <p:nvSpPr>
          <p:cNvPr id="10" name="Shape 8"/>
          <p:cNvSpPr/>
          <p:nvPr/>
        </p:nvSpPr>
        <p:spPr>
          <a:xfrm>
            <a:off x="8549640" y="2057400"/>
            <a:ext cx="2880360" cy="438912"/>
          </a:xfrm>
          <a:prstGeom prst="roundRect">
            <a:avLst/>
          </a:prstGeom>
          <a:solidFill>
            <a:srgbClr val="F5F7FA"/>
          </a:solidFill>
          <a:ln w="12700">
            <a:solidFill>
              <a:srgbClr val="D8E0EA"/>
            </a:solidFill>
            <a:prstDash val="solid"/>
          </a:ln>
        </p:spPr>
      </p:sp>
      <p:sp>
        <p:nvSpPr>
          <p:cNvPr id="11" name="Text 9"/>
          <p:cNvSpPr/>
          <p:nvPr/>
        </p:nvSpPr>
        <p:spPr>
          <a:xfrm>
            <a:off x="8705088" y="2185416"/>
            <a:ext cx="2560320" cy="164592"/>
          </a:xfrm>
          <a:prstGeom prst="rect">
            <a:avLst/>
          </a:prstGeom>
          <a:noFill/>
          <a:ln/>
        </p:spPr>
        <p:txBody>
          <a:bodyPr wrap="square" lIns="0" tIns="0" rIns="0" bIns="0" rtlCol="0" anchor="ctr"/>
          <a:lstStyle/>
          <a:p>
            <a:pPr indent="0" marL="0">
              <a:buNone/>
            </a:pPr>
            <a:r>
              <a:rPr lang="en-US" sz="1280" dirty="0">
                <a:solidFill>
                  <a:srgbClr val="1F2937"/>
                </a:solidFill>
              </a:rPr>
              <a:t>1. Nova conexão → SQLite</a:t>
            </a:r>
            <a:endParaRPr lang="en-US" sz="1280" dirty="0"/>
          </a:p>
        </p:txBody>
      </p:sp>
      <p:sp>
        <p:nvSpPr>
          <p:cNvPr id="12" name="Shape 10"/>
          <p:cNvSpPr/>
          <p:nvPr/>
        </p:nvSpPr>
        <p:spPr>
          <a:xfrm>
            <a:off x="8549640" y="2679192"/>
            <a:ext cx="2880360" cy="438912"/>
          </a:xfrm>
          <a:prstGeom prst="roundRect">
            <a:avLst/>
          </a:prstGeom>
          <a:solidFill>
            <a:srgbClr val="F5F7FA"/>
          </a:solidFill>
          <a:ln w="12700">
            <a:solidFill>
              <a:srgbClr val="D8E0EA"/>
            </a:solidFill>
            <a:prstDash val="solid"/>
          </a:ln>
        </p:spPr>
      </p:sp>
      <p:sp>
        <p:nvSpPr>
          <p:cNvPr id="13" name="Text 11"/>
          <p:cNvSpPr/>
          <p:nvPr/>
        </p:nvSpPr>
        <p:spPr>
          <a:xfrm>
            <a:off x="8705088" y="2807208"/>
            <a:ext cx="2560320" cy="164592"/>
          </a:xfrm>
          <a:prstGeom prst="rect">
            <a:avLst/>
          </a:prstGeom>
          <a:noFill/>
          <a:ln/>
        </p:spPr>
        <p:txBody>
          <a:bodyPr wrap="square" lIns="0" tIns="0" rIns="0" bIns="0" rtlCol="0" anchor="ctr"/>
          <a:lstStyle/>
          <a:p>
            <a:pPr indent="0" marL="0">
              <a:buNone/>
            </a:pPr>
            <a:r>
              <a:rPr lang="en-US" sz="1280" dirty="0">
                <a:solidFill>
                  <a:srgbClr val="1F2937"/>
                </a:solidFill>
              </a:rPr>
              <a:t>2. SQL Editor → novo script</a:t>
            </a:r>
            <a:endParaRPr lang="en-US" sz="1280" dirty="0"/>
          </a:p>
        </p:txBody>
      </p:sp>
      <p:sp>
        <p:nvSpPr>
          <p:cNvPr id="14" name="Shape 12"/>
          <p:cNvSpPr/>
          <p:nvPr/>
        </p:nvSpPr>
        <p:spPr>
          <a:xfrm>
            <a:off x="8549640" y="3300984"/>
            <a:ext cx="2880360" cy="438912"/>
          </a:xfrm>
          <a:prstGeom prst="roundRect">
            <a:avLst/>
          </a:prstGeom>
          <a:solidFill>
            <a:srgbClr val="F5F7FA"/>
          </a:solidFill>
          <a:ln w="12700">
            <a:solidFill>
              <a:srgbClr val="D8E0EA"/>
            </a:solidFill>
            <a:prstDash val="solid"/>
          </a:ln>
        </p:spPr>
      </p:sp>
      <p:sp>
        <p:nvSpPr>
          <p:cNvPr id="15" name="Text 13"/>
          <p:cNvSpPr/>
          <p:nvPr/>
        </p:nvSpPr>
        <p:spPr>
          <a:xfrm>
            <a:off x="8705088" y="3429000"/>
            <a:ext cx="2560320" cy="164592"/>
          </a:xfrm>
          <a:prstGeom prst="rect">
            <a:avLst/>
          </a:prstGeom>
          <a:noFill/>
          <a:ln/>
        </p:spPr>
        <p:txBody>
          <a:bodyPr wrap="square" lIns="0" tIns="0" rIns="0" bIns="0" rtlCol="0" anchor="ctr"/>
          <a:lstStyle/>
          <a:p>
            <a:pPr indent="0" marL="0">
              <a:buNone/>
            </a:pPr>
            <a:r>
              <a:rPr lang="en-US" sz="1280" dirty="0">
                <a:solidFill>
                  <a:srgbClr val="1F2937"/>
                </a:solidFill>
              </a:rPr>
              <a:t>3. Executar CREATE TABLE</a:t>
            </a:r>
            <a:endParaRPr lang="en-US" sz="1280" dirty="0"/>
          </a:p>
        </p:txBody>
      </p:sp>
      <p:sp>
        <p:nvSpPr>
          <p:cNvPr id="16" name="Shape 14"/>
          <p:cNvSpPr/>
          <p:nvPr/>
        </p:nvSpPr>
        <p:spPr>
          <a:xfrm>
            <a:off x="8549640" y="3922776"/>
            <a:ext cx="2880360" cy="438912"/>
          </a:xfrm>
          <a:prstGeom prst="roundRect">
            <a:avLst/>
          </a:prstGeom>
          <a:solidFill>
            <a:srgbClr val="F5F7FA"/>
          </a:solidFill>
          <a:ln w="12700">
            <a:solidFill>
              <a:srgbClr val="D8E0EA"/>
            </a:solidFill>
            <a:prstDash val="solid"/>
          </a:ln>
        </p:spPr>
      </p:sp>
      <p:sp>
        <p:nvSpPr>
          <p:cNvPr id="17" name="Text 15"/>
          <p:cNvSpPr/>
          <p:nvPr/>
        </p:nvSpPr>
        <p:spPr>
          <a:xfrm>
            <a:off x="8705088" y="4050792"/>
            <a:ext cx="2560320" cy="164592"/>
          </a:xfrm>
          <a:prstGeom prst="rect">
            <a:avLst/>
          </a:prstGeom>
          <a:noFill/>
          <a:ln/>
        </p:spPr>
        <p:txBody>
          <a:bodyPr wrap="square" lIns="0" tIns="0" rIns="0" bIns="0" rtlCol="0" anchor="ctr"/>
          <a:lstStyle/>
          <a:p>
            <a:pPr indent="0" marL="0">
              <a:buNone/>
            </a:pPr>
            <a:r>
              <a:rPr lang="en-US" sz="1280" dirty="0">
                <a:solidFill>
                  <a:srgbClr val="1F2937"/>
                </a:solidFill>
              </a:rPr>
              <a:t>4. Testar INSERT / DELETE</a:t>
            </a:r>
            <a:endParaRPr lang="en-US" sz="1280" dirty="0"/>
          </a:p>
        </p:txBody>
      </p:sp>
      <p:sp>
        <p:nvSpPr>
          <p:cNvPr id="18" name="Shape 16"/>
          <p:cNvSpPr/>
          <p:nvPr/>
        </p:nvSpPr>
        <p:spPr>
          <a:xfrm>
            <a:off x="8549640" y="4544568"/>
            <a:ext cx="2880360" cy="438912"/>
          </a:xfrm>
          <a:prstGeom prst="roundRect">
            <a:avLst/>
          </a:prstGeom>
          <a:solidFill>
            <a:srgbClr val="EAF1FF"/>
          </a:solidFill>
          <a:ln w="12700">
            <a:solidFill>
              <a:srgbClr val="2463EB"/>
            </a:solidFill>
            <a:prstDash val="solid"/>
          </a:ln>
        </p:spPr>
      </p:sp>
      <p:sp>
        <p:nvSpPr>
          <p:cNvPr id="19" name="Text 17"/>
          <p:cNvSpPr/>
          <p:nvPr/>
        </p:nvSpPr>
        <p:spPr>
          <a:xfrm>
            <a:off x="8705088" y="4672584"/>
            <a:ext cx="2560320" cy="164592"/>
          </a:xfrm>
          <a:prstGeom prst="rect">
            <a:avLst/>
          </a:prstGeom>
          <a:noFill/>
          <a:ln/>
        </p:spPr>
        <p:txBody>
          <a:bodyPr wrap="square" lIns="0" tIns="0" rIns="0" bIns="0" rtlCol="0" anchor="ctr"/>
          <a:lstStyle/>
          <a:p>
            <a:pPr indent="0" marL="0">
              <a:buNone/>
            </a:pPr>
            <a:r>
              <a:rPr lang="en-US" sz="1280" b="1" dirty="0">
                <a:solidFill>
                  <a:srgbClr val="2463EB"/>
                </a:solidFill>
              </a:rPr>
              <a:t>5. Inspecionar dados e chaves</a:t>
            </a:r>
            <a:endParaRPr lang="en-US" sz="128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Erros frequentes de modelagem</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O QUE EVITAR DESDE OS PRIMEIROS PROJETOS</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- 37</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Alguns erros comuns são usar nome como chave sem garantir unicidade; criar uma chave artificial e esquecer regras naturais de UNIQUE; armazenar tudo como texto; permitir NULL sem necessidade; duplicar dados de outra tabela em vez de usar referência; e definir CASCADE sem compreender seus efeitos. Bons esquemas tornam as regras explícitas e verificáveis.</a:t>
            </a:r>
            <a:endParaRPr lang="en-US" sz="2400" dirty="0"/>
          </a:p>
        </p:txBody>
      </p:sp>
      <p:sp>
        <p:nvSpPr>
          <p:cNvPr id="7" name="Shape 5"/>
          <p:cNvSpPr/>
          <p:nvPr/>
        </p:nvSpPr>
        <p:spPr>
          <a:xfrm>
            <a:off x="8339328" y="1298448"/>
            <a:ext cx="3246120" cy="804672"/>
          </a:xfrm>
          <a:prstGeom prst="roundRect">
            <a:avLst>
              <a:gd name="adj" fmla="val 9091"/>
            </a:avLst>
          </a:prstGeom>
          <a:solidFill>
            <a:srgbClr val="FDECEC"/>
          </a:solidFill>
          <a:ln w="12700">
            <a:solidFill>
              <a:srgbClr val="C6D2E1"/>
            </a:solidFill>
            <a:prstDash val="solid"/>
          </a:ln>
        </p:spPr>
      </p:sp>
      <p:sp>
        <p:nvSpPr>
          <p:cNvPr id="8" name="Shape 6"/>
          <p:cNvSpPr/>
          <p:nvPr/>
        </p:nvSpPr>
        <p:spPr>
          <a:xfrm>
            <a:off x="8357616" y="1316736"/>
            <a:ext cx="73152" cy="768096"/>
          </a:xfrm>
          <a:prstGeom prst="rect">
            <a:avLst/>
          </a:prstGeom>
          <a:solidFill>
            <a:srgbClr val="DC2626"/>
          </a:solidFill>
          <a:ln w="12700">
            <a:solidFill>
              <a:srgbClr val="DC2626"/>
            </a:solidFill>
            <a:prstDash val="solid"/>
          </a:ln>
        </p:spPr>
      </p:sp>
      <p:sp>
        <p:nvSpPr>
          <p:cNvPr id="9" name="Text 7"/>
          <p:cNvSpPr/>
          <p:nvPr/>
        </p:nvSpPr>
        <p:spPr>
          <a:xfrm>
            <a:off x="8540496" y="1463040"/>
            <a:ext cx="2898648" cy="256032"/>
          </a:xfrm>
          <a:prstGeom prst="rect">
            <a:avLst/>
          </a:prstGeom>
          <a:noFill/>
          <a:ln/>
        </p:spPr>
        <p:txBody>
          <a:bodyPr wrap="square" lIns="0" tIns="0" rIns="0" bIns="0" rtlCol="0" anchor="ctr"/>
          <a:lstStyle/>
          <a:p>
            <a:pPr indent="0" marL="0">
              <a:buNone/>
            </a:pPr>
            <a:r>
              <a:rPr lang="en-US" sz="1600" b="1" dirty="0">
                <a:solidFill>
                  <a:srgbClr val="0B1F33"/>
                </a:solidFill>
              </a:rPr>
              <a:t>Nome como PK</a:t>
            </a:r>
            <a:endParaRPr lang="en-US" sz="1600" dirty="0"/>
          </a:p>
        </p:txBody>
      </p:sp>
      <p:sp>
        <p:nvSpPr>
          <p:cNvPr id="10" name="Text 8"/>
          <p:cNvSpPr/>
          <p:nvPr/>
        </p:nvSpPr>
        <p:spPr>
          <a:xfrm>
            <a:off x="8540496" y="1828800"/>
            <a:ext cx="2898648" cy="146304"/>
          </a:xfrm>
          <a:prstGeom prst="rect">
            <a:avLst/>
          </a:prstGeom>
          <a:noFill/>
          <a:ln/>
        </p:spPr>
        <p:txBody>
          <a:bodyPr wrap="square" lIns="254" tIns="254" rIns="254" bIns="254" rtlCol="0" anchor="ctr"/>
          <a:lstStyle/>
          <a:p>
            <a:pPr indent="0" marL="0">
              <a:buNone/>
            </a:pPr>
            <a:r>
              <a:rPr lang="en-US" sz="1250" dirty="0">
                <a:solidFill>
                  <a:srgbClr val="1F2937"/>
                </a:solidFill>
              </a:rPr>
              <a:t>pode se repetir</a:t>
            </a:r>
            <a:endParaRPr lang="en-US" sz="1250" dirty="0"/>
          </a:p>
        </p:txBody>
      </p:sp>
      <p:sp>
        <p:nvSpPr>
          <p:cNvPr id="11" name="Shape 9"/>
          <p:cNvSpPr/>
          <p:nvPr/>
        </p:nvSpPr>
        <p:spPr>
          <a:xfrm>
            <a:off x="8339328" y="2350008"/>
            <a:ext cx="3246120" cy="804672"/>
          </a:xfrm>
          <a:prstGeom prst="roundRect">
            <a:avLst>
              <a:gd name="adj" fmla="val 9091"/>
            </a:avLst>
          </a:prstGeom>
          <a:solidFill>
            <a:srgbClr val="FFF4D6"/>
          </a:solidFill>
          <a:ln w="12700">
            <a:solidFill>
              <a:srgbClr val="C6D2E1"/>
            </a:solidFill>
            <a:prstDash val="solid"/>
          </a:ln>
        </p:spPr>
      </p:sp>
      <p:sp>
        <p:nvSpPr>
          <p:cNvPr id="12" name="Shape 10"/>
          <p:cNvSpPr/>
          <p:nvPr/>
        </p:nvSpPr>
        <p:spPr>
          <a:xfrm>
            <a:off x="8357616" y="2368296"/>
            <a:ext cx="73152" cy="768096"/>
          </a:xfrm>
          <a:prstGeom prst="rect">
            <a:avLst/>
          </a:prstGeom>
          <a:solidFill>
            <a:srgbClr val="F59E0B"/>
          </a:solidFill>
          <a:ln w="12700">
            <a:solidFill>
              <a:srgbClr val="F59E0B"/>
            </a:solidFill>
            <a:prstDash val="solid"/>
          </a:ln>
        </p:spPr>
      </p:sp>
      <p:sp>
        <p:nvSpPr>
          <p:cNvPr id="13" name="Text 11"/>
          <p:cNvSpPr/>
          <p:nvPr/>
        </p:nvSpPr>
        <p:spPr>
          <a:xfrm>
            <a:off x="8540496" y="2514600"/>
            <a:ext cx="2898648" cy="256032"/>
          </a:xfrm>
          <a:prstGeom prst="rect">
            <a:avLst/>
          </a:prstGeom>
          <a:noFill/>
          <a:ln/>
        </p:spPr>
        <p:txBody>
          <a:bodyPr wrap="square" lIns="0" tIns="0" rIns="0" bIns="0" rtlCol="0" anchor="ctr"/>
          <a:lstStyle/>
          <a:p>
            <a:pPr indent="0" marL="0">
              <a:buNone/>
            </a:pPr>
            <a:r>
              <a:rPr lang="en-US" sz="1600" b="1" dirty="0">
                <a:solidFill>
                  <a:srgbClr val="0B1F33"/>
                </a:solidFill>
              </a:rPr>
              <a:t>FK sem regra</a:t>
            </a:r>
            <a:endParaRPr lang="en-US" sz="1600" dirty="0"/>
          </a:p>
        </p:txBody>
      </p:sp>
      <p:sp>
        <p:nvSpPr>
          <p:cNvPr id="14" name="Text 12"/>
          <p:cNvSpPr/>
          <p:nvPr/>
        </p:nvSpPr>
        <p:spPr>
          <a:xfrm>
            <a:off x="8540496" y="2880360"/>
            <a:ext cx="2898648" cy="146304"/>
          </a:xfrm>
          <a:prstGeom prst="rect">
            <a:avLst/>
          </a:prstGeom>
          <a:noFill/>
          <a:ln/>
        </p:spPr>
        <p:txBody>
          <a:bodyPr wrap="square" lIns="254" tIns="254" rIns="254" bIns="254" rtlCol="0" anchor="ctr"/>
          <a:lstStyle/>
          <a:p>
            <a:pPr indent="0" marL="0">
              <a:buNone/>
            </a:pPr>
            <a:r>
              <a:rPr lang="en-US" sz="1250" dirty="0">
                <a:solidFill>
                  <a:srgbClr val="1F2937"/>
                </a:solidFill>
              </a:rPr>
              <a:t>órfãos</a:t>
            </a:r>
            <a:endParaRPr lang="en-US" sz="1250" dirty="0"/>
          </a:p>
        </p:txBody>
      </p:sp>
      <p:sp>
        <p:nvSpPr>
          <p:cNvPr id="15" name="Shape 13"/>
          <p:cNvSpPr/>
          <p:nvPr/>
        </p:nvSpPr>
        <p:spPr>
          <a:xfrm>
            <a:off x="8339328" y="3401568"/>
            <a:ext cx="3246120" cy="804672"/>
          </a:xfrm>
          <a:prstGeom prst="roundRect">
            <a:avLst>
              <a:gd name="adj" fmla="val 9091"/>
            </a:avLst>
          </a:prstGeom>
          <a:solidFill>
            <a:srgbClr val="FDECEC"/>
          </a:solidFill>
          <a:ln w="12700">
            <a:solidFill>
              <a:srgbClr val="C6D2E1"/>
            </a:solidFill>
            <a:prstDash val="solid"/>
          </a:ln>
        </p:spPr>
      </p:sp>
      <p:sp>
        <p:nvSpPr>
          <p:cNvPr id="16" name="Shape 14"/>
          <p:cNvSpPr/>
          <p:nvPr/>
        </p:nvSpPr>
        <p:spPr>
          <a:xfrm>
            <a:off x="8357616" y="3419856"/>
            <a:ext cx="73152" cy="768096"/>
          </a:xfrm>
          <a:prstGeom prst="rect">
            <a:avLst/>
          </a:prstGeom>
          <a:solidFill>
            <a:srgbClr val="DC2626"/>
          </a:solidFill>
          <a:ln w="12700">
            <a:solidFill>
              <a:srgbClr val="DC2626"/>
            </a:solidFill>
            <a:prstDash val="solid"/>
          </a:ln>
        </p:spPr>
      </p:sp>
      <p:sp>
        <p:nvSpPr>
          <p:cNvPr id="17" name="Text 15"/>
          <p:cNvSpPr/>
          <p:nvPr/>
        </p:nvSpPr>
        <p:spPr>
          <a:xfrm>
            <a:off x="8540496" y="3566160"/>
            <a:ext cx="2898648" cy="256032"/>
          </a:xfrm>
          <a:prstGeom prst="rect">
            <a:avLst/>
          </a:prstGeom>
          <a:noFill/>
          <a:ln/>
        </p:spPr>
        <p:txBody>
          <a:bodyPr wrap="square" lIns="0" tIns="0" rIns="0" bIns="0" rtlCol="0" anchor="ctr"/>
          <a:lstStyle/>
          <a:p>
            <a:pPr indent="0" marL="0">
              <a:buNone/>
            </a:pPr>
            <a:r>
              <a:rPr lang="en-US" sz="1600" b="1" dirty="0">
                <a:solidFill>
                  <a:srgbClr val="0B1F33"/>
                </a:solidFill>
              </a:rPr>
              <a:t>Tudo VARCHAR</a:t>
            </a:r>
            <a:endParaRPr lang="en-US" sz="1600" dirty="0"/>
          </a:p>
        </p:txBody>
      </p:sp>
      <p:sp>
        <p:nvSpPr>
          <p:cNvPr id="18" name="Text 16"/>
          <p:cNvSpPr/>
          <p:nvPr/>
        </p:nvSpPr>
        <p:spPr>
          <a:xfrm>
            <a:off x="8540496" y="3931920"/>
            <a:ext cx="2898648" cy="146304"/>
          </a:xfrm>
          <a:prstGeom prst="rect">
            <a:avLst/>
          </a:prstGeom>
          <a:noFill/>
          <a:ln/>
        </p:spPr>
        <p:txBody>
          <a:bodyPr wrap="square" lIns="254" tIns="254" rIns="254" bIns="254" rtlCol="0" anchor="ctr"/>
          <a:lstStyle/>
          <a:p>
            <a:pPr indent="0" marL="0">
              <a:buNone/>
            </a:pPr>
            <a:r>
              <a:rPr lang="en-US" sz="1250" dirty="0">
                <a:solidFill>
                  <a:srgbClr val="1F2937"/>
                </a:solidFill>
              </a:rPr>
              <a:t>domínios fracos</a:t>
            </a:r>
            <a:endParaRPr lang="en-US" sz="1250" dirty="0"/>
          </a:p>
        </p:txBody>
      </p:sp>
      <p:sp>
        <p:nvSpPr>
          <p:cNvPr id="19" name="Shape 17"/>
          <p:cNvSpPr/>
          <p:nvPr/>
        </p:nvSpPr>
        <p:spPr>
          <a:xfrm>
            <a:off x="8339328" y="4453128"/>
            <a:ext cx="3246120" cy="804672"/>
          </a:xfrm>
          <a:prstGeom prst="roundRect">
            <a:avLst>
              <a:gd name="adj" fmla="val 9091"/>
            </a:avLst>
          </a:prstGeom>
          <a:solidFill>
            <a:srgbClr val="FFF4D6"/>
          </a:solidFill>
          <a:ln w="12700">
            <a:solidFill>
              <a:srgbClr val="C6D2E1"/>
            </a:solidFill>
            <a:prstDash val="solid"/>
          </a:ln>
        </p:spPr>
      </p:sp>
      <p:sp>
        <p:nvSpPr>
          <p:cNvPr id="20" name="Shape 18"/>
          <p:cNvSpPr/>
          <p:nvPr/>
        </p:nvSpPr>
        <p:spPr>
          <a:xfrm>
            <a:off x="8357616" y="4471416"/>
            <a:ext cx="73152" cy="768096"/>
          </a:xfrm>
          <a:prstGeom prst="rect">
            <a:avLst/>
          </a:prstGeom>
          <a:solidFill>
            <a:srgbClr val="F59E0B"/>
          </a:solidFill>
          <a:ln w="12700">
            <a:solidFill>
              <a:srgbClr val="F59E0B"/>
            </a:solidFill>
            <a:prstDash val="solid"/>
          </a:ln>
        </p:spPr>
      </p:sp>
      <p:sp>
        <p:nvSpPr>
          <p:cNvPr id="21" name="Text 19"/>
          <p:cNvSpPr/>
          <p:nvPr/>
        </p:nvSpPr>
        <p:spPr>
          <a:xfrm>
            <a:off x="8540496" y="4617720"/>
            <a:ext cx="2898648" cy="256032"/>
          </a:xfrm>
          <a:prstGeom prst="rect">
            <a:avLst/>
          </a:prstGeom>
          <a:noFill/>
          <a:ln/>
        </p:spPr>
        <p:txBody>
          <a:bodyPr wrap="square" lIns="0" tIns="0" rIns="0" bIns="0" rtlCol="0" anchor="ctr"/>
          <a:lstStyle/>
          <a:p>
            <a:pPr indent="0" marL="0">
              <a:buNone/>
            </a:pPr>
            <a:r>
              <a:rPr lang="en-US" sz="1600" b="1" dirty="0">
                <a:solidFill>
                  <a:srgbClr val="0B1F33"/>
                </a:solidFill>
              </a:rPr>
              <a:t>NULL indiscriminado</a:t>
            </a:r>
            <a:endParaRPr lang="en-US" sz="1600" dirty="0"/>
          </a:p>
        </p:txBody>
      </p:sp>
      <p:sp>
        <p:nvSpPr>
          <p:cNvPr id="22" name="Text 20"/>
          <p:cNvSpPr/>
          <p:nvPr/>
        </p:nvSpPr>
        <p:spPr>
          <a:xfrm>
            <a:off x="8540496" y="4983480"/>
            <a:ext cx="2898648" cy="146304"/>
          </a:xfrm>
          <a:prstGeom prst="rect">
            <a:avLst/>
          </a:prstGeom>
          <a:noFill/>
          <a:ln/>
        </p:spPr>
        <p:txBody>
          <a:bodyPr wrap="square" lIns="254" tIns="254" rIns="254" bIns="254" rtlCol="0" anchor="ctr"/>
          <a:lstStyle/>
          <a:p>
            <a:pPr indent="0" marL="0">
              <a:buNone/>
            </a:pPr>
            <a:r>
              <a:rPr lang="en-US" sz="1250" dirty="0">
                <a:solidFill>
                  <a:srgbClr val="1F2937"/>
                </a:solidFill>
              </a:rPr>
              <a:t>semântica confusa</a:t>
            </a:r>
            <a:endParaRPr lang="en-US" sz="125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Exercício orientado</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MODELE UMA BIBLIOTECA ACADÊMICA</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- 38</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Projete relações para usuários, títulos, exemplares e empréstimos. Para cada relação, indique atributos, domínio aproximado, chave primária e possíveis chaves candidatas. Defina as chaves estrangeiras necessárias e pelo menos três restrições de integridade. Depois justifique como o modelo impediria empréstimo de exemplar inexistente, duplicidade indevida e registros sem identificação.</a:t>
            </a:r>
            <a:endParaRPr lang="en-US" sz="2400" dirty="0"/>
          </a:p>
        </p:txBody>
      </p:sp>
      <p:sp>
        <p:nvSpPr>
          <p:cNvPr id="7" name="Shape 5"/>
          <p:cNvSpPr/>
          <p:nvPr/>
        </p:nvSpPr>
        <p:spPr>
          <a:xfrm>
            <a:off x="8321040" y="1325880"/>
            <a:ext cx="3291840" cy="1005840"/>
          </a:xfrm>
          <a:prstGeom prst="roundRect">
            <a:avLst>
              <a:gd name="adj" fmla="val 7273"/>
            </a:avLst>
          </a:prstGeom>
          <a:solidFill>
            <a:srgbClr val="EAF1FF"/>
          </a:solidFill>
          <a:ln w="12700">
            <a:solidFill>
              <a:srgbClr val="C6D2E1"/>
            </a:solidFill>
            <a:prstDash val="solid"/>
          </a:ln>
        </p:spPr>
      </p:sp>
      <p:sp>
        <p:nvSpPr>
          <p:cNvPr id="8" name="Shape 6"/>
          <p:cNvSpPr/>
          <p:nvPr/>
        </p:nvSpPr>
        <p:spPr>
          <a:xfrm>
            <a:off x="8339328" y="1344168"/>
            <a:ext cx="73152" cy="969264"/>
          </a:xfrm>
          <a:prstGeom prst="rect">
            <a:avLst/>
          </a:prstGeom>
          <a:solidFill>
            <a:srgbClr val="2463EB"/>
          </a:solidFill>
          <a:ln w="12700">
            <a:solidFill>
              <a:srgbClr val="2463EB"/>
            </a:solidFill>
            <a:prstDash val="solid"/>
          </a:ln>
        </p:spPr>
      </p:sp>
      <p:sp>
        <p:nvSpPr>
          <p:cNvPr id="9" name="Text 7"/>
          <p:cNvSpPr/>
          <p:nvPr/>
        </p:nvSpPr>
        <p:spPr>
          <a:xfrm>
            <a:off x="8522208" y="1490472"/>
            <a:ext cx="2944368" cy="256032"/>
          </a:xfrm>
          <a:prstGeom prst="rect">
            <a:avLst/>
          </a:prstGeom>
          <a:noFill/>
          <a:ln/>
        </p:spPr>
        <p:txBody>
          <a:bodyPr wrap="square" lIns="0" tIns="0" rIns="0" bIns="0" rtlCol="0" anchor="ctr"/>
          <a:lstStyle/>
          <a:p>
            <a:pPr indent="0" marL="0">
              <a:buNone/>
            </a:pPr>
            <a:r>
              <a:rPr lang="en-US" sz="1600" b="1" dirty="0">
                <a:solidFill>
                  <a:srgbClr val="0B1F33"/>
                </a:solidFill>
              </a:rPr>
              <a:t>DESAFIO</a:t>
            </a:r>
            <a:endParaRPr lang="en-US" sz="1600" dirty="0"/>
          </a:p>
        </p:txBody>
      </p:sp>
      <p:sp>
        <p:nvSpPr>
          <p:cNvPr id="10" name="Text 8"/>
          <p:cNvSpPr/>
          <p:nvPr/>
        </p:nvSpPr>
        <p:spPr>
          <a:xfrm>
            <a:off x="8522208" y="1856232"/>
            <a:ext cx="2944368" cy="347472"/>
          </a:xfrm>
          <a:prstGeom prst="rect">
            <a:avLst/>
          </a:prstGeom>
          <a:noFill/>
          <a:ln/>
        </p:spPr>
        <p:txBody>
          <a:bodyPr wrap="square" lIns="254" tIns="254" rIns="254" bIns="254" rtlCol="0" anchor="ctr"/>
          <a:lstStyle/>
          <a:p>
            <a:pPr indent="0" marL="0">
              <a:buNone/>
            </a:pPr>
            <a:r>
              <a:rPr lang="en-US" sz="1250" dirty="0">
                <a:solidFill>
                  <a:srgbClr val="1F2937"/>
                </a:solidFill>
              </a:rPr>
              <a:t>Biblioteca acadêmica</a:t>
            </a:r>
            <a:endParaRPr lang="en-US" sz="1250" dirty="0"/>
          </a:p>
        </p:txBody>
      </p:sp>
      <p:sp>
        <p:nvSpPr>
          <p:cNvPr id="11" name="Shape 9"/>
          <p:cNvSpPr/>
          <p:nvPr/>
        </p:nvSpPr>
        <p:spPr>
          <a:xfrm>
            <a:off x="8321040" y="2606040"/>
            <a:ext cx="1508760" cy="1051560"/>
          </a:xfrm>
          <a:prstGeom prst="roundRect">
            <a:avLst>
              <a:gd name="adj" fmla="val 6957"/>
            </a:avLst>
          </a:prstGeom>
          <a:solidFill>
            <a:srgbClr val="FFFFFF"/>
          </a:solidFill>
          <a:ln w="12700">
            <a:solidFill>
              <a:srgbClr val="C6D2E1"/>
            </a:solidFill>
            <a:prstDash val="solid"/>
          </a:ln>
        </p:spPr>
      </p:sp>
      <p:sp>
        <p:nvSpPr>
          <p:cNvPr id="12" name="Shape 10"/>
          <p:cNvSpPr/>
          <p:nvPr/>
        </p:nvSpPr>
        <p:spPr>
          <a:xfrm>
            <a:off x="8339328" y="2624328"/>
            <a:ext cx="73152" cy="1014984"/>
          </a:xfrm>
          <a:prstGeom prst="rect">
            <a:avLst/>
          </a:prstGeom>
          <a:solidFill>
            <a:srgbClr val="0F766E"/>
          </a:solidFill>
          <a:ln w="12700">
            <a:solidFill>
              <a:srgbClr val="0F766E"/>
            </a:solidFill>
            <a:prstDash val="solid"/>
          </a:ln>
        </p:spPr>
      </p:sp>
      <p:sp>
        <p:nvSpPr>
          <p:cNvPr id="13" name="Text 11"/>
          <p:cNvSpPr/>
          <p:nvPr/>
        </p:nvSpPr>
        <p:spPr>
          <a:xfrm>
            <a:off x="8522208" y="2770632"/>
            <a:ext cx="1161288" cy="256032"/>
          </a:xfrm>
          <a:prstGeom prst="rect">
            <a:avLst/>
          </a:prstGeom>
          <a:noFill/>
          <a:ln/>
        </p:spPr>
        <p:txBody>
          <a:bodyPr wrap="square" lIns="0" tIns="0" rIns="0" bIns="0" rtlCol="0" anchor="ctr"/>
          <a:lstStyle/>
          <a:p>
            <a:pPr indent="0" marL="0">
              <a:buNone/>
            </a:pPr>
            <a:r>
              <a:rPr lang="en-US" sz="1600" b="1" dirty="0">
                <a:solidFill>
                  <a:srgbClr val="0B1F33"/>
                </a:solidFill>
              </a:rPr>
              <a:t>LIVRO</a:t>
            </a:r>
            <a:endParaRPr lang="en-US" sz="1600" dirty="0"/>
          </a:p>
        </p:txBody>
      </p:sp>
      <p:sp>
        <p:nvSpPr>
          <p:cNvPr id="14" name="Text 12"/>
          <p:cNvSpPr/>
          <p:nvPr/>
        </p:nvSpPr>
        <p:spPr>
          <a:xfrm>
            <a:off x="8522208" y="3136392"/>
            <a:ext cx="1161288" cy="393192"/>
          </a:xfrm>
          <a:prstGeom prst="rect">
            <a:avLst/>
          </a:prstGeom>
          <a:noFill/>
          <a:ln/>
        </p:spPr>
        <p:txBody>
          <a:bodyPr wrap="square" lIns="254" tIns="254" rIns="254" bIns="254" rtlCol="0" anchor="ctr"/>
          <a:lstStyle/>
          <a:p>
            <a:pPr indent="0" marL="0">
              <a:buNone/>
            </a:pPr>
            <a:r>
              <a:rPr lang="en-US" sz="1250" dirty="0">
                <a:solidFill>
                  <a:srgbClr val="1F2937"/>
                </a:solidFill>
              </a:rPr>
              <a:t>isbn ?</a:t>
            </a:r>
            <a:endParaRPr lang="en-US" sz="1250" dirty="0"/>
          </a:p>
          <a:p>
            <a:pPr indent="0" marL="0">
              <a:buNone/>
            </a:pPr>
            <a:r>
              <a:rPr lang="en-US" sz="1250" dirty="0">
                <a:solidFill>
                  <a:srgbClr val="1F2937"/>
                </a:solidFill>
              </a:rPr>
              <a:t>título</a:t>
            </a:r>
            <a:endParaRPr lang="en-US" sz="1250" dirty="0"/>
          </a:p>
        </p:txBody>
      </p:sp>
      <p:sp>
        <p:nvSpPr>
          <p:cNvPr id="15" name="Shape 13"/>
          <p:cNvSpPr/>
          <p:nvPr/>
        </p:nvSpPr>
        <p:spPr>
          <a:xfrm>
            <a:off x="10104120" y="2606040"/>
            <a:ext cx="1508760" cy="1051560"/>
          </a:xfrm>
          <a:prstGeom prst="roundRect">
            <a:avLst>
              <a:gd name="adj" fmla="val 6957"/>
            </a:avLst>
          </a:prstGeom>
          <a:solidFill>
            <a:srgbClr val="FFFFFF"/>
          </a:solidFill>
          <a:ln w="12700">
            <a:solidFill>
              <a:srgbClr val="C6D2E1"/>
            </a:solidFill>
            <a:prstDash val="solid"/>
          </a:ln>
        </p:spPr>
      </p:sp>
      <p:sp>
        <p:nvSpPr>
          <p:cNvPr id="16" name="Shape 14"/>
          <p:cNvSpPr/>
          <p:nvPr/>
        </p:nvSpPr>
        <p:spPr>
          <a:xfrm>
            <a:off x="10122408" y="2624328"/>
            <a:ext cx="73152" cy="1014984"/>
          </a:xfrm>
          <a:prstGeom prst="rect">
            <a:avLst/>
          </a:prstGeom>
          <a:solidFill>
            <a:srgbClr val="F59E0B"/>
          </a:solidFill>
          <a:ln w="12700">
            <a:solidFill>
              <a:srgbClr val="F59E0B"/>
            </a:solidFill>
            <a:prstDash val="solid"/>
          </a:ln>
        </p:spPr>
      </p:sp>
      <p:sp>
        <p:nvSpPr>
          <p:cNvPr id="17" name="Text 15"/>
          <p:cNvSpPr/>
          <p:nvPr/>
        </p:nvSpPr>
        <p:spPr>
          <a:xfrm>
            <a:off x="10305288" y="2770632"/>
            <a:ext cx="1161288" cy="256032"/>
          </a:xfrm>
          <a:prstGeom prst="rect">
            <a:avLst/>
          </a:prstGeom>
          <a:noFill/>
          <a:ln/>
        </p:spPr>
        <p:txBody>
          <a:bodyPr wrap="square" lIns="0" tIns="0" rIns="0" bIns="0" rtlCol="0" anchor="ctr"/>
          <a:lstStyle/>
          <a:p>
            <a:pPr indent="0" marL="0">
              <a:buNone/>
            </a:pPr>
            <a:r>
              <a:rPr lang="en-US" sz="1600" b="1" dirty="0">
                <a:solidFill>
                  <a:srgbClr val="0B1F33"/>
                </a:solidFill>
              </a:rPr>
              <a:t>EMPRÉSTIMO</a:t>
            </a:r>
            <a:endParaRPr lang="en-US" sz="1600" dirty="0"/>
          </a:p>
        </p:txBody>
      </p:sp>
      <p:sp>
        <p:nvSpPr>
          <p:cNvPr id="18" name="Text 16"/>
          <p:cNvSpPr/>
          <p:nvPr/>
        </p:nvSpPr>
        <p:spPr>
          <a:xfrm>
            <a:off x="10305288" y="3136392"/>
            <a:ext cx="1161288" cy="393192"/>
          </a:xfrm>
          <a:prstGeom prst="rect">
            <a:avLst/>
          </a:prstGeom>
          <a:noFill/>
          <a:ln/>
        </p:spPr>
        <p:txBody>
          <a:bodyPr wrap="square" lIns="254" tIns="254" rIns="254" bIns="254" rtlCol="0" anchor="ctr"/>
          <a:lstStyle/>
          <a:p>
            <a:pPr indent="0" marL="0">
              <a:buNone/>
            </a:pPr>
            <a:r>
              <a:rPr lang="en-US" sz="1250" dirty="0">
                <a:solidFill>
                  <a:srgbClr val="1F2937"/>
                </a:solidFill>
              </a:rPr>
              <a:t>? PK</a:t>
            </a:r>
            <a:endParaRPr lang="en-US" sz="1250" dirty="0"/>
          </a:p>
          <a:p>
            <a:pPr indent="0" marL="0">
              <a:buNone/>
            </a:pPr>
            <a:r>
              <a:rPr lang="en-US" sz="1250" dirty="0">
                <a:solidFill>
                  <a:srgbClr val="1F2937"/>
                </a:solidFill>
              </a:rPr>
              <a:t>? FK</a:t>
            </a:r>
            <a:endParaRPr lang="en-US" sz="1250" dirty="0"/>
          </a:p>
        </p:txBody>
      </p:sp>
      <p:sp>
        <p:nvSpPr>
          <p:cNvPr id="19" name="Shape 17"/>
          <p:cNvSpPr/>
          <p:nvPr/>
        </p:nvSpPr>
        <p:spPr>
          <a:xfrm>
            <a:off x="8321040" y="4023360"/>
            <a:ext cx="1508760" cy="1051560"/>
          </a:xfrm>
          <a:prstGeom prst="roundRect">
            <a:avLst>
              <a:gd name="adj" fmla="val 6957"/>
            </a:avLst>
          </a:prstGeom>
          <a:solidFill>
            <a:srgbClr val="FFFFFF"/>
          </a:solidFill>
          <a:ln w="12700">
            <a:solidFill>
              <a:srgbClr val="C6D2E1"/>
            </a:solidFill>
            <a:prstDash val="solid"/>
          </a:ln>
        </p:spPr>
      </p:sp>
      <p:sp>
        <p:nvSpPr>
          <p:cNvPr id="20" name="Shape 18"/>
          <p:cNvSpPr/>
          <p:nvPr/>
        </p:nvSpPr>
        <p:spPr>
          <a:xfrm>
            <a:off x="8339328" y="4041648"/>
            <a:ext cx="73152" cy="1014984"/>
          </a:xfrm>
          <a:prstGeom prst="rect">
            <a:avLst/>
          </a:prstGeom>
          <a:solidFill>
            <a:srgbClr val="2463EB"/>
          </a:solidFill>
          <a:ln w="12700">
            <a:solidFill>
              <a:srgbClr val="2463EB"/>
            </a:solidFill>
            <a:prstDash val="solid"/>
          </a:ln>
        </p:spPr>
      </p:sp>
      <p:sp>
        <p:nvSpPr>
          <p:cNvPr id="21" name="Text 19"/>
          <p:cNvSpPr/>
          <p:nvPr/>
        </p:nvSpPr>
        <p:spPr>
          <a:xfrm>
            <a:off x="8522208" y="4187952"/>
            <a:ext cx="1161288" cy="256032"/>
          </a:xfrm>
          <a:prstGeom prst="rect">
            <a:avLst/>
          </a:prstGeom>
          <a:noFill/>
          <a:ln/>
        </p:spPr>
        <p:txBody>
          <a:bodyPr wrap="square" lIns="0" tIns="0" rIns="0" bIns="0" rtlCol="0" anchor="ctr"/>
          <a:lstStyle/>
          <a:p>
            <a:pPr indent="0" marL="0">
              <a:buNone/>
            </a:pPr>
            <a:r>
              <a:rPr lang="en-US" sz="1600" b="1" dirty="0">
                <a:solidFill>
                  <a:srgbClr val="0B1F33"/>
                </a:solidFill>
              </a:rPr>
              <a:t>USUÁRIO</a:t>
            </a:r>
            <a:endParaRPr lang="en-US" sz="1600" dirty="0"/>
          </a:p>
        </p:txBody>
      </p:sp>
      <p:sp>
        <p:nvSpPr>
          <p:cNvPr id="22" name="Text 20"/>
          <p:cNvSpPr/>
          <p:nvPr/>
        </p:nvSpPr>
        <p:spPr>
          <a:xfrm>
            <a:off x="8522208" y="4553712"/>
            <a:ext cx="1161288" cy="393192"/>
          </a:xfrm>
          <a:prstGeom prst="rect">
            <a:avLst/>
          </a:prstGeom>
          <a:noFill/>
          <a:ln/>
        </p:spPr>
        <p:txBody>
          <a:bodyPr wrap="square" lIns="254" tIns="254" rIns="254" bIns="254" rtlCol="0" anchor="ctr"/>
          <a:lstStyle/>
          <a:p>
            <a:pPr indent="0" marL="0">
              <a:buNone/>
            </a:pPr>
            <a:r>
              <a:rPr lang="en-US" sz="1250" dirty="0">
                <a:solidFill>
                  <a:srgbClr val="1F2937"/>
                </a:solidFill>
              </a:rPr>
              <a:t>id</a:t>
            </a:r>
            <a:endParaRPr lang="en-US" sz="1250" dirty="0"/>
          </a:p>
          <a:p>
            <a:pPr indent="0" marL="0">
              <a:buNone/>
            </a:pPr>
            <a:r>
              <a:rPr lang="en-US" sz="1250" dirty="0">
                <a:solidFill>
                  <a:srgbClr val="1F2937"/>
                </a:solidFill>
              </a:rPr>
              <a:t>nome</a:t>
            </a:r>
            <a:endParaRPr lang="en-US" sz="1250" dirty="0"/>
          </a:p>
        </p:txBody>
      </p:sp>
      <p:sp>
        <p:nvSpPr>
          <p:cNvPr id="23" name="Shape 21"/>
          <p:cNvSpPr/>
          <p:nvPr/>
        </p:nvSpPr>
        <p:spPr>
          <a:xfrm>
            <a:off x="10104120" y="4023360"/>
            <a:ext cx="1508760" cy="1051560"/>
          </a:xfrm>
          <a:prstGeom prst="roundRect">
            <a:avLst>
              <a:gd name="adj" fmla="val 6957"/>
            </a:avLst>
          </a:prstGeom>
          <a:solidFill>
            <a:srgbClr val="FFFFFF"/>
          </a:solidFill>
          <a:ln w="12700">
            <a:solidFill>
              <a:srgbClr val="C6D2E1"/>
            </a:solidFill>
            <a:prstDash val="solid"/>
          </a:ln>
        </p:spPr>
      </p:sp>
      <p:sp>
        <p:nvSpPr>
          <p:cNvPr id="24" name="Shape 22"/>
          <p:cNvSpPr/>
          <p:nvPr/>
        </p:nvSpPr>
        <p:spPr>
          <a:xfrm>
            <a:off x="10122408" y="4041648"/>
            <a:ext cx="73152" cy="1014984"/>
          </a:xfrm>
          <a:prstGeom prst="rect">
            <a:avLst/>
          </a:prstGeom>
          <a:solidFill>
            <a:srgbClr val="0B1F33"/>
          </a:solidFill>
          <a:ln w="12700">
            <a:solidFill>
              <a:srgbClr val="0B1F33"/>
            </a:solidFill>
            <a:prstDash val="solid"/>
          </a:ln>
        </p:spPr>
      </p:sp>
      <p:sp>
        <p:nvSpPr>
          <p:cNvPr id="25" name="Text 23"/>
          <p:cNvSpPr/>
          <p:nvPr/>
        </p:nvSpPr>
        <p:spPr>
          <a:xfrm>
            <a:off x="10305288" y="4187952"/>
            <a:ext cx="1161288" cy="256032"/>
          </a:xfrm>
          <a:prstGeom prst="rect">
            <a:avLst/>
          </a:prstGeom>
          <a:noFill/>
          <a:ln/>
        </p:spPr>
        <p:txBody>
          <a:bodyPr wrap="square" lIns="0" tIns="0" rIns="0" bIns="0" rtlCol="0" anchor="ctr"/>
          <a:lstStyle/>
          <a:p>
            <a:pPr indent="0" marL="0">
              <a:buNone/>
            </a:pPr>
            <a:r>
              <a:rPr lang="en-US" sz="1600" b="1" dirty="0">
                <a:solidFill>
                  <a:srgbClr val="0B1F33"/>
                </a:solidFill>
              </a:rPr>
              <a:t>EXEMPLAR</a:t>
            </a:r>
            <a:endParaRPr lang="en-US" sz="1600" dirty="0"/>
          </a:p>
        </p:txBody>
      </p:sp>
      <p:sp>
        <p:nvSpPr>
          <p:cNvPr id="26" name="Text 24"/>
          <p:cNvSpPr/>
          <p:nvPr/>
        </p:nvSpPr>
        <p:spPr>
          <a:xfrm>
            <a:off x="10305288" y="4553712"/>
            <a:ext cx="1161288" cy="393192"/>
          </a:xfrm>
          <a:prstGeom prst="rect">
            <a:avLst/>
          </a:prstGeom>
          <a:noFill/>
          <a:ln/>
        </p:spPr>
        <p:txBody>
          <a:bodyPr wrap="square" lIns="254" tIns="254" rIns="254" bIns="254" rtlCol="0" anchor="ctr"/>
          <a:lstStyle/>
          <a:p>
            <a:pPr indent="0" marL="0">
              <a:buNone/>
            </a:pPr>
            <a:r>
              <a:rPr lang="en-US" sz="1250" dirty="0">
                <a:solidFill>
                  <a:srgbClr val="1F2937"/>
                </a:solidFill>
              </a:rPr>
              <a:t>id</a:t>
            </a:r>
            <a:endParaRPr lang="en-US" sz="1250" dirty="0"/>
          </a:p>
          <a:p>
            <a:pPr indent="0" marL="0">
              <a:buNone/>
            </a:pPr>
            <a:r>
              <a:rPr lang="en-US" sz="1250" dirty="0">
                <a:solidFill>
                  <a:srgbClr val="1F2937"/>
                </a:solidFill>
              </a:rPr>
              <a:t>livro_id</a:t>
            </a:r>
            <a:endParaRPr lang="en-US" sz="125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Questões para revisão</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CHEQUE SUA COMPREENSÃO ANTES DE AVANÇAR</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- 39</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Explique a diferença entre atributo e domínio; entre esquema e instância; entre superchave e chave candidata; e entre chave primária e chave estrangeira. Depois responda: por que PRIMARY KEY contribui para a integridade de entidade? Como uma FOREIGN KEY protege a integridade referencial? Em quais casos CHECK é melhor do que confiar apenas no tipo da coluna?</a:t>
            </a:r>
            <a:endParaRPr lang="en-US" sz="2400" dirty="0"/>
          </a:p>
        </p:txBody>
      </p:sp>
      <p:sp>
        <p:nvSpPr>
          <p:cNvPr id="7" name="Shape 5"/>
          <p:cNvSpPr/>
          <p:nvPr/>
        </p:nvSpPr>
        <p:spPr>
          <a:xfrm>
            <a:off x="8321040" y="1280160"/>
            <a:ext cx="1508760" cy="841248"/>
          </a:xfrm>
          <a:prstGeom prst="roundRect">
            <a:avLst/>
          </a:prstGeom>
          <a:solidFill>
            <a:srgbClr val="FFFFFF"/>
          </a:solidFill>
          <a:ln w="12700">
            <a:solidFill>
              <a:srgbClr val="2463EB"/>
            </a:solidFill>
            <a:prstDash val="solid"/>
          </a:ln>
        </p:spPr>
      </p:sp>
      <p:sp>
        <p:nvSpPr>
          <p:cNvPr id="8" name="Text 6"/>
          <p:cNvSpPr/>
          <p:nvPr/>
        </p:nvSpPr>
        <p:spPr>
          <a:xfrm>
            <a:off x="8394192" y="1563624"/>
            <a:ext cx="1362456" cy="201168"/>
          </a:xfrm>
          <a:prstGeom prst="rect">
            <a:avLst/>
          </a:prstGeom>
          <a:noFill/>
          <a:ln/>
        </p:spPr>
        <p:txBody>
          <a:bodyPr wrap="square" lIns="0" tIns="0" rIns="0" bIns="0" rtlCol="0" anchor="ctr"/>
          <a:lstStyle/>
          <a:p>
            <a:pPr algn="ctr" indent="0" marL="0">
              <a:buNone/>
            </a:pPr>
            <a:r>
              <a:rPr lang="en-US" sz="1400" b="1" dirty="0">
                <a:solidFill>
                  <a:srgbClr val="2463EB"/>
                </a:solidFill>
              </a:rPr>
              <a:t>Relação</a:t>
            </a:r>
            <a:endParaRPr lang="en-US" sz="1400" dirty="0"/>
          </a:p>
        </p:txBody>
      </p:sp>
      <p:sp>
        <p:nvSpPr>
          <p:cNvPr id="9" name="Shape 7"/>
          <p:cNvSpPr/>
          <p:nvPr/>
        </p:nvSpPr>
        <p:spPr>
          <a:xfrm>
            <a:off x="10058400" y="1280160"/>
            <a:ext cx="1508760" cy="841248"/>
          </a:xfrm>
          <a:prstGeom prst="roundRect">
            <a:avLst/>
          </a:prstGeom>
          <a:solidFill>
            <a:srgbClr val="FFFFFF"/>
          </a:solidFill>
          <a:ln w="12700">
            <a:solidFill>
              <a:srgbClr val="0F766E"/>
            </a:solidFill>
            <a:prstDash val="solid"/>
          </a:ln>
        </p:spPr>
      </p:sp>
      <p:sp>
        <p:nvSpPr>
          <p:cNvPr id="10" name="Text 8"/>
          <p:cNvSpPr/>
          <p:nvPr/>
        </p:nvSpPr>
        <p:spPr>
          <a:xfrm>
            <a:off x="10131552" y="1563624"/>
            <a:ext cx="1362456" cy="201168"/>
          </a:xfrm>
          <a:prstGeom prst="rect">
            <a:avLst/>
          </a:prstGeom>
          <a:noFill/>
          <a:ln/>
        </p:spPr>
        <p:txBody>
          <a:bodyPr wrap="square" lIns="0" tIns="0" rIns="0" bIns="0" rtlCol="0" anchor="ctr"/>
          <a:lstStyle/>
          <a:p>
            <a:pPr algn="ctr" indent="0" marL="0">
              <a:buNone/>
            </a:pPr>
            <a:r>
              <a:rPr lang="en-US" sz="1400" b="1" dirty="0">
                <a:solidFill>
                  <a:srgbClr val="0F766E"/>
                </a:solidFill>
              </a:rPr>
              <a:t>Atributo</a:t>
            </a:r>
            <a:endParaRPr lang="en-US" sz="1400" dirty="0"/>
          </a:p>
        </p:txBody>
      </p:sp>
      <p:sp>
        <p:nvSpPr>
          <p:cNvPr id="11" name="Shape 9"/>
          <p:cNvSpPr/>
          <p:nvPr/>
        </p:nvSpPr>
        <p:spPr>
          <a:xfrm>
            <a:off x="8321040" y="2926080"/>
            <a:ext cx="1508760" cy="841248"/>
          </a:xfrm>
          <a:prstGeom prst="roundRect">
            <a:avLst/>
          </a:prstGeom>
          <a:solidFill>
            <a:srgbClr val="FFFFFF"/>
          </a:solidFill>
          <a:ln w="12700">
            <a:solidFill>
              <a:srgbClr val="F59E0B"/>
            </a:solidFill>
            <a:prstDash val="solid"/>
          </a:ln>
        </p:spPr>
      </p:sp>
      <p:sp>
        <p:nvSpPr>
          <p:cNvPr id="12" name="Text 10"/>
          <p:cNvSpPr/>
          <p:nvPr/>
        </p:nvSpPr>
        <p:spPr>
          <a:xfrm>
            <a:off x="8394192" y="3209544"/>
            <a:ext cx="1362456" cy="201168"/>
          </a:xfrm>
          <a:prstGeom prst="rect">
            <a:avLst/>
          </a:prstGeom>
          <a:noFill/>
          <a:ln/>
        </p:spPr>
        <p:txBody>
          <a:bodyPr wrap="square" lIns="0" tIns="0" rIns="0" bIns="0" rtlCol="0" anchor="ctr"/>
          <a:lstStyle/>
          <a:p>
            <a:pPr algn="ctr" indent="0" marL="0">
              <a:buNone/>
            </a:pPr>
            <a:r>
              <a:rPr lang="en-US" sz="1400" b="1" dirty="0">
                <a:solidFill>
                  <a:srgbClr val="F59E0B"/>
                </a:solidFill>
              </a:rPr>
              <a:t>Tupla</a:t>
            </a:r>
            <a:endParaRPr lang="en-US" sz="1400" dirty="0"/>
          </a:p>
        </p:txBody>
      </p:sp>
      <p:sp>
        <p:nvSpPr>
          <p:cNvPr id="13" name="Shape 11"/>
          <p:cNvSpPr/>
          <p:nvPr/>
        </p:nvSpPr>
        <p:spPr>
          <a:xfrm>
            <a:off x="10058400" y="2926080"/>
            <a:ext cx="1508760" cy="841248"/>
          </a:xfrm>
          <a:prstGeom prst="roundRect">
            <a:avLst/>
          </a:prstGeom>
          <a:solidFill>
            <a:srgbClr val="FFFFFF"/>
          </a:solidFill>
          <a:ln w="12700">
            <a:solidFill>
              <a:srgbClr val="0B1F33"/>
            </a:solidFill>
            <a:prstDash val="solid"/>
          </a:ln>
        </p:spPr>
      </p:sp>
      <p:sp>
        <p:nvSpPr>
          <p:cNvPr id="14" name="Text 12"/>
          <p:cNvSpPr/>
          <p:nvPr/>
        </p:nvSpPr>
        <p:spPr>
          <a:xfrm>
            <a:off x="10131552" y="3209544"/>
            <a:ext cx="1362456" cy="201168"/>
          </a:xfrm>
          <a:prstGeom prst="rect">
            <a:avLst/>
          </a:prstGeom>
          <a:noFill/>
          <a:ln/>
        </p:spPr>
        <p:txBody>
          <a:bodyPr wrap="square" lIns="0" tIns="0" rIns="0" bIns="0" rtlCol="0" anchor="ctr"/>
          <a:lstStyle/>
          <a:p>
            <a:pPr algn="ctr" indent="0" marL="0">
              <a:buNone/>
            </a:pPr>
            <a:r>
              <a:rPr lang="en-US" sz="1400" b="1" dirty="0">
                <a:solidFill>
                  <a:srgbClr val="0B1F33"/>
                </a:solidFill>
              </a:rPr>
              <a:t>Domínio</a:t>
            </a:r>
            <a:endParaRPr lang="en-US" sz="1400" dirty="0"/>
          </a:p>
        </p:txBody>
      </p:sp>
      <p:sp>
        <p:nvSpPr>
          <p:cNvPr id="15" name="Shape 13"/>
          <p:cNvSpPr/>
          <p:nvPr/>
        </p:nvSpPr>
        <p:spPr>
          <a:xfrm>
            <a:off x="8321040" y="4572000"/>
            <a:ext cx="1508760" cy="841248"/>
          </a:xfrm>
          <a:prstGeom prst="roundRect">
            <a:avLst/>
          </a:prstGeom>
          <a:solidFill>
            <a:srgbClr val="FFFFFF"/>
          </a:solidFill>
          <a:ln w="12700">
            <a:solidFill>
              <a:srgbClr val="0891B2"/>
            </a:solidFill>
            <a:prstDash val="solid"/>
          </a:ln>
        </p:spPr>
      </p:sp>
      <p:sp>
        <p:nvSpPr>
          <p:cNvPr id="16" name="Text 14"/>
          <p:cNvSpPr/>
          <p:nvPr/>
        </p:nvSpPr>
        <p:spPr>
          <a:xfrm>
            <a:off x="8394192" y="4855464"/>
            <a:ext cx="1362456" cy="201168"/>
          </a:xfrm>
          <a:prstGeom prst="rect">
            <a:avLst/>
          </a:prstGeom>
          <a:noFill/>
          <a:ln/>
        </p:spPr>
        <p:txBody>
          <a:bodyPr wrap="square" lIns="0" tIns="0" rIns="0" bIns="0" rtlCol="0" anchor="ctr"/>
          <a:lstStyle/>
          <a:p>
            <a:pPr algn="ctr" indent="0" marL="0">
              <a:buNone/>
            </a:pPr>
            <a:r>
              <a:rPr lang="en-US" sz="1400" b="1" dirty="0">
                <a:solidFill>
                  <a:srgbClr val="0891B2"/>
                </a:solidFill>
              </a:rPr>
              <a:t>Chaves</a:t>
            </a:r>
            <a:endParaRPr lang="en-US" sz="1400" dirty="0"/>
          </a:p>
        </p:txBody>
      </p:sp>
      <p:sp>
        <p:nvSpPr>
          <p:cNvPr id="17" name="Shape 15"/>
          <p:cNvSpPr/>
          <p:nvPr/>
        </p:nvSpPr>
        <p:spPr>
          <a:xfrm>
            <a:off x="10058400" y="4572000"/>
            <a:ext cx="1508760" cy="841248"/>
          </a:xfrm>
          <a:prstGeom prst="roundRect">
            <a:avLst/>
          </a:prstGeom>
          <a:solidFill>
            <a:srgbClr val="FFFFFF"/>
          </a:solidFill>
          <a:ln w="12700">
            <a:solidFill>
              <a:srgbClr val="15803D"/>
            </a:solidFill>
            <a:prstDash val="solid"/>
          </a:ln>
        </p:spPr>
      </p:sp>
      <p:sp>
        <p:nvSpPr>
          <p:cNvPr id="18" name="Text 16"/>
          <p:cNvSpPr/>
          <p:nvPr/>
        </p:nvSpPr>
        <p:spPr>
          <a:xfrm>
            <a:off x="10131552" y="4855464"/>
            <a:ext cx="1362456" cy="201168"/>
          </a:xfrm>
          <a:prstGeom prst="rect">
            <a:avLst/>
          </a:prstGeom>
          <a:noFill/>
          <a:ln/>
        </p:spPr>
        <p:txBody>
          <a:bodyPr wrap="square" lIns="0" tIns="0" rIns="0" bIns="0" rtlCol="0" anchor="ctr"/>
          <a:lstStyle/>
          <a:p>
            <a:pPr algn="ctr" indent="0" marL="0">
              <a:buNone/>
            </a:pPr>
            <a:r>
              <a:rPr lang="en-US" sz="1400" b="1" dirty="0">
                <a:solidFill>
                  <a:srgbClr val="15803D"/>
                </a:solidFill>
              </a:rPr>
              <a:t>Integridade</a:t>
            </a:r>
            <a:endParaRPr lang="en-US" sz="14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Síntese da aula</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OS SEIS CONCEITOS QUE ESTRUTURAM O TEMA</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- 40</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Relações organizam conjuntos de tuplas; atributos descrevem propriedades; domínios limitam valores válidos; chaves identificam e conectam registros; e restrições de integridade impedem estados inconsistentes. Quando esses elementos são bem definidos, o banco se torna mais confiável, compreensível e fácil de consultar, evoluir e integrar com diferentes aplicações.</a:t>
            </a:r>
            <a:endParaRPr lang="en-US" sz="2400" dirty="0"/>
          </a:p>
        </p:txBody>
      </p:sp>
      <p:sp>
        <p:nvSpPr>
          <p:cNvPr id="7" name="Shape 5"/>
          <p:cNvSpPr/>
          <p:nvPr/>
        </p:nvSpPr>
        <p:spPr>
          <a:xfrm>
            <a:off x="8321040" y="1280160"/>
            <a:ext cx="1508760" cy="841248"/>
          </a:xfrm>
          <a:prstGeom prst="roundRect">
            <a:avLst/>
          </a:prstGeom>
          <a:solidFill>
            <a:srgbClr val="FFFFFF"/>
          </a:solidFill>
          <a:ln w="12700">
            <a:solidFill>
              <a:srgbClr val="2463EB"/>
            </a:solidFill>
            <a:prstDash val="solid"/>
          </a:ln>
        </p:spPr>
      </p:sp>
      <p:sp>
        <p:nvSpPr>
          <p:cNvPr id="8" name="Text 6"/>
          <p:cNvSpPr/>
          <p:nvPr/>
        </p:nvSpPr>
        <p:spPr>
          <a:xfrm>
            <a:off x="8394192" y="1563624"/>
            <a:ext cx="1362456" cy="201168"/>
          </a:xfrm>
          <a:prstGeom prst="rect">
            <a:avLst/>
          </a:prstGeom>
          <a:noFill/>
          <a:ln/>
        </p:spPr>
        <p:txBody>
          <a:bodyPr wrap="square" lIns="0" tIns="0" rIns="0" bIns="0" rtlCol="0" anchor="ctr"/>
          <a:lstStyle/>
          <a:p>
            <a:pPr algn="ctr" indent="0" marL="0">
              <a:buNone/>
            </a:pPr>
            <a:r>
              <a:rPr lang="en-US" sz="1400" b="1" dirty="0">
                <a:solidFill>
                  <a:srgbClr val="2463EB"/>
                </a:solidFill>
              </a:rPr>
              <a:t>Relação</a:t>
            </a:r>
            <a:endParaRPr lang="en-US" sz="1400" dirty="0"/>
          </a:p>
        </p:txBody>
      </p:sp>
      <p:sp>
        <p:nvSpPr>
          <p:cNvPr id="9" name="Shape 7"/>
          <p:cNvSpPr/>
          <p:nvPr/>
        </p:nvSpPr>
        <p:spPr>
          <a:xfrm>
            <a:off x="10058400" y="1280160"/>
            <a:ext cx="1508760" cy="841248"/>
          </a:xfrm>
          <a:prstGeom prst="roundRect">
            <a:avLst/>
          </a:prstGeom>
          <a:solidFill>
            <a:srgbClr val="FFFFFF"/>
          </a:solidFill>
          <a:ln w="12700">
            <a:solidFill>
              <a:srgbClr val="0F766E"/>
            </a:solidFill>
            <a:prstDash val="solid"/>
          </a:ln>
        </p:spPr>
      </p:sp>
      <p:sp>
        <p:nvSpPr>
          <p:cNvPr id="10" name="Text 8"/>
          <p:cNvSpPr/>
          <p:nvPr/>
        </p:nvSpPr>
        <p:spPr>
          <a:xfrm>
            <a:off x="10131552" y="1563624"/>
            <a:ext cx="1362456" cy="201168"/>
          </a:xfrm>
          <a:prstGeom prst="rect">
            <a:avLst/>
          </a:prstGeom>
          <a:noFill/>
          <a:ln/>
        </p:spPr>
        <p:txBody>
          <a:bodyPr wrap="square" lIns="0" tIns="0" rIns="0" bIns="0" rtlCol="0" anchor="ctr"/>
          <a:lstStyle/>
          <a:p>
            <a:pPr algn="ctr" indent="0" marL="0">
              <a:buNone/>
            </a:pPr>
            <a:r>
              <a:rPr lang="en-US" sz="1400" b="1" dirty="0">
                <a:solidFill>
                  <a:srgbClr val="0F766E"/>
                </a:solidFill>
              </a:rPr>
              <a:t>Atributo</a:t>
            </a:r>
            <a:endParaRPr lang="en-US" sz="1400" dirty="0"/>
          </a:p>
        </p:txBody>
      </p:sp>
      <p:sp>
        <p:nvSpPr>
          <p:cNvPr id="11" name="Shape 9"/>
          <p:cNvSpPr/>
          <p:nvPr/>
        </p:nvSpPr>
        <p:spPr>
          <a:xfrm>
            <a:off x="8321040" y="2926080"/>
            <a:ext cx="1508760" cy="841248"/>
          </a:xfrm>
          <a:prstGeom prst="roundRect">
            <a:avLst/>
          </a:prstGeom>
          <a:solidFill>
            <a:srgbClr val="FFFFFF"/>
          </a:solidFill>
          <a:ln w="12700">
            <a:solidFill>
              <a:srgbClr val="F59E0B"/>
            </a:solidFill>
            <a:prstDash val="solid"/>
          </a:ln>
        </p:spPr>
      </p:sp>
      <p:sp>
        <p:nvSpPr>
          <p:cNvPr id="12" name="Text 10"/>
          <p:cNvSpPr/>
          <p:nvPr/>
        </p:nvSpPr>
        <p:spPr>
          <a:xfrm>
            <a:off x="8394192" y="3209544"/>
            <a:ext cx="1362456" cy="201168"/>
          </a:xfrm>
          <a:prstGeom prst="rect">
            <a:avLst/>
          </a:prstGeom>
          <a:noFill/>
          <a:ln/>
        </p:spPr>
        <p:txBody>
          <a:bodyPr wrap="square" lIns="0" tIns="0" rIns="0" bIns="0" rtlCol="0" anchor="ctr"/>
          <a:lstStyle/>
          <a:p>
            <a:pPr algn="ctr" indent="0" marL="0">
              <a:buNone/>
            </a:pPr>
            <a:r>
              <a:rPr lang="en-US" sz="1400" b="1" dirty="0">
                <a:solidFill>
                  <a:srgbClr val="F59E0B"/>
                </a:solidFill>
              </a:rPr>
              <a:t>Tupla</a:t>
            </a:r>
            <a:endParaRPr lang="en-US" sz="1400" dirty="0"/>
          </a:p>
        </p:txBody>
      </p:sp>
      <p:sp>
        <p:nvSpPr>
          <p:cNvPr id="13" name="Shape 11"/>
          <p:cNvSpPr/>
          <p:nvPr/>
        </p:nvSpPr>
        <p:spPr>
          <a:xfrm>
            <a:off x="10058400" y="2926080"/>
            <a:ext cx="1508760" cy="841248"/>
          </a:xfrm>
          <a:prstGeom prst="roundRect">
            <a:avLst/>
          </a:prstGeom>
          <a:solidFill>
            <a:srgbClr val="FFFFFF"/>
          </a:solidFill>
          <a:ln w="12700">
            <a:solidFill>
              <a:srgbClr val="0B1F33"/>
            </a:solidFill>
            <a:prstDash val="solid"/>
          </a:ln>
        </p:spPr>
      </p:sp>
      <p:sp>
        <p:nvSpPr>
          <p:cNvPr id="14" name="Text 12"/>
          <p:cNvSpPr/>
          <p:nvPr/>
        </p:nvSpPr>
        <p:spPr>
          <a:xfrm>
            <a:off x="10131552" y="3209544"/>
            <a:ext cx="1362456" cy="201168"/>
          </a:xfrm>
          <a:prstGeom prst="rect">
            <a:avLst/>
          </a:prstGeom>
          <a:noFill/>
          <a:ln/>
        </p:spPr>
        <p:txBody>
          <a:bodyPr wrap="square" lIns="0" tIns="0" rIns="0" bIns="0" rtlCol="0" anchor="ctr"/>
          <a:lstStyle/>
          <a:p>
            <a:pPr algn="ctr" indent="0" marL="0">
              <a:buNone/>
            </a:pPr>
            <a:r>
              <a:rPr lang="en-US" sz="1400" b="1" dirty="0">
                <a:solidFill>
                  <a:srgbClr val="0B1F33"/>
                </a:solidFill>
              </a:rPr>
              <a:t>Domínio</a:t>
            </a:r>
            <a:endParaRPr lang="en-US" sz="1400" dirty="0"/>
          </a:p>
        </p:txBody>
      </p:sp>
      <p:sp>
        <p:nvSpPr>
          <p:cNvPr id="15" name="Shape 13"/>
          <p:cNvSpPr/>
          <p:nvPr/>
        </p:nvSpPr>
        <p:spPr>
          <a:xfrm>
            <a:off x="8321040" y="4572000"/>
            <a:ext cx="1508760" cy="841248"/>
          </a:xfrm>
          <a:prstGeom prst="roundRect">
            <a:avLst/>
          </a:prstGeom>
          <a:solidFill>
            <a:srgbClr val="FFFFFF"/>
          </a:solidFill>
          <a:ln w="12700">
            <a:solidFill>
              <a:srgbClr val="0891B2"/>
            </a:solidFill>
            <a:prstDash val="solid"/>
          </a:ln>
        </p:spPr>
      </p:sp>
      <p:sp>
        <p:nvSpPr>
          <p:cNvPr id="16" name="Text 14"/>
          <p:cNvSpPr/>
          <p:nvPr/>
        </p:nvSpPr>
        <p:spPr>
          <a:xfrm>
            <a:off x="8394192" y="4855464"/>
            <a:ext cx="1362456" cy="201168"/>
          </a:xfrm>
          <a:prstGeom prst="rect">
            <a:avLst/>
          </a:prstGeom>
          <a:noFill/>
          <a:ln/>
        </p:spPr>
        <p:txBody>
          <a:bodyPr wrap="square" lIns="0" tIns="0" rIns="0" bIns="0" rtlCol="0" anchor="ctr"/>
          <a:lstStyle/>
          <a:p>
            <a:pPr algn="ctr" indent="0" marL="0">
              <a:buNone/>
            </a:pPr>
            <a:r>
              <a:rPr lang="en-US" sz="1400" b="1" dirty="0">
                <a:solidFill>
                  <a:srgbClr val="0891B2"/>
                </a:solidFill>
              </a:rPr>
              <a:t>Chaves</a:t>
            </a:r>
            <a:endParaRPr lang="en-US" sz="1400" dirty="0"/>
          </a:p>
        </p:txBody>
      </p:sp>
      <p:sp>
        <p:nvSpPr>
          <p:cNvPr id="17" name="Shape 15"/>
          <p:cNvSpPr/>
          <p:nvPr/>
        </p:nvSpPr>
        <p:spPr>
          <a:xfrm>
            <a:off x="10058400" y="4572000"/>
            <a:ext cx="1508760" cy="841248"/>
          </a:xfrm>
          <a:prstGeom prst="roundRect">
            <a:avLst/>
          </a:prstGeom>
          <a:solidFill>
            <a:srgbClr val="FFFFFF"/>
          </a:solidFill>
          <a:ln w="12700">
            <a:solidFill>
              <a:srgbClr val="15803D"/>
            </a:solidFill>
            <a:prstDash val="solid"/>
          </a:ln>
        </p:spPr>
      </p:sp>
      <p:sp>
        <p:nvSpPr>
          <p:cNvPr id="18" name="Text 16"/>
          <p:cNvSpPr/>
          <p:nvPr/>
        </p:nvSpPr>
        <p:spPr>
          <a:xfrm>
            <a:off x="10131552" y="4855464"/>
            <a:ext cx="1362456" cy="201168"/>
          </a:xfrm>
          <a:prstGeom prst="rect">
            <a:avLst/>
          </a:prstGeom>
          <a:noFill/>
          <a:ln/>
        </p:spPr>
        <p:txBody>
          <a:bodyPr wrap="square" lIns="0" tIns="0" rIns="0" bIns="0" rtlCol="0" anchor="ctr"/>
          <a:lstStyle/>
          <a:p>
            <a:pPr algn="ctr" indent="0" marL="0">
              <a:buNone/>
            </a:pPr>
            <a:r>
              <a:rPr lang="en-US" sz="1400" b="1" dirty="0">
                <a:solidFill>
                  <a:srgbClr val="15803D"/>
                </a:solidFill>
              </a:rPr>
              <a:t>Integridade</a:t>
            </a:r>
            <a:endParaRPr lang="en-US" sz="140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Recursos para continuar estudando</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DOCUMENTAÇÃO E VÍDEO DE APOIO</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- 41</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Para aprofundar, consulte a documentação de constraints do PostgreSQL 18, a documentação do DBeaver Community e o guia de chaves estrangeiras do SQLite. Como demonstração prática adicional, o canal oficial do DBeaver possui um vídeo sobre CREATE TABLE. Esses recursos permitem revisar conceitos e repetir os exercícios em um ambiente gratuito de aprendizagem.</a:t>
            </a:r>
            <a:endParaRPr lang="en-US" sz="2400" dirty="0"/>
          </a:p>
        </p:txBody>
      </p:sp>
      <p:sp>
        <p:nvSpPr>
          <p:cNvPr id="7" name="Shape 5"/>
          <p:cNvSpPr/>
          <p:nvPr/>
        </p:nvSpPr>
        <p:spPr>
          <a:xfrm>
            <a:off x="8302752" y="1325880"/>
            <a:ext cx="3383280" cy="1051560"/>
          </a:xfrm>
          <a:prstGeom prst="roundRect">
            <a:avLst>
              <a:gd name="adj" fmla="val 6957"/>
            </a:avLst>
          </a:prstGeom>
          <a:solidFill>
            <a:srgbClr val="EAF1FF"/>
          </a:solidFill>
          <a:ln w="12700">
            <a:solidFill>
              <a:srgbClr val="C6D2E1"/>
            </a:solidFill>
            <a:prstDash val="solid"/>
          </a:ln>
        </p:spPr>
      </p:sp>
      <p:sp>
        <p:nvSpPr>
          <p:cNvPr id="8" name="Shape 6"/>
          <p:cNvSpPr/>
          <p:nvPr/>
        </p:nvSpPr>
        <p:spPr>
          <a:xfrm>
            <a:off x="8321040" y="1344168"/>
            <a:ext cx="73152" cy="1014984"/>
          </a:xfrm>
          <a:prstGeom prst="rect">
            <a:avLst/>
          </a:prstGeom>
          <a:solidFill>
            <a:srgbClr val="2463EB"/>
          </a:solidFill>
          <a:ln w="12700">
            <a:solidFill>
              <a:srgbClr val="2463EB"/>
            </a:solidFill>
            <a:prstDash val="solid"/>
          </a:ln>
        </p:spPr>
      </p:sp>
      <p:sp>
        <p:nvSpPr>
          <p:cNvPr id="9" name="Text 7"/>
          <p:cNvSpPr/>
          <p:nvPr/>
        </p:nvSpPr>
        <p:spPr>
          <a:xfrm>
            <a:off x="8503920" y="1490472"/>
            <a:ext cx="3035808" cy="256032"/>
          </a:xfrm>
          <a:prstGeom prst="rect">
            <a:avLst/>
          </a:prstGeom>
          <a:noFill/>
          <a:ln/>
        </p:spPr>
        <p:txBody>
          <a:bodyPr wrap="square" lIns="0" tIns="0" rIns="0" bIns="0" rtlCol="0" anchor="ctr"/>
          <a:lstStyle/>
          <a:p>
            <a:pPr indent="0" marL="0">
              <a:buNone/>
            </a:pPr>
            <a:r>
              <a:rPr lang="en-US" sz="1600" b="1" dirty="0">
                <a:solidFill>
                  <a:srgbClr val="0B1F33"/>
                </a:solidFill>
              </a:rPr>
              <a:t>POSTGRESQL 18</a:t>
            </a:r>
            <a:endParaRPr lang="en-US" sz="1600" dirty="0"/>
          </a:p>
        </p:txBody>
      </p:sp>
      <p:sp>
        <p:nvSpPr>
          <p:cNvPr id="10" name="Text 8"/>
          <p:cNvSpPr/>
          <p:nvPr/>
        </p:nvSpPr>
        <p:spPr>
          <a:xfrm>
            <a:off x="8503920" y="1856232"/>
            <a:ext cx="3035808" cy="393192"/>
          </a:xfrm>
          <a:prstGeom prst="rect">
            <a:avLst/>
          </a:prstGeom>
          <a:noFill/>
          <a:ln/>
        </p:spPr>
        <p:txBody>
          <a:bodyPr wrap="square" lIns="254" tIns="254" rIns="254" bIns="254" rtlCol="0" anchor="ctr"/>
          <a:lstStyle/>
          <a:p>
            <a:pPr indent="0" marL="0">
              <a:buNone/>
            </a:pPr>
            <a:r>
              <a:rPr lang="en-US" sz="1250" dirty="0">
                <a:solidFill>
                  <a:srgbClr val="1F2937"/>
                </a:solidFill>
              </a:rPr>
              <a:t>Constraints</a:t>
            </a:r>
            <a:endParaRPr lang="en-US" sz="1250" dirty="0"/>
          </a:p>
        </p:txBody>
      </p:sp>
      <p:sp>
        <p:nvSpPr>
          <p:cNvPr id="11" name="Shape 9"/>
          <p:cNvSpPr/>
          <p:nvPr/>
        </p:nvSpPr>
        <p:spPr>
          <a:xfrm>
            <a:off x="8302752" y="2670048"/>
            <a:ext cx="3383280" cy="1051560"/>
          </a:xfrm>
          <a:prstGeom prst="roundRect">
            <a:avLst>
              <a:gd name="adj" fmla="val 6957"/>
            </a:avLst>
          </a:prstGeom>
          <a:solidFill>
            <a:srgbClr val="E7F7F5"/>
          </a:solidFill>
          <a:ln w="12700">
            <a:solidFill>
              <a:srgbClr val="C6D2E1"/>
            </a:solidFill>
            <a:prstDash val="solid"/>
          </a:ln>
        </p:spPr>
      </p:sp>
      <p:sp>
        <p:nvSpPr>
          <p:cNvPr id="12" name="Shape 10"/>
          <p:cNvSpPr/>
          <p:nvPr/>
        </p:nvSpPr>
        <p:spPr>
          <a:xfrm>
            <a:off x="8321040" y="2688336"/>
            <a:ext cx="73152" cy="1014984"/>
          </a:xfrm>
          <a:prstGeom prst="rect">
            <a:avLst/>
          </a:prstGeom>
          <a:solidFill>
            <a:srgbClr val="0F766E"/>
          </a:solidFill>
          <a:ln w="12700">
            <a:solidFill>
              <a:srgbClr val="0F766E"/>
            </a:solidFill>
            <a:prstDash val="solid"/>
          </a:ln>
        </p:spPr>
      </p:sp>
      <p:sp>
        <p:nvSpPr>
          <p:cNvPr id="13" name="Text 11"/>
          <p:cNvSpPr/>
          <p:nvPr/>
        </p:nvSpPr>
        <p:spPr>
          <a:xfrm>
            <a:off x="8503920" y="2834640"/>
            <a:ext cx="3035808" cy="256032"/>
          </a:xfrm>
          <a:prstGeom prst="rect">
            <a:avLst/>
          </a:prstGeom>
          <a:noFill/>
          <a:ln/>
        </p:spPr>
        <p:txBody>
          <a:bodyPr wrap="square" lIns="0" tIns="0" rIns="0" bIns="0" rtlCol="0" anchor="ctr"/>
          <a:lstStyle/>
          <a:p>
            <a:pPr indent="0" marL="0">
              <a:buNone/>
            </a:pPr>
            <a:r>
              <a:rPr lang="en-US" sz="1600" b="1" dirty="0">
                <a:solidFill>
                  <a:srgbClr val="0B1F33"/>
                </a:solidFill>
              </a:rPr>
              <a:t>DBEAVER COMMUNITY</a:t>
            </a:r>
            <a:endParaRPr lang="en-US" sz="1600" dirty="0"/>
          </a:p>
        </p:txBody>
      </p:sp>
      <p:sp>
        <p:nvSpPr>
          <p:cNvPr id="14" name="Text 12"/>
          <p:cNvSpPr/>
          <p:nvPr/>
        </p:nvSpPr>
        <p:spPr>
          <a:xfrm>
            <a:off x="8503920" y="3200400"/>
            <a:ext cx="3035808" cy="393192"/>
          </a:xfrm>
          <a:prstGeom prst="rect">
            <a:avLst/>
          </a:prstGeom>
          <a:noFill/>
          <a:ln/>
        </p:spPr>
        <p:txBody>
          <a:bodyPr wrap="square" lIns="254" tIns="254" rIns="254" bIns="254" rtlCol="0" anchor="ctr"/>
          <a:lstStyle/>
          <a:p>
            <a:pPr indent="0" marL="0">
              <a:buNone/>
            </a:pPr>
            <a:r>
              <a:rPr lang="en-US" sz="1250" dirty="0">
                <a:solidFill>
                  <a:srgbClr val="1F2937"/>
                </a:solidFill>
              </a:rPr>
              <a:t>Ferramenta gratuita</a:t>
            </a:r>
            <a:endParaRPr lang="en-US" sz="1250" dirty="0"/>
          </a:p>
        </p:txBody>
      </p:sp>
      <p:sp>
        <p:nvSpPr>
          <p:cNvPr id="15" name="Shape 13"/>
          <p:cNvSpPr/>
          <p:nvPr/>
        </p:nvSpPr>
        <p:spPr>
          <a:xfrm>
            <a:off x="8302752" y="4023360"/>
            <a:ext cx="3383280" cy="1051560"/>
          </a:xfrm>
          <a:prstGeom prst="roundRect">
            <a:avLst>
              <a:gd name="adj" fmla="val 6957"/>
            </a:avLst>
          </a:prstGeom>
          <a:solidFill>
            <a:srgbClr val="FFF4D6"/>
          </a:solidFill>
          <a:ln w="12700">
            <a:solidFill>
              <a:srgbClr val="C6D2E1"/>
            </a:solidFill>
            <a:prstDash val="solid"/>
          </a:ln>
        </p:spPr>
      </p:sp>
      <p:sp>
        <p:nvSpPr>
          <p:cNvPr id="16" name="Shape 14"/>
          <p:cNvSpPr/>
          <p:nvPr/>
        </p:nvSpPr>
        <p:spPr>
          <a:xfrm>
            <a:off x="8321040" y="4041648"/>
            <a:ext cx="73152" cy="1014984"/>
          </a:xfrm>
          <a:prstGeom prst="rect">
            <a:avLst/>
          </a:prstGeom>
          <a:solidFill>
            <a:srgbClr val="F59E0B"/>
          </a:solidFill>
          <a:ln w="12700">
            <a:solidFill>
              <a:srgbClr val="F59E0B"/>
            </a:solidFill>
            <a:prstDash val="solid"/>
          </a:ln>
        </p:spPr>
      </p:sp>
      <p:sp>
        <p:nvSpPr>
          <p:cNvPr id="17" name="Text 15"/>
          <p:cNvSpPr/>
          <p:nvPr/>
        </p:nvSpPr>
        <p:spPr>
          <a:xfrm>
            <a:off x="8503920" y="4187952"/>
            <a:ext cx="3035808" cy="256032"/>
          </a:xfrm>
          <a:prstGeom prst="rect">
            <a:avLst/>
          </a:prstGeom>
          <a:noFill/>
          <a:ln/>
        </p:spPr>
        <p:txBody>
          <a:bodyPr wrap="square" lIns="0" tIns="0" rIns="0" bIns="0" rtlCol="0" anchor="ctr"/>
          <a:lstStyle/>
          <a:p>
            <a:pPr indent="0" marL="0">
              <a:buNone/>
            </a:pPr>
            <a:r>
              <a:rPr lang="en-US" sz="1600" b="1" dirty="0">
                <a:solidFill>
                  <a:srgbClr val="0B1F33"/>
                </a:solidFill>
              </a:rPr>
              <a:t>VÍDEO</a:t>
            </a:r>
            <a:endParaRPr lang="en-US" sz="1600" dirty="0"/>
          </a:p>
        </p:txBody>
      </p:sp>
      <p:sp>
        <p:nvSpPr>
          <p:cNvPr id="18" name="Text 16"/>
          <p:cNvSpPr/>
          <p:nvPr/>
        </p:nvSpPr>
        <p:spPr>
          <a:xfrm>
            <a:off x="8503920" y="4553712"/>
            <a:ext cx="3035808" cy="393192"/>
          </a:xfrm>
          <a:prstGeom prst="rect">
            <a:avLst/>
          </a:prstGeom>
          <a:noFill/>
          <a:ln/>
        </p:spPr>
        <p:txBody>
          <a:bodyPr wrap="square" lIns="254" tIns="254" rIns="254" bIns="254" rtlCol="0" anchor="ctr"/>
          <a:lstStyle/>
          <a:p>
            <a:pPr indent="0" marL="0">
              <a:buNone/>
            </a:pPr>
            <a:r>
              <a:rPr lang="en-US" sz="1250" dirty="0">
                <a:solidFill>
                  <a:srgbClr val="1F2937"/>
                </a:solidFill>
              </a:rPr>
              <a:t>CREATE TABLE — DBeaver</a:t>
            </a:r>
            <a:endParaRPr lang="en-US" sz="1250" dirty="0"/>
          </a:p>
        </p:txBody>
      </p:sp>
      <p:sp>
        <p:nvSpPr>
          <p:cNvPr id="19" name="Text 17">
            <a:hlinkClick r:id="rId1" tooltip=""/>
          </p:cNvPr>
          <p:cNvSpPr/>
          <p:nvPr/>
        </p:nvSpPr>
        <p:spPr>
          <a:xfrm>
            <a:off x="658368" y="5925312"/>
            <a:ext cx="4480560" cy="228600"/>
          </a:xfrm>
          <a:prstGeom prst="rect">
            <a:avLst/>
          </a:prstGeom>
          <a:noFill/>
          <a:ln/>
        </p:spPr>
        <p:txBody>
          <a:bodyPr wrap="square" lIns="0" tIns="0" rIns="0" bIns="0" rtlCol="0" anchor="ctr"/>
          <a:lstStyle/>
          <a:p>
            <a:pPr indent="0" marL="0">
              <a:buNone/>
            </a:pPr>
            <a:r>
              <a:rPr lang="en-US" sz="1250" b="1" u="sng" dirty="0">
                <a:solidFill>
                  <a:srgbClr val="2463EB"/>
                </a:solidFill>
                <a:hlinkClick r:id="rId1" invalidUrl="" action="" tgtFrame="" tooltip="" history="1" highlightClick="0" endSnd="0">
                  <a:extLst>
                    <a:ext uri="{A12FA001-AC4F-418D-AE19-62706E023703}">
                      <ahyp:hlinkClr xmlns:ahyp="http://schemas.microsoft.com/office/drawing/2018/hyperlinkcolor" val="tx"/>
                    </a:ext>
                  </a:extLst>
                </a:hlinkClick>
              </a:rPr>
              <a:t>Vídeo: Learn SQL — CREATE TABLE (DBeaver)</a:t>
            </a:r>
            <a:endParaRPr lang="en-US" sz="125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292608"/>
            <a:ext cx="10927080" cy="438912"/>
          </a:xfrm>
          <a:prstGeom prst="rect">
            <a:avLst/>
          </a:prstGeom>
          <a:noFill/>
          <a:ln/>
        </p:spPr>
        <p:txBody>
          <a:bodyPr wrap="square" lIns="0" tIns="0" rIns="0" bIns="0" rtlCol="0" anchor="ctr"/>
          <a:lstStyle/>
          <a:p>
            <a:pPr indent="0" marL="0">
              <a:buNone/>
            </a:pPr>
            <a:r>
              <a:rPr lang="en-US" sz="3200" b="1" dirty="0">
                <a:solidFill>
                  <a:srgbClr val="0B1F33"/>
                </a:solidFill>
                <a:latin typeface="Aptos Display" pitchFamily="34" charset="0"/>
                <a:ea typeface="Aptos Display" pitchFamily="34" charset="-122"/>
                <a:cs typeface="Aptos Display" pitchFamily="34" charset="-120"/>
              </a:rPr>
              <a:t>Referências</a:t>
            </a:r>
            <a:endParaRPr lang="en-US" sz="3200" dirty="0"/>
          </a:p>
        </p:txBody>
      </p:sp>
      <p:sp>
        <p:nvSpPr>
          <p:cNvPr id="3" name="Text 1"/>
          <p:cNvSpPr/>
          <p:nvPr/>
        </p:nvSpPr>
        <p:spPr>
          <a:xfrm>
            <a:off x="594360" y="850392"/>
            <a:ext cx="7543800" cy="219456"/>
          </a:xfrm>
          <a:prstGeom prst="rect">
            <a:avLst/>
          </a:prstGeom>
          <a:noFill/>
          <a:ln/>
        </p:spPr>
        <p:txBody>
          <a:bodyPr wrap="square" lIns="0" tIns="0" rIns="0" bIns="0" rtlCol="0" anchor="ctr"/>
          <a:lstStyle/>
          <a:p>
            <a:pPr indent="0" marL="0">
              <a:buNone/>
            </a:pPr>
            <a:r>
              <a:rPr lang="en-US" sz="1300" b="1" spc="130" kern="0" dirty="0">
                <a:solidFill>
                  <a:srgbClr val="2463EB"/>
                </a:solidFill>
                <a:latin typeface="Aptos" pitchFamily="34" charset="0"/>
                <a:ea typeface="Aptos" pitchFamily="34" charset="-122"/>
                <a:cs typeface="Aptos" pitchFamily="34" charset="-120"/>
              </a:rPr>
              <a:t>MATERIAIS UTILIZADOS NA ELABORAÇÃO DA AULA</a:t>
            </a:r>
            <a:endParaRPr lang="en-US" sz="1300" dirty="0"/>
          </a:p>
        </p:txBody>
      </p:sp>
      <p:sp>
        <p:nvSpPr>
          <p:cNvPr id="4" name="Shape 2"/>
          <p:cNvSpPr/>
          <p:nvPr/>
        </p:nvSpPr>
        <p:spPr>
          <a:xfrm>
            <a:off x="594360" y="1078992"/>
            <a:ext cx="7543800" cy="0"/>
          </a:xfrm>
          <a:prstGeom prst="line">
            <a:avLst/>
          </a:prstGeom>
          <a:noFill/>
          <a:ln w="12700">
            <a:solidFill>
              <a:srgbClr val="D7E0EC"/>
            </a:solidFill>
            <a:prstDash val="solid"/>
          </a:ln>
        </p:spPr>
      </p:sp>
      <p:sp>
        <p:nvSpPr>
          <p:cNvPr id="5" name="Text 3"/>
          <p:cNvSpPr/>
          <p:nvPr/>
        </p:nvSpPr>
        <p:spPr>
          <a:xfrm>
            <a:off x="411480" y="6624828"/>
            <a:ext cx="10789920" cy="118872"/>
          </a:xfrm>
          <a:prstGeom prst="rect">
            <a:avLst/>
          </a:prstGeom>
          <a:noFill/>
          <a:ln/>
        </p:spPr>
        <p:txBody>
          <a:bodyPr wrap="square" lIns="0" tIns="0" rIns="0" bIns="0" rtlCol="0" anchor="ctr"/>
          <a:lstStyle/>
          <a:p>
            <a:pPr indent="0" marL="0">
              <a:buNone/>
            </a:pPr>
            <a:r>
              <a:rPr lang="en-US" sz="950" dirty="0">
                <a:solidFill>
                  <a:srgbClr val="FFFFFF"/>
                </a:solidFill>
                <a:latin typeface="Aptos" pitchFamily="34" charset="0"/>
                <a:ea typeface="Aptos" pitchFamily="34" charset="-122"/>
                <a:cs typeface="Aptos" pitchFamily="34" charset="-120"/>
              </a:rPr>
              <a:t>Professor Msc Elionai Magalhães – Banco de Dados - 42</a:t>
            </a:r>
            <a:endParaRPr lang="en-US" sz="950" dirty="0"/>
          </a:p>
        </p:txBody>
      </p:sp>
      <p:sp>
        <p:nvSpPr>
          <p:cNvPr id="6" name="Text 4"/>
          <p:cNvSpPr txBox="1"/>
          <p:nvPr/>
        </p:nvSpPr>
        <p:spPr>
          <a:xfrm>
            <a:off x="621792" y="1261872"/>
            <a:ext cx="7406640" cy="5010912"/>
          </a:xfrm>
          <a:prstGeom prst="rect">
            <a:avLst/>
          </a:prstGeom>
          <a:noFill/>
          <a:ln/>
        </p:spPr>
        <p:txBody>
          <a:bodyPr wrap="square" lIns="254" tIns="254" rIns="254" bIns="254" rtlCol="0" anchor="t"/>
          <a:lstStyle/>
          <a:p>
            <a:pPr algn="just" indent="0" marL="0">
              <a:lnSpc>
                <a:spcPct val="150000"/>
              </a:lnSpc>
              <a:buNone/>
            </a:pPr>
            <a:r>
              <a:rPr lang="en-US" sz="2400" dirty="0">
                <a:solidFill>
                  <a:srgbClr val="1F2937"/>
                </a:solidFill>
                <a:latin typeface="Aptos" pitchFamily="34" charset="0"/>
                <a:ea typeface="Aptos" pitchFamily="34" charset="-122"/>
                <a:cs typeface="Aptos" pitchFamily="34" charset="-120"/>
              </a:rPr>
              <a:t>A aula foi construída a partir do material fornecido pelo docente, da apostila Banco de Dados I de Simone M. V. Romano e de referências atuais e históricas: Codd (1970), documentação PostgreSQL 18, DBeaver Community e SQLite. Para aprofundamento bibliográfico, também é indicada a obra Banco de dados, de Pichetti, Vida e Cortes, citada no material anexado.</a:t>
            </a:r>
            <a:endParaRPr lang="en-US" sz="2400" dirty="0"/>
          </a:p>
        </p:txBody>
      </p:sp>
      <p:sp>
        <p:nvSpPr>
          <p:cNvPr id="7" name="Shape 5"/>
          <p:cNvSpPr/>
          <p:nvPr/>
        </p:nvSpPr>
        <p:spPr>
          <a:xfrm>
            <a:off x="8275320" y="1298448"/>
            <a:ext cx="3456432" cy="4480560"/>
          </a:xfrm>
          <a:prstGeom prst="roundRect">
            <a:avLst>
              <a:gd name="adj" fmla="val 1587"/>
            </a:avLst>
          </a:prstGeom>
          <a:solidFill>
            <a:srgbClr val="FFFFFF"/>
          </a:solidFill>
          <a:ln w="12700">
            <a:solidFill>
              <a:srgbClr val="C8D4E3"/>
            </a:solidFill>
            <a:prstDash val="solid"/>
          </a:ln>
        </p:spPr>
      </p:sp>
      <p:sp>
        <p:nvSpPr>
          <p:cNvPr id="8" name="Text 6"/>
          <p:cNvSpPr/>
          <p:nvPr/>
        </p:nvSpPr>
        <p:spPr>
          <a:xfrm>
            <a:off x="8522208" y="1627632"/>
            <a:ext cx="2926080" cy="228600"/>
          </a:xfrm>
          <a:prstGeom prst="rect">
            <a:avLst/>
          </a:prstGeom>
          <a:noFill/>
          <a:ln/>
        </p:spPr>
        <p:txBody>
          <a:bodyPr wrap="square" lIns="0" tIns="0" rIns="0" bIns="0" rtlCol="0" anchor="ctr"/>
          <a:lstStyle/>
          <a:p>
            <a:pPr algn="ctr" indent="0" marL="0">
              <a:buNone/>
            </a:pPr>
            <a:r>
              <a:rPr lang="en-US" sz="1700" b="1" dirty="0">
                <a:solidFill>
                  <a:srgbClr val="0B1F33"/>
                </a:solidFill>
              </a:rPr>
              <a:t>BASES UTILIZADAS</a:t>
            </a:r>
            <a:endParaRPr lang="en-US" sz="1700" dirty="0"/>
          </a:p>
        </p:txBody>
      </p:sp>
      <p:sp>
        <p:nvSpPr>
          <p:cNvPr id="9" name="Text 7"/>
          <p:cNvSpPr/>
          <p:nvPr/>
        </p:nvSpPr>
        <p:spPr>
          <a:xfrm>
            <a:off x="8641080" y="2240280"/>
            <a:ext cx="2697480" cy="2697480"/>
          </a:xfrm>
          <a:prstGeom prst="rect">
            <a:avLst/>
          </a:prstGeom>
          <a:noFill/>
          <a:ln/>
        </p:spPr>
        <p:txBody>
          <a:bodyPr wrap="square" lIns="508" tIns="508" rIns="508" bIns="508" rtlCol="0" anchor="ctr"/>
          <a:lstStyle/>
          <a:p>
            <a:pPr algn="ctr" indent="0" marL="0">
              <a:lnSpc>
                <a:spcPct val="125000"/>
              </a:lnSpc>
              <a:buNone/>
            </a:pPr>
            <a:r>
              <a:rPr lang="en-US" sz="1500" dirty="0">
                <a:solidFill>
                  <a:srgbClr val="1F2937"/>
                </a:solidFill>
              </a:rPr>
              <a:t>Material anexado</a:t>
            </a:r>
            <a:endParaRPr lang="en-US" sz="1500" dirty="0"/>
          </a:p>
          <a:p>
            <a:pPr algn="ctr" indent="0" marL="0">
              <a:lnSpc>
                <a:spcPct val="125000"/>
              </a:lnSpc>
              <a:buNone/>
            </a:pPr>
            <a:r>
              <a:rPr lang="en-US" sz="1500" dirty="0">
                <a:solidFill>
                  <a:srgbClr val="1F2937"/>
                </a:solidFill>
              </a:rPr>
              <a:t>Apostila Banco de Dados I</a:t>
            </a:r>
            <a:endParaRPr lang="en-US" sz="1500" dirty="0"/>
          </a:p>
          <a:p>
            <a:pPr algn="ctr" indent="0" marL="0">
              <a:lnSpc>
                <a:spcPct val="125000"/>
              </a:lnSpc>
              <a:buNone/>
            </a:pPr>
            <a:r>
              <a:rPr lang="en-US" sz="1500" dirty="0">
                <a:solidFill>
                  <a:srgbClr val="1F2937"/>
                </a:solidFill>
              </a:rPr>
              <a:t>Codd (1970)</a:t>
            </a:r>
            <a:endParaRPr lang="en-US" sz="1500" dirty="0"/>
          </a:p>
          <a:p>
            <a:pPr algn="ctr" indent="0" marL="0">
              <a:lnSpc>
                <a:spcPct val="125000"/>
              </a:lnSpc>
              <a:buNone/>
            </a:pPr>
            <a:r>
              <a:rPr lang="en-US" sz="1500" dirty="0">
                <a:solidFill>
                  <a:srgbClr val="1F2937"/>
                </a:solidFill>
              </a:rPr>
              <a:t>PostgreSQL 18</a:t>
            </a:r>
            <a:endParaRPr lang="en-US" sz="1500" dirty="0"/>
          </a:p>
          <a:p>
            <a:pPr algn="ctr" indent="0" marL="0">
              <a:lnSpc>
                <a:spcPct val="125000"/>
              </a:lnSpc>
              <a:buNone/>
            </a:pPr>
            <a:r>
              <a:rPr lang="en-US" sz="1500" dirty="0">
                <a:solidFill>
                  <a:srgbClr val="1F2937"/>
                </a:solidFill>
              </a:rPr>
              <a:t>DBeaver Community</a:t>
            </a:r>
            <a:endParaRPr lang="en-US" sz="1500" dirty="0"/>
          </a:p>
          <a:p>
            <a:pPr algn="ctr" indent="0" marL="0">
              <a:lnSpc>
                <a:spcPct val="125000"/>
              </a:lnSpc>
              <a:buNone/>
            </a:pPr>
            <a:r>
              <a:rPr lang="en-US" sz="1500" dirty="0">
                <a:solidFill>
                  <a:srgbClr val="1F2937"/>
                </a:solidFill>
              </a:rPr>
              <a:t>SQLite Docs</a:t>
            </a:r>
            <a:endParaRPr lang="en-US" sz="1500" dirty="0"/>
          </a:p>
        </p:txBody>
      </p:sp>
      <p:sp>
        <p:nvSpPr>
          <p:cNvPr id="10" name="Shape 8"/>
          <p:cNvSpPr/>
          <p:nvPr/>
        </p:nvSpPr>
        <p:spPr>
          <a:xfrm>
            <a:off x="8732520" y="5230368"/>
            <a:ext cx="2514600" cy="0"/>
          </a:xfrm>
          <a:prstGeom prst="line">
            <a:avLst/>
          </a:prstGeom>
          <a:noFill/>
          <a:ln w="12700">
            <a:solidFill>
              <a:srgbClr val="2463EB"/>
            </a:solidFill>
            <a:prstDash val="solid"/>
          </a:ln>
        </p:spPr>
      </p:sp>
      <p:sp>
        <p:nvSpPr>
          <p:cNvPr id="11" name="Text 9"/>
          <p:cNvSpPr/>
          <p:nvPr/>
        </p:nvSpPr>
        <p:spPr>
          <a:xfrm>
            <a:off x="8641080" y="5394960"/>
            <a:ext cx="2697480" cy="228600"/>
          </a:xfrm>
          <a:prstGeom prst="rect">
            <a:avLst/>
          </a:prstGeom>
          <a:noFill/>
          <a:ln/>
        </p:spPr>
        <p:txBody>
          <a:bodyPr wrap="square" lIns="0" tIns="0" rIns="0" bIns="0" rtlCol="0" anchor="ctr"/>
          <a:lstStyle/>
          <a:p>
            <a:pPr algn="ctr" indent="0" marL="0">
              <a:buNone/>
            </a:pPr>
            <a:r>
              <a:rPr lang="en-US" sz="1250" dirty="0">
                <a:solidFill>
                  <a:srgbClr val="6B7280"/>
                </a:solidFill>
              </a:rPr>
              <a:t>consultadas em ago./2026</a:t>
            </a:r>
            <a:endParaRPr lang="en-US" sz="1250" dirty="0"/>
          </a:p>
        </p:txBody>
      </p:sp>
      <p:sp>
        <p:nvSpPr>
          <p:cNvPr id="12" name="Text 10">
            <a:hlinkClick r:id="rId1" tooltip=""/>
          </p:cNvPr>
          <p:cNvSpPr/>
          <p:nvPr/>
        </p:nvSpPr>
        <p:spPr>
          <a:xfrm>
            <a:off x="658368" y="5422392"/>
            <a:ext cx="2788920" cy="201168"/>
          </a:xfrm>
          <a:prstGeom prst="rect">
            <a:avLst/>
          </a:prstGeom>
          <a:noFill/>
          <a:ln/>
        </p:spPr>
        <p:txBody>
          <a:bodyPr wrap="square" lIns="0" tIns="0" rIns="0" bIns="0" rtlCol="0" anchor="ctr"/>
          <a:lstStyle/>
          <a:p>
            <a:pPr indent="0" marL="0">
              <a:buNone/>
            </a:pPr>
            <a:r>
              <a:rPr lang="en-US" sz="1150" u="sng" dirty="0">
                <a:solidFill>
                  <a:srgbClr val="2463EB"/>
                </a:solidFill>
                <a:hlinkClick r:id="rId1" invalidUrl="" action="" tgtFrame="" tooltip="" history="1" highlightClick="0" endSnd="0">
                  <a:extLst>
                    <a:ext uri="{A12FA001-AC4F-418D-AE19-62706E023703}">
                      <ahyp:hlinkClr xmlns:ahyp="http://schemas.microsoft.com/office/drawing/2018/hyperlinkcolor" val="tx"/>
                    </a:ext>
                  </a:extLst>
                </a:hlinkClick>
              </a:rPr>
              <a:t>IBM Research — Codd (1970)</a:t>
            </a:r>
            <a:endParaRPr lang="en-US" sz="1150" dirty="0"/>
          </a:p>
        </p:txBody>
      </p:sp>
      <p:sp>
        <p:nvSpPr>
          <p:cNvPr id="13" name="Text 11">
            <a:hlinkClick r:id="rId2" tooltip=""/>
          </p:cNvPr>
          <p:cNvSpPr/>
          <p:nvPr/>
        </p:nvSpPr>
        <p:spPr>
          <a:xfrm>
            <a:off x="3611880" y="5422392"/>
            <a:ext cx="2606040" cy="201168"/>
          </a:xfrm>
          <a:prstGeom prst="rect">
            <a:avLst/>
          </a:prstGeom>
          <a:noFill/>
          <a:ln/>
        </p:spPr>
        <p:txBody>
          <a:bodyPr wrap="square" lIns="0" tIns="0" rIns="0" bIns="0" rtlCol="0" anchor="ctr"/>
          <a:lstStyle/>
          <a:p>
            <a:pPr indent="0" marL="0">
              <a:buNone/>
            </a:pPr>
            <a:r>
              <a:rPr lang="en-US" sz="1150" u="sng" dirty="0">
                <a:solidFill>
                  <a:srgbClr val="2463EB"/>
                </a:solidFill>
                <a:hlinkClick r:id="rId2" invalidUrl="" action="" tgtFrame="" tooltip="" history="1" highlightClick="0" endSnd="0">
                  <a:extLst>
                    <a:ext uri="{A12FA001-AC4F-418D-AE19-62706E023703}">
                      <ahyp:hlinkClr xmlns:ahyp="http://schemas.microsoft.com/office/drawing/2018/hyperlinkcolor" val="tx"/>
                    </a:ext>
                  </a:extLst>
                </a:hlinkClick>
              </a:rPr>
              <a:t>PostgreSQL 18 — Constraints</a:t>
            </a:r>
            <a:endParaRPr lang="en-US" sz="1150" dirty="0"/>
          </a:p>
        </p:txBody>
      </p:sp>
      <p:sp>
        <p:nvSpPr>
          <p:cNvPr id="14" name="Text 12">
            <a:hlinkClick r:id="rId3" tooltip=""/>
          </p:cNvPr>
          <p:cNvSpPr/>
          <p:nvPr/>
        </p:nvSpPr>
        <p:spPr>
          <a:xfrm>
            <a:off x="6355080" y="5422392"/>
            <a:ext cx="1920240" cy="201168"/>
          </a:xfrm>
          <a:prstGeom prst="rect">
            <a:avLst/>
          </a:prstGeom>
          <a:noFill/>
          <a:ln/>
        </p:spPr>
        <p:txBody>
          <a:bodyPr wrap="square" lIns="0" tIns="0" rIns="0" bIns="0" rtlCol="0" anchor="ctr"/>
          <a:lstStyle/>
          <a:p>
            <a:pPr indent="0" marL="0">
              <a:buNone/>
            </a:pPr>
            <a:r>
              <a:rPr lang="en-US" sz="1150" u="sng" dirty="0">
                <a:solidFill>
                  <a:srgbClr val="2463EB"/>
                </a:solidFill>
                <a:hlinkClick r:id="rId3" invalidUrl="" action="" tgtFrame="" tooltip="" history="1" highlightClick="0" endSnd="0">
                  <a:extLst>
                    <a:ext uri="{A12FA001-AC4F-418D-AE19-62706E023703}">
                      <ahyp:hlinkClr xmlns:ahyp="http://schemas.microsoft.com/office/drawing/2018/hyperlinkcolor" val="tx"/>
                    </a:ext>
                  </a:extLst>
                </a:hlinkClick>
              </a:rPr>
              <a:t>DBeaver Community</a:t>
            </a:r>
            <a:endParaRPr lang="en-US" sz="1150" dirty="0"/>
          </a:p>
        </p:txBody>
      </p:sp>
      <p:sp>
        <p:nvSpPr>
          <p:cNvPr id="15" name="Text 13">
            <a:hlinkClick r:id="rId4" tooltip=""/>
          </p:cNvPr>
          <p:cNvSpPr/>
          <p:nvPr/>
        </p:nvSpPr>
        <p:spPr>
          <a:xfrm>
            <a:off x="658368" y="5742432"/>
            <a:ext cx="2331720" cy="201168"/>
          </a:xfrm>
          <a:prstGeom prst="rect">
            <a:avLst/>
          </a:prstGeom>
          <a:noFill/>
          <a:ln/>
        </p:spPr>
        <p:txBody>
          <a:bodyPr wrap="square" lIns="0" tIns="0" rIns="0" bIns="0" rtlCol="0" anchor="ctr"/>
          <a:lstStyle/>
          <a:p>
            <a:pPr indent="0" marL="0">
              <a:buNone/>
            </a:pPr>
            <a:r>
              <a:rPr lang="en-US" sz="1150" u="sng" dirty="0">
                <a:solidFill>
                  <a:srgbClr val="2463EB"/>
                </a:solidFill>
                <a:hlinkClick r:id="rId4" invalidUrl="" action="" tgtFrame="" tooltip="" history="1" highlightClick="0" endSnd="0">
                  <a:extLst>
                    <a:ext uri="{A12FA001-AC4F-418D-AE19-62706E023703}">
                      <ahyp:hlinkClr xmlns:ahyp="http://schemas.microsoft.com/office/drawing/2018/hyperlinkcolor" val="tx"/>
                    </a:ext>
                  </a:extLst>
                </a:hlinkClick>
              </a:rPr>
              <a:t>SQLite — Foreign Keys</a:t>
            </a:r>
            <a:endParaRPr lang="en-US" sz="1150" dirty="0"/>
          </a:p>
        </p:txBody>
      </p:sp>
      <p:sp>
        <p:nvSpPr>
          <p:cNvPr id="25" name="Slide Number Placeholder 0"/>
          <p:cNvSpPr>
            <a:spLocks noGrp="1"/>
          </p:cNvSpPr>
          <p:nvPr>
            <p:ph type="sldNum" sz="quarter" idx="4294967295"/>
          </p:nvPr>
        </p:nvSpPr>
        <p:spPr>
          <a:xfrm>
            <a:off x="11594592" y="6611112"/>
            <a:ext cx="320040" cy="146304"/>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Aptos"/>
                <a:ea typeface="Aptos"/>
                <a:cs typeface="Aptos"/>
              </a:defRPr>
            </a:lvl1pPr>
          </a:lstStyle>
          <a:p>
            <a:pPr algn="r"/>
            <a:fld id="{F7021451-1387-4CA6-816F-3879F97B5CBC}" type="slidenum">
              <a:rPr b="0" lang="en-US"/>
              <a:t>42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Material didático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 relacional: relações, atributos, domínios, tuplas, chaves e restrições de integridade</dc:title>
  <dc:subject>Banco de Dados - Modelo Relacional</dc:subject>
  <dc:creator>OpenAI</dc:creator>
  <cp:lastModifiedBy>OpenAI</cp:lastModifiedBy>
  <cp:revision>1</cp:revision>
  <dcterms:created xsi:type="dcterms:W3CDTF">2026-08-24T11:05:35Z</dcterms:created>
  <dcterms:modified xsi:type="dcterms:W3CDTF">2026-08-24T11:05:35Z</dcterms:modified>
</cp:coreProperties>
</file>