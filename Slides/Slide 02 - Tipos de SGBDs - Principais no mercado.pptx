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3" r:id="rId1"/>
  </p:sldMasterIdLst>
  <p:notesMasterIdLst>
    <p:notesMasterId r:id="rId48"/>
  </p:notesMasterIdLst>
  <p:handoutMasterIdLst>
    <p:handoutMasterId r:id="rId49"/>
  </p:handoutMasterIdLst>
  <p:sldIdLst>
    <p:sldId id="423" r:id="rId2"/>
    <p:sldId id="465" r:id="rId3"/>
    <p:sldId id="466" r:id="rId4"/>
    <p:sldId id="467" r:id="rId5"/>
    <p:sldId id="468" r:id="rId6"/>
    <p:sldId id="469" r:id="rId7"/>
    <p:sldId id="470" r:id="rId8"/>
    <p:sldId id="471" r:id="rId9"/>
    <p:sldId id="472" r:id="rId10"/>
    <p:sldId id="540" r:id="rId11"/>
    <p:sldId id="541" r:id="rId12"/>
    <p:sldId id="542" r:id="rId13"/>
    <p:sldId id="546" r:id="rId14"/>
    <p:sldId id="543" r:id="rId15"/>
    <p:sldId id="544" r:id="rId16"/>
    <p:sldId id="545" r:id="rId17"/>
    <p:sldId id="474" r:id="rId18"/>
    <p:sldId id="514" r:id="rId19"/>
    <p:sldId id="515" r:id="rId20"/>
    <p:sldId id="516" r:id="rId21"/>
    <p:sldId id="517" r:id="rId22"/>
    <p:sldId id="518" r:id="rId23"/>
    <p:sldId id="519" r:id="rId24"/>
    <p:sldId id="520" r:id="rId25"/>
    <p:sldId id="521" r:id="rId26"/>
    <p:sldId id="522" r:id="rId27"/>
    <p:sldId id="523" r:id="rId28"/>
    <p:sldId id="524" r:id="rId29"/>
    <p:sldId id="525" r:id="rId30"/>
    <p:sldId id="526" r:id="rId31"/>
    <p:sldId id="473" r:id="rId32"/>
    <p:sldId id="464" r:id="rId33"/>
    <p:sldId id="527" r:id="rId34"/>
    <p:sldId id="528" r:id="rId35"/>
    <p:sldId id="529" r:id="rId36"/>
    <p:sldId id="530" r:id="rId37"/>
    <p:sldId id="531" r:id="rId38"/>
    <p:sldId id="532" r:id="rId39"/>
    <p:sldId id="533" r:id="rId40"/>
    <p:sldId id="534" r:id="rId41"/>
    <p:sldId id="535" r:id="rId42"/>
    <p:sldId id="536" r:id="rId43"/>
    <p:sldId id="537" r:id="rId44"/>
    <p:sldId id="538" r:id="rId45"/>
    <p:sldId id="539" r:id="rId46"/>
    <p:sldId id="547" r:id="rId4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CB2"/>
    <a:srgbClr val="7EC234"/>
    <a:srgbClr val="008000"/>
    <a:srgbClr val="EECD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6" autoAdjust="0"/>
    <p:restoredTop sz="99104" autoAdjust="0"/>
  </p:normalViewPr>
  <p:slideViewPr>
    <p:cSldViewPr>
      <p:cViewPr varScale="1">
        <p:scale>
          <a:sx n="82" d="100"/>
          <a:sy n="82" d="100"/>
        </p:scale>
        <p:origin x="132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6686C5-9FC3-4ECF-B0E5-F803BBF7867B}" type="datetimeFigureOut">
              <a:rPr lang="pt-BR" smtClean="0"/>
              <a:pPr/>
              <a:t>28/02/2026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378A3F-4B77-4156-875B-A64AE335C5C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980A45-D736-45A4-B247-1A59E06B267F}" type="datetimeFigureOut">
              <a:rPr lang="pt-BR" smtClean="0"/>
              <a:pPr/>
              <a:t>28/02/2026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C5DF64-329D-4CCC-BB41-12FF3AB451DC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/>
              <a:pPr/>
              <a:t>28/02/2026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37549322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/>
              <a:pPr/>
              <a:t>28/02/2026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10334236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/>
              <a:pPr/>
              <a:t>28/02/2026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3080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/>
              <a:pPr/>
              <a:t>28/02/2026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9469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/>
              <a:pPr/>
              <a:t>28/02/2026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3694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/>
              <a:pPr/>
              <a:t>28/02/2026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53170570"/>
      </p:ext>
    </p:extLst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/>
              <a:pPr/>
              <a:t>28/02/2026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86498641"/>
      </p:ext>
    </p:extLst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/>
              <a:pPr/>
              <a:t>28/02/2026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3645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/>
              <a:pPr/>
              <a:t>28/02/2026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981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/>
              <a:pPr/>
              <a:t>28/02/2026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62084842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/>
              <a:pPr/>
              <a:t>28/02/2026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50345119"/>
      </p:ext>
    </p:extLst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89DFFF-6767-4A78-A1FB-06DB9CD2B572}" type="datetimeFigureOut">
              <a:rPr lang="pt-BR" smtClean="0"/>
              <a:pPr/>
              <a:t>28/02/2026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77B986-2480-449B-886E-7A027CF271D4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28900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51520" y="10826"/>
            <a:ext cx="8280920" cy="59195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lang="pt-BR" sz="2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Sistemas Gerenciadores de Banco de Dados (</a:t>
            </a:r>
            <a:r>
              <a:rPr lang="pt-BR" sz="2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SGBDs</a:t>
            </a:r>
            <a:r>
              <a:rPr lang="pt-BR" sz="2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BR" sz="22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lang="pt-BR" sz="2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Conhecer os Principais Sistemas Gerenciadores de Banco de Dados (</a:t>
            </a:r>
            <a:r>
              <a:rPr lang="pt-BR" sz="2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SGBDs</a:t>
            </a:r>
            <a:r>
              <a:rPr lang="pt-BR" sz="2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e suas Funções</a:t>
            </a:r>
            <a:endParaRPr lang="pt-BR" sz="22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lang="pt-BR" sz="2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Introdução aos </a:t>
            </a:r>
            <a:r>
              <a:rPr lang="pt-BR" sz="2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SGBDs</a:t>
            </a:r>
            <a:endParaRPr lang="pt-BR" sz="22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lang="pt-BR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 Sistemas Gerenciadores de Banco de Dados (</a:t>
            </a:r>
            <a:r>
              <a:rPr lang="pt-BR" sz="2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SGBDs</a:t>
            </a:r>
            <a:r>
              <a:rPr lang="pt-BR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são softwares que permitem a criação, gerenciamento e manipulação de bancos de dados. Eles fornecem uma interface para que os usuários e aplicativos possam interagir com os dados de forma eficiente e segura. Aqui estão alguns dos principais </a:t>
            </a:r>
            <a:r>
              <a:rPr lang="pt-BR" sz="2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SGBDs</a:t>
            </a:r>
            <a:r>
              <a:rPr lang="pt-BR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suas funções básicas e vantagens:</a:t>
            </a:r>
            <a:endParaRPr lang="pt-BR" sz="22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7896369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51520" y="257372"/>
            <a:ext cx="8280920" cy="4196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5250" indent="449263" algn="just">
              <a:spcAft>
                <a:spcPts val="800"/>
              </a:spcAft>
            </a:pPr>
            <a:r>
              <a:rPr lang="pt-BR" sz="2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pt-BR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pt-BR" sz="22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5250" indent="449263" algn="just">
              <a:spcAft>
                <a:spcPts val="800"/>
              </a:spcAft>
            </a:pPr>
            <a:r>
              <a:rPr lang="pt-BR" sz="2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Definição</a:t>
            </a:r>
            <a:r>
              <a:rPr lang="pt-BR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Um SGBD relacional de código aberto amplamente utilizado em aplicações web.</a:t>
            </a:r>
            <a:endParaRPr lang="pt-BR" sz="22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5250" indent="449263" algn="just">
              <a:spcAft>
                <a:spcPts val="800"/>
              </a:spcAft>
            </a:pPr>
            <a:r>
              <a:rPr lang="pt-BR" sz="2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Funções Básicas</a:t>
            </a:r>
            <a:r>
              <a:rPr lang="pt-BR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pt-BR" sz="22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5250" indent="449263" algn="just">
              <a:spcAft>
                <a:spcPts val="800"/>
              </a:spcAft>
            </a:pPr>
            <a:r>
              <a:rPr lang="pt-BR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Criação e gerenciamento de bancos de dados e tabelas.</a:t>
            </a:r>
            <a:endParaRPr lang="pt-BR" sz="22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5250" indent="449263" algn="just">
              <a:spcAft>
                <a:spcPts val="800"/>
              </a:spcAft>
            </a:pPr>
            <a:r>
              <a:rPr lang="pt-BR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Suporte a consultas SQL para inserção, atualização, exclusão e recuperação de dados.</a:t>
            </a:r>
            <a:endParaRPr lang="pt-BR" sz="22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5250" indent="449263" algn="just">
              <a:spcAft>
                <a:spcPts val="800"/>
              </a:spcAft>
            </a:pPr>
            <a:r>
              <a:rPr lang="pt-BR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Transações ACID para garantir a integridade dos dados.</a:t>
            </a:r>
            <a:endParaRPr lang="pt-BR" sz="22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5250" indent="449263" algn="just">
              <a:spcAft>
                <a:spcPts val="800"/>
              </a:spcAft>
            </a:pPr>
            <a:r>
              <a:rPr lang="pt-BR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Índices para melhorar o desempenho das consultas.</a:t>
            </a:r>
            <a:endParaRPr lang="pt-BR" sz="22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5250" indent="449263" algn="just">
              <a:spcAft>
                <a:spcPts val="600"/>
              </a:spcAft>
            </a:pPr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741782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51520" y="257372"/>
            <a:ext cx="8280920" cy="39908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9263" algn="just">
              <a:spcAft>
                <a:spcPts val="800"/>
              </a:spcAft>
            </a:pPr>
            <a:r>
              <a:rPr lang="pt-BR" sz="2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Vantagens</a:t>
            </a:r>
            <a:r>
              <a:rPr lang="pt-BR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pt-BR" sz="22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263" algn="just">
              <a:spcAft>
                <a:spcPts val="800"/>
              </a:spcAft>
            </a:pPr>
            <a:r>
              <a:rPr lang="pt-BR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Gratuito e de código aberto, com ampla documentação e comunidade ativa.</a:t>
            </a:r>
            <a:endParaRPr lang="pt-BR" sz="22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263" algn="just">
              <a:spcAft>
                <a:spcPts val="800"/>
              </a:spcAft>
            </a:pPr>
            <a:r>
              <a:rPr lang="pt-BR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Bom desempenho em consultas e transações simples.</a:t>
            </a:r>
            <a:endParaRPr lang="pt-BR" sz="22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263" algn="just">
              <a:spcAft>
                <a:spcPts val="800"/>
              </a:spcAft>
            </a:pPr>
            <a:r>
              <a:rPr lang="pt-BR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Fácil de instalar e configurar, ideal para desenvolvedores iniciantes e aplicações web.</a:t>
            </a:r>
            <a:endParaRPr lang="pt-BR" sz="22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263" algn="just">
              <a:spcAft>
                <a:spcPts val="800"/>
              </a:spcAft>
            </a:pPr>
            <a:r>
              <a:rPr lang="pt-BR" sz="2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Exemplo Prático</a:t>
            </a:r>
            <a:r>
              <a:rPr lang="pt-BR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MySQL é frequentemente usado em plataformas de blogs como </a:t>
            </a:r>
            <a:r>
              <a:rPr lang="pt-BR" sz="2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WordPress</a:t>
            </a:r>
            <a:r>
              <a:rPr lang="pt-BR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para armazenar postagens, comentários e informações de usuários.</a:t>
            </a:r>
            <a:endParaRPr lang="pt-BR" sz="22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263" algn="just">
              <a:spcAft>
                <a:spcPts val="600"/>
              </a:spcAft>
            </a:pPr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1738266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51520" y="257372"/>
            <a:ext cx="8280920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200" b="1" dirty="0"/>
              <a:t>PostgreSQL</a:t>
            </a:r>
            <a:r>
              <a:rPr lang="pt-BR" sz="2200" dirty="0"/>
              <a:t>:</a:t>
            </a:r>
          </a:p>
          <a:p>
            <a:pPr algn="just"/>
            <a:r>
              <a:rPr lang="pt-BR" sz="2200" b="1" dirty="0"/>
              <a:t>Definição</a:t>
            </a:r>
            <a:r>
              <a:rPr lang="pt-BR" sz="2200" dirty="0"/>
              <a:t>: Um SGBD relacional de código aberto conhecido por sua robustez e conformidade com os padrões SQL.</a:t>
            </a:r>
          </a:p>
          <a:p>
            <a:pPr algn="just"/>
            <a:endParaRPr lang="pt-BR" sz="2200" b="1" dirty="0"/>
          </a:p>
          <a:p>
            <a:pPr algn="just"/>
            <a:r>
              <a:rPr lang="pt-BR" sz="2200" b="1" dirty="0"/>
              <a:t>Funções Básicas</a:t>
            </a:r>
            <a:r>
              <a:rPr lang="pt-BR" sz="2200" dirty="0"/>
              <a:t>:</a:t>
            </a:r>
          </a:p>
          <a:p>
            <a:pPr algn="just"/>
            <a:r>
              <a:rPr lang="pt-BR" sz="2200" dirty="0"/>
              <a:t>Suporte a transações ACID e recuperação de desastres.</a:t>
            </a:r>
          </a:p>
          <a:p>
            <a:pPr algn="just"/>
            <a:r>
              <a:rPr lang="pt-BR" sz="2200" dirty="0"/>
              <a:t>Funcionalidades avançadas como índices GIN e </a:t>
            </a:r>
            <a:r>
              <a:rPr lang="pt-BR" sz="2200" dirty="0" err="1"/>
              <a:t>GiST</a:t>
            </a:r>
            <a:r>
              <a:rPr lang="pt-BR" sz="2200" dirty="0"/>
              <a:t>, replicação e partição de tabelas.</a:t>
            </a:r>
          </a:p>
          <a:p>
            <a:pPr algn="just"/>
            <a:r>
              <a:rPr lang="pt-BR" sz="2200" dirty="0"/>
              <a:t>Suporte a tipos de dados avançados e extensões (JSON, XML, etc.).</a:t>
            </a:r>
          </a:p>
          <a:p>
            <a:pPr algn="just"/>
            <a:r>
              <a:rPr lang="pt-BR" sz="2200" dirty="0"/>
              <a:t>Procedimentos armazenados e triggers.</a:t>
            </a:r>
          </a:p>
          <a:p>
            <a:pPr indent="449263" algn="just">
              <a:spcAft>
                <a:spcPts val="600"/>
              </a:spcAft>
            </a:pPr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Comandos básicos do PostgreSQL. Vez ou outra meu postgresql resolve… | by  Juliane Lima | Medium">
            <a:extLst>
              <a:ext uri="{FF2B5EF4-FFF2-40B4-BE49-F238E27FC236}">
                <a16:creationId xmlns:a16="http://schemas.microsoft.com/office/drawing/2014/main" id="{25550CCA-13DC-49D0-B926-1A56B2CB7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417359" y="3832253"/>
            <a:ext cx="3949241" cy="1812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2125010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51520" y="257372"/>
            <a:ext cx="8280920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200" b="1" dirty="0"/>
              <a:t>PostgreSQL</a:t>
            </a:r>
            <a:r>
              <a:rPr lang="pt-BR" sz="2200" dirty="0"/>
              <a:t>:</a:t>
            </a:r>
          </a:p>
          <a:p>
            <a:pPr algn="just">
              <a:lnSpc>
                <a:spcPct val="150000"/>
              </a:lnSpc>
            </a:pPr>
            <a:r>
              <a:rPr lang="pt-BR" sz="2200" b="1" dirty="0"/>
              <a:t>Vantagens</a:t>
            </a:r>
            <a:r>
              <a:rPr lang="pt-BR" sz="2200" dirty="0"/>
              <a:t>:</a:t>
            </a:r>
          </a:p>
          <a:p>
            <a:pPr algn="just">
              <a:lnSpc>
                <a:spcPct val="150000"/>
              </a:lnSpc>
            </a:pPr>
            <a:r>
              <a:rPr lang="pt-BR" sz="2200" dirty="0"/>
              <a:t>Alta conformidade com os padrões SQL e extensibilidade.</a:t>
            </a:r>
          </a:p>
          <a:p>
            <a:pPr algn="just">
              <a:lnSpc>
                <a:spcPct val="150000"/>
              </a:lnSpc>
            </a:pPr>
            <a:r>
              <a:rPr lang="pt-BR" sz="2200" dirty="0"/>
              <a:t>Suporte a transações complexas e consultas avançadas.</a:t>
            </a:r>
          </a:p>
          <a:p>
            <a:pPr algn="just">
              <a:lnSpc>
                <a:spcPct val="150000"/>
              </a:lnSpc>
            </a:pPr>
            <a:r>
              <a:rPr lang="pt-BR" sz="2200" dirty="0"/>
              <a:t>Segurança robusta e controle de acesso detalhado.</a:t>
            </a:r>
          </a:p>
          <a:p>
            <a:pPr algn="just">
              <a:lnSpc>
                <a:spcPct val="150000"/>
              </a:lnSpc>
            </a:pPr>
            <a:r>
              <a:rPr lang="pt-BR" sz="2200" b="1" dirty="0"/>
              <a:t>Exemplo Prático</a:t>
            </a:r>
            <a:r>
              <a:rPr lang="pt-BR" sz="2200" dirty="0"/>
              <a:t>: PostgreSQL é usado em sistemas financeiros para gerenciar transações complexas e garantir a integridade dos dados.</a:t>
            </a:r>
          </a:p>
          <a:p>
            <a:pPr indent="449263" algn="just">
              <a:spcAft>
                <a:spcPts val="600"/>
              </a:spcAft>
            </a:pPr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Comandos básicos do PostgreSQL. Vez ou outra meu postgresql resolve… | by  Juliane Lima | Medium">
            <a:extLst>
              <a:ext uri="{FF2B5EF4-FFF2-40B4-BE49-F238E27FC236}">
                <a16:creationId xmlns:a16="http://schemas.microsoft.com/office/drawing/2014/main" id="{25550CCA-13DC-49D0-B926-1A56B2CB7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417359" y="3832253"/>
            <a:ext cx="3949241" cy="1812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5872139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51520" y="257372"/>
            <a:ext cx="8280920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200" b="1" dirty="0"/>
              <a:t>Oracle </a:t>
            </a:r>
            <a:r>
              <a:rPr lang="pt-BR" sz="2200" b="1" dirty="0" err="1"/>
              <a:t>Database</a:t>
            </a:r>
            <a:r>
              <a:rPr lang="pt-BR" sz="2200" dirty="0"/>
              <a:t>: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b="1" dirty="0"/>
              <a:t>Definição</a:t>
            </a:r>
            <a:r>
              <a:rPr lang="pt-BR" sz="2200" dirty="0"/>
              <a:t>: Um SGBD relacional comercial amplamente utilizado em grandes empresas devido à sua escalabilidade e recursos avançados.</a:t>
            </a:r>
          </a:p>
          <a:p>
            <a:pPr algn="just"/>
            <a:r>
              <a:rPr lang="pt-BR" sz="2200" b="1" dirty="0"/>
              <a:t>Funções Básicas</a:t>
            </a:r>
            <a:r>
              <a:rPr lang="pt-BR" sz="2200" dirty="0"/>
              <a:t>:</a:t>
            </a:r>
          </a:p>
          <a:p>
            <a:pPr algn="just"/>
            <a:r>
              <a:rPr lang="pt-BR" sz="2200" dirty="0"/>
              <a:t>Suporte a transações ACID e alta disponibilidade (</a:t>
            </a:r>
            <a:r>
              <a:rPr lang="pt-BR" sz="2200" dirty="0" err="1"/>
              <a:t>clustering</a:t>
            </a:r>
            <a:r>
              <a:rPr lang="pt-BR" sz="2200" dirty="0"/>
              <a:t>, replicação).</a:t>
            </a:r>
          </a:p>
          <a:p>
            <a:pPr algn="just"/>
            <a:r>
              <a:rPr lang="pt-BR" sz="2200" dirty="0"/>
              <a:t>Ferramentas de gerenciamento e otimização de desempenho.</a:t>
            </a:r>
          </a:p>
          <a:p>
            <a:pPr algn="just"/>
            <a:r>
              <a:rPr lang="pt-BR" sz="2200" dirty="0"/>
              <a:t>Suporte a tipos de dados avançados e grandes volumes de dados.</a:t>
            </a:r>
          </a:p>
          <a:p>
            <a:pPr algn="just"/>
            <a:r>
              <a:rPr lang="pt-BR" sz="2200" dirty="0"/>
              <a:t>Funcionalidades de segurança avançadas e auditoria.</a:t>
            </a:r>
          </a:p>
          <a:p>
            <a:pPr indent="449263" algn="just">
              <a:spcAft>
                <a:spcPts val="600"/>
              </a:spcAft>
            </a:pPr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Oracle (banco de dados) – Wikipédia, a enciclopédia livre">
            <a:extLst>
              <a:ext uri="{FF2B5EF4-FFF2-40B4-BE49-F238E27FC236}">
                <a16:creationId xmlns:a16="http://schemas.microsoft.com/office/drawing/2014/main" id="{ACCBB855-B177-450E-8AB9-00EB2F722D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849302" y="4058492"/>
            <a:ext cx="3445396" cy="1872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331895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51520" y="44624"/>
            <a:ext cx="828092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200" b="1" dirty="0"/>
              <a:t>Oracle </a:t>
            </a:r>
            <a:r>
              <a:rPr lang="pt-BR" sz="2200" b="1" dirty="0" err="1"/>
              <a:t>Database</a:t>
            </a:r>
            <a:r>
              <a:rPr lang="pt-BR" sz="2200" dirty="0"/>
              <a:t>: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b="1" dirty="0"/>
              <a:t>Vantagens</a:t>
            </a:r>
            <a:r>
              <a:rPr lang="pt-BR" sz="2200" dirty="0"/>
              <a:t>: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dirty="0"/>
              <a:t>Altamente escalável e adequado para grandes volumes de dados e transações complexas.</a:t>
            </a:r>
          </a:p>
          <a:p>
            <a:pPr algn="just"/>
            <a:r>
              <a:rPr lang="pt-BR" sz="2200" dirty="0"/>
              <a:t>Suporte técnico robusto e uma ampla gama de ferramentas empresariais.</a:t>
            </a:r>
          </a:p>
          <a:p>
            <a:pPr algn="just"/>
            <a:r>
              <a:rPr lang="pt-BR" sz="2200" dirty="0"/>
              <a:t>Recursos avançados para análise de dados e business </a:t>
            </a:r>
            <a:r>
              <a:rPr lang="pt-BR" sz="2200" dirty="0" err="1"/>
              <a:t>intelligence</a:t>
            </a:r>
            <a:r>
              <a:rPr lang="pt-BR" sz="2200" dirty="0"/>
              <a:t>.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b="1" dirty="0"/>
              <a:t>Exemplo Prático</a:t>
            </a:r>
            <a:r>
              <a:rPr lang="pt-BR" sz="2200" dirty="0"/>
              <a:t>: Oracle </a:t>
            </a:r>
            <a:r>
              <a:rPr lang="pt-BR" sz="2200" dirty="0" err="1"/>
              <a:t>Database</a:t>
            </a:r>
            <a:r>
              <a:rPr lang="pt-BR" sz="2200" dirty="0"/>
              <a:t> é usado em grandes instituições financeiras para gerenciar contas de clientes, transações bancárias e análises de risco.</a:t>
            </a:r>
          </a:p>
          <a:p>
            <a:pPr indent="449263" algn="just">
              <a:spcAft>
                <a:spcPts val="600"/>
              </a:spcAft>
            </a:pPr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Oracle (banco de dados) – Wikipédia, a enciclopédia livre">
            <a:extLst>
              <a:ext uri="{FF2B5EF4-FFF2-40B4-BE49-F238E27FC236}">
                <a16:creationId xmlns:a16="http://schemas.microsoft.com/office/drawing/2014/main" id="{ACCBB855-B177-450E-8AB9-00EB2F722D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849302" y="4325396"/>
            <a:ext cx="3445396" cy="1872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246977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51520" y="44624"/>
            <a:ext cx="8280920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200" b="1" dirty="0"/>
              <a:t>Microsoft SQL Server</a:t>
            </a:r>
            <a:r>
              <a:rPr lang="pt-BR" sz="2200" dirty="0"/>
              <a:t>:</a:t>
            </a:r>
          </a:p>
          <a:p>
            <a:endParaRPr lang="pt-BR" sz="2200" dirty="0"/>
          </a:p>
          <a:p>
            <a:r>
              <a:rPr lang="pt-BR" sz="2200" b="1" dirty="0"/>
              <a:t>Definição</a:t>
            </a:r>
            <a:r>
              <a:rPr lang="pt-BR" sz="2200" dirty="0"/>
              <a:t>: Um SGBD relacional comercial desenvolvido pela Microsoft, integrado com o ecossistema de ferramentas da empresa.</a:t>
            </a:r>
          </a:p>
          <a:p>
            <a:r>
              <a:rPr lang="pt-BR" sz="2200" b="1" dirty="0"/>
              <a:t>Funções Básicas</a:t>
            </a:r>
            <a:r>
              <a:rPr lang="pt-BR" sz="2200" dirty="0"/>
              <a:t>:</a:t>
            </a:r>
          </a:p>
          <a:p>
            <a:r>
              <a:rPr lang="pt-BR" sz="2200" dirty="0"/>
              <a:t>Suporte a transações ACID e recuperação de desastres.</a:t>
            </a:r>
          </a:p>
          <a:p>
            <a:r>
              <a:rPr lang="pt-BR" sz="2200" dirty="0"/>
              <a:t>Ferramentas de integração com outras tecnologias Microsoft (Excel, Power BI, etc.).</a:t>
            </a:r>
          </a:p>
          <a:p>
            <a:r>
              <a:rPr lang="pt-BR" sz="2200" dirty="0"/>
              <a:t>Suporte a análises OLAP e data </a:t>
            </a:r>
            <a:r>
              <a:rPr lang="pt-BR" sz="2200" dirty="0" err="1"/>
              <a:t>warehousing</a:t>
            </a:r>
            <a:r>
              <a:rPr lang="pt-BR" sz="2200" dirty="0"/>
              <a:t>.</a:t>
            </a:r>
          </a:p>
          <a:p>
            <a:r>
              <a:rPr lang="pt-BR" sz="2200" dirty="0"/>
              <a:t>Segurança robusta e gerenciamento de permissões.</a:t>
            </a:r>
          </a:p>
          <a:p>
            <a:pPr indent="449263" algn="just">
              <a:spcAft>
                <a:spcPts val="600"/>
              </a:spcAft>
            </a:pPr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Banco de dados SQL Server - DevNerd">
            <a:extLst>
              <a:ext uri="{FF2B5EF4-FFF2-40B4-BE49-F238E27FC236}">
                <a16:creationId xmlns:a16="http://schemas.microsoft.com/office/drawing/2014/main" id="{0EEFEED5-D108-4D25-A2A3-77663BB42C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06030" y="4518443"/>
            <a:ext cx="3851920" cy="1413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6424972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51520" y="44624"/>
            <a:ext cx="8280920" cy="4439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200" b="1" dirty="0"/>
              <a:t>Microsoft SQL Server</a:t>
            </a:r>
            <a:r>
              <a:rPr lang="pt-BR" sz="2200" dirty="0"/>
              <a:t>:</a:t>
            </a:r>
          </a:p>
          <a:p>
            <a:pPr algn="just">
              <a:lnSpc>
                <a:spcPct val="150000"/>
              </a:lnSpc>
            </a:pPr>
            <a:r>
              <a:rPr lang="pt-BR" sz="2200" b="1" dirty="0"/>
              <a:t>Vantagens</a:t>
            </a:r>
            <a:r>
              <a:rPr lang="pt-BR" sz="2200" dirty="0"/>
              <a:t>:</a:t>
            </a:r>
          </a:p>
          <a:p>
            <a:pPr algn="just">
              <a:lnSpc>
                <a:spcPct val="150000"/>
              </a:lnSpc>
            </a:pPr>
            <a:r>
              <a:rPr lang="pt-BR" sz="2200" dirty="0"/>
              <a:t>Integração completa com o ecossistema Microsoft, facilitando o uso em ambientes corporativos.</a:t>
            </a:r>
          </a:p>
          <a:p>
            <a:pPr algn="just">
              <a:lnSpc>
                <a:spcPct val="150000"/>
              </a:lnSpc>
            </a:pPr>
            <a:r>
              <a:rPr lang="pt-BR" sz="2200" dirty="0"/>
              <a:t>Ferramentas avançadas para análise e visualização de dados.</a:t>
            </a:r>
          </a:p>
          <a:p>
            <a:pPr algn="just">
              <a:lnSpc>
                <a:spcPct val="150000"/>
              </a:lnSpc>
            </a:pPr>
            <a:r>
              <a:rPr lang="pt-BR" sz="2200" dirty="0"/>
              <a:t>Suporte técnico e documentação abrangente.</a:t>
            </a:r>
          </a:p>
          <a:p>
            <a:pPr algn="just">
              <a:lnSpc>
                <a:spcPct val="150000"/>
              </a:lnSpc>
            </a:pPr>
            <a:r>
              <a:rPr lang="pt-BR" sz="2200" b="1" dirty="0"/>
              <a:t>Exemplo Prático</a:t>
            </a:r>
            <a:r>
              <a:rPr lang="pt-BR" sz="2200" dirty="0"/>
              <a:t>: SQL Server é amplamente utilizado em ambientes corporativos para gerenciar dados de ERP (Enterprise </a:t>
            </a:r>
            <a:r>
              <a:rPr lang="pt-BR" sz="2200" dirty="0" err="1"/>
              <a:t>Resource</a:t>
            </a:r>
            <a:r>
              <a:rPr lang="pt-BR" sz="2200" dirty="0"/>
              <a:t> Planning) e CRM (</a:t>
            </a:r>
            <a:r>
              <a:rPr lang="pt-BR" sz="2200" dirty="0" err="1"/>
              <a:t>Customer</a:t>
            </a:r>
            <a:r>
              <a:rPr lang="pt-BR" sz="2200" dirty="0"/>
              <a:t> </a:t>
            </a:r>
            <a:r>
              <a:rPr lang="pt-BR" sz="2200" dirty="0" err="1"/>
              <a:t>Relationship</a:t>
            </a:r>
            <a:r>
              <a:rPr lang="pt-BR" sz="2200" dirty="0"/>
              <a:t> Management).</a:t>
            </a:r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Banco de dados SQL Server - DevNerd">
            <a:extLst>
              <a:ext uri="{FF2B5EF4-FFF2-40B4-BE49-F238E27FC236}">
                <a16:creationId xmlns:a16="http://schemas.microsoft.com/office/drawing/2014/main" id="{0EEFEED5-D108-4D25-A2A3-77663BB42C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06030" y="4518443"/>
            <a:ext cx="3851920" cy="1413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0202403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EFEEE-F74C-ACA2-4F82-DAF4270BA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Conceito e arquitetura do sistema de banco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46774F-64D8-DAAF-4727-075508AE0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pt-BR" sz="2400" dirty="0"/>
              <a:t>Em uma arquitetura básica de SGBD cliente/ servidor a funcionalidade do sistema é distribuída entre dois tipos de módulos. O módulo cliente normalmente é projetado para executar em uma estação de trabalho ou computador pessoal. Em geral, os programas de aplicação e interfaces com o usuário que acessam o banco de dados executam no módulo cliente. Logo, esse módulo se encarrega da interação do usuário e oferece interfaces amigáveis, como formulários ou </a:t>
            </a:r>
            <a:r>
              <a:rPr lang="pt-BR" sz="2400" dirty="0" err="1"/>
              <a:t>GUIs</a:t>
            </a:r>
            <a:r>
              <a:rPr lang="pt-BR" sz="2400" dirty="0"/>
              <a:t> (interfaces gráficas do usuário) baseadas em menu. 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009FE53-7FDB-FF3D-B674-D9527091E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4370F-5584-414F-81B7-FCDA7CC352AF}" type="datetime1">
              <a:rPr lang="pt-BR" smtClean="0"/>
              <a:t>28/02/2026</a:t>
            </a:fld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D10BBB3-3558-8A10-85DE-B9F57A14B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/>
              <a:pPr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87478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AB48D8-03A4-C4F8-7A34-64F54AAF1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74365A-FB13-326E-C3E6-9B1D1A6E8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" y="325370"/>
            <a:ext cx="8412420" cy="1158936"/>
          </a:xfrm>
        </p:spPr>
        <p:txBody>
          <a:bodyPr anchor="b">
            <a:normAutofit fontScale="90000"/>
          </a:bodyPr>
          <a:lstStyle/>
          <a:p>
            <a:r>
              <a:rPr lang="pt-BR" dirty="0"/>
              <a:t>Conceito e arquitetura do sistema de banco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884A9F1-C152-3321-A260-D71E30DDD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" y="1809676"/>
            <a:ext cx="4595996" cy="4383891"/>
          </a:xfrm>
        </p:spPr>
        <p:txBody>
          <a:bodyPr>
            <a:normAutofit/>
          </a:bodyPr>
          <a:lstStyle/>
          <a:p>
            <a:pPr algn="just"/>
            <a:r>
              <a:rPr lang="pt-BR" sz="2800" dirty="0"/>
              <a:t>O outro tipo de módulo, chamado módulo servidor, é normalmente responsável pelo armazenamento de dados, acesso, pesquisa e outras funções. </a:t>
            </a:r>
          </a:p>
          <a:p>
            <a:pPr marL="0" indent="0" algn="just">
              <a:buNone/>
            </a:pPr>
            <a:endParaRPr lang="pt-BR" sz="2800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20DFF9-39BA-0B89-84CB-31AC3ED08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E34370F-5584-414F-81B7-FCDA7CC352AF}" type="datetime1">
              <a:rPr lang="pt-BR" smtClean="0"/>
              <a:pPr>
                <a:spcAft>
                  <a:spcPts val="600"/>
                </a:spcAft>
              </a:pPr>
              <a:t>28/02/2026</a:t>
            </a:fld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7BDC684-6A14-BBD1-8A40-375418434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29550" y="6356350"/>
            <a:ext cx="685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C77B986-2480-449B-886E-7A027CF271D4}" type="slidenum">
              <a:rPr lang="pt-BR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11</a:t>
            </a:fld>
            <a:endParaRPr lang="pt-BR">
              <a:solidFill>
                <a:srgbClr val="FFFFFF"/>
              </a:solidFill>
            </a:endParaRPr>
          </a:p>
        </p:txBody>
      </p:sp>
      <p:pic>
        <p:nvPicPr>
          <p:cNvPr id="1026" name="Picture 2" descr="Servidores | UOL Notícias">
            <a:extLst>
              <a:ext uri="{FF2B5EF4-FFF2-40B4-BE49-F238E27FC236}">
                <a16:creationId xmlns:a16="http://schemas.microsoft.com/office/drawing/2014/main" id="{426CA8A0-94A6-12E5-C939-287814F1BE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2" r="-5" b="-5"/>
          <a:stretch>
            <a:fillRect/>
          </a:stretch>
        </p:blipFill>
        <p:spPr bwMode="auto">
          <a:xfrm>
            <a:off x="5170309" y="1052736"/>
            <a:ext cx="3130697" cy="4536504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2380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BA7851-A87A-ADD9-47D7-A255A6081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162BF9-CA5A-75C4-1408-2D08384D6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" y="325370"/>
            <a:ext cx="8412420" cy="1158936"/>
          </a:xfrm>
        </p:spPr>
        <p:txBody>
          <a:bodyPr anchor="b">
            <a:normAutofit fontScale="90000"/>
          </a:bodyPr>
          <a:lstStyle/>
          <a:p>
            <a:r>
              <a:rPr lang="pt-BR" dirty="0"/>
              <a:t>Arquitetura de três esquemas e independência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5AD020-149D-7E51-1312-5F32727209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498" y="1728382"/>
            <a:ext cx="3227844" cy="4383891"/>
          </a:xfrm>
        </p:spPr>
        <p:txBody>
          <a:bodyPr>
            <a:normAutofit/>
          </a:bodyPr>
          <a:lstStyle/>
          <a:p>
            <a:pPr algn="just"/>
            <a:r>
              <a:rPr lang="pt-BR" sz="2400" dirty="0"/>
              <a:t>O objetivo da arquitetura de três esquemas, ilustrada na Figura 2.2, é separar as aplicações do usuário do banco de dados físico. Nessa arquitetura, os esquemas podem ser definidos nos três níveis a seguir: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3630A87-72A9-E961-48D2-0C2933C60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E34370F-5584-414F-81B7-FCDA7CC352AF}" type="datetime1">
              <a:rPr lang="pt-BR" smtClean="0"/>
              <a:pPr>
                <a:spcAft>
                  <a:spcPts val="600"/>
                </a:spcAft>
              </a:pPr>
              <a:t>28/02/2026</a:t>
            </a:fld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FE0A2B8-A779-492A-DC20-092E5C4BD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29550" y="6356350"/>
            <a:ext cx="685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C77B986-2480-449B-886E-7A027CF271D4}" type="slidenum">
              <a:rPr lang="pt-BR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12</a:t>
            </a:fld>
            <a:endParaRPr lang="pt-BR">
              <a:solidFill>
                <a:srgbClr val="FFFFFF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542FD5B-5D53-C4B8-0234-9DD732E410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35" t="2037"/>
          <a:stretch>
            <a:fillRect/>
          </a:stretch>
        </p:blipFill>
        <p:spPr>
          <a:xfrm>
            <a:off x="4355976" y="1556791"/>
            <a:ext cx="4536504" cy="4383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9632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99A33B-95CC-EA84-495E-CDF2358EC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7D3CBE-F57E-E150-7755-0E1A40460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57896F2-F3FB-6602-B3E6-A997257B1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F6BA6-3382-4C8E-B17C-77E6ED52EB55}" type="datetime1">
              <a:rPr lang="pt-BR" smtClean="0"/>
              <a:t>28/02/2026</a:t>
            </a:fld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5AA39AE-8B71-9BF3-7627-EF5B0880B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/>
              <a:pPr/>
              <a:t>13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37745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873FDB-E0B3-1286-8892-BD23C0821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55FC80-655E-FFA2-E04E-5717D7FDC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" y="325370"/>
            <a:ext cx="8412420" cy="1158936"/>
          </a:xfrm>
        </p:spPr>
        <p:txBody>
          <a:bodyPr anchor="b">
            <a:normAutofit fontScale="90000"/>
          </a:bodyPr>
          <a:lstStyle/>
          <a:p>
            <a:r>
              <a:rPr lang="pt-BR" dirty="0"/>
              <a:t>Arquitetura de três esquemas e independência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3F35E9-D020-5357-196D-6E369606A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728382"/>
            <a:ext cx="4104456" cy="438389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400" dirty="0"/>
              <a:t>1 - O nível interno tem um esquema interno, que descreve a estrutura do armazenamento físico do banco de dados. O esquema interno usa um modelo de dados físico e descreve os detalhes completos do armazenamento de dados e caminhos de acesso para o banco de dados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35AD48-D8BA-46E6-E020-FA8340E5F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E34370F-5584-414F-81B7-FCDA7CC352AF}" type="datetime1">
              <a:rPr lang="pt-BR" smtClean="0"/>
              <a:pPr>
                <a:spcAft>
                  <a:spcPts val="600"/>
                </a:spcAft>
              </a:pPr>
              <a:t>28/02/2026</a:t>
            </a:fld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C4EBD3A-5545-CC79-BFA6-1A7031DAB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29550" y="6356350"/>
            <a:ext cx="685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C77B986-2480-449B-886E-7A027CF271D4}" type="slidenum">
              <a:rPr lang="pt-BR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14</a:t>
            </a:fld>
            <a:endParaRPr lang="pt-BR">
              <a:solidFill>
                <a:srgbClr val="FFFFFF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14C5068-C914-11A7-7445-CBA15E1862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35" t="2037"/>
          <a:stretch>
            <a:fillRect/>
          </a:stretch>
        </p:blipFill>
        <p:spPr>
          <a:xfrm>
            <a:off x="4355976" y="1556791"/>
            <a:ext cx="4536504" cy="4383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30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967C6F-7B53-635C-84D1-602DF8A44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084B5E-8216-4ED8-5BB3-3FCE3BB5B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" y="325370"/>
            <a:ext cx="8412420" cy="1158936"/>
          </a:xfrm>
        </p:spPr>
        <p:txBody>
          <a:bodyPr anchor="b">
            <a:normAutofit fontScale="90000"/>
          </a:bodyPr>
          <a:lstStyle/>
          <a:p>
            <a:r>
              <a:rPr lang="pt-BR" dirty="0"/>
              <a:t>Arquitetura de três esquemas e independência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2DD274-D9BD-CE32-0143-605120114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728382"/>
            <a:ext cx="4104456" cy="438389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400" dirty="0"/>
              <a:t>2 - O nível conceitual tem um esquema conceitual, que descreve a estrutura do banco de dados inteiro para uma comunidade de usuários. O esquema conceitual oculta os detalhes das estruturas de armazenamento físico e se concentra na descrição de entidades, tipos de dados, relacionamentos, operações do usuário e restrições. 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E8E298-A787-BA29-E403-A2D1A2C29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E34370F-5584-414F-81B7-FCDA7CC352AF}" type="datetime1">
              <a:rPr lang="pt-BR" smtClean="0"/>
              <a:pPr>
                <a:spcAft>
                  <a:spcPts val="600"/>
                </a:spcAft>
              </a:pPr>
              <a:t>28/02/2026</a:t>
            </a:fld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703D79A-97B9-92A1-1B53-74FDB5D02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29550" y="6356350"/>
            <a:ext cx="685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C77B986-2480-449B-886E-7A027CF271D4}" type="slidenum">
              <a:rPr lang="pt-BR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15</a:t>
            </a:fld>
            <a:endParaRPr lang="pt-BR">
              <a:solidFill>
                <a:srgbClr val="FFFFFF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EA20C05-3905-FAB4-C62A-94DE979A85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35" t="2037"/>
          <a:stretch>
            <a:fillRect/>
          </a:stretch>
        </p:blipFill>
        <p:spPr>
          <a:xfrm>
            <a:off x="4355976" y="1556791"/>
            <a:ext cx="4536504" cy="4383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1528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3D8DC1-D244-425D-D9BF-AD1BEA4E8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DAE15D-0F26-1A69-2B50-5E1CAFEE3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" y="325370"/>
            <a:ext cx="8412420" cy="1158936"/>
          </a:xfrm>
        </p:spPr>
        <p:txBody>
          <a:bodyPr anchor="b">
            <a:normAutofit fontScale="90000"/>
          </a:bodyPr>
          <a:lstStyle/>
          <a:p>
            <a:r>
              <a:rPr lang="pt-BR" dirty="0"/>
              <a:t>Arquitetura de três esquemas e independência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CB8E5A-0D03-5A76-924B-04AA1103F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728382"/>
            <a:ext cx="4104456" cy="4383891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pt-BR" sz="2400" dirty="0"/>
              <a:t>2 - O nível externo ou de visão inclui uma série de esquemas externos ou visões do usuário. Cada esquema externo descreve a parte do banco de dados em que um grupo de usuários em particular está interessado e oculta o restante do banco de dados do grupo de usuários. Como no nível anterior, cada esquema externo é comumente implementado usando um modelo de dados representativo, possivelmente baseado em um projeto de esquema externo em um modelo de dados de alto nível.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2B8FD3-4BBE-ED9F-E566-D20C4E3FE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E34370F-5584-414F-81B7-FCDA7CC352AF}" type="datetime1">
              <a:rPr lang="pt-BR" smtClean="0"/>
              <a:pPr>
                <a:spcAft>
                  <a:spcPts val="600"/>
                </a:spcAft>
              </a:pPr>
              <a:t>28/02/2026</a:t>
            </a:fld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9010DBA-26FC-6798-38D2-C6248C5C8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29550" y="6356350"/>
            <a:ext cx="685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C77B986-2480-449B-886E-7A027CF271D4}" type="slidenum">
              <a:rPr lang="pt-BR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16</a:t>
            </a:fld>
            <a:endParaRPr lang="pt-BR">
              <a:solidFill>
                <a:srgbClr val="FFFFFF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3B04B5F-6F85-45CF-16CC-B2EB3AF208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35" t="2037"/>
          <a:stretch>
            <a:fillRect/>
          </a:stretch>
        </p:blipFill>
        <p:spPr>
          <a:xfrm>
            <a:off x="4355976" y="1556791"/>
            <a:ext cx="4536504" cy="4383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1741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17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51520" y="144520"/>
            <a:ext cx="8225305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200" b="1" dirty="0"/>
              <a:t> Sistemas Gerenciadores de Banco de Dados (</a:t>
            </a:r>
            <a:r>
              <a:rPr lang="pt-BR" sz="2200" b="1" dirty="0" err="1"/>
              <a:t>SGBDs</a:t>
            </a:r>
            <a:r>
              <a:rPr lang="pt-BR" sz="2200" b="1" dirty="0"/>
              <a:t>)</a:t>
            </a:r>
          </a:p>
          <a:p>
            <a:pPr algn="just"/>
            <a:r>
              <a:rPr lang="pt-BR" sz="2200" b="1" dirty="0"/>
              <a:t>Entender a Arquitetura e Componentes de um SGBD</a:t>
            </a:r>
            <a:endParaRPr lang="pt-BR" sz="2200" dirty="0"/>
          </a:p>
          <a:p>
            <a:pPr algn="just"/>
            <a:endParaRPr lang="pt-BR" sz="2200" dirty="0"/>
          </a:p>
          <a:p>
            <a:pPr algn="just"/>
            <a:r>
              <a:rPr lang="pt-BR" sz="2200" dirty="0"/>
              <a:t>	Os Sistemas Gerenciadores de Banco de Dados (</a:t>
            </a:r>
            <a:r>
              <a:rPr lang="pt-BR" sz="2200" dirty="0" err="1"/>
              <a:t>SGBDs</a:t>
            </a:r>
            <a:r>
              <a:rPr lang="pt-BR" sz="2200" dirty="0"/>
              <a:t>) são complexos softwares responsáveis por gerenciar a criação, manutenção e utilização de bancos de dados. </a:t>
            </a:r>
          </a:p>
          <a:p>
            <a:pPr algn="just"/>
            <a:r>
              <a:rPr lang="pt-BR" sz="2200" dirty="0"/>
              <a:t>	A arquitetura de um SGBD é composta por vários componentes interligados que trabalham juntos para garantir a </a:t>
            </a:r>
            <a:r>
              <a:rPr lang="pt-BR" sz="2200" b="1" dirty="0"/>
              <a:t>eficiência, segurança e integridade dos dados</a:t>
            </a:r>
            <a:r>
              <a:rPr lang="pt-BR" sz="2200" dirty="0"/>
              <a:t>. Vamos explorar os principais componentes de um SGBD:</a:t>
            </a:r>
          </a:p>
          <a:p>
            <a:pPr algn="just">
              <a:spcAft>
                <a:spcPts val="600"/>
              </a:spcAft>
            </a:pPr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6368861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18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51520" y="144520"/>
            <a:ext cx="8225305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200" b="1" dirty="0"/>
              <a:t> Sistemas Gerenciadores de Banco de Dados (</a:t>
            </a:r>
            <a:r>
              <a:rPr lang="pt-BR" sz="2200" b="1" dirty="0" err="1"/>
              <a:t>SGBDs</a:t>
            </a:r>
            <a:r>
              <a:rPr lang="pt-BR" sz="2200" b="1" dirty="0"/>
              <a:t>)</a:t>
            </a:r>
          </a:p>
          <a:p>
            <a:pPr algn="just"/>
            <a:endParaRPr lang="pt-BR" sz="2200" b="1" dirty="0"/>
          </a:p>
          <a:p>
            <a:pPr algn="just"/>
            <a:r>
              <a:rPr lang="pt-BR" sz="2200" b="1" dirty="0"/>
              <a:t>	Processador de Consultas</a:t>
            </a:r>
          </a:p>
          <a:p>
            <a:pPr algn="just"/>
            <a:r>
              <a:rPr lang="pt-BR" sz="2200" dirty="0"/>
              <a:t>O processador de consultas é um dos componentes mais importantes de um SGBD, responsável por interpretar e executar as instruções SQL fornecidas pelos usuários e aplicações. Este componente pode ser dividido em várias subcomponentes:</a:t>
            </a:r>
          </a:p>
          <a:p>
            <a:pPr algn="just"/>
            <a:endParaRPr lang="pt-BR" sz="2200" b="1" dirty="0"/>
          </a:p>
          <a:p>
            <a:pPr algn="just"/>
            <a:r>
              <a:rPr lang="pt-BR" sz="2200" b="1" dirty="0"/>
              <a:t>	Analisador Sintático (</a:t>
            </a:r>
            <a:r>
              <a:rPr lang="pt-BR" sz="2200" b="1" dirty="0" err="1"/>
              <a:t>Parser</a:t>
            </a:r>
            <a:r>
              <a:rPr lang="pt-BR" sz="2200" b="1" dirty="0"/>
              <a:t>)</a:t>
            </a:r>
            <a:r>
              <a:rPr lang="pt-BR" sz="2200" dirty="0"/>
              <a:t>: Converte a consulta SQL em uma estrutura interna que pode ser processada pelo sistema. Verifica a sintaxe da consulta para garantir que esteja correta.</a:t>
            </a:r>
          </a:p>
          <a:p>
            <a:pPr algn="just">
              <a:spcAft>
                <a:spcPts val="600"/>
              </a:spcAft>
            </a:pPr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9942467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19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51520" y="144520"/>
            <a:ext cx="8225305" cy="3580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200" b="1" dirty="0"/>
              <a:t> Sistemas Gerenciadores de Banco de Dados (</a:t>
            </a:r>
            <a:r>
              <a:rPr lang="pt-BR" sz="2200" b="1" dirty="0" err="1"/>
              <a:t>SGBDs</a:t>
            </a:r>
            <a:r>
              <a:rPr lang="pt-BR" sz="2200" b="1" dirty="0"/>
              <a:t>)</a:t>
            </a:r>
          </a:p>
          <a:p>
            <a:pPr algn="just"/>
            <a:endParaRPr lang="pt-BR" sz="2200" b="1" dirty="0"/>
          </a:p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lang="pt-BR" sz="2200" b="1" dirty="0"/>
              <a:t>	</a:t>
            </a:r>
            <a:r>
              <a:rPr lang="pt-BR" sz="2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Analisador Semântico</a:t>
            </a:r>
            <a:r>
              <a:rPr lang="pt-BR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Garante que a consulta faz sentido do ponto de vista lógico e que as tabelas e colunas referenciadas existem.</a:t>
            </a:r>
            <a:endParaRPr lang="pt-BR" sz="22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pt-BR" sz="2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</a:p>
          <a:p>
            <a:pPr algn="just"/>
            <a:r>
              <a:rPr lang="pt-BR" sz="22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Otimizador</a:t>
            </a:r>
            <a:r>
              <a:rPr lang="pt-BR" sz="2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de Consultas</a:t>
            </a:r>
            <a:r>
              <a:rPr lang="pt-BR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Determina a forma mais eficiente de executar a consulta. Utiliza estatísticas e heurísticas para escolher os melhores planos de execução, como quais índices utilizar e a ordem das operações de junção.</a:t>
            </a:r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8271033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20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51520" y="144520"/>
            <a:ext cx="8225305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200" b="1" dirty="0"/>
              <a:t> Sistemas Gerenciadores de Banco de Dados (</a:t>
            </a:r>
            <a:r>
              <a:rPr lang="pt-BR" sz="2200" b="1" dirty="0" err="1"/>
              <a:t>SGBDs</a:t>
            </a:r>
            <a:r>
              <a:rPr lang="pt-BR" sz="2200" b="1" dirty="0"/>
              <a:t>)</a:t>
            </a:r>
          </a:p>
          <a:p>
            <a:pPr algn="just"/>
            <a:endParaRPr lang="pt-BR" sz="2200" b="1" dirty="0"/>
          </a:p>
          <a:p>
            <a:pPr algn="just"/>
            <a:r>
              <a:rPr lang="pt-BR" sz="2200" b="1" dirty="0"/>
              <a:t>	 Gerador de Código</a:t>
            </a:r>
            <a:r>
              <a:rPr lang="pt-BR" sz="2200" dirty="0"/>
              <a:t>: Transforma o plano de execução em comandos que podem ser executados pelo sistema de banco de dados.</a:t>
            </a:r>
          </a:p>
          <a:p>
            <a:pPr algn="just"/>
            <a:endParaRPr lang="pt-BR" sz="2200" b="1" dirty="0"/>
          </a:p>
          <a:p>
            <a:pPr algn="just"/>
            <a:r>
              <a:rPr lang="pt-BR" sz="2200" b="1" dirty="0"/>
              <a:t>	Exemplo Prático</a:t>
            </a:r>
            <a:r>
              <a:rPr lang="pt-BR" sz="2200" dirty="0"/>
              <a:t>: Quando um usuário faz uma consulta para obter a lista de produtos com estoque abaixo de um certo nível, o processador de consultas converte essa solicitação em operações de baixo nível que recuperam e filtram os dados desejados.</a:t>
            </a:r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4035941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21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51520" y="144520"/>
            <a:ext cx="8225305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200" b="1" dirty="0"/>
              <a:t> Sistemas Gerenciadores de Banco de Dados (</a:t>
            </a:r>
            <a:r>
              <a:rPr lang="pt-BR" sz="2200" b="1" dirty="0" err="1"/>
              <a:t>SGBDs</a:t>
            </a:r>
            <a:r>
              <a:rPr lang="pt-BR" sz="2200" b="1" dirty="0"/>
              <a:t>)</a:t>
            </a:r>
          </a:p>
          <a:p>
            <a:pPr algn="just"/>
            <a:endParaRPr lang="pt-BR" sz="2200" b="1" dirty="0"/>
          </a:p>
          <a:p>
            <a:pPr algn="just"/>
            <a:r>
              <a:rPr lang="pt-BR" sz="2200" b="1" dirty="0"/>
              <a:t>	 Consistência</a:t>
            </a:r>
            <a:r>
              <a:rPr lang="pt-BR" sz="2200" dirty="0"/>
              <a:t>: Garante que uma transação leva o banco de dados de um estado consistente a outro estado consistente.</a:t>
            </a:r>
          </a:p>
          <a:p>
            <a:pPr algn="just"/>
            <a:endParaRPr lang="pt-BR" sz="2200" b="1" dirty="0"/>
          </a:p>
          <a:p>
            <a:pPr algn="just"/>
            <a:r>
              <a:rPr lang="pt-BR" sz="2200" b="1" dirty="0"/>
              <a:t>	Isolamento</a:t>
            </a:r>
            <a:r>
              <a:rPr lang="pt-BR" sz="2200" dirty="0"/>
              <a:t>: Garante que as operações de uma transação sejam isoladas de outras transações concorrentes, evitando conflitos.</a:t>
            </a:r>
          </a:p>
          <a:p>
            <a:pPr algn="just"/>
            <a:endParaRPr lang="pt-BR" sz="2200" b="1" dirty="0"/>
          </a:p>
          <a:p>
            <a:pPr algn="just"/>
            <a:r>
              <a:rPr lang="pt-BR" sz="2200" b="1" dirty="0"/>
              <a:t>	Durabilidade</a:t>
            </a:r>
            <a:r>
              <a:rPr lang="pt-BR" sz="2200" dirty="0"/>
              <a:t>: Garante que uma vez que uma transação seja concluída, suas mudanças são permanentes, mesmo em caso de falha do sistema.</a:t>
            </a:r>
          </a:p>
        </p:txBody>
      </p:sp>
    </p:spTree>
    <p:extLst>
      <p:ext uri="{BB962C8B-B14F-4D97-AF65-F5344CB8AC3E}">
        <p14:creationId xmlns:p14="http://schemas.microsoft.com/office/powerpoint/2010/main" val="456451822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22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51520" y="144520"/>
            <a:ext cx="8225305" cy="32561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200" b="1" dirty="0"/>
              <a:t> Sistemas Gerenciadores de Banco de Dados (</a:t>
            </a:r>
            <a:r>
              <a:rPr lang="pt-BR" sz="2200" b="1" dirty="0" err="1"/>
              <a:t>SGBDs</a:t>
            </a:r>
            <a:r>
              <a:rPr lang="pt-BR" sz="2200" b="1" dirty="0"/>
              <a:t>)</a:t>
            </a:r>
          </a:p>
          <a:p>
            <a:pPr algn="just"/>
            <a:endParaRPr lang="pt-BR" sz="2200" b="1" dirty="0"/>
          </a:p>
          <a:p>
            <a:pPr algn="just">
              <a:lnSpc>
                <a:spcPct val="150000"/>
              </a:lnSpc>
            </a:pPr>
            <a:r>
              <a:rPr lang="pt-BR" sz="2200" b="1" dirty="0"/>
              <a:t>	 Exemplo Prático</a:t>
            </a:r>
            <a:r>
              <a:rPr lang="pt-BR" sz="2200" dirty="0"/>
              <a:t>: Quando um cliente realiza uma compra online, o gerenciador de transações assegura que o estoque seja atualizado corretamente, o pagamento seja processado e um recibo seja gerado, ou que nenhum desses passos seja realizado se ocorrer algum erro.</a:t>
            </a:r>
          </a:p>
        </p:txBody>
      </p:sp>
    </p:spTree>
    <p:extLst>
      <p:ext uri="{BB962C8B-B14F-4D97-AF65-F5344CB8AC3E}">
        <p14:creationId xmlns:p14="http://schemas.microsoft.com/office/powerpoint/2010/main" val="57401996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23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51520" y="144520"/>
            <a:ext cx="8225305" cy="46103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200" b="1" dirty="0"/>
              <a:t> Sistemas Gerenciadores de Banco de Dados (</a:t>
            </a:r>
            <a:r>
              <a:rPr lang="pt-BR" sz="2200" b="1" dirty="0" err="1"/>
              <a:t>SGBDs</a:t>
            </a:r>
            <a:r>
              <a:rPr lang="pt-BR" sz="2200" b="1" dirty="0"/>
              <a:t>)</a:t>
            </a:r>
          </a:p>
          <a:p>
            <a:pPr algn="just"/>
            <a:endParaRPr lang="pt-BR" sz="2200" b="1" dirty="0"/>
          </a:p>
          <a:p>
            <a:pPr algn="just"/>
            <a:r>
              <a:rPr lang="pt-BR" sz="2200" b="1" dirty="0"/>
              <a:t>	 Sistema de Armazenamento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dirty="0"/>
              <a:t>	O sistema de armazenamento é o componente que gerencia a forma como os dados são armazenados e recuperados do meio físico. Ele lida com a alocação de espaço, a organização dos dados e o gerenciamento de acesso. Este componente pode ser dividido em várias subcomponentes:</a:t>
            </a:r>
          </a:p>
          <a:p>
            <a:pPr algn="just"/>
            <a:endParaRPr lang="pt-BR" sz="2200" b="1" dirty="0"/>
          </a:p>
          <a:p>
            <a:pPr algn="just"/>
            <a:r>
              <a:rPr lang="pt-BR" sz="2200" b="1" dirty="0"/>
              <a:t>	Gerenciador de Espaço de Armazenamento</a:t>
            </a:r>
            <a:r>
              <a:rPr lang="pt-BR" sz="2200" dirty="0"/>
              <a:t>: Lida com a alocação e a liberação de espaço no disco para dados e índices.</a:t>
            </a:r>
          </a:p>
          <a:p>
            <a:pPr algn="just">
              <a:lnSpc>
                <a:spcPct val="150000"/>
              </a:lnSpc>
            </a:pPr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2389166828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24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51520" y="144520"/>
            <a:ext cx="8225305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200" b="1" dirty="0"/>
              <a:t> Sistemas Gerenciadores de Banco de Dados (</a:t>
            </a:r>
            <a:r>
              <a:rPr lang="pt-BR" sz="2200" b="1" dirty="0" err="1"/>
              <a:t>SGBDs</a:t>
            </a:r>
            <a:r>
              <a:rPr lang="pt-BR" sz="2200" b="1" dirty="0"/>
              <a:t>)</a:t>
            </a:r>
          </a:p>
          <a:p>
            <a:pPr algn="just"/>
            <a:endParaRPr lang="pt-BR" sz="2200" b="1" dirty="0"/>
          </a:p>
          <a:p>
            <a:pPr algn="just"/>
            <a:r>
              <a:rPr lang="pt-BR" sz="2200" b="1" dirty="0"/>
              <a:t>	 Sistema de Armazenamento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b="1" dirty="0"/>
              <a:t>	Gerenciador de Buffers</a:t>
            </a:r>
            <a:r>
              <a:rPr lang="pt-BR" sz="2200" dirty="0"/>
              <a:t>: Gerencia a memória cache utilizada para armazenar temporariamente dados e índices que estão sendo processados. Isso melhora o desempenho ao reduzir o número de acessos ao disco.</a:t>
            </a:r>
          </a:p>
          <a:p>
            <a:pPr algn="just"/>
            <a:r>
              <a:rPr lang="pt-BR" sz="2200" b="1" dirty="0"/>
              <a:t>	Gerenciador de Arquivos</a:t>
            </a:r>
            <a:r>
              <a:rPr lang="pt-BR" sz="2200" dirty="0"/>
              <a:t>: Organiza os dados em arquivos e diretórios no sistema de arquivos subjacente, cuidando do acesso físico aos dados.</a:t>
            </a:r>
          </a:p>
          <a:p>
            <a:pPr algn="just"/>
            <a:r>
              <a:rPr lang="pt-BR" sz="2200" b="1" dirty="0"/>
              <a:t>	Gerenciador de Índices</a:t>
            </a:r>
            <a:r>
              <a:rPr lang="pt-BR" sz="2200" dirty="0"/>
              <a:t>: Mantém estruturas de índice que permitem o acesso rápido aos dados. Os índices são usados para melhorar a velocidade de recuperação de dados.</a:t>
            </a:r>
          </a:p>
        </p:txBody>
      </p:sp>
    </p:spTree>
    <p:extLst>
      <p:ext uri="{BB962C8B-B14F-4D97-AF65-F5344CB8AC3E}">
        <p14:creationId xmlns:p14="http://schemas.microsoft.com/office/powerpoint/2010/main" val="1000659675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25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51520" y="144520"/>
            <a:ext cx="8225305" cy="39332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200" b="1" dirty="0"/>
              <a:t> Sistemas Gerenciadores de Banco de Dados (</a:t>
            </a:r>
            <a:r>
              <a:rPr lang="pt-BR" sz="2200" b="1" dirty="0" err="1"/>
              <a:t>SGBDs</a:t>
            </a:r>
            <a:r>
              <a:rPr lang="pt-BR" sz="2200" b="1" dirty="0"/>
              <a:t>)</a:t>
            </a:r>
          </a:p>
          <a:p>
            <a:pPr algn="just"/>
            <a:endParaRPr lang="pt-BR" sz="2200" b="1" dirty="0"/>
          </a:p>
          <a:p>
            <a:pPr algn="just"/>
            <a:r>
              <a:rPr lang="pt-BR" sz="2200" b="1" dirty="0"/>
              <a:t>	 Sistema de Armazenamento</a:t>
            </a:r>
          </a:p>
          <a:p>
            <a:pPr algn="just"/>
            <a:endParaRPr lang="pt-BR" sz="2200" dirty="0"/>
          </a:p>
          <a:p>
            <a:pPr algn="just">
              <a:lnSpc>
                <a:spcPct val="150000"/>
              </a:lnSpc>
            </a:pPr>
            <a:r>
              <a:rPr lang="pt-BR" sz="2200" b="1" dirty="0"/>
              <a:t>Exemplo Prático</a:t>
            </a:r>
            <a:r>
              <a:rPr lang="pt-BR" sz="2200" dirty="0"/>
              <a:t>: Quando um usuário consulta uma tabela com milhões de registros, o sistema de armazenamento utiliza índices para localizar rapidamente os registros relevantes e o gerenciador de buffers para armazenar temporariamente os dados acessados frequentemente, reduzindo o tempo de resposta.</a:t>
            </a:r>
          </a:p>
        </p:txBody>
      </p:sp>
    </p:spTree>
    <p:extLst>
      <p:ext uri="{BB962C8B-B14F-4D97-AF65-F5344CB8AC3E}">
        <p14:creationId xmlns:p14="http://schemas.microsoft.com/office/powerpoint/2010/main" val="2304179149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51520" y="144520"/>
            <a:ext cx="8225305" cy="52874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200" b="1" dirty="0"/>
              <a:t> Sistemas Gerenciadores de Banco de Dados (</a:t>
            </a:r>
            <a:r>
              <a:rPr lang="pt-BR" sz="2200" b="1" dirty="0" err="1"/>
              <a:t>SGBDs</a:t>
            </a:r>
            <a:r>
              <a:rPr lang="pt-BR" sz="2200" b="1" dirty="0"/>
              <a:t>)</a:t>
            </a:r>
          </a:p>
          <a:p>
            <a:pPr algn="just"/>
            <a:endParaRPr lang="pt-BR" sz="2200" b="1" dirty="0"/>
          </a:p>
          <a:p>
            <a:pPr algn="just">
              <a:lnSpc>
                <a:spcPct val="150000"/>
              </a:lnSpc>
            </a:pPr>
            <a:r>
              <a:rPr lang="pt-BR" sz="2200" b="1" dirty="0"/>
              <a:t>Sistema de Controle de Concorrência</a:t>
            </a:r>
          </a:p>
          <a:p>
            <a:pPr algn="just">
              <a:lnSpc>
                <a:spcPct val="150000"/>
              </a:lnSpc>
            </a:pPr>
            <a:r>
              <a:rPr lang="pt-BR" sz="2200" dirty="0"/>
              <a:t>O sistema de controle de concorrência é responsável por gerenciar o acesso simultâneo ao banco de dados por múltiplos usuários e aplicações, garantindo que as transações sejam executadas de forma segura e eficiente. As principais técnicas de controle de concorrência incluem:</a:t>
            </a:r>
          </a:p>
          <a:p>
            <a:pPr algn="just">
              <a:lnSpc>
                <a:spcPct val="150000"/>
              </a:lnSpc>
            </a:pPr>
            <a:r>
              <a:rPr lang="pt-BR" sz="2200" b="1" dirty="0"/>
              <a:t>Bloqueios (</a:t>
            </a:r>
            <a:r>
              <a:rPr lang="pt-BR" sz="2200" b="1" dirty="0" err="1"/>
              <a:t>Locks</a:t>
            </a:r>
            <a:r>
              <a:rPr lang="pt-BR" sz="2200" b="1" dirty="0"/>
              <a:t>)</a:t>
            </a:r>
            <a:r>
              <a:rPr lang="pt-BR" sz="2200" dirty="0"/>
              <a:t>: Utilizados para controlar o acesso a recursos. Podem ser de diferentes granularidades, como nível de tabela, nível de página ou nível de registro.</a:t>
            </a:r>
          </a:p>
        </p:txBody>
      </p:sp>
    </p:spTree>
    <p:extLst>
      <p:ext uri="{BB962C8B-B14F-4D97-AF65-F5344CB8AC3E}">
        <p14:creationId xmlns:p14="http://schemas.microsoft.com/office/powerpoint/2010/main" val="4026904605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27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51520" y="144520"/>
            <a:ext cx="8225305" cy="5795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200" b="1" dirty="0"/>
              <a:t> Sistemas Gerenciadores de Banco de Dados (</a:t>
            </a:r>
            <a:r>
              <a:rPr lang="pt-BR" sz="2200" b="1" dirty="0" err="1"/>
              <a:t>SGBDs</a:t>
            </a:r>
            <a:r>
              <a:rPr lang="pt-BR" sz="2200" b="1" dirty="0"/>
              <a:t>)</a:t>
            </a:r>
          </a:p>
          <a:p>
            <a:pPr algn="just"/>
            <a:endParaRPr lang="pt-BR" sz="2200" b="1" dirty="0"/>
          </a:p>
          <a:p>
            <a:pPr algn="just">
              <a:lnSpc>
                <a:spcPct val="150000"/>
              </a:lnSpc>
            </a:pPr>
            <a:r>
              <a:rPr lang="pt-BR" sz="2200" b="1" dirty="0"/>
              <a:t>Sistema de Controle de Concorrência</a:t>
            </a:r>
          </a:p>
          <a:p>
            <a:pPr algn="just">
              <a:lnSpc>
                <a:spcPct val="150000"/>
              </a:lnSpc>
            </a:pPr>
            <a:r>
              <a:rPr lang="pt-BR" sz="2200" b="1" dirty="0"/>
              <a:t>Versão de Tempo (</a:t>
            </a:r>
            <a:r>
              <a:rPr lang="pt-BR" sz="2200" b="1" dirty="0" err="1"/>
              <a:t>Timestamping</a:t>
            </a:r>
            <a:r>
              <a:rPr lang="pt-BR" sz="2200" b="1" dirty="0"/>
              <a:t>)</a:t>
            </a:r>
            <a:r>
              <a:rPr lang="pt-BR" sz="2200" dirty="0"/>
              <a:t>: Atribui </a:t>
            </a:r>
            <a:r>
              <a:rPr lang="pt-BR" sz="2200" dirty="0" err="1"/>
              <a:t>timestamps</a:t>
            </a:r>
            <a:r>
              <a:rPr lang="pt-BR" sz="2200" dirty="0"/>
              <a:t> a cada transação e garante que as transações sejam executadas em uma ordem consistente.</a:t>
            </a:r>
          </a:p>
          <a:p>
            <a:pPr algn="just">
              <a:lnSpc>
                <a:spcPct val="150000"/>
              </a:lnSpc>
            </a:pPr>
            <a:r>
              <a:rPr lang="pt-BR" sz="2200" b="1" dirty="0"/>
              <a:t>Controle de Concorrência Otimista</a:t>
            </a:r>
            <a:r>
              <a:rPr lang="pt-BR" sz="2200" dirty="0"/>
              <a:t>: Assume que os conflitos são raros e verifica a consistência dos dados apenas no final da transação.</a:t>
            </a:r>
          </a:p>
          <a:p>
            <a:pPr algn="just">
              <a:lnSpc>
                <a:spcPct val="150000"/>
              </a:lnSpc>
            </a:pPr>
            <a:r>
              <a:rPr lang="pt-BR" sz="2200" b="1" dirty="0"/>
              <a:t>Exemplo Prático</a:t>
            </a:r>
            <a:r>
              <a:rPr lang="pt-BR" sz="2200" dirty="0"/>
              <a:t>: Em um sistema bancário, quando dois caixas tentam atualizar a mesma conta simultaneamente, o sistema de controle de concorrência assegura que as operações sejam serializadas e que as informações da conta permaneçam corretas.</a:t>
            </a:r>
          </a:p>
        </p:txBody>
      </p:sp>
    </p:spTree>
    <p:extLst>
      <p:ext uri="{BB962C8B-B14F-4D97-AF65-F5344CB8AC3E}">
        <p14:creationId xmlns:p14="http://schemas.microsoft.com/office/powerpoint/2010/main" val="3399868602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51520" y="44624"/>
            <a:ext cx="8225305" cy="59645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200" b="1" dirty="0"/>
              <a:t> Sistemas Gerenciadores de Banco de Dados (</a:t>
            </a:r>
            <a:r>
              <a:rPr lang="pt-BR" sz="2200" b="1" dirty="0" err="1"/>
              <a:t>SGBDs</a:t>
            </a:r>
            <a:r>
              <a:rPr lang="pt-BR" sz="2200" b="1" dirty="0"/>
              <a:t>)</a:t>
            </a:r>
          </a:p>
          <a:p>
            <a:pPr algn="just">
              <a:lnSpc>
                <a:spcPct val="150000"/>
              </a:lnSpc>
            </a:pPr>
            <a:r>
              <a:rPr lang="pt-BR" sz="2200" b="1" dirty="0"/>
              <a:t>Sistema de Recuperação</a:t>
            </a:r>
            <a:endParaRPr lang="pt-BR" sz="2200" dirty="0"/>
          </a:p>
          <a:p>
            <a:pPr algn="just">
              <a:lnSpc>
                <a:spcPct val="150000"/>
              </a:lnSpc>
            </a:pPr>
            <a:r>
              <a:rPr lang="pt-BR" sz="2200" dirty="0"/>
              <a:t>O sistema de recuperação é responsável por restaurar o banco de dados a um estado consistente após uma falha, seja ela causada por erro de software, falha de hardware ou erro humano. As principais técnicas de recuperação incluem:</a:t>
            </a:r>
          </a:p>
          <a:p>
            <a:pPr algn="just">
              <a:lnSpc>
                <a:spcPct val="150000"/>
              </a:lnSpc>
            </a:pPr>
            <a:r>
              <a:rPr lang="pt-BR" sz="2200" b="1" dirty="0"/>
              <a:t>Log de Transações</a:t>
            </a:r>
            <a:r>
              <a:rPr lang="pt-BR" sz="2200" dirty="0"/>
              <a:t>: Mantém um registro de todas as mudanças feitas no banco de dados. Em caso de falha, o log é usado para refazer ou desfazer transações.</a:t>
            </a:r>
          </a:p>
          <a:p>
            <a:pPr algn="just">
              <a:lnSpc>
                <a:spcPct val="150000"/>
              </a:lnSpc>
            </a:pPr>
            <a:r>
              <a:rPr lang="pt-BR" sz="2200" b="1" dirty="0"/>
              <a:t>Checkpoints</a:t>
            </a:r>
            <a:r>
              <a:rPr lang="pt-BR" sz="2200" dirty="0"/>
              <a:t>: Pontos no tempo em que o estado do banco de dados é salvo de forma estável. Facilita a recuperação ao reduzir a quantidade de log que precisa ser processado.</a:t>
            </a:r>
          </a:p>
        </p:txBody>
      </p:sp>
    </p:spTree>
    <p:extLst>
      <p:ext uri="{BB962C8B-B14F-4D97-AF65-F5344CB8AC3E}">
        <p14:creationId xmlns:p14="http://schemas.microsoft.com/office/powerpoint/2010/main" val="1495405548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29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51520" y="44624"/>
            <a:ext cx="8225305" cy="4441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200" b="1" dirty="0"/>
              <a:t> Sistemas Gerenciadores de Banco de Dados (</a:t>
            </a:r>
            <a:r>
              <a:rPr lang="pt-BR" sz="2200" b="1" dirty="0" err="1"/>
              <a:t>SGBDs</a:t>
            </a:r>
            <a:r>
              <a:rPr lang="pt-BR" sz="2200" b="1" dirty="0"/>
              <a:t>)</a:t>
            </a:r>
          </a:p>
          <a:p>
            <a:pPr algn="just">
              <a:lnSpc>
                <a:spcPct val="150000"/>
              </a:lnSpc>
            </a:pPr>
            <a:r>
              <a:rPr lang="pt-BR" sz="2200" b="1" dirty="0"/>
              <a:t>Sistema de Recuperação</a:t>
            </a:r>
          </a:p>
          <a:p>
            <a:pPr algn="just">
              <a:lnSpc>
                <a:spcPct val="150000"/>
              </a:lnSpc>
            </a:pPr>
            <a:r>
              <a:rPr lang="pt-BR" sz="2200" b="1" dirty="0"/>
              <a:t>Técnicas de Backup e Restauração</a:t>
            </a:r>
            <a:r>
              <a:rPr lang="pt-BR" sz="2200" dirty="0"/>
              <a:t>: Incluem backups completos, incrementais e diferenciais, que permitem a restauração do banco de dados a um ponto anterior no tempo.</a:t>
            </a:r>
          </a:p>
          <a:p>
            <a:pPr algn="just">
              <a:lnSpc>
                <a:spcPct val="150000"/>
              </a:lnSpc>
            </a:pPr>
            <a:r>
              <a:rPr lang="pt-BR" sz="2200" b="1" dirty="0"/>
              <a:t>Exemplo Prático</a:t>
            </a:r>
            <a:r>
              <a:rPr lang="pt-BR" sz="2200" dirty="0"/>
              <a:t>: Se houver uma falha de energia enquanto uma transação está em andamento, o sistema de recuperação usará o log de transações e os checkpoints para restaurar o banco de dados ao último estado consistente.</a:t>
            </a:r>
          </a:p>
        </p:txBody>
      </p:sp>
    </p:spTree>
    <p:extLst>
      <p:ext uri="{BB962C8B-B14F-4D97-AF65-F5344CB8AC3E}">
        <p14:creationId xmlns:p14="http://schemas.microsoft.com/office/powerpoint/2010/main" val="238385610"/>
      </p:ext>
    </p:extLst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30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51520" y="44624"/>
            <a:ext cx="8225305" cy="56169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200" b="1" dirty="0"/>
              <a:t> Sistemas Gerenciadores de Banco de Dados (</a:t>
            </a:r>
            <a:r>
              <a:rPr lang="pt-BR" sz="2200" b="1" dirty="0" err="1"/>
              <a:t>SGBDs</a:t>
            </a:r>
            <a:r>
              <a:rPr lang="pt-BR" sz="2200" b="1" dirty="0"/>
              <a:t>)</a:t>
            </a:r>
          </a:p>
          <a:p>
            <a:pPr algn="just"/>
            <a:endParaRPr lang="pt-BR" dirty="0"/>
          </a:p>
          <a:p>
            <a:pPr algn="just">
              <a:lnSpc>
                <a:spcPct val="150000"/>
              </a:lnSpc>
            </a:pPr>
            <a:r>
              <a:rPr lang="pt-BR" sz="2200" dirty="0"/>
              <a:t>	Entender a arquitetura e os componentes de um SGBD é essencial para o desenvolvimento, administração e otimização de sistemas de banco de dados. Cada componente desempenha um papel vital na garantia de que os dados sejam armazenados, acessados e gerenciados de maneira eficiente e segura. A combinação de um processador de consultas robusto, um gerenciador de transações confiável, um sistema de armazenamento eficiente, um controle de concorrência eficaz e um sistema de recuperação resiliente forma a base de um sistema de banco de dados sólido e de alto desempenho.</a:t>
            </a:r>
          </a:p>
          <a:p>
            <a:pPr algn="just"/>
            <a:endParaRPr lang="pt-BR" sz="2200" b="1" dirty="0"/>
          </a:p>
        </p:txBody>
      </p:sp>
    </p:spTree>
    <p:extLst>
      <p:ext uri="{BB962C8B-B14F-4D97-AF65-F5344CB8AC3E}">
        <p14:creationId xmlns:p14="http://schemas.microsoft.com/office/powerpoint/2010/main" val="2994008561"/>
      </p:ext>
    </p:extLst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31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51520" y="213412"/>
            <a:ext cx="8280920" cy="55198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pt-BR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 Sistemas Gerenciadores de Banco de 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pt-BR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Dados (</a:t>
            </a:r>
            <a:r>
              <a:rPr lang="pt-BR" sz="2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SGBDs</a:t>
            </a:r>
            <a:r>
              <a:rPr lang="pt-BR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são fundamentais para a 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pt-BR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gestão eficiente e segura de dados em 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pt-BR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Diversas aplicações. Cada SGBD 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pt-BR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possui características e vantagens específicas que o tornam mais adequado para determinados cenários de uso. Compreender as funções básicas e as vantagens dos principais </a:t>
            </a:r>
            <a:r>
              <a:rPr lang="pt-BR" sz="2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SGBDs</a:t>
            </a:r>
            <a:r>
              <a:rPr lang="pt-BR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como MySQL, PostgreSQL, Oracle e SQL Server, permite que profissionais de TI escolham a melhor ferramenta para suas necessidades específicas, garantindo desempenho, escalabilidade e integridade dos dados.</a:t>
            </a:r>
            <a:endParaRPr lang="pt-BR" sz="22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 descr="SGBD's – Consulta BD">
            <a:extLst>
              <a:ext uri="{FF2B5EF4-FFF2-40B4-BE49-F238E27FC236}">
                <a16:creationId xmlns:a16="http://schemas.microsoft.com/office/drawing/2014/main" id="{3F734F16-B929-4550-AC27-D6BD87A3DA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92144" y="260648"/>
            <a:ext cx="3357276" cy="2304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8158875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32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51520" y="144520"/>
            <a:ext cx="8225305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200" b="1" dirty="0"/>
              <a:t> Sistemas Gerenciadores de Banco de Dados (</a:t>
            </a:r>
            <a:r>
              <a:rPr lang="pt-BR" sz="2200" b="1" dirty="0" err="1"/>
              <a:t>SGBDs</a:t>
            </a:r>
            <a:r>
              <a:rPr lang="pt-BR" sz="2200" b="1" dirty="0"/>
              <a:t>)</a:t>
            </a:r>
          </a:p>
          <a:p>
            <a:pPr algn="just"/>
            <a:r>
              <a:rPr lang="pt-BR" sz="2200" b="1" dirty="0"/>
              <a:t>Entender a Arquitetura e Componentes de um SGBD</a:t>
            </a:r>
            <a:endParaRPr lang="pt-BR" sz="2200" dirty="0"/>
          </a:p>
          <a:p>
            <a:pPr algn="just"/>
            <a:endParaRPr lang="pt-BR" sz="2200" dirty="0"/>
          </a:p>
          <a:p>
            <a:pPr algn="just"/>
            <a:r>
              <a:rPr lang="pt-BR" sz="2200" dirty="0"/>
              <a:t>	Os Sistemas Gerenciadores de Banco de Dados (</a:t>
            </a:r>
            <a:r>
              <a:rPr lang="pt-BR" sz="2200" dirty="0" err="1"/>
              <a:t>SGBDs</a:t>
            </a:r>
            <a:r>
              <a:rPr lang="pt-BR" sz="2200" dirty="0"/>
              <a:t>) são complexos softwares responsáveis por gerenciar a criação, manutenção e utilização de bancos de dados. </a:t>
            </a:r>
          </a:p>
          <a:p>
            <a:pPr algn="just"/>
            <a:r>
              <a:rPr lang="pt-BR" sz="2200" dirty="0"/>
              <a:t>	A arquitetura de um SGBD é composta por vários componentes interligados que trabalham juntos para garantir a </a:t>
            </a:r>
            <a:r>
              <a:rPr lang="pt-BR" sz="2200" b="1" dirty="0"/>
              <a:t>eficiência, segurança e integridade dos dados</a:t>
            </a:r>
            <a:r>
              <a:rPr lang="pt-BR" sz="2200" dirty="0"/>
              <a:t>. Vamos explorar os principais componentes de um SGBD:</a:t>
            </a:r>
          </a:p>
          <a:p>
            <a:pPr algn="just">
              <a:spcAft>
                <a:spcPts val="600"/>
              </a:spcAft>
            </a:pPr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1535649"/>
      </p:ext>
    </p:extLst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33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51520" y="144520"/>
            <a:ext cx="8225305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200" b="1" dirty="0"/>
              <a:t> Sistemas Gerenciadores de Banco de Dados (</a:t>
            </a:r>
            <a:r>
              <a:rPr lang="pt-BR" sz="2200" b="1" dirty="0" err="1"/>
              <a:t>SGBDs</a:t>
            </a:r>
            <a:r>
              <a:rPr lang="pt-BR" sz="2200" b="1" dirty="0"/>
              <a:t>)</a:t>
            </a:r>
          </a:p>
          <a:p>
            <a:pPr algn="just"/>
            <a:endParaRPr lang="pt-BR" sz="2200" b="1" dirty="0"/>
          </a:p>
          <a:p>
            <a:pPr algn="just"/>
            <a:r>
              <a:rPr lang="pt-BR" sz="2200" b="1" dirty="0"/>
              <a:t>	Processador de Consultas</a:t>
            </a:r>
          </a:p>
          <a:p>
            <a:pPr algn="just"/>
            <a:r>
              <a:rPr lang="pt-BR" sz="2200" dirty="0"/>
              <a:t>O processador de consultas é um dos componentes mais importantes de um SGBD, responsável por interpretar e executar as instruções SQL fornecidas pelos usuários e aplicações. Este componente pode ser dividido em várias subcomponentes:</a:t>
            </a:r>
          </a:p>
          <a:p>
            <a:pPr algn="just"/>
            <a:endParaRPr lang="pt-BR" sz="2200" b="1" dirty="0"/>
          </a:p>
          <a:p>
            <a:pPr algn="just"/>
            <a:r>
              <a:rPr lang="pt-BR" sz="2200" b="1" dirty="0"/>
              <a:t>	Analisador Sintático (</a:t>
            </a:r>
            <a:r>
              <a:rPr lang="pt-BR" sz="2200" b="1" dirty="0" err="1"/>
              <a:t>Parser</a:t>
            </a:r>
            <a:r>
              <a:rPr lang="pt-BR" sz="2200" b="1" dirty="0"/>
              <a:t>)</a:t>
            </a:r>
            <a:r>
              <a:rPr lang="pt-BR" sz="2200" dirty="0"/>
              <a:t>: Converte a consulta SQL em uma estrutura interna que pode ser processada pelo sistema. Verifica a sintaxe da consulta para garantir que esteja correta.</a:t>
            </a:r>
          </a:p>
          <a:p>
            <a:pPr algn="just">
              <a:spcAft>
                <a:spcPts val="600"/>
              </a:spcAft>
            </a:pPr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1090538"/>
      </p:ext>
    </p:extLst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34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51520" y="144520"/>
            <a:ext cx="8225305" cy="3580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200" b="1" dirty="0"/>
              <a:t> Sistemas Gerenciadores de Banco de Dados (</a:t>
            </a:r>
            <a:r>
              <a:rPr lang="pt-BR" sz="2200" b="1" dirty="0" err="1"/>
              <a:t>SGBDs</a:t>
            </a:r>
            <a:r>
              <a:rPr lang="pt-BR" sz="2200" b="1" dirty="0"/>
              <a:t>)</a:t>
            </a:r>
          </a:p>
          <a:p>
            <a:pPr algn="just"/>
            <a:endParaRPr lang="pt-BR" sz="2200" b="1" dirty="0"/>
          </a:p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lang="pt-BR" sz="2200" b="1" dirty="0"/>
              <a:t>	</a:t>
            </a:r>
            <a:r>
              <a:rPr lang="pt-BR" sz="2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Analisador Semântico</a:t>
            </a:r>
            <a:r>
              <a:rPr lang="pt-BR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Garante que a consulta faz sentido do ponto de vista lógico e que as tabelas e colunas referenciadas existem.</a:t>
            </a:r>
            <a:endParaRPr lang="pt-BR" sz="22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pt-BR" sz="2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</a:p>
          <a:p>
            <a:pPr algn="just"/>
            <a:r>
              <a:rPr lang="pt-BR" sz="22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Otimizador</a:t>
            </a:r>
            <a:r>
              <a:rPr lang="pt-BR" sz="2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de Consultas</a:t>
            </a:r>
            <a:r>
              <a:rPr lang="pt-BR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Determina a forma mais eficiente de executar a consulta. Utiliza estatísticas e heurísticas para escolher os melhores planos de execução, como quais índices utilizar e a ordem das operações de junção.</a:t>
            </a:r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244117"/>
      </p:ext>
    </p:extLst>
  </p:cSld>
  <p:clrMapOvr>
    <a:masterClrMapping/>
  </p:clrMapOvr>
  <p:transition spd="slow">
    <p:push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35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51520" y="144520"/>
            <a:ext cx="8225305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200" b="1" dirty="0"/>
              <a:t> Sistemas Gerenciadores de Banco de Dados (</a:t>
            </a:r>
            <a:r>
              <a:rPr lang="pt-BR" sz="2200" b="1" dirty="0" err="1"/>
              <a:t>SGBDs</a:t>
            </a:r>
            <a:r>
              <a:rPr lang="pt-BR" sz="2200" b="1" dirty="0"/>
              <a:t>)</a:t>
            </a:r>
          </a:p>
          <a:p>
            <a:pPr algn="just"/>
            <a:endParaRPr lang="pt-BR" sz="2200" b="1" dirty="0"/>
          </a:p>
          <a:p>
            <a:pPr algn="just"/>
            <a:r>
              <a:rPr lang="pt-BR" sz="2200" b="1" dirty="0"/>
              <a:t>	 Gerador de Código</a:t>
            </a:r>
            <a:r>
              <a:rPr lang="pt-BR" sz="2200" dirty="0"/>
              <a:t>: Transforma o plano de execução em comandos que podem ser executados pelo sistema de banco de dados.</a:t>
            </a:r>
          </a:p>
          <a:p>
            <a:pPr algn="just"/>
            <a:endParaRPr lang="pt-BR" sz="2200" b="1" dirty="0"/>
          </a:p>
          <a:p>
            <a:pPr algn="just"/>
            <a:r>
              <a:rPr lang="pt-BR" sz="2200" b="1" dirty="0"/>
              <a:t>	Exemplo Prático</a:t>
            </a:r>
            <a:r>
              <a:rPr lang="pt-BR" sz="2200" dirty="0"/>
              <a:t>: Quando um usuário faz uma consulta para obter a lista de produtos com estoque abaixo de um certo nível, o processador de consultas converte essa solicitação em operações de baixo nível que recuperam e filtram os dados desejados.</a:t>
            </a:r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1343923"/>
      </p:ext>
    </p:extLst>
  </p:cSld>
  <p:clrMapOvr>
    <a:masterClrMapping/>
  </p:clrMapOvr>
  <p:transition spd="slow"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51520" y="144520"/>
            <a:ext cx="8225305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200" b="1" dirty="0"/>
              <a:t> Sistemas Gerenciadores de Banco de Dados (</a:t>
            </a:r>
            <a:r>
              <a:rPr lang="pt-BR" sz="2200" b="1" dirty="0" err="1"/>
              <a:t>SGBDs</a:t>
            </a:r>
            <a:r>
              <a:rPr lang="pt-BR" sz="2200" b="1" dirty="0"/>
              <a:t>)</a:t>
            </a:r>
          </a:p>
          <a:p>
            <a:pPr algn="just"/>
            <a:endParaRPr lang="pt-BR" sz="2200" b="1" dirty="0"/>
          </a:p>
          <a:p>
            <a:pPr algn="just"/>
            <a:r>
              <a:rPr lang="pt-BR" sz="2200" b="1" dirty="0"/>
              <a:t>	 Consistência</a:t>
            </a:r>
            <a:r>
              <a:rPr lang="pt-BR" sz="2200" dirty="0"/>
              <a:t>: Garante que uma transação leva o banco de dados de um estado consistente a outro estado consistente.</a:t>
            </a:r>
          </a:p>
          <a:p>
            <a:pPr algn="just"/>
            <a:endParaRPr lang="pt-BR" sz="2200" b="1" dirty="0"/>
          </a:p>
          <a:p>
            <a:pPr algn="just"/>
            <a:r>
              <a:rPr lang="pt-BR" sz="2200" b="1" dirty="0"/>
              <a:t>	Isolamento</a:t>
            </a:r>
            <a:r>
              <a:rPr lang="pt-BR" sz="2200" dirty="0"/>
              <a:t>: Garante que as operações de uma transação sejam isoladas de outras transações concorrentes, evitando conflitos.</a:t>
            </a:r>
          </a:p>
          <a:p>
            <a:pPr algn="just"/>
            <a:endParaRPr lang="pt-BR" sz="2200" b="1" dirty="0"/>
          </a:p>
          <a:p>
            <a:pPr algn="just"/>
            <a:r>
              <a:rPr lang="pt-BR" sz="2200" b="1" dirty="0"/>
              <a:t>	Durabilidade</a:t>
            </a:r>
            <a:r>
              <a:rPr lang="pt-BR" sz="2200" dirty="0"/>
              <a:t>: Garante que uma vez que uma transação seja concluída, suas mudanças são permanentes, mesmo em caso de falha do sistema.</a:t>
            </a:r>
          </a:p>
        </p:txBody>
      </p:sp>
    </p:spTree>
    <p:extLst>
      <p:ext uri="{BB962C8B-B14F-4D97-AF65-F5344CB8AC3E}">
        <p14:creationId xmlns:p14="http://schemas.microsoft.com/office/powerpoint/2010/main" val="2880298898"/>
      </p:ext>
    </p:extLst>
  </p:cSld>
  <p:clrMapOvr>
    <a:masterClrMapping/>
  </p:clrMapOvr>
  <p:transition spd="slow">
    <p:push dir="u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37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51520" y="144520"/>
            <a:ext cx="8225305" cy="32561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200" b="1" dirty="0"/>
              <a:t> Sistemas Gerenciadores de Banco de Dados (</a:t>
            </a:r>
            <a:r>
              <a:rPr lang="pt-BR" sz="2200" b="1" dirty="0" err="1"/>
              <a:t>SGBDs</a:t>
            </a:r>
            <a:r>
              <a:rPr lang="pt-BR" sz="2200" b="1" dirty="0"/>
              <a:t>)</a:t>
            </a:r>
          </a:p>
          <a:p>
            <a:pPr algn="just"/>
            <a:endParaRPr lang="pt-BR" sz="2200" b="1" dirty="0"/>
          </a:p>
          <a:p>
            <a:pPr algn="just">
              <a:lnSpc>
                <a:spcPct val="150000"/>
              </a:lnSpc>
            </a:pPr>
            <a:r>
              <a:rPr lang="pt-BR" sz="2200" b="1" dirty="0"/>
              <a:t>	 Exemplo Prático</a:t>
            </a:r>
            <a:r>
              <a:rPr lang="pt-BR" sz="2200" dirty="0"/>
              <a:t>: Quando um cliente realiza uma compra online, o gerenciador de transações assegura que o estoque seja atualizado corretamente, o pagamento seja processado e um recibo seja gerado, ou que nenhum desses passos seja realizado se ocorrer algum erro.</a:t>
            </a:r>
          </a:p>
        </p:txBody>
      </p:sp>
    </p:spTree>
    <p:extLst>
      <p:ext uri="{BB962C8B-B14F-4D97-AF65-F5344CB8AC3E}">
        <p14:creationId xmlns:p14="http://schemas.microsoft.com/office/powerpoint/2010/main" val="2510599493"/>
      </p:ext>
    </p:extLst>
  </p:cSld>
  <p:clrMapOvr>
    <a:masterClrMapping/>
  </p:clrMapOvr>
  <p:transition spd="slow">
    <p:push dir="u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38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51520" y="144520"/>
            <a:ext cx="8225305" cy="46103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200" b="1" dirty="0"/>
              <a:t> Sistemas Gerenciadores de Banco de Dados (</a:t>
            </a:r>
            <a:r>
              <a:rPr lang="pt-BR" sz="2200" b="1" dirty="0" err="1"/>
              <a:t>SGBDs</a:t>
            </a:r>
            <a:r>
              <a:rPr lang="pt-BR" sz="2200" b="1" dirty="0"/>
              <a:t>)</a:t>
            </a:r>
          </a:p>
          <a:p>
            <a:pPr algn="just"/>
            <a:endParaRPr lang="pt-BR" sz="2200" b="1" dirty="0"/>
          </a:p>
          <a:p>
            <a:pPr algn="just"/>
            <a:r>
              <a:rPr lang="pt-BR" sz="2200" b="1" dirty="0"/>
              <a:t>	 Sistema de Armazenamento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dirty="0"/>
              <a:t>	O sistema de armazenamento é o componente que gerencia a forma como os dados são armazenados e recuperados do meio físico. Ele lida com a alocação de espaço, a organização dos dados e o gerenciamento de acesso. Este componente pode ser dividido em várias subcomponentes:</a:t>
            </a:r>
          </a:p>
          <a:p>
            <a:pPr algn="just"/>
            <a:endParaRPr lang="pt-BR" sz="2200" b="1" dirty="0"/>
          </a:p>
          <a:p>
            <a:pPr algn="just"/>
            <a:r>
              <a:rPr lang="pt-BR" sz="2200" b="1" dirty="0"/>
              <a:t>	Gerenciador de Espaço de Armazenamento</a:t>
            </a:r>
            <a:r>
              <a:rPr lang="pt-BR" sz="2200" dirty="0"/>
              <a:t>: Lida com a alocação e a liberação de espaço no disco para dados e índices.</a:t>
            </a:r>
          </a:p>
          <a:p>
            <a:pPr algn="just">
              <a:lnSpc>
                <a:spcPct val="150000"/>
              </a:lnSpc>
            </a:pPr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4124843287"/>
      </p:ext>
    </p:extLst>
  </p:cSld>
  <p:clrMapOvr>
    <a:masterClrMapping/>
  </p:clrMapOvr>
  <p:transition spd="slow">
    <p:push dir="u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39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51520" y="144520"/>
            <a:ext cx="8225305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200" b="1" dirty="0"/>
              <a:t> Sistemas Gerenciadores de Banco de Dados (</a:t>
            </a:r>
            <a:r>
              <a:rPr lang="pt-BR" sz="2200" b="1" dirty="0" err="1"/>
              <a:t>SGBDs</a:t>
            </a:r>
            <a:r>
              <a:rPr lang="pt-BR" sz="2200" b="1" dirty="0"/>
              <a:t>)</a:t>
            </a:r>
          </a:p>
          <a:p>
            <a:pPr algn="just"/>
            <a:endParaRPr lang="pt-BR" sz="2200" b="1" dirty="0"/>
          </a:p>
          <a:p>
            <a:pPr algn="just"/>
            <a:r>
              <a:rPr lang="pt-BR" sz="2200" b="1" dirty="0"/>
              <a:t>	 Sistema de Armazenamento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b="1" dirty="0"/>
              <a:t>	Gerenciador de Buffers</a:t>
            </a:r>
            <a:r>
              <a:rPr lang="pt-BR" sz="2200" dirty="0"/>
              <a:t>: Gerencia a memória cache utilizada para armazenar temporariamente dados e índices que estão sendo processados. Isso melhora o desempenho ao reduzir o número de acessos ao disco.</a:t>
            </a:r>
          </a:p>
          <a:p>
            <a:pPr algn="just"/>
            <a:r>
              <a:rPr lang="pt-BR" sz="2200" b="1" dirty="0"/>
              <a:t>	Gerenciador de Arquivos</a:t>
            </a:r>
            <a:r>
              <a:rPr lang="pt-BR" sz="2200" dirty="0"/>
              <a:t>: Organiza os dados em arquivos e diretórios no sistema de arquivos subjacente, cuidando do acesso físico aos dados.</a:t>
            </a:r>
          </a:p>
          <a:p>
            <a:pPr algn="just"/>
            <a:r>
              <a:rPr lang="pt-BR" sz="2200" b="1" dirty="0"/>
              <a:t>	Gerenciador de Índices</a:t>
            </a:r>
            <a:r>
              <a:rPr lang="pt-BR" sz="2200" dirty="0"/>
              <a:t>: Mantém estruturas de índice que permitem o acesso rápido aos dados. Os índices são usados para melhorar a velocidade de recuperação de dados.</a:t>
            </a:r>
          </a:p>
        </p:txBody>
      </p:sp>
    </p:spTree>
    <p:extLst>
      <p:ext uri="{BB962C8B-B14F-4D97-AF65-F5344CB8AC3E}">
        <p14:creationId xmlns:p14="http://schemas.microsoft.com/office/powerpoint/2010/main" val="673615075"/>
      </p:ext>
    </p:extLst>
  </p:cSld>
  <p:clrMapOvr>
    <a:masterClrMapping/>
  </p:clrMapOvr>
  <p:transition spd="slow">
    <p:push dir="u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40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51520" y="144520"/>
            <a:ext cx="8225305" cy="39332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200" b="1" dirty="0"/>
              <a:t> Sistemas Gerenciadores de Banco de Dados (</a:t>
            </a:r>
            <a:r>
              <a:rPr lang="pt-BR" sz="2200" b="1" dirty="0" err="1"/>
              <a:t>SGBDs</a:t>
            </a:r>
            <a:r>
              <a:rPr lang="pt-BR" sz="2200" b="1" dirty="0"/>
              <a:t>)</a:t>
            </a:r>
          </a:p>
          <a:p>
            <a:pPr algn="just"/>
            <a:endParaRPr lang="pt-BR" sz="2200" b="1" dirty="0"/>
          </a:p>
          <a:p>
            <a:pPr algn="just"/>
            <a:r>
              <a:rPr lang="pt-BR" sz="2200" b="1" dirty="0"/>
              <a:t>	 Sistema de Armazenamento</a:t>
            </a:r>
          </a:p>
          <a:p>
            <a:pPr algn="just"/>
            <a:endParaRPr lang="pt-BR" sz="2200" dirty="0"/>
          </a:p>
          <a:p>
            <a:pPr algn="just">
              <a:lnSpc>
                <a:spcPct val="150000"/>
              </a:lnSpc>
            </a:pPr>
            <a:r>
              <a:rPr lang="pt-BR" sz="2200" b="1" dirty="0"/>
              <a:t>Exemplo Prático</a:t>
            </a:r>
            <a:r>
              <a:rPr lang="pt-BR" sz="2200" dirty="0"/>
              <a:t>: Quando um usuário consulta uma tabela com milhões de registros, o sistema de armazenamento utiliza índices para localizar rapidamente os registros relevantes e o gerenciador de buffers para armazenar temporariamente os dados acessados frequentemente, reduzindo o tempo de resposta.</a:t>
            </a:r>
          </a:p>
        </p:txBody>
      </p:sp>
    </p:spTree>
    <p:extLst>
      <p:ext uri="{BB962C8B-B14F-4D97-AF65-F5344CB8AC3E}">
        <p14:creationId xmlns:p14="http://schemas.microsoft.com/office/powerpoint/2010/main" val="2488007993"/>
      </p:ext>
    </p:extLst>
  </p:cSld>
  <p:clrMapOvr>
    <a:masterClrMapping/>
  </p:clrMapOvr>
  <p:transition spd="slow">
    <p:push dir="u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41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51520" y="144520"/>
            <a:ext cx="8225305" cy="52874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200" b="1" dirty="0"/>
              <a:t> Sistemas Gerenciadores de Banco de Dados (</a:t>
            </a:r>
            <a:r>
              <a:rPr lang="pt-BR" sz="2200" b="1" dirty="0" err="1"/>
              <a:t>SGBDs</a:t>
            </a:r>
            <a:r>
              <a:rPr lang="pt-BR" sz="2200" b="1" dirty="0"/>
              <a:t>)</a:t>
            </a:r>
          </a:p>
          <a:p>
            <a:pPr algn="just"/>
            <a:endParaRPr lang="pt-BR" sz="2200" b="1" dirty="0"/>
          </a:p>
          <a:p>
            <a:pPr algn="just">
              <a:lnSpc>
                <a:spcPct val="150000"/>
              </a:lnSpc>
            </a:pPr>
            <a:r>
              <a:rPr lang="pt-BR" sz="2200" b="1" dirty="0"/>
              <a:t>Sistema de Controle de Concorrência</a:t>
            </a:r>
          </a:p>
          <a:p>
            <a:pPr algn="just">
              <a:lnSpc>
                <a:spcPct val="150000"/>
              </a:lnSpc>
            </a:pPr>
            <a:r>
              <a:rPr lang="pt-BR" sz="2200" dirty="0"/>
              <a:t>O sistema de controle de concorrência é responsável por gerenciar o acesso simultâneo ao banco de dados por múltiplos usuários e aplicações, garantindo que as transações sejam executadas de forma segura e eficiente. As principais técnicas de controle de concorrência incluem:</a:t>
            </a:r>
          </a:p>
          <a:p>
            <a:pPr algn="just">
              <a:lnSpc>
                <a:spcPct val="150000"/>
              </a:lnSpc>
            </a:pPr>
            <a:r>
              <a:rPr lang="pt-BR" sz="2200" b="1" dirty="0"/>
              <a:t>Bloqueios (</a:t>
            </a:r>
            <a:r>
              <a:rPr lang="pt-BR" sz="2200" b="1" dirty="0" err="1"/>
              <a:t>Locks</a:t>
            </a:r>
            <a:r>
              <a:rPr lang="pt-BR" sz="2200" b="1" dirty="0"/>
              <a:t>)</a:t>
            </a:r>
            <a:r>
              <a:rPr lang="pt-BR" sz="2200" dirty="0"/>
              <a:t>: Utilizados para controlar o acesso a recursos. Podem ser de diferentes granularidades, como nível de tabela, nível de página ou nível de registro.</a:t>
            </a:r>
          </a:p>
        </p:txBody>
      </p:sp>
    </p:spTree>
    <p:extLst>
      <p:ext uri="{BB962C8B-B14F-4D97-AF65-F5344CB8AC3E}">
        <p14:creationId xmlns:p14="http://schemas.microsoft.com/office/powerpoint/2010/main" val="3252682647"/>
      </p:ext>
    </p:extLst>
  </p:cSld>
  <p:clrMapOvr>
    <a:masterClrMapping/>
  </p:clrMapOvr>
  <p:transition spd="slow">
    <p:push dir="u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42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51520" y="144520"/>
            <a:ext cx="8225305" cy="5795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200" b="1" dirty="0"/>
              <a:t> Sistemas Gerenciadores de Banco de Dados (</a:t>
            </a:r>
            <a:r>
              <a:rPr lang="pt-BR" sz="2200" b="1" dirty="0" err="1"/>
              <a:t>SGBDs</a:t>
            </a:r>
            <a:r>
              <a:rPr lang="pt-BR" sz="2200" b="1" dirty="0"/>
              <a:t>)</a:t>
            </a:r>
          </a:p>
          <a:p>
            <a:pPr algn="just"/>
            <a:endParaRPr lang="pt-BR" sz="2200" b="1" dirty="0"/>
          </a:p>
          <a:p>
            <a:pPr algn="just">
              <a:lnSpc>
                <a:spcPct val="150000"/>
              </a:lnSpc>
            </a:pPr>
            <a:r>
              <a:rPr lang="pt-BR" sz="2200" b="1" dirty="0"/>
              <a:t>Sistema de Controle de Concorrência</a:t>
            </a:r>
          </a:p>
          <a:p>
            <a:pPr algn="just">
              <a:lnSpc>
                <a:spcPct val="150000"/>
              </a:lnSpc>
            </a:pPr>
            <a:r>
              <a:rPr lang="pt-BR" sz="2200" b="1" dirty="0"/>
              <a:t>Versão de Tempo (</a:t>
            </a:r>
            <a:r>
              <a:rPr lang="pt-BR" sz="2200" b="1" dirty="0" err="1"/>
              <a:t>Timestamping</a:t>
            </a:r>
            <a:r>
              <a:rPr lang="pt-BR" sz="2200" b="1" dirty="0"/>
              <a:t>)</a:t>
            </a:r>
            <a:r>
              <a:rPr lang="pt-BR" sz="2200" dirty="0"/>
              <a:t>: Atribui </a:t>
            </a:r>
            <a:r>
              <a:rPr lang="pt-BR" sz="2200" dirty="0" err="1"/>
              <a:t>timestamps</a:t>
            </a:r>
            <a:r>
              <a:rPr lang="pt-BR" sz="2200" dirty="0"/>
              <a:t> a cada transação e garante que as transações sejam executadas em uma ordem consistente.</a:t>
            </a:r>
          </a:p>
          <a:p>
            <a:pPr algn="just">
              <a:lnSpc>
                <a:spcPct val="150000"/>
              </a:lnSpc>
            </a:pPr>
            <a:r>
              <a:rPr lang="pt-BR" sz="2200" b="1" dirty="0"/>
              <a:t>Controle de Concorrência Otimista</a:t>
            </a:r>
            <a:r>
              <a:rPr lang="pt-BR" sz="2200" dirty="0"/>
              <a:t>: Assume que os conflitos são raros e verifica a consistência dos dados apenas no final da transação.</a:t>
            </a:r>
          </a:p>
          <a:p>
            <a:pPr algn="just">
              <a:lnSpc>
                <a:spcPct val="150000"/>
              </a:lnSpc>
            </a:pPr>
            <a:r>
              <a:rPr lang="pt-BR" sz="2200" b="1" dirty="0"/>
              <a:t>Exemplo Prático</a:t>
            </a:r>
            <a:r>
              <a:rPr lang="pt-BR" sz="2200" dirty="0"/>
              <a:t>: Em um sistema bancário, quando dois caixas tentam atualizar a mesma conta simultaneamente, o sistema de controle de concorrência assegura que as operações sejam serializadas e que as informações da conta permaneçam corretas.</a:t>
            </a:r>
          </a:p>
        </p:txBody>
      </p:sp>
    </p:spTree>
    <p:extLst>
      <p:ext uri="{BB962C8B-B14F-4D97-AF65-F5344CB8AC3E}">
        <p14:creationId xmlns:p14="http://schemas.microsoft.com/office/powerpoint/2010/main" val="1052503083"/>
      </p:ext>
    </p:extLst>
  </p:cSld>
  <p:clrMapOvr>
    <a:masterClrMapping/>
  </p:clrMapOvr>
  <p:transition spd="slow">
    <p:push dir="u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43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51520" y="44624"/>
            <a:ext cx="8225305" cy="59645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200" b="1" dirty="0"/>
              <a:t> Sistemas Gerenciadores de Banco de Dados (</a:t>
            </a:r>
            <a:r>
              <a:rPr lang="pt-BR" sz="2200" b="1" dirty="0" err="1"/>
              <a:t>SGBDs</a:t>
            </a:r>
            <a:r>
              <a:rPr lang="pt-BR" sz="2200" b="1" dirty="0"/>
              <a:t>)</a:t>
            </a:r>
          </a:p>
          <a:p>
            <a:pPr algn="just">
              <a:lnSpc>
                <a:spcPct val="150000"/>
              </a:lnSpc>
            </a:pPr>
            <a:r>
              <a:rPr lang="pt-BR" sz="2200" b="1" dirty="0"/>
              <a:t>Sistema de Recuperação</a:t>
            </a:r>
            <a:endParaRPr lang="pt-BR" sz="2200" dirty="0"/>
          </a:p>
          <a:p>
            <a:pPr algn="just">
              <a:lnSpc>
                <a:spcPct val="150000"/>
              </a:lnSpc>
            </a:pPr>
            <a:r>
              <a:rPr lang="pt-BR" sz="2200" dirty="0"/>
              <a:t>O sistema de recuperação é responsável por restaurar o banco de dados a um estado consistente após uma falha, seja ela causada por erro de software, falha de hardware ou erro humano. As principais técnicas de recuperação incluem:</a:t>
            </a:r>
          </a:p>
          <a:p>
            <a:pPr algn="just">
              <a:lnSpc>
                <a:spcPct val="150000"/>
              </a:lnSpc>
            </a:pPr>
            <a:r>
              <a:rPr lang="pt-BR" sz="2200" b="1" dirty="0"/>
              <a:t>Log de Transações</a:t>
            </a:r>
            <a:r>
              <a:rPr lang="pt-BR" sz="2200" dirty="0"/>
              <a:t>: Mantém um registro de todas as mudanças feitas no banco de dados. Em caso de falha, o log é usado para refazer ou desfazer transações.</a:t>
            </a:r>
          </a:p>
          <a:p>
            <a:pPr algn="just">
              <a:lnSpc>
                <a:spcPct val="150000"/>
              </a:lnSpc>
            </a:pPr>
            <a:r>
              <a:rPr lang="pt-BR" sz="2200" b="1" dirty="0"/>
              <a:t>Checkpoints</a:t>
            </a:r>
            <a:r>
              <a:rPr lang="pt-BR" sz="2200" dirty="0"/>
              <a:t>: Pontos no tempo em que o estado do banco de dados é salvo de forma estável. Facilita a recuperação ao reduzir a quantidade de log que precisa ser processado.</a:t>
            </a:r>
          </a:p>
        </p:txBody>
      </p:sp>
    </p:spTree>
    <p:extLst>
      <p:ext uri="{BB962C8B-B14F-4D97-AF65-F5344CB8AC3E}">
        <p14:creationId xmlns:p14="http://schemas.microsoft.com/office/powerpoint/2010/main" val="3814971754"/>
      </p:ext>
    </p:extLst>
  </p:cSld>
  <p:clrMapOvr>
    <a:masterClrMapping/>
  </p:clrMapOvr>
  <p:transition spd="slow">
    <p:push dir="u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44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51520" y="44624"/>
            <a:ext cx="8225305" cy="4441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200" b="1" dirty="0"/>
              <a:t> Sistemas Gerenciadores de Banco de Dados (</a:t>
            </a:r>
            <a:r>
              <a:rPr lang="pt-BR" sz="2200" b="1" dirty="0" err="1"/>
              <a:t>SGBDs</a:t>
            </a:r>
            <a:r>
              <a:rPr lang="pt-BR" sz="2200" b="1" dirty="0"/>
              <a:t>)</a:t>
            </a:r>
          </a:p>
          <a:p>
            <a:pPr algn="just">
              <a:lnSpc>
                <a:spcPct val="150000"/>
              </a:lnSpc>
            </a:pPr>
            <a:r>
              <a:rPr lang="pt-BR" sz="2200" b="1" dirty="0"/>
              <a:t>Sistema de Recuperação</a:t>
            </a:r>
          </a:p>
          <a:p>
            <a:pPr algn="just">
              <a:lnSpc>
                <a:spcPct val="150000"/>
              </a:lnSpc>
            </a:pPr>
            <a:r>
              <a:rPr lang="pt-BR" sz="2200" b="1" dirty="0"/>
              <a:t>Técnicas de Backup e Restauração</a:t>
            </a:r>
            <a:r>
              <a:rPr lang="pt-BR" sz="2200" dirty="0"/>
              <a:t>: Incluem backups completos, incrementais e diferenciais, que permitem a restauração do banco de dados a um ponto anterior no tempo.</a:t>
            </a:r>
          </a:p>
          <a:p>
            <a:pPr algn="just">
              <a:lnSpc>
                <a:spcPct val="150000"/>
              </a:lnSpc>
            </a:pPr>
            <a:r>
              <a:rPr lang="pt-BR" sz="2200" b="1" dirty="0"/>
              <a:t>Exemplo Prático</a:t>
            </a:r>
            <a:r>
              <a:rPr lang="pt-BR" sz="2200" dirty="0"/>
              <a:t>: Se houver uma falha de energia enquanto uma transação está em andamento, o sistema de recuperação usará o log de transações e os checkpoints para restaurar o banco de dados ao último estado consistente.</a:t>
            </a:r>
          </a:p>
        </p:txBody>
      </p:sp>
    </p:spTree>
    <p:extLst>
      <p:ext uri="{BB962C8B-B14F-4D97-AF65-F5344CB8AC3E}">
        <p14:creationId xmlns:p14="http://schemas.microsoft.com/office/powerpoint/2010/main" val="1602852978"/>
      </p:ext>
    </p:extLst>
  </p:cSld>
  <p:clrMapOvr>
    <a:masterClrMapping/>
  </p:clrMapOvr>
  <p:transition spd="slow">
    <p:push dir="u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45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51520" y="44624"/>
            <a:ext cx="8225305" cy="56169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200" b="1" dirty="0"/>
              <a:t> Sistemas Gerenciadores de Banco de Dados (</a:t>
            </a:r>
            <a:r>
              <a:rPr lang="pt-BR" sz="2200" b="1" dirty="0" err="1"/>
              <a:t>SGBDs</a:t>
            </a:r>
            <a:r>
              <a:rPr lang="pt-BR" sz="2200" b="1" dirty="0"/>
              <a:t>)</a:t>
            </a:r>
          </a:p>
          <a:p>
            <a:pPr algn="just"/>
            <a:endParaRPr lang="pt-BR" dirty="0"/>
          </a:p>
          <a:p>
            <a:pPr algn="just">
              <a:lnSpc>
                <a:spcPct val="150000"/>
              </a:lnSpc>
            </a:pPr>
            <a:r>
              <a:rPr lang="pt-BR" sz="2200" dirty="0"/>
              <a:t>	Entender a arquitetura e os componentes de um SGBD é essencial para o desenvolvimento, administração e otimização de sistemas de banco de dados. Cada componente desempenha um papel vital na garantia de que os dados sejam armazenados, acessados e gerenciados de maneira eficiente e segura. A combinação de um processador de consultas robusto, um gerenciador de transações confiável, um sistema de armazenamento eficiente, um controle de concorrência eficaz e um sistema de recuperação resiliente forma a base de um sistema de banco de dados sólido e de alto desempenho.</a:t>
            </a:r>
          </a:p>
          <a:p>
            <a:pPr algn="just"/>
            <a:endParaRPr lang="pt-BR" sz="2200" b="1" dirty="0"/>
          </a:p>
        </p:txBody>
      </p:sp>
    </p:spTree>
    <p:extLst>
      <p:ext uri="{BB962C8B-B14F-4D97-AF65-F5344CB8AC3E}">
        <p14:creationId xmlns:p14="http://schemas.microsoft.com/office/powerpoint/2010/main" val="1436845787"/>
      </p:ext>
    </p:extLst>
  </p:cSld>
  <p:clrMapOvr>
    <a:masterClrMapping/>
  </p:clrMapOvr>
  <p:transition spd="slow">
    <p:push dir="u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38A4FF3-63B4-5F7F-031A-DE8DCA414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E619B-C268-423F-ACE6-12CCBC3A7CDB}" type="datetime1">
              <a:rPr lang="pt-BR" smtClean="0"/>
              <a:t>28/02/2026</a:t>
            </a:fld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D814A1C1-7F26-D572-C6A1-78FC69C2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/>
              <a:pPr/>
              <a:t>46</a:t>
            </a:fld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4C4AB5A-639F-7A67-F15E-42C337E83D88}"/>
              </a:ext>
            </a:extLst>
          </p:cNvPr>
          <p:cNvSpPr txBox="1"/>
          <p:nvPr/>
        </p:nvSpPr>
        <p:spPr>
          <a:xfrm>
            <a:off x="503548" y="1268760"/>
            <a:ext cx="813690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Referência:</a:t>
            </a:r>
          </a:p>
          <a:p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(Informada na ementa e disponível na biblioteca digital)</a:t>
            </a:r>
          </a:p>
          <a:p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PICHETTI, Roni F.; VIDA, </a:t>
            </a:r>
            <a:r>
              <a:rPr lang="pt-BR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Edinilson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S.; CORTES, Vanessa S. M P. Banco de dados. Porto Alegre: Grupo A, 2021. E-book. ISBN 9786556900186. </a:t>
            </a:r>
          </a:p>
          <a:p>
            <a:endParaRPr lang="pt-BR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Disponível em: </a:t>
            </a:r>
          </a:p>
          <a:p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https://integrada.minhabiblioteca.com.br/#/books/9786556900186/. </a:t>
            </a:r>
          </a:p>
        </p:txBody>
      </p:sp>
    </p:spTree>
    <p:extLst>
      <p:ext uri="{BB962C8B-B14F-4D97-AF65-F5344CB8AC3E}">
        <p14:creationId xmlns:p14="http://schemas.microsoft.com/office/powerpoint/2010/main" val="18763405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 2013 - 2022">
  <a:themeElements>
    <a:clrScheme name="Tema do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18536</TotalTime>
  <Words>4826</Words>
  <Application>Microsoft Office PowerPoint</Application>
  <PresentationFormat>Apresentação na tela (4:3)</PresentationFormat>
  <Paragraphs>400</Paragraphs>
  <Slides>46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46</vt:i4>
      </vt:variant>
    </vt:vector>
  </HeadingPairs>
  <TitlesOfParts>
    <vt:vector size="51" baseType="lpstr">
      <vt:lpstr>Arial</vt:lpstr>
      <vt:lpstr>Calibri</vt:lpstr>
      <vt:lpstr>Calibri Light</vt:lpstr>
      <vt:lpstr>Times New Roman</vt:lpstr>
      <vt:lpstr>Tema do Office 2013 - 2022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Conceito e arquitetura do sistema de banco de dados</vt:lpstr>
      <vt:lpstr>Conceito e arquitetura do sistema de banco de dados</vt:lpstr>
      <vt:lpstr>Arquitetura de três esquemas e independência de dados</vt:lpstr>
      <vt:lpstr>Apresentação do PowerPoint</vt:lpstr>
      <vt:lpstr>Arquitetura de três esquemas e independência de dados</vt:lpstr>
      <vt:lpstr>Arquitetura de três esquemas e independência de dados</vt:lpstr>
      <vt:lpstr>Arquitetura de três esquemas e independência de dados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Exagerado</dc:creator>
  <cp:lastModifiedBy>Elionai Magalhaes 487017 - Professor MULTIVIX</cp:lastModifiedBy>
  <cp:revision>922</cp:revision>
  <dcterms:created xsi:type="dcterms:W3CDTF">2019-04-29T13:17:28Z</dcterms:created>
  <dcterms:modified xsi:type="dcterms:W3CDTF">2026-02-28T20:19:24Z</dcterms:modified>
</cp:coreProperties>
</file>