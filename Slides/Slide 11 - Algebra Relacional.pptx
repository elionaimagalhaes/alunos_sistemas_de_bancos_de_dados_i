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69" r:id="rId17"/>
    <p:sldId id="25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67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B0246-1ABF-48AF-88DF-1FD38B1D5FA2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00119-1D59-43FB-8E48-C5B118325A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50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σ (sigma)</a:t>
                </a:r>
                <a:r>
                  <a:rPr lang="pt-BR" dirty="0"/>
                  <a:t> → representa a operação de seleção</a:t>
                </a:r>
              </a:p>
              <a:p>
                <a:r>
                  <a:rPr lang="pt-BR" b="1" dirty="0"/>
                  <a:t>condição</a:t>
                </a:r>
                <a:r>
                  <a:rPr lang="pt-BR" dirty="0"/>
                  <a:t> → expressão lógica (&gt;, &lt;, =, AND, OR, etc.)</a:t>
                </a:r>
              </a:p>
              <a:p>
                <a:r>
                  <a:rPr lang="pt-BR" b="1" dirty="0"/>
                  <a:t>R</a:t>
                </a:r>
                <a:r>
                  <a:rPr lang="pt-BR" dirty="0"/>
                  <a:t> → relação (tabela)</a:t>
                </a:r>
              </a:p>
              <a:p>
                <a:r>
                  <a:rPr lang="pt-BR" dirty="0"/>
                  <a:t>A seleção </a:t>
                </a:r>
                <a:r>
                  <a:rPr lang="pt-BR" b="1" dirty="0"/>
                  <a:t>trabalha nas linhas;</a:t>
                </a:r>
                <a:endParaRPr lang="pt-BR" dirty="0"/>
              </a:p>
              <a:p>
                <a:r>
                  <a:rPr lang="pt-BR" dirty="0"/>
                  <a:t>Mantém todas as colunas;</a:t>
                </a:r>
              </a:p>
              <a:p>
                <a:r>
                  <a:rPr lang="pt-BR" dirty="0"/>
                  <a:t>Retorna apenas os registros que satisfazem a condição;</a:t>
                </a:r>
              </a:p>
              <a:p>
                <a:r>
                  <a:rPr lang="pt-BR" dirty="0"/>
                  <a:t>É equivalente a:</a:t>
                </a:r>
              </a:p>
              <a:p>
                <a:pPr rtl="0"/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SELECT * </a:t>
                </a:r>
                <a:b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FROM Alunos</a:t>
                </a:r>
                <a:b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WHERE Curso = 'Engenharia’;</a:t>
                </a:r>
              </a:p>
              <a:p>
                <a:r>
                  <a:rPr lang="pt-BR" b="1" dirty="0"/>
                  <a:t>Observações Importantes</a:t>
                </a:r>
              </a:p>
              <a:p>
                <a:r>
                  <a:rPr lang="pt-BR" dirty="0"/>
                  <a:t>A condição pode usar:</a:t>
                </a:r>
              </a:p>
              <a:p>
                <a:r>
                  <a:rPr lang="pt-BR" dirty="0"/>
                  <a:t>Operadores de comparação: =, ≠, &gt;, &lt;, ≥, ≤</a:t>
                </a:r>
              </a:p>
              <a:p>
                <a:r>
                  <a:rPr lang="pt-BR" dirty="0"/>
                  <a:t>Operadores lógicos: AND (∧), OR (∨), NOT (¬)</a:t>
                </a:r>
              </a:p>
              <a:p>
                <a:r>
                  <a:rPr lang="pt-BR" dirty="0"/>
                  <a:t>Exemplo mais complexo:</a:t>
                </a:r>
                <a:r>
                  <a:rPr lang="pt-BR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𝐶𝑢𝑟𝑠𝑜</m:t>
                        </m:r>
                        <m:sSup>
                          <m:s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</m:t>
                            </m:r>
                          </m:e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𝐸𝑛𝑔𝑒𝑛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𝑎𝑟𝑖</m:t>
                        </m:r>
                        <m:sSup>
                          <m:s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r>
                          <a:rPr lang="pt-BR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∧</m:t>
                        </m:r>
                        <m:r>
                          <a:rPr lang="pt-BR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𝐼𝑑𝑎𝑑𝑒</m:t>
                        </m:r>
                        <m:r>
                          <a:rPr lang="pt-BR" sz="12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</m:t>
                        </m:r>
                        <m:r>
                          <a:rPr lang="pt-BR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22</m:t>
                        </m:r>
                        <m:r>
                          <a:rPr lang="pt-BR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𝐴𝑙𝑢𝑛𝑜𝑠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pt-BR" dirty="0"/>
                  <a:t>Seleciona alunos de Engenharia com idade maior que 22.</a:t>
                </a:r>
              </a:p>
              <a:p>
                <a:pPr rtl="0"/>
                <a:endParaRPr lang="pt-BR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σ (sigma)</a:t>
                </a:r>
                <a:r>
                  <a:rPr lang="pt-BR" dirty="0"/>
                  <a:t> → representa a operação de seleção</a:t>
                </a:r>
              </a:p>
              <a:p>
                <a:r>
                  <a:rPr lang="pt-BR" b="1" dirty="0"/>
                  <a:t>condição</a:t>
                </a:r>
                <a:r>
                  <a:rPr lang="pt-BR" dirty="0"/>
                  <a:t> → expressão lógica (&gt;, &lt;, =, AND, OR, etc.)</a:t>
                </a:r>
              </a:p>
              <a:p>
                <a:r>
                  <a:rPr lang="pt-BR" b="1" dirty="0"/>
                  <a:t>R</a:t>
                </a:r>
                <a:r>
                  <a:rPr lang="pt-BR" dirty="0"/>
                  <a:t> → relação (tabela)</a:t>
                </a:r>
              </a:p>
              <a:p>
                <a:r>
                  <a:rPr lang="pt-BR" dirty="0"/>
                  <a:t>A seleção </a:t>
                </a:r>
                <a:r>
                  <a:rPr lang="pt-BR" b="1" dirty="0"/>
                  <a:t>trabalha nas linhas;</a:t>
                </a:r>
                <a:endParaRPr lang="pt-BR" dirty="0"/>
              </a:p>
              <a:p>
                <a:r>
                  <a:rPr lang="pt-BR" dirty="0"/>
                  <a:t>Mantém todas as colunas;</a:t>
                </a:r>
              </a:p>
              <a:p>
                <a:r>
                  <a:rPr lang="pt-BR" dirty="0"/>
                  <a:t>Retorna apenas os registros que satisfazem a condição;</a:t>
                </a:r>
              </a:p>
              <a:p>
                <a:r>
                  <a:rPr lang="pt-BR" dirty="0"/>
                  <a:t>É equivalente a:</a:t>
                </a:r>
              </a:p>
              <a:p>
                <a:pPr rtl="0"/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SELECT * </a:t>
                </a:r>
                <a:b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FROM Alunos</a:t>
                </a:r>
                <a:b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pt-B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WHERE Curso = 'Engenharia’;</a:t>
                </a:r>
              </a:p>
              <a:p>
                <a:r>
                  <a:rPr lang="pt-BR" b="1" dirty="0"/>
                  <a:t>Observações Importantes</a:t>
                </a:r>
              </a:p>
              <a:p>
                <a:r>
                  <a:rPr lang="pt-BR" dirty="0"/>
                  <a:t>A condição pode usar:</a:t>
                </a:r>
              </a:p>
              <a:p>
                <a:r>
                  <a:rPr lang="pt-BR" dirty="0"/>
                  <a:t>Operadores de comparação: =, ≠, &gt;, &lt;, ≥, ≤</a:t>
                </a:r>
              </a:p>
              <a:p>
                <a:r>
                  <a:rPr lang="pt-BR" dirty="0"/>
                  <a:t>Operadores lógicos: AND (∧), OR (∨), NOT (¬)</a:t>
                </a:r>
              </a:p>
              <a:p>
                <a:r>
                  <a:rPr lang="pt-BR" dirty="0"/>
                  <a:t>Exemplo mais complexo:</a:t>
                </a:r>
                <a:r>
                  <a:rPr lang="pt-BR" baseline="0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𝜎_(𝐶𝑢𝑟𝑠𝑜=^′ 𝐸𝑛𝑔𝑒𝑛ℎ𝑎𝑟𝑖𝑎^′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∧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𝐼𝑑𝑎𝑑𝑒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&gt;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22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(𝐴𝑙𝑢𝑛𝑜𝑠)</a:t>
                </a:r>
                <a:endParaRPr lang="ar-AE" dirty="0"/>
              </a:p>
              <a:p>
                <a:r>
                  <a:rPr lang="pt-BR" dirty="0"/>
                  <a:t>Seleciona alunos de Engenharia com idade maior que 22.</a:t>
                </a:r>
              </a:p>
              <a:p>
                <a:pPr rtl="0"/>
                <a:endParaRPr lang="pt-BR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0119-1D59-43FB-8E48-C5B118325AF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20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Notação Formal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lang="pt-BR" sz="120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∪</m:t>
                      </m:r>
                      <m:r>
                        <a:rPr lang="pt-BR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Onde:</a:t>
                </a:r>
              </a:p>
              <a:p>
                <a:r>
                  <a:rPr lang="pt-BR" b="1" dirty="0"/>
                  <a:t>R</a:t>
                </a:r>
                <a:r>
                  <a:rPr lang="pt-BR" dirty="0"/>
                  <a:t> → primeira relação</a:t>
                </a:r>
              </a:p>
              <a:p>
                <a:r>
                  <a:rPr lang="pt-BR" b="1" dirty="0"/>
                  <a:t>S</a:t>
                </a:r>
                <a:r>
                  <a:rPr lang="pt-BR" dirty="0"/>
                  <a:t> → segunda relação</a:t>
                </a:r>
              </a:p>
              <a:p>
                <a:r>
                  <a:rPr lang="pt-BR" dirty="0"/>
                  <a:t>O resultado contém todas as tuplas de R e S</a:t>
                </a:r>
              </a:p>
              <a:p>
                <a:r>
                  <a:rPr lang="pt-BR" b="1" dirty="0"/>
                  <a:t>Duplicatas são eliminadas automaticamente</a:t>
                </a: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Notação Formal</a:t>
                </a:r>
              </a:p>
              <a:p>
                <a:pPr/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𝑅∪𝑆</a:t>
                </a:r>
                <a:endParaRPr lang="pt-BR" dirty="0"/>
              </a:p>
              <a:p>
                <a:r>
                  <a:rPr lang="pt-BR" dirty="0"/>
                  <a:t>Onde:</a:t>
                </a:r>
              </a:p>
              <a:p>
                <a:r>
                  <a:rPr lang="pt-BR" b="1" dirty="0"/>
                  <a:t>R</a:t>
                </a:r>
                <a:r>
                  <a:rPr lang="pt-BR" dirty="0"/>
                  <a:t> → primeira relação</a:t>
                </a:r>
              </a:p>
              <a:p>
                <a:r>
                  <a:rPr lang="pt-BR" b="1" dirty="0"/>
                  <a:t>S</a:t>
                </a:r>
                <a:r>
                  <a:rPr lang="pt-BR" dirty="0"/>
                  <a:t> → segunda relação</a:t>
                </a:r>
              </a:p>
              <a:p>
                <a:r>
                  <a:rPr lang="pt-BR" dirty="0"/>
                  <a:t>O resultado contém todas as tuplas de R e S</a:t>
                </a:r>
              </a:p>
              <a:p>
                <a:r>
                  <a:rPr lang="pt-BR" b="1" dirty="0"/>
                  <a:t>Duplicatas são eliminadas automaticamente</a:t>
                </a:r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0119-1D59-43FB-8E48-C5B118325AF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90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00119-1D59-43FB-8E48-C5B118325AF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8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30EA9-C087-51E3-264D-B9F4C5AB2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29CCB-A883-165D-8006-19B262CCF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7D1BE5-98C3-ECED-B45A-1BA0926B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29E57A-F1C0-862D-45C4-7D09EC67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987263-54BC-C65B-31AF-7694F309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88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8A46C-5BB6-D55C-1255-33F601EF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B5042-3412-80D8-5733-03D85739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23249E-B868-BC94-CF7A-06862821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F76A7-C373-7DA1-B28C-C5D22ADD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56B63A-A65C-7C71-F20D-C4A6ED61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36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15704-AB62-860D-243A-742979E5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96423E-3A56-ED5F-0478-05E38A3AB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F6941-3945-4C7D-183F-CB923E9A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3C87F-62A7-A1C5-D274-DF9E4CB8C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3073E8-B4E5-3911-48FA-39CB6FD7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25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795E2-5A98-370E-9F37-C92156DF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20DCEC-1865-8509-FD43-3F3A89DAC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4651FE-4A9B-E5CE-2D9D-9B2A04DA2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4366F2-3B09-27A0-CB42-26FCB109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6DC609-2C67-766A-9E70-6F147FB5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109570-BB59-C3A9-B6B4-F31ECA2A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41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472FD-AA45-7200-BCE3-977FD53C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F55F16-92A7-DA4C-AC1C-8A3397D4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53C3CE-5AA4-92CB-EA1C-42E885471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1A5F34-08F6-65CA-2B77-8B64B33F0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70F43D-4820-9F4B-BE07-985E76814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F84C76-F1B2-471C-62C4-D50250BE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E36E4E-D789-3498-48A8-81581178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3EC4CF-076F-0106-A15D-D4FF9627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13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A225D-1BD2-5B27-5802-7644995A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2920E9-9ADF-2F73-CB40-AA342C58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05A1D9-8F23-7EA7-9F1F-88B036CA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1C9857-89AC-0A49-2A3F-51A1BA04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89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54EF3A-18DA-C335-6908-2EC359BE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47C8B3-1A44-62D2-098E-AB76FEB3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89A3FE-CAB3-2594-E677-3C9BC0C4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31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4DC2E-A46A-52AB-DB16-8B52AFE7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E666D1-031D-A46A-3C13-E4AF03B66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ACAC79-9D85-ED1D-BD1C-950D638EB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9D07E0-BA9D-D3C8-364D-F98D0CE6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A9C4BB-7F56-BA0C-EC12-61574C86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E6BCC7-9CAC-30FC-ADDE-04CAFB88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17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E275-6D31-58B4-D0F2-3B12F4CF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8F5376-21EC-9434-639E-8F6AB80E8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380F64-1EBC-4E88-4F13-F83C01812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B99093-455B-7793-5504-E701C06E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633C25-E789-DAB9-C533-1768263B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73FF45-D3E4-9F9A-1C15-0760A083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8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9CC42-6138-0714-309E-81873CE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E53DC9-7A81-11D4-5B88-46807B304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E665F6-1759-68DB-30BC-E5D19BCE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C349EF-1DA3-BD61-A69D-18D26196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8C0FD5-5878-1575-303D-624175C5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27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448CB6-DC12-608B-4685-40DB72C71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DD406B-6BA7-F927-4000-1A66073B6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8E2F1-23A7-55E2-E336-1DE62D41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ACF773-5491-2DB4-B5F7-0F01CD77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677C99-E065-24A4-3F9F-7141F32A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06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5AD93E0-0292-4B5F-7B13-491ADA78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B23E95-6F99-75E8-34AB-3801C2404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6DCD4-9A6E-853B-AFB9-66213E04A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EE13B-E29B-4297-9704-2ACB263ED31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5584B-3533-33EC-B50B-AF52D0CF1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710AC1-3904-5913-38AE-46BBA9C63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1A295-A1B6-46D3-92E7-E566E4913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78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grada.minhabiblioteca.com.br/books/9788536519418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1E2A5F0-9AF7-9888-4B17-92AC5ADB37FD}"/>
              </a:ext>
            </a:extLst>
          </p:cNvPr>
          <p:cNvSpPr txBox="1"/>
          <p:nvPr/>
        </p:nvSpPr>
        <p:spPr>
          <a:xfrm>
            <a:off x="816078" y="400387"/>
            <a:ext cx="6096000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Álgebra Relacional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9D7716-1C7C-CF86-76AE-37B1F8CD38FC}"/>
              </a:ext>
            </a:extLst>
          </p:cNvPr>
          <p:cNvSpPr txBox="1"/>
          <p:nvPr/>
        </p:nvSpPr>
        <p:spPr>
          <a:xfrm>
            <a:off x="816077" y="1116871"/>
            <a:ext cx="8750709" cy="113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os Fundamentos da Álgebra Relacional e suas Operações Básicas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01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F90D-0649-46F2-6872-E630D411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4F5B6F-1D89-B310-B1B6-E740DDB89C8A}"/>
              </a:ext>
            </a:extLst>
          </p:cNvPr>
          <p:cNvSpPr txBox="1"/>
          <p:nvPr/>
        </p:nvSpPr>
        <p:spPr>
          <a:xfrm>
            <a:off x="816078" y="400387"/>
            <a:ext cx="6096000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Álgebra Relacional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E77F52-AC8A-0605-1928-C9536CCE3625}"/>
              </a:ext>
            </a:extLst>
          </p:cNvPr>
          <p:cNvSpPr txBox="1"/>
          <p:nvPr/>
        </p:nvSpPr>
        <p:spPr>
          <a:xfrm>
            <a:off x="816077" y="1116871"/>
            <a:ext cx="8750709" cy="113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os Fundamentos da Álgebra Relacional e suas Operações Básicas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564C5E-2A97-5391-409D-6305ACFC42F7}"/>
              </a:ext>
            </a:extLst>
          </p:cNvPr>
          <p:cNvSpPr txBox="1"/>
          <p:nvPr/>
        </p:nvSpPr>
        <p:spPr>
          <a:xfrm>
            <a:off x="1106128" y="2554501"/>
            <a:ext cx="9704439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álgebra relacional é um conjunto de operações matemáticas que permite a manipulação e consulta de dados armazenados em bancos de dados relacionais. Estas operações são fundamentais para a execução de consultas em um Sistema Gerenciador de Banco de Dados (SGBD). Vamos explorar os fundamentos da álgebra relacional e suas operações básicas.</a:t>
            </a:r>
          </a:p>
        </p:txBody>
      </p:sp>
    </p:spTree>
    <p:extLst>
      <p:ext uri="{BB962C8B-B14F-4D97-AF65-F5344CB8AC3E}">
        <p14:creationId xmlns:p14="http://schemas.microsoft.com/office/powerpoint/2010/main" val="66106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A16EE8B-E971-9D0E-F7C4-566F9D90D56A}"/>
              </a:ext>
            </a:extLst>
          </p:cNvPr>
          <p:cNvSpPr txBox="1"/>
          <p:nvPr/>
        </p:nvSpPr>
        <p:spPr>
          <a:xfrm>
            <a:off x="668593" y="450056"/>
            <a:ext cx="8259097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Operações da Álgebra Relacional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Seleção (σ)</a:t>
            </a:r>
            <a:endParaRPr lang="pt-BR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seleção é usada para extrair tuplas (linhas) de uma relação (tabela) que satisfazem uma determinada condição.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σ &lt;sub&gt; condição &lt;/sub&gt; (R)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Selecionar todos os alunos que estão no curso de 'Engenharia':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3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Curso = 'Engenharia' (Alunos)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09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F91436B-0B7C-BA13-01F9-5D3618F352BE}"/>
              </a:ext>
            </a:extLst>
          </p:cNvPr>
          <p:cNvSpPr txBox="1"/>
          <p:nvPr/>
        </p:nvSpPr>
        <p:spPr>
          <a:xfrm>
            <a:off x="1667435" y="1035423"/>
            <a:ext cx="7950573" cy="4506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Projeção (π)</a:t>
            </a:r>
            <a:endParaRPr lang="pt-BR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projeção é usada para selecionar determinadas colunas de uma relação.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π&lt;sub&gt;atributos&lt;/sub&gt;(R)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Projetar os nomes e cursos dos alunos: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Nome, Curso (Alunos)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DCECD8D-6DCA-6C0C-F452-13B21A46FED6}"/>
              </a:ext>
            </a:extLst>
          </p:cNvPr>
          <p:cNvSpPr txBox="1"/>
          <p:nvPr/>
        </p:nvSpPr>
        <p:spPr>
          <a:xfrm>
            <a:off x="1398493" y="995081"/>
            <a:ext cx="8848165" cy="4243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União (</a:t>
            </a:r>
            <a:r>
              <a:rPr lang="pt-BR" sz="32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união é usada para combinar os resultados de duas relações, eliminando duplicatas.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 </a:t>
            </a:r>
            <a:r>
              <a:rPr lang="pt-BR" sz="2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Combinar duas tabelas de alunos de diferentes campi: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Alunos_Campus_A</a:t>
            </a:r>
            <a:r>
              <a:rPr lang="pt-BR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pt-BR" sz="2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Alunos_Campus_B</a:t>
            </a:r>
            <a:endParaRPr lang="pt-BR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042745B-8773-0D6E-D70F-E5DEC58FE203}"/>
              </a:ext>
            </a:extLst>
          </p:cNvPr>
          <p:cNvSpPr txBox="1"/>
          <p:nvPr/>
        </p:nvSpPr>
        <p:spPr>
          <a:xfrm>
            <a:off x="1097597" y="541121"/>
            <a:ext cx="9322173" cy="425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Diferença (−)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diferença é usada para obter tuplas que estão em uma relação, mas não em outra.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 − 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Encontrar alunos que estão inscritos em 'Matemática' mas não em 'Física':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Inscritos_Matematica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pt-BR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Inscritos_Fisica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62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22A9D66-B503-9A6C-5B28-CC11D1CE49B8}"/>
              </a:ext>
            </a:extLst>
          </p:cNvPr>
          <p:cNvSpPr txBox="1"/>
          <p:nvPr/>
        </p:nvSpPr>
        <p:spPr>
          <a:xfrm>
            <a:off x="1135116" y="880712"/>
            <a:ext cx="9459311" cy="3797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Produto Cartesiano (×)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produto cartesiano combina cada tupla de uma relação com cada tupla de outra relação.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 × 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Combinar informações de alunos e cursos: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 × Cursos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061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E328DF3-4752-99C8-2E33-DA0F2D0E390F}"/>
              </a:ext>
            </a:extLst>
          </p:cNvPr>
          <p:cNvSpPr txBox="1"/>
          <p:nvPr/>
        </p:nvSpPr>
        <p:spPr>
          <a:xfrm>
            <a:off x="966951" y="690072"/>
            <a:ext cx="9312166" cy="323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Junção (</a:t>
            </a:r>
            <a:r>
              <a:rPr lang="pt-BR" sz="20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⨝</a:t>
            </a: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operação de junção combina tuplas de duas relações com base em uma condição específica.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Notação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 </a:t>
            </a:r>
            <a:r>
              <a:rPr lang="pt-BR" sz="2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⨝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&lt;sub&gt;condição&lt;/sub&gt; 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Combinar alunos com seus cursos: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 </a:t>
            </a:r>
            <a:r>
              <a:rPr lang="pt-BR" sz="2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⨝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Alunos.ID_Curso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Cursos.ID_Curso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Cursos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77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8BAE9A3-0035-8C74-58E4-FB990D347577}"/>
              </a:ext>
            </a:extLst>
          </p:cNvPr>
          <p:cNvSpPr txBox="1"/>
          <p:nvPr/>
        </p:nvSpPr>
        <p:spPr>
          <a:xfrm>
            <a:off x="430924" y="173649"/>
            <a:ext cx="11056883" cy="6685805"/>
          </a:xfrm>
          <a:prstGeom prst="rect">
            <a:avLst/>
          </a:prstGeom>
          <a:noFill/>
        </p:spPr>
        <p:txBody>
          <a:bodyPr wrap="square" numCol="2" spcCol="720000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 Práticos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Vamos usar um exemplo prático de um banco de dados universitário com as seguintes relações: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Tabela Alunos</a:t>
            </a:r>
            <a:r>
              <a:rPr lang="pt-B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 | Curso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---------|-------------|----------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endParaRPr lang="pt-BR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Tabela Cursos</a:t>
            </a:r>
            <a:r>
              <a:rPr lang="pt-B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| Departamento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---------|-------------|--------------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101      | Engenharia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102      | Matemática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103      | Física    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38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3450E00-71C6-B2CA-33AC-33A785973E15}"/>
              </a:ext>
            </a:extLst>
          </p:cNvPr>
          <p:cNvSpPr txBox="1"/>
          <p:nvPr/>
        </p:nvSpPr>
        <p:spPr>
          <a:xfrm>
            <a:off x="273269" y="331950"/>
            <a:ext cx="10594427" cy="520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Seleção </a:t>
            </a: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(σ)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Selecionar alunos do curso de 'Engenharia':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3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Curso = 'Engenharia' (Alunos)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| Curso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---------|------------|---------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| Engenharia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| Engenharia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8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9621-16C7-D55E-76D7-1C4D5138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F10F5B5-2948-4257-604C-880059600F3C}"/>
              </a:ext>
            </a:extLst>
          </p:cNvPr>
          <p:cNvSpPr txBox="1"/>
          <p:nvPr/>
        </p:nvSpPr>
        <p:spPr>
          <a:xfrm>
            <a:off x="756746" y="741855"/>
            <a:ext cx="5843751" cy="386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Projeção </a:t>
            </a:r>
            <a:r>
              <a:rPr lang="pt-B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(π)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l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Projetar os nomes dos alunos: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Nome (Alunos)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</a:pP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 Silva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Bruno Costa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Carla Dias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2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346E-3527-821B-DC7C-D54CED0F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BE9151C-F765-F877-F75C-9836482E3A93}"/>
              </a:ext>
            </a:extLst>
          </p:cNvPr>
          <p:cNvSpPr txBox="1"/>
          <p:nvPr/>
        </p:nvSpPr>
        <p:spPr>
          <a:xfrm>
            <a:off x="0" y="229342"/>
            <a:ext cx="7508838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União (</a:t>
            </a:r>
            <a:r>
              <a:rPr lang="pt-BR" sz="24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l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Combinar duas tabelas de alunos de diferentes campi (assumindo que temos outra tabela </a:t>
            </a:r>
            <a:r>
              <a:rPr lang="pt-BR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Alunos_Campus_B</a:t>
            </a: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Alunos_Campus_A</a:t>
            </a:r>
            <a:r>
              <a:rPr lang="pt-BR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pt-BR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Alunos_Campus_B</a:t>
            </a:r>
            <a:endParaRPr lang="pt-BR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</a:pP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 (assumindo alunos adicionais):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 | Curso</a:t>
            </a:r>
            <a:endParaRPr lang="pt-BR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---------|-------------|---------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       | Daniel Lima | Física</a:t>
            </a:r>
            <a:endParaRPr lang="pt-BR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9F5725-47B3-2BED-5FA1-447FE3184D24}"/>
              </a:ext>
            </a:extLst>
          </p:cNvPr>
          <p:cNvSpPr txBox="1"/>
          <p:nvPr/>
        </p:nvSpPr>
        <p:spPr>
          <a:xfrm>
            <a:off x="7336715" y="1486830"/>
            <a:ext cx="44536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Condição Fundamental (Compatibilidade)</a:t>
            </a:r>
          </a:p>
          <a:p>
            <a:pPr>
              <a:buNone/>
            </a:pPr>
            <a:r>
              <a:rPr lang="pt-BR" dirty="0"/>
              <a:t>Para que a União seja válida, as duas relações precisam ser:</a:t>
            </a:r>
          </a:p>
          <a:p>
            <a:pPr>
              <a:buNone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dirty="0"/>
              <a:t>✔ Ter o mesmo número de atributos</a:t>
            </a:r>
          </a:p>
          <a:p>
            <a:pPr>
              <a:buFont typeface="+mj-lt"/>
              <a:buAutoNum type="arabicPeriod"/>
            </a:pPr>
            <a:r>
              <a:rPr lang="pt-BR" dirty="0"/>
              <a:t>✔ Ter atributos na mesma ordem</a:t>
            </a:r>
          </a:p>
          <a:p>
            <a:pPr>
              <a:buFont typeface="+mj-lt"/>
              <a:buAutoNum type="arabicPeriod"/>
            </a:pPr>
            <a:r>
              <a:rPr lang="pt-BR" dirty="0"/>
              <a:t>✔ Ter tipos de dados compatíveis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None/>
            </a:pPr>
            <a:r>
              <a:rPr lang="pt-BR" dirty="0"/>
              <a:t>Isso se chama compatibilidade de união.</a:t>
            </a:r>
          </a:p>
        </p:txBody>
      </p:sp>
    </p:spTree>
    <p:extLst>
      <p:ext uri="{BB962C8B-B14F-4D97-AF65-F5344CB8AC3E}">
        <p14:creationId xmlns:p14="http://schemas.microsoft.com/office/powerpoint/2010/main" val="3894989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38A2AF9-939A-B83C-DA18-5E325C2125D9}"/>
              </a:ext>
            </a:extLst>
          </p:cNvPr>
          <p:cNvSpPr txBox="1"/>
          <p:nvPr/>
        </p:nvSpPr>
        <p:spPr>
          <a:xfrm>
            <a:off x="615875" y="363959"/>
            <a:ext cx="7032811" cy="4184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Diferença (−)</a:t>
            </a: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Encontrar alunos que estão em 'Engenharia' mas não em 'Matemática' (assumindo que temos outra tabela </a:t>
            </a:r>
            <a:r>
              <a:rPr lang="pt-BR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Inscritos_Matematica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Inscritos_Engenharia</a:t>
            </a:r>
            <a:r>
              <a:rPr lang="pt-BR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pt-BR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Inscritos_Matematica</a:t>
            </a:r>
            <a:endParaRPr lang="pt-BR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 (assumindo que 'Ana Silva' está em 'Engenharia' mas não em 'Matemática'):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| Curso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---------|------------|---------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| Engenharia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0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42B857-0890-7231-44BE-AD918A9B3B92}"/>
              </a:ext>
            </a:extLst>
          </p:cNvPr>
          <p:cNvSpPr txBox="1"/>
          <p:nvPr/>
        </p:nvSpPr>
        <p:spPr>
          <a:xfrm>
            <a:off x="107576" y="219147"/>
            <a:ext cx="9477488" cy="476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spcAft>
                <a:spcPts val="800"/>
              </a:spcAft>
              <a:buNone/>
            </a:pPr>
            <a:r>
              <a:rPr lang="pt-B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Produto Cartesiano (×):</a:t>
            </a:r>
            <a:endParaRPr lang="pt-BR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450215" algn="l">
              <a:spcAft>
                <a:spcPts val="800"/>
              </a:spcAft>
              <a:buNone/>
            </a:pPr>
            <a:r>
              <a:rPr lang="pt-B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Combinar informações de alunos e cursos: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 × Cursos</a:t>
            </a:r>
            <a:endParaRPr lang="pt-BR" sz="2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0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 | Curso       | 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| Departamento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---------|-------------|-------------|----------|-------------|--------------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  | 101      | Engenharia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  | 102      | Matemática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  | 103      | Física    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  | 101      | Engenharia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  | 102      | Matemática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  | 103      | Física    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  | 101      | Engenharia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  | 102      | Matemática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 indent="450215" algn="l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  | 103      | Física      | Exatas</a:t>
            </a:r>
            <a:endParaRPr lang="pt-B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1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62FE23F-3D1E-7D96-63FE-95AB32EE9AB8}"/>
              </a:ext>
            </a:extLst>
          </p:cNvPr>
          <p:cNvSpPr txBox="1"/>
          <p:nvPr/>
        </p:nvSpPr>
        <p:spPr>
          <a:xfrm>
            <a:off x="0" y="312415"/>
            <a:ext cx="11241742" cy="420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Junção (</a:t>
            </a:r>
            <a:r>
              <a:rPr lang="pt-BR" sz="20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⨝</a:t>
            </a: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Combinar alunos com seus cursos: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 </a:t>
            </a:r>
            <a:r>
              <a:rPr lang="pt-BR" sz="20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⨝</a:t>
            </a: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Alunos.Curso</a:t>
            </a:r>
            <a:r>
              <a:rPr lang="pt-BR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Cursos.Nome_Curso</a:t>
            </a:r>
            <a:endParaRPr lang="pt-BR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ID_Aluno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Nome        | Curso       | 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pt-BR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Nome_Curso</a:t>
            </a: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| Departamento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---------|-------------|-------------|----------|-------------|--------------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    | Ana Silva   | Engenharia  | 101      | Engenharia  | Exatas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       | Bruno Costa | Matemática  | 102      | Matemática  | Exatas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       | Carla Dias  | Engenharia  | 101      | Engenharia  | Exatas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348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492B-6916-1BB2-536E-6D4002E9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DB10FBA-484C-1977-7C6F-82ADF7D2C747}"/>
              </a:ext>
            </a:extLst>
          </p:cNvPr>
          <p:cNvSpPr txBox="1"/>
          <p:nvPr/>
        </p:nvSpPr>
        <p:spPr>
          <a:xfrm>
            <a:off x="1118795" y="1000254"/>
            <a:ext cx="9369911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os fundamentos da álgebra relacional e suas operações básicas é essencial para a manipulação eficaz de dados em bancos de dados relacionais. </a:t>
            </a:r>
          </a:p>
          <a:p>
            <a:pPr indent="54038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operações de 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seleção, projeção, união, diferença, produto cartesiano e junção </a:t>
            </a:r>
          </a:p>
          <a:p>
            <a:pPr indent="54038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permitem a execução de consultas complexas de maneira sistemática e eficiente, garantindo a integridade e consistência dos dados. Essas operações formam a base para a linguagem SQL, amplamente utilizada em sistemas de banco de dados relacionais.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94348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F991ADF-597D-78BA-940A-43AB8C8480D2}"/>
              </a:ext>
            </a:extLst>
          </p:cNvPr>
          <p:cNvSpPr txBox="1"/>
          <p:nvPr/>
        </p:nvSpPr>
        <p:spPr>
          <a:xfrm>
            <a:off x="634180" y="683008"/>
            <a:ext cx="10923639" cy="506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580" indent="450215" algn="just">
              <a:spcBef>
                <a:spcPts val="1400"/>
              </a:spcBef>
              <a:spcAft>
                <a:spcPts val="1200"/>
              </a:spcAft>
              <a:buNone/>
            </a:pP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Bibliografia Principal (disponível na biblioteca digital da </a:t>
            </a:r>
            <a:r>
              <a:rPr lang="pt-BR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Multivix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PICHETTI, Roni F.; VIDA, </a:t>
            </a: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Edinilson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S.; CORTES, Vanessa S. M P. Banco de dados. Porto Alegre: Grupo A, 2021. E-book. ISBN 9786556900186. Disponível em: https://integrada.minhabiblioteca.com.br/#/books/9786556900186/. Acesso em: 12 ago. 2024.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Bibliografia Básica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NAVATHE, S. B.; ELMASRI, R. Sistemas de Banco de Dados.6ªed. Pearson Brasil, 2011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ELMASRI, RAMEZ </a:t>
            </a:r>
            <a:r>
              <a:rPr lang="pt-BR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.; Sistemas de Banco de Dados; 6ªª Edição; Rio de Janeiro; LTC; 2011.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MACHADO, Felipe Nery Rodrigues. Banco de dados: projeto e implementação. São Paulo: Érica, 2004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Bibliografia Complementar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SILBERSCHATZ, Abraham; KORTH, Henry F.; SUDARSHAN, S. Sistema de banco de dados. 5.ed. Rio de Janeiro: Elsevier, 2006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KORTH, H. et al. Sistemas de Banco de Dados. 3ª Edição. Makron Books.1999.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ELMASRI, Ramez. Sistemas de banco de dados.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6.ed. São Paulo: Pearson Addison Wesley, 2011</a:t>
            </a:r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SETZER, Valdemar W. Bancos de dados: conceitos, modelos, gerenciadores, projeto lógico, projeto físico. 3.ed. São Paulo: Edgard </a:t>
            </a: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Blucher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1999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DATE, C.J. Introdução a sistemas de bancos de dados. Rio de Janeiro: Elsevier, 2000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HIRAMA, </a:t>
            </a: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Kechi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Engenharia de software: qualidade e produtividade com tecnologia. Rio de Janeiro: GEN LTC, 2011. Livro digital. (1 recurso online). ISBN 9788595155404. Disponível em: https://integrada.minhabiblioteca.com.br/books/9788595155404.</a:t>
            </a:r>
          </a:p>
          <a:p>
            <a:pPr indent="450215" algn="just">
              <a:lnSpc>
                <a:spcPct val="107000"/>
              </a:lnSpc>
              <a:spcAft>
                <a:spcPts val="600"/>
              </a:spcAft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SBROCCO, José Henrique Teixeira de Carvalho; MACEDO, Paulo Cesar de. Metodologias ágeis: engenharia de software sob medida. São Paulo: Érica, 2012. Livro digital. (1 recurso online). ISBN 9788536519418. Disponível em: </a:t>
            </a:r>
            <a:r>
              <a:rPr lang="pt-BR" sz="1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https://integrada.minhabiblioteca.com.br/books/9788536519418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7685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1548</Words>
  <Application>Microsoft Office PowerPoint</Application>
  <PresentationFormat>Widescreen</PresentationFormat>
  <Paragraphs>175</Paragraphs>
  <Slides>17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10</cp:revision>
  <dcterms:created xsi:type="dcterms:W3CDTF">2026-02-21T19:49:04Z</dcterms:created>
  <dcterms:modified xsi:type="dcterms:W3CDTF">2026-05-25T17:35:03Z</dcterms:modified>
</cp:coreProperties>
</file>