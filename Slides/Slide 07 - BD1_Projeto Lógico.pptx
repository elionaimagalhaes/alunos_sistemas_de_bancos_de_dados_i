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1" r:id="rId1"/>
  </p:sldMasterIdLst>
  <p:notesMasterIdLst>
    <p:notesMasterId r:id="rId33"/>
  </p:notesMasterIdLst>
  <p:handoutMasterIdLst>
    <p:handoutMasterId r:id="rId34"/>
  </p:handoutMasterIdLst>
  <p:sldIdLst>
    <p:sldId id="513" r:id="rId2"/>
    <p:sldId id="531" r:id="rId3"/>
    <p:sldId id="532" r:id="rId4"/>
    <p:sldId id="533" r:id="rId5"/>
    <p:sldId id="534" r:id="rId6"/>
    <p:sldId id="535" r:id="rId7"/>
    <p:sldId id="536" r:id="rId8"/>
    <p:sldId id="537" r:id="rId9"/>
    <p:sldId id="538" r:id="rId10"/>
    <p:sldId id="539" r:id="rId11"/>
    <p:sldId id="540" r:id="rId12"/>
    <p:sldId id="541" r:id="rId13"/>
    <p:sldId id="530" r:id="rId14"/>
    <p:sldId id="514" r:id="rId15"/>
    <p:sldId id="515" r:id="rId16"/>
    <p:sldId id="516" r:id="rId17"/>
    <p:sldId id="517" r:id="rId18"/>
    <p:sldId id="518" r:id="rId19"/>
    <p:sldId id="519" r:id="rId20"/>
    <p:sldId id="520" r:id="rId21"/>
    <p:sldId id="521" r:id="rId22"/>
    <p:sldId id="522" r:id="rId23"/>
    <p:sldId id="525" r:id="rId24"/>
    <p:sldId id="524" r:id="rId25"/>
    <p:sldId id="526" r:id="rId26"/>
    <p:sldId id="523" r:id="rId27"/>
    <p:sldId id="527" r:id="rId28"/>
    <p:sldId id="528" r:id="rId29"/>
    <p:sldId id="529" r:id="rId30"/>
    <p:sldId id="493" r:id="rId31"/>
    <p:sldId id="542" r:id="rId32"/>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B2"/>
    <a:srgbClr val="7EC234"/>
    <a:srgbClr val="008000"/>
    <a:srgbClr val="EECD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6" autoAdjust="0"/>
    <p:restoredTop sz="99104" autoAdjust="0"/>
  </p:normalViewPr>
  <p:slideViewPr>
    <p:cSldViewPr>
      <p:cViewPr varScale="1">
        <p:scale>
          <a:sx n="82" d="100"/>
          <a:sy n="82" d="100"/>
        </p:scale>
        <p:origin x="132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66686C5-9FC3-4ECF-B0E5-F803BBF7867B}" type="datetimeFigureOut">
              <a:rPr lang="pt-BR" smtClean="0"/>
              <a:pPr/>
              <a:t>28/02/2026</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378A3F-4B77-4156-875B-A64AE335C5C0}" type="slidenum">
              <a:rPr lang="pt-BR" smtClean="0"/>
              <a:pPr/>
              <a:t>‹nº›</a:t>
            </a:fld>
            <a:endParaRPr 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980A45-D736-45A4-B247-1A59E06B267F}" type="datetimeFigureOut">
              <a:rPr lang="pt-BR" smtClean="0"/>
              <a:pPr/>
              <a:t>28/02/2026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5DF64-329D-4CCC-BB41-12FF3AB451DC}"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F50DF9-7D9F-459B-9FFC-4F2827764A7D}"/>
              </a:ext>
            </a:extLst>
          </p:cNvPr>
          <p:cNvSpPr>
            <a:spLocks noGrp="1"/>
          </p:cNvSpPr>
          <p:nvPr>
            <p:ph type="ctrTitle"/>
          </p:nvPr>
        </p:nvSpPr>
        <p:spPr>
          <a:xfrm>
            <a:off x="1143000" y="1122363"/>
            <a:ext cx="6858000" cy="23876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4E819A93-B14E-42B6-8FC5-160083A546B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E93CE30B-4C5E-4857-B421-2BD23971F93A}"/>
              </a:ext>
            </a:extLst>
          </p:cNvPr>
          <p:cNvSpPr>
            <a:spLocks noGrp="1"/>
          </p:cNvSpPr>
          <p:nvPr>
            <p:ph type="dt" sz="half" idx="10"/>
          </p:nvPr>
        </p:nvSpPr>
        <p:spPr/>
        <p:txBody>
          <a:bodyPr/>
          <a:lstStyle/>
          <a:p>
            <a:fld id="{DBEFFE42-BCA1-4792-B888-1974D621B971}" type="datetime1">
              <a:rPr lang="pt-BR" smtClean="0"/>
              <a:t>28/02/2026</a:t>
            </a:fld>
            <a:endParaRPr lang="pt-BR" dirty="0"/>
          </a:p>
        </p:txBody>
      </p:sp>
      <p:sp>
        <p:nvSpPr>
          <p:cNvPr id="5" name="Espaço Reservado para Rodapé 4">
            <a:extLst>
              <a:ext uri="{FF2B5EF4-FFF2-40B4-BE49-F238E27FC236}">
                <a16:creationId xmlns:a16="http://schemas.microsoft.com/office/drawing/2014/main" id="{442D90EF-28DC-45EE-86D7-EC294B22397B}"/>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BAE0875E-78AB-414C-B362-11BB47C5BDBD}"/>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397999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4EFCA-8653-4D6C-AF9E-767733BE579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8F1E570-F325-4C0F-9D01-2D14B2658AAA}"/>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C819C85-9A82-4512-8869-3A496E26CF23}"/>
              </a:ext>
            </a:extLst>
          </p:cNvPr>
          <p:cNvSpPr>
            <a:spLocks noGrp="1"/>
          </p:cNvSpPr>
          <p:nvPr>
            <p:ph type="dt" sz="half" idx="10"/>
          </p:nvPr>
        </p:nvSpPr>
        <p:spPr/>
        <p:txBody>
          <a:bodyPr/>
          <a:lstStyle/>
          <a:p>
            <a:fld id="{1F853580-4301-4E96-BF9C-7203CD09A3B3}" type="datetime1">
              <a:rPr lang="pt-BR" smtClean="0"/>
              <a:t>28/02/2026</a:t>
            </a:fld>
            <a:endParaRPr lang="pt-BR" dirty="0"/>
          </a:p>
        </p:txBody>
      </p:sp>
      <p:sp>
        <p:nvSpPr>
          <p:cNvPr id="5" name="Espaço Reservado para Rodapé 4">
            <a:extLst>
              <a:ext uri="{FF2B5EF4-FFF2-40B4-BE49-F238E27FC236}">
                <a16:creationId xmlns:a16="http://schemas.microsoft.com/office/drawing/2014/main" id="{D45D47E2-1987-4DB3-8E2B-4A3F911028BE}"/>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0C8AE7D3-0DA8-4E5A-9ECD-08831F9E00D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138551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9BED6-A874-45D9-844B-C1E1751C5BE2}"/>
              </a:ext>
            </a:extLst>
          </p:cNvPr>
          <p:cNvSpPr>
            <a:spLocks noGrp="1"/>
          </p:cNvSpPr>
          <p:nvPr>
            <p:ph type="title"/>
          </p:nvPr>
        </p:nvSpPr>
        <p:spPr>
          <a:xfrm>
            <a:off x="623888" y="1709739"/>
            <a:ext cx="7886700" cy="2852737"/>
          </a:xfrm>
        </p:spPr>
        <p:txBody>
          <a:bodyPr anchor="b"/>
          <a:lstStyle>
            <a:lvl1pPr>
              <a:defRPr sz="4500"/>
            </a:lvl1pPr>
          </a:lstStyle>
          <a:p>
            <a:r>
              <a:rPr lang="pt-BR"/>
              <a:t>Clique para editar o título Mestre</a:t>
            </a:r>
          </a:p>
        </p:txBody>
      </p:sp>
      <p:sp>
        <p:nvSpPr>
          <p:cNvPr id="3" name="Espaço Reservado para Texto 2">
            <a:extLst>
              <a:ext uri="{FF2B5EF4-FFF2-40B4-BE49-F238E27FC236}">
                <a16:creationId xmlns:a16="http://schemas.microsoft.com/office/drawing/2014/main" id="{F06551A6-D2D0-44AD-9915-BC9981B876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DE87C2BB-70D3-47A4-B45D-8237D7BE1227}"/>
              </a:ext>
            </a:extLst>
          </p:cNvPr>
          <p:cNvSpPr>
            <a:spLocks noGrp="1"/>
          </p:cNvSpPr>
          <p:nvPr>
            <p:ph type="dt" sz="half" idx="10"/>
          </p:nvPr>
        </p:nvSpPr>
        <p:spPr/>
        <p:txBody>
          <a:bodyPr/>
          <a:lstStyle/>
          <a:p>
            <a:fld id="{36F0F93D-FBF5-4949-BA6C-30F4B9048FD6}" type="datetime1">
              <a:rPr lang="pt-BR" smtClean="0"/>
              <a:t>28/02/2026</a:t>
            </a:fld>
            <a:endParaRPr lang="pt-BR"/>
          </a:p>
        </p:txBody>
      </p:sp>
      <p:sp>
        <p:nvSpPr>
          <p:cNvPr id="5" name="Espaço Reservado para Rodapé 4">
            <a:extLst>
              <a:ext uri="{FF2B5EF4-FFF2-40B4-BE49-F238E27FC236}">
                <a16:creationId xmlns:a16="http://schemas.microsoft.com/office/drawing/2014/main" id="{58B74924-E736-477E-993A-56D5FC9B20D9}"/>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DAB31208-D674-4729-B9D0-3AAC69566BEB}"/>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3815447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CE239-30DA-4411-BCD5-62ED5830927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13BDBBD-DD31-4BA0-A0FE-9B9EBD4C5020}"/>
              </a:ext>
            </a:extLst>
          </p:cNvPr>
          <p:cNvSpPr>
            <a:spLocks noGrp="1"/>
          </p:cNvSpPr>
          <p:nvPr>
            <p:ph sz="half" idx="1"/>
          </p:nvPr>
        </p:nvSpPr>
        <p:spPr>
          <a:xfrm>
            <a:off x="6286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AD1DE87-6B1C-4C49-B03D-45D87EAB7592}"/>
              </a:ext>
            </a:extLst>
          </p:cNvPr>
          <p:cNvSpPr>
            <a:spLocks noGrp="1"/>
          </p:cNvSpPr>
          <p:nvPr>
            <p:ph sz="half" idx="2"/>
          </p:nvPr>
        </p:nvSpPr>
        <p:spPr>
          <a:xfrm>
            <a:off x="46291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2EEC256-0368-4817-A681-43B6FFCA5B66}"/>
              </a:ext>
            </a:extLst>
          </p:cNvPr>
          <p:cNvSpPr>
            <a:spLocks noGrp="1"/>
          </p:cNvSpPr>
          <p:nvPr>
            <p:ph type="dt" sz="half" idx="10"/>
          </p:nvPr>
        </p:nvSpPr>
        <p:spPr/>
        <p:txBody>
          <a:bodyPr/>
          <a:lstStyle/>
          <a:p>
            <a:fld id="{803010FA-1F2D-4591-8B72-24E902507D56}" type="datetime1">
              <a:rPr lang="pt-BR" smtClean="0"/>
              <a:t>28/02/2026</a:t>
            </a:fld>
            <a:endParaRPr lang="pt-BR"/>
          </a:p>
        </p:txBody>
      </p:sp>
      <p:sp>
        <p:nvSpPr>
          <p:cNvPr id="6" name="Espaço Reservado para Rodapé 5">
            <a:extLst>
              <a:ext uri="{FF2B5EF4-FFF2-40B4-BE49-F238E27FC236}">
                <a16:creationId xmlns:a16="http://schemas.microsoft.com/office/drawing/2014/main" id="{2FB3294D-3E18-425C-9465-682EAEE0DCAA}"/>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1AF2E520-2748-4D78-866C-046671BF8C50}"/>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386567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C589DF-0A30-40F3-AB99-D60C432CF9A3}"/>
              </a:ext>
            </a:extLst>
          </p:cNvPr>
          <p:cNvSpPr>
            <a:spLocks noGrp="1"/>
          </p:cNvSpPr>
          <p:nvPr>
            <p:ph type="title"/>
          </p:nvPr>
        </p:nvSpPr>
        <p:spPr>
          <a:xfrm>
            <a:off x="629841" y="365126"/>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CA67762-A936-438D-9B5F-581B0E15C64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BA8A4022-1E6E-4AAD-AB12-3A39C8A494E7}"/>
              </a:ext>
            </a:extLst>
          </p:cNvPr>
          <p:cNvSpPr>
            <a:spLocks noGrp="1"/>
          </p:cNvSpPr>
          <p:nvPr>
            <p:ph sz="half" idx="2"/>
          </p:nvPr>
        </p:nvSpPr>
        <p:spPr>
          <a:xfrm>
            <a:off x="629842" y="2505075"/>
            <a:ext cx="3868340"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70E04501-52B4-4320-AADA-9F330DD69BE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C8D74088-9976-46DB-82EC-1F67B684AA8D}"/>
              </a:ext>
            </a:extLst>
          </p:cNvPr>
          <p:cNvSpPr>
            <a:spLocks noGrp="1"/>
          </p:cNvSpPr>
          <p:nvPr>
            <p:ph sz="quarter" idx="4"/>
          </p:nvPr>
        </p:nvSpPr>
        <p:spPr>
          <a:xfrm>
            <a:off x="4629150" y="2505075"/>
            <a:ext cx="3887391"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FABD2CC-EE63-4389-BC9A-EF83C35E1782}"/>
              </a:ext>
            </a:extLst>
          </p:cNvPr>
          <p:cNvSpPr>
            <a:spLocks noGrp="1"/>
          </p:cNvSpPr>
          <p:nvPr>
            <p:ph type="dt" sz="half" idx="10"/>
          </p:nvPr>
        </p:nvSpPr>
        <p:spPr/>
        <p:txBody>
          <a:bodyPr/>
          <a:lstStyle/>
          <a:p>
            <a:fld id="{F2C1EAB5-1A8B-46B6-BB79-3C9E62E8C851}" type="datetime1">
              <a:rPr lang="pt-BR" smtClean="0"/>
              <a:t>28/02/2026</a:t>
            </a:fld>
            <a:endParaRPr lang="pt-BR"/>
          </a:p>
        </p:txBody>
      </p:sp>
      <p:sp>
        <p:nvSpPr>
          <p:cNvPr id="8" name="Espaço Reservado para Rodapé 7">
            <a:extLst>
              <a:ext uri="{FF2B5EF4-FFF2-40B4-BE49-F238E27FC236}">
                <a16:creationId xmlns:a16="http://schemas.microsoft.com/office/drawing/2014/main" id="{13771B07-F0A4-431E-8E0C-CAA3A70EF925}"/>
              </a:ext>
            </a:extLst>
          </p:cNvPr>
          <p:cNvSpPr>
            <a:spLocks noGrp="1"/>
          </p:cNvSpPr>
          <p:nvPr>
            <p:ph type="ftr" sz="quarter" idx="11"/>
          </p:nvPr>
        </p:nvSpPr>
        <p:spPr/>
        <p:txBody>
          <a:bodyPr/>
          <a:lstStyle/>
          <a:p>
            <a:r>
              <a:rPr lang="pt-BR"/>
              <a:t>Professor MSc. Elionai Magalhães</a:t>
            </a:r>
          </a:p>
        </p:txBody>
      </p:sp>
      <p:sp>
        <p:nvSpPr>
          <p:cNvPr id="9" name="Espaço Reservado para Número de Slide 8">
            <a:extLst>
              <a:ext uri="{FF2B5EF4-FFF2-40B4-BE49-F238E27FC236}">
                <a16:creationId xmlns:a16="http://schemas.microsoft.com/office/drawing/2014/main" id="{BCBCAF75-7FEF-44E5-ABE0-AB67A69BF88E}"/>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77742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91C452-B5DF-433D-8F28-95A9F4E5B1F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BEDC9B1-A4B1-4729-A8BF-60559DBC8638}"/>
              </a:ext>
            </a:extLst>
          </p:cNvPr>
          <p:cNvSpPr>
            <a:spLocks noGrp="1"/>
          </p:cNvSpPr>
          <p:nvPr>
            <p:ph type="dt" sz="half" idx="10"/>
          </p:nvPr>
        </p:nvSpPr>
        <p:spPr/>
        <p:txBody>
          <a:bodyPr/>
          <a:lstStyle/>
          <a:p>
            <a:fld id="{2F854DA1-56F7-4AEB-A848-0B8B9FE091DE}" type="datetime1">
              <a:rPr lang="pt-BR" smtClean="0"/>
              <a:t>28/02/2026</a:t>
            </a:fld>
            <a:endParaRPr lang="pt-BR" dirty="0"/>
          </a:p>
        </p:txBody>
      </p:sp>
      <p:sp>
        <p:nvSpPr>
          <p:cNvPr id="4" name="Espaço Reservado para Rodapé 3">
            <a:extLst>
              <a:ext uri="{FF2B5EF4-FFF2-40B4-BE49-F238E27FC236}">
                <a16:creationId xmlns:a16="http://schemas.microsoft.com/office/drawing/2014/main" id="{2831EA89-D894-490B-942B-538615BC3A5B}"/>
              </a:ext>
            </a:extLst>
          </p:cNvPr>
          <p:cNvSpPr>
            <a:spLocks noGrp="1"/>
          </p:cNvSpPr>
          <p:nvPr>
            <p:ph type="ftr" sz="quarter" idx="11"/>
          </p:nvPr>
        </p:nvSpPr>
        <p:spPr/>
        <p:txBody>
          <a:bodyPr/>
          <a:lstStyle/>
          <a:p>
            <a:r>
              <a:rPr lang="pt-BR"/>
              <a:t>Professor MSc. Elionai Magalhães</a:t>
            </a:r>
          </a:p>
        </p:txBody>
      </p:sp>
      <p:sp>
        <p:nvSpPr>
          <p:cNvPr id="5" name="Espaço Reservado para Número de Slide 4">
            <a:extLst>
              <a:ext uri="{FF2B5EF4-FFF2-40B4-BE49-F238E27FC236}">
                <a16:creationId xmlns:a16="http://schemas.microsoft.com/office/drawing/2014/main" id="{CA5BF259-E26B-42DC-B8CE-5B4E20E4C06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356415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EAE81CE5-CECC-42F1-96E1-B3AEFD660608}"/>
              </a:ext>
            </a:extLst>
          </p:cNvPr>
          <p:cNvSpPr>
            <a:spLocks noGrp="1"/>
          </p:cNvSpPr>
          <p:nvPr>
            <p:ph type="dt" sz="half" idx="10"/>
          </p:nvPr>
        </p:nvSpPr>
        <p:spPr/>
        <p:txBody>
          <a:bodyPr/>
          <a:lstStyle/>
          <a:p>
            <a:fld id="{67B76E6E-9FB3-4E4E-A99A-837BEC0FF80E}" type="datetime1">
              <a:rPr lang="pt-BR" smtClean="0"/>
              <a:t>28/02/2026</a:t>
            </a:fld>
            <a:endParaRPr lang="pt-BR" dirty="0"/>
          </a:p>
        </p:txBody>
      </p:sp>
      <p:sp>
        <p:nvSpPr>
          <p:cNvPr id="3" name="Espaço Reservado para Rodapé 2">
            <a:extLst>
              <a:ext uri="{FF2B5EF4-FFF2-40B4-BE49-F238E27FC236}">
                <a16:creationId xmlns:a16="http://schemas.microsoft.com/office/drawing/2014/main" id="{16E527CB-781A-463A-9F1A-10D2B67ECB27}"/>
              </a:ext>
            </a:extLst>
          </p:cNvPr>
          <p:cNvSpPr>
            <a:spLocks noGrp="1"/>
          </p:cNvSpPr>
          <p:nvPr>
            <p:ph type="ftr" sz="quarter" idx="11"/>
          </p:nvPr>
        </p:nvSpPr>
        <p:spPr/>
        <p:txBody>
          <a:bodyPr/>
          <a:lstStyle/>
          <a:p>
            <a:r>
              <a:rPr lang="pt-BR"/>
              <a:t>Professor MSc. Elionai Magalhães</a:t>
            </a:r>
            <a:endParaRPr lang="pt-BR" dirty="0"/>
          </a:p>
        </p:txBody>
      </p:sp>
      <p:sp>
        <p:nvSpPr>
          <p:cNvPr id="4" name="Espaço Reservado para Número de Slide 3">
            <a:extLst>
              <a:ext uri="{FF2B5EF4-FFF2-40B4-BE49-F238E27FC236}">
                <a16:creationId xmlns:a16="http://schemas.microsoft.com/office/drawing/2014/main" id="{503DA7D7-6F8E-4D32-98B8-7BA41FFB68C1}"/>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97755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2231D-04BA-4FF8-9BB5-30C1EECC187A}"/>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31FCFEC1-93E7-4C5A-9B93-7C2E6C6D38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F1C410A-A631-4EE9-AA36-A35F5C8BDB6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B7E2B55-6ABC-463E-B83B-D6C7E3884232}"/>
              </a:ext>
            </a:extLst>
          </p:cNvPr>
          <p:cNvSpPr>
            <a:spLocks noGrp="1"/>
          </p:cNvSpPr>
          <p:nvPr>
            <p:ph type="dt" sz="half" idx="10"/>
          </p:nvPr>
        </p:nvSpPr>
        <p:spPr/>
        <p:txBody>
          <a:bodyPr/>
          <a:lstStyle/>
          <a:p>
            <a:fld id="{69627848-7DA9-4154-854F-EC311149BE30}" type="datetime1">
              <a:rPr lang="pt-BR" smtClean="0"/>
              <a:t>28/02/2026</a:t>
            </a:fld>
            <a:endParaRPr lang="pt-BR"/>
          </a:p>
        </p:txBody>
      </p:sp>
      <p:sp>
        <p:nvSpPr>
          <p:cNvPr id="6" name="Espaço Reservado para Rodapé 5">
            <a:extLst>
              <a:ext uri="{FF2B5EF4-FFF2-40B4-BE49-F238E27FC236}">
                <a16:creationId xmlns:a16="http://schemas.microsoft.com/office/drawing/2014/main" id="{337570CF-3B42-4264-97D4-DFC0B435D41A}"/>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7E11E8F5-4438-4550-ABFE-B3FE13C52C7C}"/>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584797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CE9A58-89CB-4250-AA9D-5DCA3FC44BB8}"/>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Imagem 2">
            <a:extLst>
              <a:ext uri="{FF2B5EF4-FFF2-40B4-BE49-F238E27FC236}">
                <a16:creationId xmlns:a16="http://schemas.microsoft.com/office/drawing/2014/main" id="{36ED8142-1288-4110-9D6C-A8C073DE1FC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a:extLst>
              <a:ext uri="{FF2B5EF4-FFF2-40B4-BE49-F238E27FC236}">
                <a16:creationId xmlns:a16="http://schemas.microsoft.com/office/drawing/2014/main" id="{695F1485-5FB9-49B2-9FDC-84A0C73FC15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41C02030-A6E3-4E96-B12F-648E741C2B2D}"/>
              </a:ext>
            </a:extLst>
          </p:cNvPr>
          <p:cNvSpPr>
            <a:spLocks noGrp="1"/>
          </p:cNvSpPr>
          <p:nvPr>
            <p:ph type="dt" sz="half" idx="10"/>
          </p:nvPr>
        </p:nvSpPr>
        <p:spPr/>
        <p:txBody>
          <a:bodyPr/>
          <a:lstStyle/>
          <a:p>
            <a:fld id="{56A1246D-15D2-4032-9A98-FCAE5B177B97}" type="datetime1">
              <a:rPr lang="pt-BR" smtClean="0"/>
              <a:t>28/02/2026</a:t>
            </a:fld>
            <a:endParaRPr lang="pt-BR"/>
          </a:p>
        </p:txBody>
      </p:sp>
      <p:sp>
        <p:nvSpPr>
          <p:cNvPr id="6" name="Espaço Reservado para Rodapé 5">
            <a:extLst>
              <a:ext uri="{FF2B5EF4-FFF2-40B4-BE49-F238E27FC236}">
                <a16:creationId xmlns:a16="http://schemas.microsoft.com/office/drawing/2014/main" id="{284C9FB4-94DA-4837-9D41-D932C8213730}"/>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C4548FFF-7420-450E-B641-6491F6F048B8}"/>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93976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BEB205-2ABD-4951-9194-6DC026A2202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3C7071F-AC30-43B1-8E05-9CA0B7E19CE1}"/>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FEA90B2-77EB-46B2-B0A1-943710984756}"/>
              </a:ext>
            </a:extLst>
          </p:cNvPr>
          <p:cNvSpPr>
            <a:spLocks noGrp="1"/>
          </p:cNvSpPr>
          <p:nvPr>
            <p:ph type="dt" sz="half" idx="10"/>
          </p:nvPr>
        </p:nvSpPr>
        <p:spPr/>
        <p:txBody>
          <a:bodyPr/>
          <a:lstStyle/>
          <a:p>
            <a:fld id="{49BFE201-082C-4ADD-BB91-197F5952331B}" type="datetime1">
              <a:rPr lang="pt-BR" smtClean="0"/>
              <a:t>28/02/2026</a:t>
            </a:fld>
            <a:endParaRPr lang="pt-BR" dirty="0"/>
          </a:p>
        </p:txBody>
      </p:sp>
      <p:sp>
        <p:nvSpPr>
          <p:cNvPr id="5" name="Espaço Reservado para Rodapé 4">
            <a:extLst>
              <a:ext uri="{FF2B5EF4-FFF2-40B4-BE49-F238E27FC236}">
                <a16:creationId xmlns:a16="http://schemas.microsoft.com/office/drawing/2014/main" id="{13CD4844-5316-46A3-957E-B9C9AC0C80C3}"/>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47A1294F-087B-4990-B56B-51D4B836436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1451410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CA03B7-13C8-4EB6-BBBC-CBE4F5CC318C}"/>
              </a:ext>
            </a:extLst>
          </p:cNvPr>
          <p:cNvSpPr>
            <a:spLocks noGrp="1"/>
          </p:cNvSpPr>
          <p:nvPr>
            <p:ph type="title" orient="vert"/>
          </p:nvPr>
        </p:nvSpPr>
        <p:spPr>
          <a:xfrm>
            <a:off x="6543675" y="365125"/>
            <a:ext cx="1971675"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4197B7F-8376-4F96-AC5F-A089468DA53F}"/>
              </a:ext>
            </a:extLst>
          </p:cNvPr>
          <p:cNvSpPr>
            <a:spLocks noGrp="1"/>
          </p:cNvSpPr>
          <p:nvPr>
            <p:ph type="body" orient="vert" idx="1"/>
          </p:nvPr>
        </p:nvSpPr>
        <p:spPr>
          <a:xfrm>
            <a:off x="628650" y="365125"/>
            <a:ext cx="5800725"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CE8C371-9D77-4662-A914-9533FD07CEC4}"/>
              </a:ext>
            </a:extLst>
          </p:cNvPr>
          <p:cNvSpPr>
            <a:spLocks noGrp="1"/>
          </p:cNvSpPr>
          <p:nvPr>
            <p:ph type="dt" sz="half" idx="10"/>
          </p:nvPr>
        </p:nvSpPr>
        <p:spPr/>
        <p:txBody>
          <a:bodyPr/>
          <a:lstStyle/>
          <a:p>
            <a:fld id="{497C4E02-8806-4F6E-A703-7E6E61C2A7D2}" type="datetime1">
              <a:rPr lang="pt-BR" smtClean="0"/>
              <a:t>28/02/2026</a:t>
            </a:fld>
            <a:endParaRPr lang="pt-BR" dirty="0"/>
          </a:p>
        </p:txBody>
      </p:sp>
      <p:sp>
        <p:nvSpPr>
          <p:cNvPr id="5" name="Espaço Reservado para Rodapé 4">
            <a:extLst>
              <a:ext uri="{FF2B5EF4-FFF2-40B4-BE49-F238E27FC236}">
                <a16:creationId xmlns:a16="http://schemas.microsoft.com/office/drawing/2014/main" id="{FD604DC2-DD53-47DA-B183-A6138E2A7DB5}"/>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77DAF549-7359-4BE7-8D39-062D0A3A3482}"/>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06773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B7A7037-C570-40EB-AD6D-290C703E1A8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E497AD53-B718-4815-A297-CADAF290B4A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1F5DA0C-79DD-4940-8D68-239AF6AC8CA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7EA2C8F-4074-4261-8079-19D44966F8C8}" type="datetime1">
              <a:rPr lang="pt-BR" smtClean="0"/>
              <a:t>28/02/2026</a:t>
            </a:fld>
            <a:endParaRPr lang="pt-BR" dirty="0"/>
          </a:p>
        </p:txBody>
      </p:sp>
      <p:sp>
        <p:nvSpPr>
          <p:cNvPr id="5" name="Espaço Reservado para Rodapé 4">
            <a:extLst>
              <a:ext uri="{FF2B5EF4-FFF2-40B4-BE49-F238E27FC236}">
                <a16:creationId xmlns:a16="http://schemas.microsoft.com/office/drawing/2014/main" id="{42CAF63B-0E4E-4102-BECD-C0FEA668785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pt-BR"/>
              <a:t>Professor MSc. Elionai Magalhães</a:t>
            </a:r>
          </a:p>
        </p:txBody>
      </p:sp>
      <p:sp>
        <p:nvSpPr>
          <p:cNvPr id="6" name="Espaço Reservado para Número de Slide 5">
            <a:extLst>
              <a:ext uri="{FF2B5EF4-FFF2-40B4-BE49-F238E27FC236}">
                <a16:creationId xmlns:a16="http://schemas.microsoft.com/office/drawing/2014/main" id="{80272BA0-F731-426F-9455-20EC79EDE71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97559803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4228017"/>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Criar Diagramas Entidade-Relacionamento (ER) para Representar a Modelagem de Dados</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Elementos de Diagramas ER</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dirty="0">
                <a:latin typeface="Times New Roman" panose="02020603050405020304" pitchFamily="18" charset="0"/>
                <a:ea typeface="Times New Roman" panose="02020603050405020304" pitchFamily="18" charset="0"/>
                <a:cs typeface="Times New Roman" panose="02020603050405020304" pitchFamily="18" charset="0"/>
              </a:rPr>
              <a:t>Os diagramas Entidade-Relacionamento (ER) são uma ferramenta essencial para a modelagem de dados, permitindo visualizar e estruturar a forma como os dados se relacionam dentro de um sistema. Eles utilizam símbolos gráficos para representar entidades, atributos e relacionamentos entre os dados. Aqui estão os principais elementos de um diagrama ER:</a:t>
            </a: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6828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5396349"/>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endParaRPr lang="pt-BR" dirty="0">
              <a:latin typeface="Arial" panose="020B0604020202020204" pitchFamily="34" charset="0"/>
              <a:ea typeface="Calibri" panose="020F0502020204030204" pitchFamily="34" charset="0"/>
              <a:cs typeface="Times New Roman" panose="02020603050405020304" pitchFamily="18" charset="0"/>
            </a:endParaRPr>
          </a:p>
          <a:p>
            <a:pPr algn="just"/>
            <a:r>
              <a:rPr lang="pt-BR" sz="2200" b="1" dirty="0"/>
              <a:t>Entidades</a:t>
            </a:r>
            <a:r>
              <a:rPr lang="pt-BR" sz="2200" dirty="0"/>
              <a:t>:</a:t>
            </a:r>
          </a:p>
          <a:p>
            <a:pPr algn="just"/>
            <a:r>
              <a:rPr lang="pt-BR" sz="2200" b="1" dirty="0"/>
              <a:t>Definição</a:t>
            </a:r>
            <a:r>
              <a:rPr lang="pt-BR" sz="2200" dirty="0"/>
              <a:t>: Representam objetos ou conceitos do mundo real que têm significado para o negócio e sobre os quais se deseja armazenar informações.</a:t>
            </a:r>
          </a:p>
          <a:p>
            <a:pPr algn="just"/>
            <a:r>
              <a:rPr lang="pt-BR" sz="2200" b="1" dirty="0"/>
              <a:t>Símbolo</a:t>
            </a:r>
            <a:r>
              <a:rPr lang="pt-BR" sz="2200" dirty="0"/>
              <a:t>: Representadas por retângulos.</a:t>
            </a:r>
          </a:p>
          <a:p>
            <a:pPr algn="just"/>
            <a:r>
              <a:rPr lang="pt-BR" sz="2200" b="1" dirty="0"/>
              <a:t>Exemplo</a:t>
            </a:r>
            <a:r>
              <a:rPr lang="pt-BR" sz="2200" dirty="0"/>
              <a:t>: "Aluno", "Curso", "Professor" são exemplos de entidades em um sistema de gerenciamento de uma universidade.</a:t>
            </a:r>
          </a:p>
          <a:p>
            <a:pPr algn="just"/>
            <a:endParaRPr lang="pt-BR" sz="2200" b="1" dirty="0"/>
          </a:p>
          <a:p>
            <a:pPr algn="just"/>
            <a:r>
              <a:rPr lang="pt-BR" sz="2200" b="1" dirty="0"/>
              <a:t>Atributos</a:t>
            </a:r>
            <a:r>
              <a:rPr lang="pt-BR" sz="2200" dirty="0"/>
              <a:t>:</a:t>
            </a:r>
          </a:p>
          <a:p>
            <a:pPr algn="just"/>
            <a:r>
              <a:rPr lang="pt-BR" sz="2200" b="1" dirty="0"/>
              <a:t>Definição</a:t>
            </a:r>
            <a:r>
              <a:rPr lang="pt-BR" sz="2200" dirty="0"/>
              <a:t>: Características ou propriedades que descrevem uma entidade.</a:t>
            </a:r>
          </a:p>
          <a:p>
            <a:pPr algn="just"/>
            <a:r>
              <a:rPr lang="pt-BR" sz="2200" b="1" dirty="0"/>
              <a:t>Símbolo</a:t>
            </a:r>
            <a:r>
              <a:rPr lang="pt-BR" sz="2200" dirty="0"/>
              <a:t>: Representados por elipses conectadas às entidades.</a:t>
            </a:r>
          </a:p>
          <a:p>
            <a:pPr algn="just"/>
            <a:r>
              <a:rPr lang="pt-BR" sz="2200" b="1" dirty="0"/>
              <a:t>Exemplo</a:t>
            </a:r>
            <a:r>
              <a:rPr lang="pt-BR" sz="2200" dirty="0"/>
              <a:t>: A entidade "Aluno" pode ter atributos como "Nome", "Matrícula", "Data de Nascimento".</a:t>
            </a:r>
          </a:p>
        </p:txBody>
      </p:sp>
    </p:spTree>
    <p:extLst>
      <p:ext uri="{BB962C8B-B14F-4D97-AF65-F5344CB8AC3E}">
        <p14:creationId xmlns:p14="http://schemas.microsoft.com/office/powerpoint/2010/main" val="3308973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3508653"/>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Relacionamentos</a:t>
            </a:r>
            <a:r>
              <a:rPr lang="pt-BR" dirty="0">
                <a:latin typeface="Times New Roman" panose="02020603050405020304" pitchFamily="18" charset="0"/>
                <a:ea typeface="Times New Roman" panose="02020603050405020304" pitchFamily="18" charset="0"/>
                <a:cs typeface="Times New Roman" panose="02020603050405020304" pitchFamily="18" charset="0"/>
              </a:rPr>
              <a:t>:</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Definição</a:t>
            </a:r>
            <a:r>
              <a:rPr lang="pt-BR" dirty="0">
                <a:latin typeface="Times New Roman" panose="02020603050405020304" pitchFamily="18" charset="0"/>
                <a:ea typeface="Times New Roman" panose="02020603050405020304" pitchFamily="18" charset="0"/>
                <a:cs typeface="Times New Roman" panose="02020603050405020304" pitchFamily="18" charset="0"/>
              </a:rPr>
              <a:t>: Descrevem como as entidades estão associadas entre si.</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Símbolo</a:t>
            </a:r>
            <a:r>
              <a:rPr lang="pt-BR" dirty="0">
                <a:latin typeface="Times New Roman" panose="02020603050405020304" pitchFamily="18" charset="0"/>
                <a:ea typeface="Times New Roman" panose="02020603050405020304" pitchFamily="18" charset="0"/>
                <a:cs typeface="Times New Roman" panose="02020603050405020304" pitchFamily="18" charset="0"/>
              </a:rPr>
              <a:t>: Representados por losangos conectando as entidades envolvidas.</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dirty="0">
                <a:latin typeface="Times New Roman" panose="02020603050405020304" pitchFamily="18" charset="0"/>
                <a:ea typeface="Times New Roman" panose="02020603050405020304" pitchFamily="18" charset="0"/>
                <a:cs typeface="Times New Roman" panose="02020603050405020304" pitchFamily="18" charset="0"/>
              </a:rPr>
              <a:t>: Um relacionamento "Inscrito" pode existir entre as entidades "Aluno" e "Curso".</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4036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6140142"/>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Cardinalidade</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Definição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Especifica o número de instâncias de uma entidade que podem estar associadas a uma instância de outra entidade em um relacionamento.</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Tipos</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Um para Um (1:1)</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Uma instância de uma entidade está associada a uma única instância de outra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Um para Muitos (1)</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Uma instância de uma entidade está associada a várias instâncias de outra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Muitos para Muitos (N)</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Várias instâncias de uma entidade estão associadas a várias instâncias de outra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 "Professor" pode lecionar muitos "Cursos" (1), e um "Curso" pode ter muitos "Alunos" inscritos (N).</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0971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5</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4478149"/>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Chave Primária</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Definição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 atributo ou conjunto de atributos que identificam unicamente uma instância de uma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Símbolo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Sublinhar o nome do atributo no diagrama.</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"Matrícula" pode ser a chave primária para a entidade "Aluno".</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4868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6</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5680273"/>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gn="just">
              <a:lnSpc>
                <a:spcPct val="150000"/>
              </a:lnSpc>
            </a:pPr>
            <a:r>
              <a:rPr lang="pt-BR" sz="2200" b="1" dirty="0"/>
              <a:t>Chave Estrangeira</a:t>
            </a:r>
            <a:r>
              <a:rPr lang="pt-BR" sz="2200" dirty="0"/>
              <a:t>:</a:t>
            </a:r>
          </a:p>
          <a:p>
            <a:pPr algn="just">
              <a:lnSpc>
                <a:spcPct val="150000"/>
              </a:lnSpc>
            </a:pPr>
            <a:r>
              <a:rPr lang="pt-BR" sz="2200" b="1" dirty="0"/>
              <a:t>Definição</a:t>
            </a:r>
            <a:r>
              <a:rPr lang="pt-BR" sz="2200" dirty="0"/>
              <a:t>: Um atributo em uma entidade que é uma chave primária em outra entidade, utilizado para criar uma relação entre as entidades.</a:t>
            </a:r>
          </a:p>
          <a:p>
            <a:pPr algn="just">
              <a:lnSpc>
                <a:spcPct val="150000"/>
              </a:lnSpc>
            </a:pPr>
            <a:r>
              <a:rPr lang="pt-BR" sz="2200" b="1" dirty="0"/>
              <a:t>Símbolo</a:t>
            </a:r>
            <a:r>
              <a:rPr lang="pt-BR" sz="2200" dirty="0"/>
              <a:t>: Não possui uma representação gráfica específica no diagrama ER, mas é essencial na implementação física do banco de dados.</a:t>
            </a:r>
          </a:p>
          <a:p>
            <a:pPr algn="just">
              <a:lnSpc>
                <a:spcPct val="150000"/>
              </a:lnSpc>
            </a:pPr>
            <a:r>
              <a:rPr lang="pt-BR" sz="2200" b="1" dirty="0"/>
              <a:t>Exemplo</a:t>
            </a:r>
            <a:r>
              <a:rPr lang="pt-BR" sz="2200" dirty="0"/>
              <a:t>: "</a:t>
            </a:r>
            <a:r>
              <a:rPr lang="pt-BR" sz="2200" dirty="0" err="1"/>
              <a:t>ID_Professor</a:t>
            </a:r>
            <a:r>
              <a:rPr lang="pt-BR" sz="2200" dirty="0"/>
              <a:t>" pode ser uma chave estrangeira na entidade "Curso" referenciando a chave primária "ID" na entidade "Professor".</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18807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7</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687198"/>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sz="2000" b="1" dirty="0"/>
              <a:t>Criação e Interpretação de Diagramas ER</a:t>
            </a:r>
            <a:endParaRPr lang="pt-BR" sz="2000" dirty="0"/>
          </a:p>
          <a:p>
            <a:pPr>
              <a:lnSpc>
                <a:spcPct val="150000"/>
              </a:lnSpc>
            </a:pPr>
            <a:r>
              <a:rPr lang="pt-BR" sz="2000" dirty="0"/>
              <a:t>Para criar um diagrama ER, siga estas etapas:</a:t>
            </a:r>
          </a:p>
          <a:p>
            <a:pPr>
              <a:lnSpc>
                <a:spcPct val="150000"/>
              </a:lnSpc>
            </a:pPr>
            <a:r>
              <a:rPr lang="pt-BR" sz="2000" b="1" dirty="0"/>
              <a:t>Identificação das Entidades</a:t>
            </a:r>
            <a:r>
              <a:rPr lang="pt-BR" sz="2000" dirty="0"/>
              <a:t>:</a:t>
            </a:r>
          </a:p>
          <a:p>
            <a:pPr>
              <a:lnSpc>
                <a:spcPct val="150000"/>
              </a:lnSpc>
            </a:pPr>
            <a:r>
              <a:rPr lang="pt-BR" sz="2000" dirty="0"/>
              <a:t>Liste todos os objetos ou conceitos do mundo real que precisam ser representados no sistema.</a:t>
            </a:r>
          </a:p>
          <a:p>
            <a:pPr>
              <a:lnSpc>
                <a:spcPct val="150000"/>
              </a:lnSpc>
            </a:pPr>
            <a:r>
              <a:rPr lang="pt-BR" sz="2000" b="1" dirty="0"/>
              <a:t>Exemplo</a:t>
            </a:r>
            <a:r>
              <a:rPr lang="pt-BR" sz="2000" dirty="0"/>
              <a:t>: Em um sistema de biblioteca, as entidades podem ser "Livro", "Autor", "Usuário".</a:t>
            </a:r>
          </a:p>
          <a:p>
            <a:pPr>
              <a:lnSpc>
                <a:spcPct val="150000"/>
              </a:lnSpc>
            </a:pPr>
            <a:r>
              <a:rPr lang="pt-BR" sz="2000" b="1" dirty="0"/>
              <a:t>Definição dos Atributos</a:t>
            </a:r>
            <a:r>
              <a:rPr lang="pt-BR" sz="2000" dirty="0"/>
              <a:t>:</a:t>
            </a:r>
          </a:p>
          <a:p>
            <a:pPr>
              <a:lnSpc>
                <a:spcPct val="150000"/>
              </a:lnSpc>
            </a:pPr>
            <a:r>
              <a:rPr lang="pt-BR" sz="2000" dirty="0"/>
              <a:t>Para cada entidade, liste as características ou propriedades relevantes.</a:t>
            </a:r>
          </a:p>
          <a:p>
            <a:pPr>
              <a:lnSpc>
                <a:spcPct val="150000"/>
              </a:lnSpc>
            </a:pPr>
            <a:r>
              <a:rPr lang="pt-BR" sz="2000" b="1" dirty="0"/>
              <a:t>Exemplo</a:t>
            </a:r>
            <a:r>
              <a:rPr lang="pt-BR" sz="2000" dirty="0"/>
              <a:t>: Para a entidade "Livro", os atributos podem incluir "Título", "ISBN", "Ano de Publicação".</a:t>
            </a:r>
          </a:p>
        </p:txBody>
      </p:sp>
    </p:spTree>
    <p:extLst>
      <p:ext uri="{BB962C8B-B14F-4D97-AF65-F5344CB8AC3E}">
        <p14:creationId xmlns:p14="http://schemas.microsoft.com/office/powerpoint/2010/main" val="2077918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8</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687198"/>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gn="just">
              <a:lnSpc>
                <a:spcPct val="150000"/>
              </a:lnSpc>
            </a:pPr>
            <a:r>
              <a:rPr lang="pt-BR" sz="2000" b="1" dirty="0"/>
              <a:t>Estabelecimento dos Relacionamentos</a:t>
            </a:r>
            <a:r>
              <a:rPr lang="pt-BR" sz="2000" dirty="0"/>
              <a:t>:</a:t>
            </a:r>
          </a:p>
          <a:p>
            <a:pPr algn="just">
              <a:lnSpc>
                <a:spcPct val="150000"/>
              </a:lnSpc>
            </a:pPr>
            <a:r>
              <a:rPr lang="pt-BR" sz="2000" dirty="0"/>
              <a:t>Defina como as entidades estão relacionadas entre si.</a:t>
            </a:r>
          </a:p>
          <a:p>
            <a:pPr algn="just">
              <a:lnSpc>
                <a:spcPct val="150000"/>
              </a:lnSpc>
            </a:pPr>
            <a:r>
              <a:rPr lang="pt-BR" sz="2000" b="1" dirty="0"/>
              <a:t>Exemplo</a:t>
            </a:r>
            <a:r>
              <a:rPr lang="pt-BR" sz="2000" dirty="0"/>
              <a:t>: Um relacionamento "Escrito por" entre "Livro" e "Autor".</a:t>
            </a:r>
          </a:p>
          <a:p>
            <a:pPr algn="just">
              <a:lnSpc>
                <a:spcPct val="150000"/>
              </a:lnSpc>
            </a:pPr>
            <a:r>
              <a:rPr lang="pt-BR" sz="2000" b="1" dirty="0"/>
              <a:t>Determinação da Cardinalidade</a:t>
            </a:r>
            <a:r>
              <a:rPr lang="pt-BR" sz="2000" dirty="0"/>
              <a:t>:</a:t>
            </a:r>
          </a:p>
          <a:p>
            <a:pPr algn="just">
              <a:lnSpc>
                <a:spcPct val="150000"/>
              </a:lnSpc>
            </a:pPr>
            <a:r>
              <a:rPr lang="pt-BR" sz="2000" dirty="0"/>
              <a:t>Especifique a cardinalidade para cada relacionamento.</a:t>
            </a:r>
          </a:p>
          <a:p>
            <a:pPr algn="just">
              <a:lnSpc>
                <a:spcPct val="150000"/>
              </a:lnSpc>
            </a:pPr>
            <a:r>
              <a:rPr lang="pt-BR" sz="2000" b="1" dirty="0"/>
              <a:t>Exemplo</a:t>
            </a:r>
            <a:r>
              <a:rPr lang="pt-BR" sz="2000" dirty="0"/>
              <a:t>: Um "Autor" pode escrever muitos "Livros" (1).</a:t>
            </a:r>
          </a:p>
          <a:p>
            <a:pPr algn="just">
              <a:lnSpc>
                <a:spcPct val="150000"/>
              </a:lnSpc>
            </a:pPr>
            <a:r>
              <a:rPr lang="pt-BR" sz="2000" b="1" dirty="0"/>
              <a:t>Desenho do Diagrama ER</a:t>
            </a:r>
            <a:r>
              <a:rPr lang="pt-BR" sz="2000" dirty="0"/>
              <a:t>:</a:t>
            </a:r>
          </a:p>
          <a:p>
            <a:pPr algn="just">
              <a:lnSpc>
                <a:spcPct val="150000"/>
              </a:lnSpc>
            </a:pPr>
            <a:r>
              <a:rPr lang="pt-BR" sz="2000" dirty="0"/>
              <a:t>Use retângulos para entidades, elipses para atributos, e losangos para relacionamentos.</a:t>
            </a:r>
          </a:p>
          <a:p>
            <a:pPr algn="just">
              <a:lnSpc>
                <a:spcPct val="150000"/>
              </a:lnSpc>
            </a:pPr>
            <a:r>
              <a:rPr lang="pt-BR" sz="2000" dirty="0"/>
              <a:t>Conecte os elementos de acordo com os relacionamentos e adicione a cardinalidade.</a:t>
            </a:r>
          </a:p>
        </p:txBody>
      </p:sp>
    </p:spTree>
    <p:extLst>
      <p:ext uri="{BB962C8B-B14F-4D97-AF65-F5344CB8AC3E}">
        <p14:creationId xmlns:p14="http://schemas.microsoft.com/office/powerpoint/2010/main" val="3072256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9</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599610"/>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b="1" dirty="0"/>
              <a:t>Exemplo de Criação de Diagrama ER</a:t>
            </a:r>
            <a:endParaRPr lang="pt-BR" dirty="0"/>
          </a:p>
          <a:p>
            <a:pPr>
              <a:lnSpc>
                <a:spcPct val="150000"/>
              </a:lnSpc>
            </a:pPr>
            <a:r>
              <a:rPr lang="pt-BR" dirty="0"/>
              <a:t>Vamos criar um diagrama ER para um sistema de gerenciamento de biblioteca:</a:t>
            </a:r>
          </a:p>
          <a:p>
            <a:pPr>
              <a:lnSpc>
                <a:spcPct val="150000"/>
              </a:lnSpc>
            </a:pPr>
            <a:r>
              <a:rPr lang="pt-BR" b="1" dirty="0"/>
              <a:t>Entidades</a:t>
            </a:r>
            <a:r>
              <a:rPr lang="pt-BR" dirty="0"/>
              <a:t>:</a:t>
            </a:r>
          </a:p>
          <a:p>
            <a:pPr>
              <a:lnSpc>
                <a:spcPct val="150000"/>
              </a:lnSpc>
            </a:pPr>
            <a:r>
              <a:rPr lang="pt-BR" dirty="0"/>
              <a:t>Livro</a:t>
            </a:r>
          </a:p>
          <a:p>
            <a:pPr>
              <a:lnSpc>
                <a:spcPct val="150000"/>
              </a:lnSpc>
            </a:pPr>
            <a:r>
              <a:rPr lang="pt-BR" dirty="0"/>
              <a:t>Autor</a:t>
            </a:r>
          </a:p>
          <a:p>
            <a:pPr>
              <a:lnSpc>
                <a:spcPct val="150000"/>
              </a:lnSpc>
            </a:pPr>
            <a:r>
              <a:rPr lang="pt-BR" dirty="0"/>
              <a:t>Usuário</a:t>
            </a:r>
          </a:p>
          <a:p>
            <a:pPr>
              <a:lnSpc>
                <a:spcPct val="150000"/>
              </a:lnSpc>
            </a:pPr>
            <a:r>
              <a:rPr lang="pt-BR" dirty="0"/>
              <a:t>Empréstimo</a:t>
            </a:r>
          </a:p>
          <a:p>
            <a:pPr>
              <a:lnSpc>
                <a:spcPct val="150000"/>
              </a:lnSpc>
            </a:pPr>
            <a:r>
              <a:rPr lang="pt-BR" b="1" dirty="0"/>
              <a:t>Atributos</a:t>
            </a:r>
            <a:r>
              <a:rPr lang="pt-BR" dirty="0"/>
              <a:t>:</a:t>
            </a:r>
          </a:p>
          <a:p>
            <a:pPr>
              <a:lnSpc>
                <a:spcPct val="150000"/>
              </a:lnSpc>
            </a:pPr>
            <a:r>
              <a:rPr lang="pt-BR" dirty="0"/>
              <a:t>Livro: Título, ISBN, Ano de Publicação, Gênero</a:t>
            </a:r>
          </a:p>
          <a:p>
            <a:pPr>
              <a:lnSpc>
                <a:spcPct val="150000"/>
              </a:lnSpc>
            </a:pPr>
            <a:r>
              <a:rPr lang="pt-BR" dirty="0"/>
              <a:t>Autor: Nome, Data de Nascimento</a:t>
            </a:r>
          </a:p>
          <a:p>
            <a:pPr>
              <a:lnSpc>
                <a:spcPct val="150000"/>
              </a:lnSpc>
            </a:pPr>
            <a:r>
              <a:rPr lang="pt-BR" dirty="0"/>
              <a:t>Usuário: Nome, ID do Usuário, Endereço</a:t>
            </a:r>
          </a:p>
          <a:p>
            <a:pPr>
              <a:lnSpc>
                <a:spcPct val="150000"/>
              </a:lnSpc>
            </a:pPr>
            <a:r>
              <a:rPr lang="pt-BR" dirty="0"/>
              <a:t>Empréstimo: Data de Empréstimo, Data de Devolução</a:t>
            </a:r>
          </a:p>
        </p:txBody>
      </p:sp>
    </p:spTree>
    <p:extLst>
      <p:ext uri="{BB962C8B-B14F-4D97-AF65-F5344CB8AC3E}">
        <p14:creationId xmlns:p14="http://schemas.microsoft.com/office/powerpoint/2010/main" val="3990712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10</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4353115"/>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b="1" dirty="0"/>
              <a:t>Relacionamentos</a:t>
            </a:r>
            <a:r>
              <a:rPr lang="pt-BR" dirty="0"/>
              <a:t>:</a:t>
            </a:r>
          </a:p>
          <a:p>
            <a:pPr>
              <a:lnSpc>
                <a:spcPct val="150000"/>
              </a:lnSpc>
            </a:pPr>
            <a:r>
              <a:rPr lang="pt-BR" dirty="0"/>
              <a:t>"Escrito por" entre "Livro" e "Autor" (N)</a:t>
            </a:r>
          </a:p>
          <a:p>
            <a:pPr>
              <a:lnSpc>
                <a:spcPct val="150000"/>
              </a:lnSpc>
            </a:pPr>
            <a:r>
              <a:rPr lang="pt-BR" dirty="0"/>
              <a:t>"Emprestado a" entre "Livro" e "Usuário" através de "Empréstimo" (N)</a:t>
            </a:r>
          </a:p>
          <a:p>
            <a:pPr>
              <a:lnSpc>
                <a:spcPct val="150000"/>
              </a:lnSpc>
            </a:pPr>
            <a:r>
              <a:rPr lang="pt-BR" b="1" dirty="0"/>
              <a:t>Cardinalidade</a:t>
            </a:r>
            <a:r>
              <a:rPr lang="pt-BR" dirty="0"/>
              <a:t>:</a:t>
            </a:r>
          </a:p>
          <a:p>
            <a:pPr>
              <a:lnSpc>
                <a:spcPct val="150000"/>
              </a:lnSpc>
            </a:pPr>
            <a:r>
              <a:rPr lang="pt-BR" dirty="0"/>
              <a:t>Um "Autor" pode escrever muitos "Livros" (1)</a:t>
            </a:r>
          </a:p>
          <a:p>
            <a:pPr>
              <a:lnSpc>
                <a:spcPct val="150000"/>
              </a:lnSpc>
            </a:pPr>
            <a:r>
              <a:rPr lang="pt-BR" dirty="0"/>
              <a:t>Um "Livro" pode ser emprestado a muitos "Usuários" (N)</a:t>
            </a:r>
          </a:p>
          <a:p>
            <a:pPr>
              <a:lnSpc>
                <a:spcPct val="150000"/>
              </a:lnSpc>
            </a:pPr>
            <a:r>
              <a:rPr lang="pt-BR" dirty="0"/>
              <a:t>Um "Usuário" pode pegar emprestado muitos "Livros" (N)</a:t>
            </a:r>
          </a:p>
          <a:p>
            <a:pPr>
              <a:lnSpc>
                <a:spcPct val="150000"/>
              </a:lnSpc>
            </a:pPr>
            <a:r>
              <a:rPr lang="pt-BR" b="1" dirty="0"/>
              <a:t>Interpretação de Diagramas ER</a:t>
            </a:r>
            <a:endParaRPr lang="pt-BR" dirty="0"/>
          </a:p>
          <a:p>
            <a:pPr>
              <a:lnSpc>
                <a:spcPct val="150000"/>
              </a:lnSpc>
            </a:pPr>
            <a:r>
              <a:rPr lang="pt-BR" dirty="0"/>
              <a:t>Ao interpretar um diagrama ER, siga estas diretrizes:</a:t>
            </a:r>
          </a:p>
        </p:txBody>
      </p:sp>
    </p:spTree>
    <p:extLst>
      <p:ext uri="{BB962C8B-B14F-4D97-AF65-F5344CB8AC3E}">
        <p14:creationId xmlns:p14="http://schemas.microsoft.com/office/powerpoint/2010/main" val="649771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11</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599610"/>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b="1" dirty="0"/>
              <a:t>Identifique as Entidades</a:t>
            </a:r>
            <a:r>
              <a:rPr lang="pt-BR" dirty="0"/>
              <a:t>:</a:t>
            </a:r>
          </a:p>
          <a:p>
            <a:pPr>
              <a:lnSpc>
                <a:spcPct val="150000"/>
              </a:lnSpc>
            </a:pPr>
            <a:r>
              <a:rPr lang="pt-BR" dirty="0"/>
              <a:t>Observe os retângulos no diagrama e determine quais objetos ou conceitos eles representam.</a:t>
            </a:r>
          </a:p>
          <a:p>
            <a:pPr>
              <a:lnSpc>
                <a:spcPct val="150000"/>
              </a:lnSpc>
            </a:pPr>
            <a:r>
              <a:rPr lang="pt-BR" b="1" dirty="0"/>
              <a:t>Verifique os Atributos</a:t>
            </a:r>
            <a:r>
              <a:rPr lang="pt-BR" dirty="0"/>
              <a:t>:</a:t>
            </a:r>
          </a:p>
          <a:p>
            <a:pPr>
              <a:lnSpc>
                <a:spcPct val="150000"/>
              </a:lnSpc>
            </a:pPr>
            <a:r>
              <a:rPr lang="pt-BR" dirty="0"/>
              <a:t>Examine as elipses conectadas às entidades para identificar as características de cada entidade.</a:t>
            </a:r>
          </a:p>
          <a:p>
            <a:pPr>
              <a:lnSpc>
                <a:spcPct val="150000"/>
              </a:lnSpc>
            </a:pPr>
            <a:r>
              <a:rPr lang="pt-BR" b="1" dirty="0"/>
              <a:t>Analise os Relacionamentos</a:t>
            </a:r>
            <a:r>
              <a:rPr lang="pt-BR" dirty="0"/>
              <a:t>:</a:t>
            </a:r>
          </a:p>
          <a:p>
            <a:pPr>
              <a:lnSpc>
                <a:spcPct val="150000"/>
              </a:lnSpc>
            </a:pPr>
            <a:r>
              <a:rPr lang="pt-BR" dirty="0"/>
              <a:t>Observe os losangos e as linhas que conectam as entidades para entender como elas estão relacionadas.</a:t>
            </a:r>
          </a:p>
          <a:p>
            <a:pPr>
              <a:lnSpc>
                <a:spcPct val="150000"/>
              </a:lnSpc>
            </a:pPr>
            <a:r>
              <a:rPr lang="pt-BR" b="1" dirty="0"/>
              <a:t>Entenda a Cardinalidade</a:t>
            </a:r>
            <a:r>
              <a:rPr lang="pt-BR" dirty="0"/>
              <a:t>:</a:t>
            </a:r>
          </a:p>
          <a:p>
            <a:pPr>
              <a:lnSpc>
                <a:spcPct val="150000"/>
              </a:lnSpc>
            </a:pPr>
            <a:r>
              <a:rPr lang="pt-BR" dirty="0"/>
              <a:t>Verifique os indicadores de cardinalidade nas extremidades dos relacionamentos para entender o número de instâncias envolvidas.</a:t>
            </a:r>
          </a:p>
        </p:txBody>
      </p:sp>
    </p:spTree>
    <p:extLst>
      <p:ext uri="{BB962C8B-B14F-4D97-AF65-F5344CB8AC3E}">
        <p14:creationId xmlns:p14="http://schemas.microsoft.com/office/powerpoint/2010/main" val="2366305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12</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838586"/>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lnSpc>
                <a:spcPct val="150000"/>
              </a:lnSpc>
              <a:spcAft>
                <a:spcPts val="800"/>
              </a:spcAft>
            </a:pPr>
            <a:endParaRPr lang="pt-BR" sz="2200" b="1" dirty="0">
              <a:latin typeface="Times New Roman" panose="02020603050405020304" pitchFamily="18" charset="0"/>
              <a:ea typeface="Times New Roman" panose="02020603050405020304" pitchFamily="18" charset="0"/>
              <a:cs typeface="Times New Roman" panose="02020603050405020304" pitchFamily="18" charset="0"/>
            </a:endParaRPr>
          </a:p>
          <a:p>
            <a:pPr indent="450215" algn="just">
              <a:lnSpc>
                <a:spcPct val="150000"/>
              </a:lnSpc>
              <a:spcAft>
                <a:spcPts val="800"/>
              </a:spcAft>
            </a:pPr>
            <a:r>
              <a:rPr lang="pt-BR" sz="2200" dirty="0"/>
              <a:t>Criar e interpretar diagramas Entidade-Relacionamento (ER) é uma habilidade essencial na modelagem de dados, permitindo visualizar e estruturar a forma como os dados se relacionam em um sistema. Compreender os elementos de um diagrama ER, como entidades, atributos, relacionamentos e cardinalidade, é crucial para garantir que os dados sejam representados de maneira lógica e eficiente. Isso facilita o desenvolvimento de sistemas de banco de dados robustos e bem estruturados.</a:t>
            </a:r>
          </a:p>
          <a:p>
            <a:pPr indent="450215" algn="just">
              <a:lnSpc>
                <a:spcPct val="150000"/>
              </a:lnSpc>
              <a:spcAft>
                <a:spcPts val="800"/>
              </a:spcAft>
            </a:pPr>
            <a:endParaRPr lang="pt-BR"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08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13</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A05E756E-2620-4030-BB17-C791FF047626}"/>
              </a:ext>
            </a:extLst>
          </p:cNvPr>
          <p:cNvSpPr/>
          <p:nvPr/>
        </p:nvSpPr>
        <p:spPr>
          <a:xfrm>
            <a:off x="133482" y="1340768"/>
            <a:ext cx="6984775" cy="1938992"/>
          </a:xfrm>
          <a:prstGeom prst="rect">
            <a:avLst/>
          </a:prstGeom>
        </p:spPr>
        <p:txBody>
          <a:bodyPr wrap="square">
            <a:spAutoFit/>
          </a:bodyPr>
          <a:lstStyle/>
          <a:p>
            <a:pPr algn="just"/>
            <a:r>
              <a:rPr lang="pt-BR" sz="2000" dirty="0"/>
              <a:t>	Um banco de dados relacional é composto de tabelas, também conhecidas como relações.</a:t>
            </a:r>
          </a:p>
          <a:p>
            <a:pPr algn="just"/>
            <a:endParaRPr lang="pt-BR" sz="2000" dirty="0"/>
          </a:p>
          <a:p>
            <a:pPr algn="just"/>
            <a:r>
              <a:rPr lang="pt-BR" sz="2000" dirty="0"/>
              <a:t>	No entanto, a terminologia tabela é mais utilizada nos produtos comerciais e na prática, enquanto o termo relações é mais adotado na área acadêmica.</a:t>
            </a:r>
          </a:p>
        </p:txBody>
      </p:sp>
    </p:spTree>
    <p:extLst>
      <p:ext uri="{BB962C8B-B14F-4D97-AF65-F5344CB8AC3E}">
        <p14:creationId xmlns:p14="http://schemas.microsoft.com/office/powerpoint/2010/main" val="2783165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65A62C1-9E14-490D-86E4-BAD4B65D6474}"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14</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6" name="Imagem 5">
            <a:extLst>
              <a:ext uri="{FF2B5EF4-FFF2-40B4-BE49-F238E27FC236}">
                <a16:creationId xmlns:a16="http://schemas.microsoft.com/office/drawing/2014/main" id="{B1C1F343-9170-4E0E-9359-B34A171EA929}"/>
              </a:ext>
            </a:extLst>
          </p:cNvPr>
          <p:cNvPicPr>
            <a:picLocks noChangeAspect="1"/>
          </p:cNvPicPr>
          <p:nvPr/>
        </p:nvPicPr>
        <p:blipFill rotWithShape="1">
          <a:blip r:embed="rId2"/>
          <a:srcRect l="25588" t="21987" r="24801" b="28990"/>
          <a:stretch/>
        </p:blipFill>
        <p:spPr>
          <a:xfrm>
            <a:off x="251520" y="1715677"/>
            <a:ext cx="7379290" cy="4099607"/>
          </a:xfrm>
          <a:prstGeom prst="rect">
            <a:avLst/>
          </a:prstGeom>
        </p:spPr>
      </p:pic>
    </p:spTree>
    <p:extLst>
      <p:ext uri="{BB962C8B-B14F-4D97-AF65-F5344CB8AC3E}">
        <p14:creationId xmlns:p14="http://schemas.microsoft.com/office/powerpoint/2010/main" val="478968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5390182-E2A6-46F3-B88C-D64CE534213F}"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15</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E2E3ADB5-98AA-48C0-896E-A876593DD359}"/>
              </a:ext>
            </a:extLst>
          </p:cNvPr>
          <p:cNvSpPr/>
          <p:nvPr/>
        </p:nvSpPr>
        <p:spPr>
          <a:xfrm>
            <a:off x="323528" y="1052736"/>
            <a:ext cx="6984776" cy="1631216"/>
          </a:xfrm>
          <a:prstGeom prst="rect">
            <a:avLst/>
          </a:prstGeom>
        </p:spPr>
        <p:txBody>
          <a:bodyPr wrap="square">
            <a:spAutoFit/>
          </a:bodyPr>
          <a:lstStyle/>
          <a:p>
            <a:pPr algn="just"/>
            <a:r>
              <a:rPr lang="pt-BR" sz="2000" dirty="0">
                <a:latin typeface="Times New Roman" panose="02020603050405020304" pitchFamily="18" charset="0"/>
                <a:cs typeface="Times New Roman" panose="02020603050405020304" pitchFamily="18" charset="0"/>
              </a:rPr>
              <a:t>	A chave estrangeira é o mecanismo que permite a implementação de relacionamentos de banco de dados relacional”. A Figura 11 já apresentada ilustra um exemplo de chave estrangeira. Nele, a coluna </a:t>
            </a:r>
            <a:r>
              <a:rPr lang="pt-BR" sz="2000" dirty="0" err="1">
                <a:latin typeface="Times New Roman" panose="02020603050405020304" pitchFamily="18" charset="0"/>
                <a:cs typeface="Times New Roman" panose="02020603050405020304" pitchFamily="18" charset="0"/>
              </a:rPr>
              <a:t>CodigoDepto</a:t>
            </a:r>
            <a:r>
              <a:rPr lang="pt-BR" sz="2000" dirty="0">
                <a:latin typeface="Times New Roman" panose="02020603050405020304" pitchFamily="18" charset="0"/>
                <a:cs typeface="Times New Roman" panose="02020603050405020304" pitchFamily="18" charset="0"/>
              </a:rPr>
              <a:t> da tabela </a:t>
            </a:r>
            <a:r>
              <a:rPr lang="pt-BR" sz="2000" dirty="0" err="1">
                <a:latin typeface="Times New Roman" panose="02020603050405020304" pitchFamily="18" charset="0"/>
                <a:cs typeface="Times New Roman" panose="02020603050405020304" pitchFamily="18" charset="0"/>
              </a:rPr>
              <a:t>Emp</a:t>
            </a:r>
            <a:r>
              <a:rPr lang="pt-BR" sz="2000" dirty="0">
                <a:latin typeface="Times New Roman" panose="02020603050405020304" pitchFamily="18" charset="0"/>
                <a:cs typeface="Times New Roman" panose="02020603050405020304" pitchFamily="18" charset="0"/>
              </a:rPr>
              <a:t> é uma chave estrangeira em relação à chave primária da tabela </a:t>
            </a:r>
            <a:r>
              <a:rPr lang="pt-BR" sz="2000" dirty="0" err="1">
                <a:latin typeface="Times New Roman" panose="02020603050405020304" pitchFamily="18" charset="0"/>
                <a:cs typeface="Times New Roman" panose="02020603050405020304" pitchFamily="18" charset="0"/>
              </a:rPr>
              <a:t>Dept</a:t>
            </a:r>
            <a:r>
              <a:rPr lang="pt-BR" sz="2000" dirty="0">
                <a:latin typeface="Times New Roman" panose="02020603050405020304" pitchFamily="18" charset="0"/>
                <a:cs typeface="Times New Roman" panose="02020603050405020304" pitchFamily="18" charset="0"/>
              </a:rPr>
              <a:t>. </a:t>
            </a:r>
          </a:p>
        </p:txBody>
      </p:sp>
      <p:pic>
        <p:nvPicPr>
          <p:cNvPr id="9" name="Imagem 8">
            <a:extLst>
              <a:ext uri="{FF2B5EF4-FFF2-40B4-BE49-F238E27FC236}">
                <a16:creationId xmlns:a16="http://schemas.microsoft.com/office/drawing/2014/main" id="{9F8D77D1-081A-4938-97DA-6A0E860BCC98}"/>
              </a:ext>
            </a:extLst>
          </p:cNvPr>
          <p:cNvPicPr>
            <a:picLocks noChangeAspect="1"/>
          </p:cNvPicPr>
          <p:nvPr/>
        </p:nvPicPr>
        <p:blipFill rotWithShape="1">
          <a:blip r:embed="rId2"/>
          <a:srcRect l="23614" t="28112" r="27163" b="40158"/>
          <a:stretch/>
        </p:blipFill>
        <p:spPr>
          <a:xfrm>
            <a:off x="539552" y="2667822"/>
            <a:ext cx="6471526" cy="2345354"/>
          </a:xfrm>
          <a:prstGeom prst="rect">
            <a:avLst/>
          </a:prstGeom>
        </p:spPr>
      </p:pic>
      <p:sp>
        <p:nvSpPr>
          <p:cNvPr id="10" name="Retângulo 9">
            <a:extLst>
              <a:ext uri="{FF2B5EF4-FFF2-40B4-BE49-F238E27FC236}">
                <a16:creationId xmlns:a16="http://schemas.microsoft.com/office/drawing/2014/main" id="{F0AF4E6B-94B7-4895-8A49-C7F30F4111A8}"/>
              </a:ext>
            </a:extLst>
          </p:cNvPr>
          <p:cNvSpPr/>
          <p:nvPr/>
        </p:nvSpPr>
        <p:spPr>
          <a:xfrm>
            <a:off x="539552" y="5132112"/>
            <a:ext cx="6750495" cy="1015663"/>
          </a:xfrm>
          <a:prstGeom prst="rect">
            <a:avLst/>
          </a:prstGeom>
        </p:spPr>
        <p:txBody>
          <a:bodyPr wrap="square">
            <a:spAutoFit/>
          </a:bodyPr>
          <a:lstStyle/>
          <a:p>
            <a:pPr algn="just"/>
            <a:r>
              <a:rPr lang="pt-BR" sz="2000" dirty="0">
                <a:latin typeface="Times New Roman" panose="02020603050405020304" pitchFamily="18" charset="0"/>
                <a:cs typeface="Times New Roman" panose="02020603050405020304" pitchFamily="18" charset="0"/>
              </a:rPr>
              <a:t>Assim, uma das colunas pode ser escolhida como chave primária, e as demais são definidas como chaves alternativas, conforme demonstrado na Figura 12. </a:t>
            </a:r>
          </a:p>
        </p:txBody>
      </p:sp>
    </p:spTree>
    <p:extLst>
      <p:ext uri="{BB962C8B-B14F-4D97-AF65-F5344CB8AC3E}">
        <p14:creationId xmlns:p14="http://schemas.microsoft.com/office/powerpoint/2010/main" val="1624729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6524CF2-3851-4346-847E-04E9DEF3244A}"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E2E3ADB5-98AA-48C0-896E-A876593DD359}"/>
              </a:ext>
            </a:extLst>
          </p:cNvPr>
          <p:cNvSpPr/>
          <p:nvPr/>
        </p:nvSpPr>
        <p:spPr>
          <a:xfrm>
            <a:off x="133481" y="1412776"/>
            <a:ext cx="6984776" cy="3139321"/>
          </a:xfrm>
          <a:prstGeom prst="rect">
            <a:avLst/>
          </a:prstGeom>
        </p:spPr>
        <p:txBody>
          <a:bodyPr wrap="square">
            <a:spAutoFit/>
          </a:bodyPr>
          <a:lstStyle/>
          <a:p>
            <a:pPr algn="just"/>
            <a:r>
              <a:rPr lang="pt-BR" sz="2200" dirty="0">
                <a:latin typeface="Times New Roman" panose="02020603050405020304" pitchFamily="18" charset="0"/>
                <a:cs typeface="Times New Roman" panose="02020603050405020304" pitchFamily="18" charset="0"/>
              </a:rPr>
              <a:t>	Quando o campo é definido como vazio, isso significa que ele não recebeu valor de seu domínio. Já em relação às restrições de integridade, entende-se que elas são primordiais para um SGBD, pois permitem manter o controle e a manutenção de um banco de dados. </a:t>
            </a:r>
          </a:p>
          <a:p>
            <a:pPr algn="just"/>
            <a:r>
              <a:rPr lang="pt-BR" sz="2200" dirty="0">
                <a:latin typeface="Times New Roman" panose="02020603050405020304" pitchFamily="18" charset="0"/>
                <a:cs typeface="Times New Roman" panose="02020603050405020304" pitchFamily="18" charset="0"/>
              </a:rPr>
              <a:t>	</a:t>
            </a:r>
          </a:p>
          <a:p>
            <a:pPr algn="just"/>
            <a:r>
              <a:rPr lang="pt-BR" sz="2200" dirty="0">
                <a:latin typeface="Times New Roman" panose="02020603050405020304" pitchFamily="18" charset="0"/>
                <a:cs typeface="Times New Roman" panose="02020603050405020304" pitchFamily="18" charset="0"/>
              </a:rPr>
              <a:t>	A integridade de um banco de dados significa dizer que os dados refletem corretamente a realidade representada no banco e que eles são consistentes entre si.</a:t>
            </a:r>
          </a:p>
        </p:txBody>
      </p:sp>
    </p:spTree>
    <p:extLst>
      <p:ext uri="{BB962C8B-B14F-4D97-AF65-F5344CB8AC3E}">
        <p14:creationId xmlns:p14="http://schemas.microsoft.com/office/powerpoint/2010/main" val="1296327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DF89F7D-916E-4D59-8DD4-C6E5748B29DC}"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E2E3ADB5-98AA-48C0-896E-A876593DD359}"/>
              </a:ext>
            </a:extLst>
          </p:cNvPr>
          <p:cNvSpPr/>
          <p:nvPr/>
        </p:nvSpPr>
        <p:spPr>
          <a:xfrm>
            <a:off x="323528" y="2105331"/>
            <a:ext cx="6984776" cy="1785104"/>
          </a:xfrm>
          <a:prstGeom prst="rect">
            <a:avLst/>
          </a:prstGeom>
        </p:spPr>
        <p:txBody>
          <a:bodyPr wrap="square">
            <a:spAutoFit/>
          </a:bodyPr>
          <a:lstStyle/>
          <a:p>
            <a:pPr algn="just"/>
            <a:r>
              <a:rPr lang="pt-BR" sz="2200" dirty="0">
                <a:latin typeface="Times New Roman" panose="02020603050405020304" pitchFamily="18" charset="0"/>
                <a:cs typeface="Times New Roman" panose="02020603050405020304" pitchFamily="18" charset="0"/>
              </a:rPr>
              <a:t>	Representação diagramática é composta por retângulos que simbolizam as tabelas e, dentro deles, apresentam os atributos ou colunas que representam as tabelas. Assim, um esquema textual do banco de dados relacional é apresentado na Figura 13.</a:t>
            </a:r>
          </a:p>
        </p:txBody>
      </p:sp>
    </p:spTree>
    <p:extLst>
      <p:ext uri="{BB962C8B-B14F-4D97-AF65-F5344CB8AC3E}">
        <p14:creationId xmlns:p14="http://schemas.microsoft.com/office/powerpoint/2010/main" val="848921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3B3FD1B-6246-4EEC-B5B7-6E7CFF6E4F4F}"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6" name="Imagem 5">
            <a:extLst>
              <a:ext uri="{FF2B5EF4-FFF2-40B4-BE49-F238E27FC236}">
                <a16:creationId xmlns:a16="http://schemas.microsoft.com/office/drawing/2014/main" id="{81C6E41E-316A-4640-A20A-635C398022F8}"/>
              </a:ext>
            </a:extLst>
          </p:cNvPr>
          <p:cNvPicPr>
            <a:picLocks noChangeAspect="1"/>
          </p:cNvPicPr>
          <p:nvPr/>
        </p:nvPicPr>
        <p:blipFill rotWithShape="1">
          <a:blip r:embed="rId2"/>
          <a:srcRect l="26375" t="13584" r="25727" b="28989"/>
          <a:stretch/>
        </p:blipFill>
        <p:spPr>
          <a:xfrm>
            <a:off x="395536" y="1287827"/>
            <a:ext cx="6609890" cy="4455611"/>
          </a:xfrm>
          <a:prstGeom prst="rect">
            <a:avLst/>
          </a:prstGeom>
        </p:spPr>
      </p:pic>
    </p:spTree>
    <p:extLst>
      <p:ext uri="{BB962C8B-B14F-4D97-AF65-F5344CB8AC3E}">
        <p14:creationId xmlns:p14="http://schemas.microsoft.com/office/powerpoint/2010/main" val="2616973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FD46631-1425-4F45-9F54-E1BE9804EBC7}"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69830529-D0BF-4319-BDA5-BEC8398FA904}"/>
              </a:ext>
            </a:extLst>
          </p:cNvPr>
          <p:cNvSpPr/>
          <p:nvPr/>
        </p:nvSpPr>
        <p:spPr>
          <a:xfrm>
            <a:off x="323528" y="1484784"/>
            <a:ext cx="8191822" cy="3477875"/>
          </a:xfrm>
          <a:prstGeom prst="rect">
            <a:avLst/>
          </a:prstGeom>
        </p:spPr>
        <p:txBody>
          <a:bodyPr wrap="square">
            <a:spAutoFit/>
          </a:bodyPr>
          <a:lstStyle/>
          <a:p>
            <a:pPr algn="just"/>
            <a:r>
              <a:rPr lang="pt-BR" sz="2000" dirty="0">
                <a:latin typeface="Times New Roman" panose="02020603050405020304" pitchFamily="18" charset="0"/>
                <a:cs typeface="Times New Roman" panose="02020603050405020304" pitchFamily="18" charset="0"/>
              </a:rPr>
              <a:t>Transformar um modelo relacional em modelo lógico.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Por exemplo, para criar uma tabela CLIENTE, teríamos a seguinte representação em esquema textual: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CLIENTE (CPF, nome, rua, bairro, cidade, estado, sexo, data de nascimento).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	*Apenas o campo CPF como chave primária,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	A criação dessa tabela utilizando o modelo relacional e utilizando a linguagem SQL é apresentada na Figura 14.</a:t>
            </a:r>
          </a:p>
        </p:txBody>
      </p:sp>
    </p:spTree>
    <p:extLst>
      <p:ext uri="{BB962C8B-B14F-4D97-AF65-F5344CB8AC3E}">
        <p14:creationId xmlns:p14="http://schemas.microsoft.com/office/powerpoint/2010/main" val="2012692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D25A242-5A5A-4DA2-887F-9145704AC9CA}"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6" name="Imagem 5">
            <a:extLst>
              <a:ext uri="{FF2B5EF4-FFF2-40B4-BE49-F238E27FC236}">
                <a16:creationId xmlns:a16="http://schemas.microsoft.com/office/drawing/2014/main" id="{B33BE75E-45AE-40FD-B9F7-A2E27323F0FC}"/>
              </a:ext>
            </a:extLst>
          </p:cNvPr>
          <p:cNvPicPr>
            <a:picLocks noChangeAspect="1"/>
          </p:cNvPicPr>
          <p:nvPr/>
        </p:nvPicPr>
        <p:blipFill rotWithShape="1">
          <a:blip r:embed="rId2"/>
          <a:srcRect l="34251" t="21987" r="37400" b="24788"/>
          <a:stretch/>
        </p:blipFill>
        <p:spPr>
          <a:xfrm>
            <a:off x="1547664" y="1090233"/>
            <a:ext cx="4431346" cy="4677534"/>
          </a:xfrm>
          <a:prstGeom prst="rect">
            <a:avLst/>
          </a:prstGeom>
        </p:spPr>
      </p:pic>
    </p:spTree>
    <p:extLst>
      <p:ext uri="{BB962C8B-B14F-4D97-AF65-F5344CB8AC3E}">
        <p14:creationId xmlns:p14="http://schemas.microsoft.com/office/powerpoint/2010/main" val="3690432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1827064-1F4F-492D-8482-F53D89A9C5C5}"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21</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8" name="Imagem 7">
            <a:extLst>
              <a:ext uri="{FF2B5EF4-FFF2-40B4-BE49-F238E27FC236}">
                <a16:creationId xmlns:a16="http://schemas.microsoft.com/office/drawing/2014/main" id="{033A045D-0C1B-428A-BC31-EACBDE852270}"/>
              </a:ext>
            </a:extLst>
          </p:cNvPr>
          <p:cNvPicPr>
            <a:picLocks noChangeAspect="1"/>
          </p:cNvPicPr>
          <p:nvPr/>
        </p:nvPicPr>
        <p:blipFill rotWithShape="1">
          <a:blip r:embed="rId2"/>
          <a:srcRect l="28738" t="23387" r="27950" b="19185"/>
          <a:stretch/>
        </p:blipFill>
        <p:spPr>
          <a:xfrm>
            <a:off x="970841" y="1412776"/>
            <a:ext cx="5907060" cy="4403446"/>
          </a:xfrm>
          <a:prstGeom prst="rect">
            <a:avLst/>
          </a:prstGeom>
        </p:spPr>
      </p:pic>
    </p:spTree>
    <p:extLst>
      <p:ext uri="{BB962C8B-B14F-4D97-AF65-F5344CB8AC3E}">
        <p14:creationId xmlns:p14="http://schemas.microsoft.com/office/powerpoint/2010/main" val="3020352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94A1265-B1DB-4C01-8011-60A5AF3CF2FD}"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22</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40378" y="937527"/>
            <a:ext cx="6984775" cy="707886"/>
          </a:xfrm>
          <a:prstGeom prst="rect">
            <a:avLst/>
          </a:prstGeom>
        </p:spPr>
        <p:txBody>
          <a:bodyPr wrap="square">
            <a:spAutoFit/>
          </a:bodyPr>
          <a:lstStyle/>
          <a:p>
            <a:r>
              <a:rPr lang="pt-BR" sz="2000" dirty="0"/>
              <a:t>Transformação do modelo entidade-relacional para o modelo relacional</a:t>
            </a:r>
          </a:p>
        </p:txBody>
      </p:sp>
      <p:sp>
        <p:nvSpPr>
          <p:cNvPr id="10" name="Retângulo 9">
            <a:extLst>
              <a:ext uri="{FF2B5EF4-FFF2-40B4-BE49-F238E27FC236}">
                <a16:creationId xmlns:a16="http://schemas.microsoft.com/office/drawing/2014/main" id="{53BB5121-2385-46A7-BE22-E80F9770C9E3}"/>
              </a:ext>
            </a:extLst>
          </p:cNvPr>
          <p:cNvSpPr/>
          <p:nvPr/>
        </p:nvSpPr>
        <p:spPr>
          <a:xfrm>
            <a:off x="133481" y="1882438"/>
            <a:ext cx="8381868" cy="830997"/>
          </a:xfrm>
          <a:prstGeom prst="rect">
            <a:avLst/>
          </a:prstGeom>
        </p:spPr>
        <p:txBody>
          <a:bodyPr wrap="square">
            <a:spAutoFit/>
          </a:bodyPr>
          <a:lstStyle/>
          <a:p>
            <a:r>
              <a:rPr lang="pt-BR" sz="2400" dirty="0"/>
              <a:t> a transformação de um MER para um relacional deve seguir dois objetivos básicos,</a:t>
            </a:r>
          </a:p>
        </p:txBody>
      </p:sp>
      <p:sp>
        <p:nvSpPr>
          <p:cNvPr id="11" name="Retângulo 10">
            <a:extLst>
              <a:ext uri="{FF2B5EF4-FFF2-40B4-BE49-F238E27FC236}">
                <a16:creationId xmlns:a16="http://schemas.microsoft.com/office/drawing/2014/main" id="{75A90BD4-D4C5-4529-A557-27DE4C4C2D90}"/>
              </a:ext>
            </a:extLst>
          </p:cNvPr>
          <p:cNvSpPr/>
          <p:nvPr/>
        </p:nvSpPr>
        <p:spPr>
          <a:xfrm>
            <a:off x="401532" y="2978735"/>
            <a:ext cx="8113817" cy="1938992"/>
          </a:xfrm>
          <a:prstGeom prst="rect">
            <a:avLst/>
          </a:prstGeom>
        </p:spPr>
        <p:txBody>
          <a:bodyPr wrap="square">
            <a:spAutoFit/>
          </a:bodyPr>
          <a:lstStyle/>
          <a:p>
            <a:pPr algn="just"/>
            <a:r>
              <a:rPr lang="pt-BR" sz="2400" dirty="0">
                <a:latin typeface="Times New Roman" panose="02020603050405020304" pitchFamily="18" charset="0"/>
                <a:cs typeface="Times New Roman" panose="02020603050405020304" pitchFamily="18" charset="0"/>
              </a:rPr>
              <a:t>  obter um banco de dados que permita bom desempenho de instruções de consulta e alteração do banco de dados;</a:t>
            </a:r>
          </a:p>
          <a:p>
            <a:pPr algn="just"/>
            <a:endParaRPr lang="pt-BR" sz="2400" dirty="0">
              <a:latin typeface="Times New Roman" panose="02020603050405020304" pitchFamily="18" charset="0"/>
              <a:cs typeface="Times New Roman" panose="02020603050405020304" pitchFamily="18" charset="0"/>
            </a:endParaRPr>
          </a:p>
          <a:p>
            <a:pPr algn="just"/>
            <a:r>
              <a:rPr lang="pt-BR" sz="2400" dirty="0">
                <a:latin typeface="Times New Roman" panose="02020603050405020304" pitchFamily="18" charset="0"/>
                <a:cs typeface="Times New Roman" panose="02020603050405020304" pitchFamily="18" charset="0"/>
              </a:rPr>
              <a:t>    obter um banco de dados que simplifique o desenvolvimento e a manutenção de aplicações.</a:t>
            </a:r>
          </a:p>
        </p:txBody>
      </p:sp>
    </p:spTree>
    <p:extLst>
      <p:ext uri="{BB962C8B-B14F-4D97-AF65-F5344CB8AC3E}">
        <p14:creationId xmlns:p14="http://schemas.microsoft.com/office/powerpoint/2010/main" val="269457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D3EB23D-8E74-40B2-ACEC-55319A7EBCE7}"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23</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40378" y="937527"/>
            <a:ext cx="6984775" cy="707886"/>
          </a:xfrm>
          <a:prstGeom prst="rect">
            <a:avLst/>
          </a:prstGeom>
        </p:spPr>
        <p:txBody>
          <a:bodyPr wrap="square">
            <a:spAutoFit/>
          </a:bodyPr>
          <a:lstStyle/>
          <a:p>
            <a:r>
              <a:rPr lang="pt-BR" sz="2000" dirty="0"/>
              <a:t>Transformação do modelo entidade-relacional para o modelo relacional</a:t>
            </a:r>
          </a:p>
        </p:txBody>
      </p:sp>
      <p:sp>
        <p:nvSpPr>
          <p:cNvPr id="14" name="Retângulo 13">
            <a:extLst>
              <a:ext uri="{FF2B5EF4-FFF2-40B4-BE49-F238E27FC236}">
                <a16:creationId xmlns:a16="http://schemas.microsoft.com/office/drawing/2014/main" id="{9B1C3405-351C-421A-9ABC-1E69D03C8097}"/>
              </a:ext>
            </a:extLst>
          </p:cNvPr>
          <p:cNvSpPr/>
          <p:nvPr/>
        </p:nvSpPr>
        <p:spPr>
          <a:xfrm>
            <a:off x="377750" y="1628800"/>
            <a:ext cx="7650634" cy="4154984"/>
          </a:xfrm>
          <a:prstGeom prst="rect">
            <a:avLst/>
          </a:prstGeom>
        </p:spPr>
        <p:txBody>
          <a:bodyPr wrap="square">
            <a:spAutoFit/>
          </a:bodyPr>
          <a:lstStyle/>
          <a:p>
            <a:pPr algn="just"/>
            <a:r>
              <a:rPr lang="pt-BR" sz="2400" dirty="0">
                <a:latin typeface="Times New Roman" panose="02020603050405020304" pitchFamily="18" charset="0"/>
                <a:cs typeface="Times New Roman" panose="02020603050405020304" pitchFamily="18" charset="0"/>
              </a:rPr>
              <a:t>as regras foram definidas tendo como base os princípios descritos a seguir.</a:t>
            </a:r>
          </a:p>
          <a:p>
            <a:pPr algn="just"/>
            <a:endParaRPr lang="pt-BR" sz="2400" dirty="0">
              <a:latin typeface="Times New Roman" panose="02020603050405020304" pitchFamily="18" charset="0"/>
              <a:cs typeface="Times New Roman" panose="02020603050405020304" pitchFamily="18" charset="0"/>
            </a:endParaRPr>
          </a:p>
          <a:p>
            <a:pPr algn="just"/>
            <a:r>
              <a:rPr lang="pt-BR" sz="2400" dirty="0">
                <a:latin typeface="Times New Roman" panose="02020603050405020304" pitchFamily="18" charset="0"/>
                <a:cs typeface="Times New Roman" panose="02020603050405020304" pitchFamily="18" charset="0"/>
              </a:rPr>
              <a:t>   Evitar junções: significa ter os dados necessários a uma consulta em uma única linha.</a:t>
            </a:r>
          </a:p>
          <a:p>
            <a:pPr algn="just"/>
            <a:r>
              <a:rPr lang="pt-BR" sz="2400" dirty="0">
                <a:latin typeface="Times New Roman" panose="02020603050405020304" pitchFamily="18" charset="0"/>
                <a:cs typeface="Times New Roman" panose="02020603050405020304" pitchFamily="18" charset="0"/>
              </a:rPr>
              <a:t>   Diminuir o número de chaves: para a implementação eficiente do controle da unicidade da chave primária ou chave alternativa, o SGBD usa normalmente uma estrutura de índice.</a:t>
            </a:r>
          </a:p>
          <a:p>
            <a:pPr algn="just"/>
            <a:r>
              <a:rPr lang="pt-BR" sz="2400" dirty="0">
                <a:latin typeface="Times New Roman" panose="02020603050405020304" pitchFamily="18" charset="0"/>
                <a:cs typeface="Times New Roman" panose="02020603050405020304" pitchFamily="18" charset="0"/>
              </a:rPr>
              <a:t>   Evitar campos opcionais: são os campos que possibilitam receber valores vazios.</a:t>
            </a:r>
          </a:p>
        </p:txBody>
      </p:sp>
    </p:spTree>
    <p:extLst>
      <p:ext uri="{BB962C8B-B14F-4D97-AF65-F5344CB8AC3E}">
        <p14:creationId xmlns:p14="http://schemas.microsoft.com/office/powerpoint/2010/main" val="3316223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EF1FC2B-188E-4FB7-B6CF-6306D4820B2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24</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251519" y="1484784"/>
            <a:ext cx="6984775" cy="646331"/>
          </a:xfrm>
          <a:prstGeom prst="rect">
            <a:avLst/>
          </a:prstGeom>
        </p:spPr>
        <p:txBody>
          <a:bodyPr wrap="square">
            <a:spAutoFit/>
          </a:bodyPr>
          <a:lstStyle/>
          <a:p>
            <a:r>
              <a:rPr lang="pt-BR" dirty="0"/>
              <a:t>Transformação do modelo entidade-relacional para o modelo relacional</a:t>
            </a:r>
          </a:p>
        </p:txBody>
      </p:sp>
      <p:pic>
        <p:nvPicPr>
          <p:cNvPr id="9" name="Imagem 8">
            <a:extLst>
              <a:ext uri="{FF2B5EF4-FFF2-40B4-BE49-F238E27FC236}">
                <a16:creationId xmlns:a16="http://schemas.microsoft.com/office/drawing/2014/main" id="{FE3A673C-8220-4A3F-9001-D01C73B52106}"/>
              </a:ext>
            </a:extLst>
          </p:cNvPr>
          <p:cNvPicPr>
            <a:picLocks noChangeAspect="1"/>
          </p:cNvPicPr>
          <p:nvPr/>
        </p:nvPicPr>
        <p:blipFill rotWithShape="1">
          <a:blip r:embed="rId2"/>
          <a:srcRect l="23614" t="28969" r="25727" b="30391"/>
          <a:stretch/>
        </p:blipFill>
        <p:spPr>
          <a:xfrm>
            <a:off x="652233" y="2347831"/>
            <a:ext cx="7736191" cy="3489205"/>
          </a:xfrm>
          <a:prstGeom prst="rect">
            <a:avLst/>
          </a:prstGeom>
        </p:spPr>
      </p:pic>
    </p:spTree>
    <p:extLst>
      <p:ext uri="{BB962C8B-B14F-4D97-AF65-F5344CB8AC3E}">
        <p14:creationId xmlns:p14="http://schemas.microsoft.com/office/powerpoint/2010/main" val="3967597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79BE906-C820-47BA-A653-98E0D5C97618}"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25</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251519" y="1484784"/>
            <a:ext cx="6984775" cy="646331"/>
          </a:xfrm>
          <a:prstGeom prst="rect">
            <a:avLst/>
          </a:prstGeom>
        </p:spPr>
        <p:txBody>
          <a:bodyPr wrap="square">
            <a:spAutoFit/>
          </a:bodyPr>
          <a:lstStyle/>
          <a:p>
            <a:r>
              <a:rPr lang="pt-BR" dirty="0"/>
              <a:t>Transformação do modelo entidade-relacional para o modelo relacional</a:t>
            </a:r>
          </a:p>
        </p:txBody>
      </p:sp>
      <p:sp>
        <p:nvSpPr>
          <p:cNvPr id="8" name="Retângulo 7">
            <a:extLst>
              <a:ext uri="{FF2B5EF4-FFF2-40B4-BE49-F238E27FC236}">
                <a16:creationId xmlns:a16="http://schemas.microsoft.com/office/drawing/2014/main" id="{C268CE9C-3801-4E09-B444-13E18518F32B}"/>
              </a:ext>
            </a:extLst>
          </p:cNvPr>
          <p:cNvSpPr/>
          <p:nvPr/>
        </p:nvSpPr>
        <p:spPr>
          <a:xfrm>
            <a:off x="539552" y="2392783"/>
            <a:ext cx="6696742" cy="1815882"/>
          </a:xfrm>
          <a:prstGeom prst="rect">
            <a:avLst/>
          </a:prstGeom>
        </p:spPr>
        <p:txBody>
          <a:bodyPr wrap="square">
            <a:spAutoFit/>
          </a:bodyPr>
          <a:lstStyle/>
          <a:p>
            <a:pPr algn="just"/>
            <a:r>
              <a:rPr lang="pt-BR" sz="2800" dirty="0">
                <a:latin typeface="Times New Roman" panose="02020603050405020304" pitchFamily="18" charset="0"/>
                <a:cs typeface="Times New Roman" panose="02020603050405020304" pitchFamily="18" charset="0"/>
              </a:rPr>
              <a:t>A implementação de relacionamentos pode ser dividida em três formas: tabela própria, adição de colunas e fusão de tabelas de entidades. </a:t>
            </a:r>
          </a:p>
        </p:txBody>
      </p:sp>
    </p:spTree>
    <p:extLst>
      <p:ext uri="{BB962C8B-B14F-4D97-AF65-F5344CB8AC3E}">
        <p14:creationId xmlns:p14="http://schemas.microsoft.com/office/powerpoint/2010/main" val="319216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34BD496-FAD3-4912-9A82-33C07063D656}"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43470" y="942184"/>
            <a:ext cx="6984775" cy="369332"/>
          </a:xfrm>
          <a:prstGeom prst="rect">
            <a:avLst/>
          </a:prstGeom>
        </p:spPr>
        <p:txBody>
          <a:bodyPr wrap="square">
            <a:spAutoFit/>
          </a:bodyPr>
          <a:lstStyle/>
          <a:p>
            <a:r>
              <a:rPr lang="pt-BR" dirty="0"/>
              <a:t>Implementação de relacionamentos e respectivos atributos</a:t>
            </a:r>
          </a:p>
        </p:txBody>
      </p:sp>
      <p:pic>
        <p:nvPicPr>
          <p:cNvPr id="8" name="Imagem 7">
            <a:extLst>
              <a:ext uri="{FF2B5EF4-FFF2-40B4-BE49-F238E27FC236}">
                <a16:creationId xmlns:a16="http://schemas.microsoft.com/office/drawing/2014/main" id="{C4211353-ACFF-4E74-A6BD-90BD667690A7}"/>
              </a:ext>
            </a:extLst>
          </p:cNvPr>
          <p:cNvPicPr>
            <a:picLocks noChangeAspect="1"/>
          </p:cNvPicPr>
          <p:nvPr/>
        </p:nvPicPr>
        <p:blipFill rotWithShape="1">
          <a:blip r:embed="rId2"/>
          <a:srcRect l="25588" t="14983" r="25727" b="33192"/>
          <a:stretch/>
        </p:blipFill>
        <p:spPr>
          <a:xfrm>
            <a:off x="694950" y="2039875"/>
            <a:ext cx="6395998" cy="3827869"/>
          </a:xfrm>
          <a:prstGeom prst="rect">
            <a:avLst/>
          </a:prstGeom>
        </p:spPr>
      </p:pic>
      <p:sp>
        <p:nvSpPr>
          <p:cNvPr id="10" name="Retângulo 9">
            <a:extLst>
              <a:ext uri="{FF2B5EF4-FFF2-40B4-BE49-F238E27FC236}">
                <a16:creationId xmlns:a16="http://schemas.microsoft.com/office/drawing/2014/main" id="{6B08B881-5F99-4050-AC92-BF9ED0EA3918}"/>
              </a:ext>
            </a:extLst>
          </p:cNvPr>
          <p:cNvSpPr/>
          <p:nvPr/>
        </p:nvSpPr>
        <p:spPr>
          <a:xfrm>
            <a:off x="149892" y="1407317"/>
            <a:ext cx="7158411" cy="369332"/>
          </a:xfrm>
          <a:prstGeom prst="rect">
            <a:avLst/>
          </a:prstGeom>
        </p:spPr>
        <p:txBody>
          <a:bodyPr wrap="square">
            <a:spAutoFit/>
          </a:bodyPr>
          <a:lstStyle/>
          <a:p>
            <a:r>
              <a:rPr lang="pt-BR" dirty="0"/>
              <a:t>a implementação de relacionamentos em uma tabela própria </a:t>
            </a:r>
          </a:p>
        </p:txBody>
      </p:sp>
    </p:spTree>
    <p:extLst>
      <p:ext uri="{BB962C8B-B14F-4D97-AF65-F5344CB8AC3E}">
        <p14:creationId xmlns:p14="http://schemas.microsoft.com/office/powerpoint/2010/main" val="1998706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AA20B0F-F530-432F-BDD1-1ABF8C722130}"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33482" y="802764"/>
            <a:ext cx="6984775" cy="369332"/>
          </a:xfrm>
          <a:prstGeom prst="rect">
            <a:avLst/>
          </a:prstGeom>
        </p:spPr>
        <p:txBody>
          <a:bodyPr wrap="square">
            <a:spAutoFit/>
          </a:bodyPr>
          <a:lstStyle/>
          <a:p>
            <a:r>
              <a:rPr lang="pt-BR" dirty="0"/>
              <a:t>Implementação de relacionamentos e respectivos atributos</a:t>
            </a:r>
          </a:p>
        </p:txBody>
      </p:sp>
      <p:sp>
        <p:nvSpPr>
          <p:cNvPr id="9" name="Retângulo 8">
            <a:extLst>
              <a:ext uri="{FF2B5EF4-FFF2-40B4-BE49-F238E27FC236}">
                <a16:creationId xmlns:a16="http://schemas.microsoft.com/office/drawing/2014/main" id="{B1F25C82-4705-447C-B33B-809F26D854F0}"/>
              </a:ext>
            </a:extLst>
          </p:cNvPr>
          <p:cNvSpPr/>
          <p:nvPr/>
        </p:nvSpPr>
        <p:spPr>
          <a:xfrm>
            <a:off x="539551" y="1636306"/>
            <a:ext cx="6578705" cy="369332"/>
          </a:xfrm>
          <a:prstGeom prst="rect">
            <a:avLst/>
          </a:prstGeom>
        </p:spPr>
        <p:txBody>
          <a:bodyPr wrap="square">
            <a:spAutoFit/>
          </a:bodyPr>
          <a:lstStyle/>
          <a:p>
            <a:r>
              <a:rPr lang="pt-BR" dirty="0"/>
              <a:t>adição de colunas em uma das tabelas correspondentes </a:t>
            </a:r>
          </a:p>
        </p:txBody>
      </p:sp>
      <p:pic>
        <p:nvPicPr>
          <p:cNvPr id="10" name="Imagem 9">
            <a:extLst>
              <a:ext uri="{FF2B5EF4-FFF2-40B4-BE49-F238E27FC236}">
                <a16:creationId xmlns:a16="http://schemas.microsoft.com/office/drawing/2014/main" id="{D5DAFED4-B419-4426-B99C-E02FFE16D342}"/>
              </a:ext>
            </a:extLst>
          </p:cNvPr>
          <p:cNvPicPr>
            <a:picLocks noChangeAspect="1"/>
          </p:cNvPicPr>
          <p:nvPr/>
        </p:nvPicPr>
        <p:blipFill rotWithShape="1">
          <a:blip r:embed="rId2"/>
          <a:srcRect l="16138" t="28990" r="19288" b="9797"/>
          <a:stretch/>
        </p:blipFill>
        <p:spPr>
          <a:xfrm>
            <a:off x="886878" y="2352715"/>
            <a:ext cx="5904656" cy="3146940"/>
          </a:xfrm>
          <a:prstGeom prst="rect">
            <a:avLst/>
          </a:prstGeom>
        </p:spPr>
      </p:pic>
    </p:spTree>
    <p:extLst>
      <p:ext uri="{BB962C8B-B14F-4D97-AF65-F5344CB8AC3E}">
        <p14:creationId xmlns:p14="http://schemas.microsoft.com/office/powerpoint/2010/main" val="3331504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023469E-1393-4666-8919-5AC4A6388859}"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33482" y="802764"/>
            <a:ext cx="6984775" cy="369332"/>
          </a:xfrm>
          <a:prstGeom prst="rect">
            <a:avLst/>
          </a:prstGeom>
        </p:spPr>
        <p:txBody>
          <a:bodyPr wrap="square">
            <a:spAutoFit/>
          </a:bodyPr>
          <a:lstStyle/>
          <a:p>
            <a:r>
              <a:rPr lang="pt-BR" dirty="0"/>
              <a:t>Implementação de relacionamentos e respectivos atributos</a:t>
            </a:r>
          </a:p>
        </p:txBody>
      </p:sp>
      <p:sp>
        <p:nvSpPr>
          <p:cNvPr id="9" name="Retângulo 8">
            <a:extLst>
              <a:ext uri="{FF2B5EF4-FFF2-40B4-BE49-F238E27FC236}">
                <a16:creationId xmlns:a16="http://schemas.microsoft.com/office/drawing/2014/main" id="{B1F25C82-4705-447C-B33B-809F26D854F0}"/>
              </a:ext>
            </a:extLst>
          </p:cNvPr>
          <p:cNvSpPr/>
          <p:nvPr/>
        </p:nvSpPr>
        <p:spPr>
          <a:xfrm>
            <a:off x="539551" y="1412776"/>
            <a:ext cx="6578705" cy="707886"/>
          </a:xfrm>
          <a:prstGeom prst="rect">
            <a:avLst/>
          </a:prstGeom>
        </p:spPr>
        <p:txBody>
          <a:bodyPr wrap="square">
            <a:spAutoFit/>
          </a:bodyPr>
          <a:lstStyle/>
          <a:p>
            <a:r>
              <a:rPr lang="pt-BR" sz="2000" dirty="0"/>
              <a:t> a fusão de tabelas de entidades implementadas em um relacionamento</a:t>
            </a:r>
          </a:p>
        </p:txBody>
      </p:sp>
      <p:pic>
        <p:nvPicPr>
          <p:cNvPr id="8" name="Imagem 7">
            <a:extLst>
              <a:ext uri="{FF2B5EF4-FFF2-40B4-BE49-F238E27FC236}">
                <a16:creationId xmlns:a16="http://schemas.microsoft.com/office/drawing/2014/main" id="{C2046AE3-D8A5-4123-AC3C-3B44C413AEA0}"/>
              </a:ext>
            </a:extLst>
          </p:cNvPr>
          <p:cNvPicPr>
            <a:picLocks noChangeAspect="1"/>
          </p:cNvPicPr>
          <p:nvPr/>
        </p:nvPicPr>
        <p:blipFill rotWithShape="1">
          <a:blip r:embed="rId2"/>
          <a:srcRect l="18500" t="29233" r="16926" b="16129"/>
          <a:stretch/>
        </p:blipFill>
        <p:spPr>
          <a:xfrm>
            <a:off x="397497" y="2334553"/>
            <a:ext cx="6804698" cy="3237139"/>
          </a:xfrm>
          <a:prstGeom prst="rect">
            <a:avLst/>
          </a:prstGeom>
        </p:spPr>
      </p:pic>
    </p:spTree>
    <p:extLst>
      <p:ext uri="{BB962C8B-B14F-4D97-AF65-F5344CB8AC3E}">
        <p14:creationId xmlns:p14="http://schemas.microsoft.com/office/powerpoint/2010/main" val="2148145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FB02A56-3E22-4CA2-B4EB-2062EDDEBD9C}"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10" name="Retângulo 9">
            <a:extLst>
              <a:ext uri="{FF2B5EF4-FFF2-40B4-BE49-F238E27FC236}">
                <a16:creationId xmlns:a16="http://schemas.microsoft.com/office/drawing/2014/main" id="{DC55436D-1B7F-4DB4-8698-0A1FD94A450D}"/>
              </a:ext>
            </a:extLst>
          </p:cNvPr>
          <p:cNvSpPr/>
          <p:nvPr/>
        </p:nvSpPr>
        <p:spPr>
          <a:xfrm>
            <a:off x="112730" y="476672"/>
            <a:ext cx="8635734" cy="5617692"/>
          </a:xfrm>
          <a:prstGeom prst="rect">
            <a:avLst/>
          </a:prstGeom>
        </p:spPr>
        <p:txBody>
          <a:bodyPr wrap="square">
            <a:spAutoFit/>
          </a:bodyPr>
          <a:lstStyle/>
          <a:p>
            <a:pPr>
              <a:lnSpc>
                <a:spcPct val="150000"/>
              </a:lnSpc>
            </a:pPr>
            <a:r>
              <a:rPr lang="pt-BR" sz="2200" dirty="0">
                <a:solidFill>
                  <a:srgbClr val="000000"/>
                </a:solidFill>
                <a:latin typeface="Frutiger LT Std"/>
              </a:rPr>
              <a:t>Prática</a:t>
            </a:r>
          </a:p>
          <a:p>
            <a:pPr>
              <a:lnSpc>
                <a:spcPct val="150000"/>
              </a:lnSpc>
            </a:pPr>
            <a:endParaRPr lang="pt-BR" sz="2200" dirty="0">
              <a:solidFill>
                <a:srgbClr val="000000"/>
              </a:solidFill>
              <a:latin typeface="Frutiger LT Std"/>
            </a:endParaRPr>
          </a:p>
          <a:p>
            <a:pPr algn="just">
              <a:lnSpc>
                <a:spcPct val="150000"/>
              </a:lnSpc>
            </a:pPr>
            <a:r>
              <a:rPr lang="pt-BR" sz="2200" dirty="0">
                <a:solidFill>
                  <a:srgbClr val="000000"/>
                </a:solidFill>
                <a:latin typeface="Times New Roman" panose="02020603050405020304" pitchFamily="18" charset="0"/>
                <a:cs typeface="Times New Roman" panose="02020603050405020304" pitchFamily="18" charset="0"/>
              </a:rPr>
              <a:t>Modele, utilizando o modelo entidade-relacionamento (entidades com seus atributos e relacionamentos), o banco de dados de um sistema que controlará uma clínica médica. Nesta clínica, deverão ser cadastrados todos os médicos, além de suas especialidades. Mesmo que o médico possua mais de uma especialidade, ele deverá escolher apenas uma delas para trabalhar na clínica. Todos os pacientes também deverão ser cadastrados com todos os seus dados. Os dados das consultas deverão ser armazenados também no banco de dados: a data em que a consulta aconteceu, o médico que atendeu o paciente, bem como o diagnóstico feito pelo médico.</a:t>
            </a:r>
            <a:endParaRPr lang="pt-B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240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8497C96-C9CC-488E-BD57-E5ED77B4CC78}"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endParaRPr lang="pt-BR" sz="2800" dirty="0">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8" y="1427203"/>
            <a:ext cx="6984776" cy="461665"/>
          </a:xfrm>
          <a:prstGeom prst="rect">
            <a:avLst/>
          </a:prstGeom>
        </p:spPr>
        <p:txBody>
          <a:bodyPr wrap="square">
            <a:spAutoFit/>
          </a:bodyPr>
          <a:lstStyle/>
          <a:p>
            <a:pPr algn="just"/>
            <a:r>
              <a:rPr lang="pt-BR" sz="2400" b="1" dirty="0"/>
              <a:t>Atributos  </a:t>
            </a:r>
            <a:endParaRPr lang="pt-BR" sz="2800" dirty="0"/>
          </a:p>
        </p:txBody>
      </p:sp>
      <p:pic>
        <p:nvPicPr>
          <p:cNvPr id="5122" name="Picture 2" descr="DER - Diagrama Entidade Relacionamento">
            <a:extLst>
              <a:ext uri="{FF2B5EF4-FFF2-40B4-BE49-F238E27FC236}">
                <a16:creationId xmlns:a16="http://schemas.microsoft.com/office/drawing/2014/main" id="{B96C7E10-B3DA-4B49-AF5B-212AB58E7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677639"/>
            <a:ext cx="6912768" cy="5294885"/>
          </a:xfrm>
          <a:prstGeom prst="rect">
            <a:avLst/>
          </a:prstGeom>
          <a:noFill/>
          <a:extLst>
            <a:ext uri="{909E8E84-426E-40DD-AFC4-6F175D3DCCD1}">
              <a14:hiddenFill xmlns:a14="http://schemas.microsoft.com/office/drawing/2010/main">
                <a:solidFill>
                  <a:srgbClr val="FFFFFF"/>
                </a:solidFill>
              </a14:hiddenFill>
            </a:ext>
          </a:extLst>
        </p:spPr>
      </p:pic>
      <p:sp>
        <p:nvSpPr>
          <p:cNvPr id="10" name="Retângulo 9">
            <a:extLst>
              <a:ext uri="{FF2B5EF4-FFF2-40B4-BE49-F238E27FC236}">
                <a16:creationId xmlns:a16="http://schemas.microsoft.com/office/drawing/2014/main" id="{32276504-1F02-4609-B3F0-48A84497D34C}"/>
              </a:ext>
            </a:extLst>
          </p:cNvPr>
          <p:cNvSpPr/>
          <p:nvPr/>
        </p:nvSpPr>
        <p:spPr>
          <a:xfrm>
            <a:off x="107504" y="434010"/>
            <a:ext cx="7200800" cy="369332"/>
          </a:xfrm>
          <a:prstGeom prst="rect">
            <a:avLst/>
          </a:prstGeom>
        </p:spPr>
        <p:txBody>
          <a:bodyPr wrap="square">
            <a:spAutoFit/>
          </a:bodyPr>
          <a:lstStyle/>
          <a:p>
            <a:r>
              <a:rPr lang="pt-BR" b="1" dirty="0">
                <a:solidFill>
                  <a:srgbClr val="5B6266"/>
                </a:solidFill>
                <a:latin typeface="Open Sans"/>
              </a:rPr>
              <a:t>[Projeto] Diagrama conceitual do Clube do Livro concluído</a:t>
            </a:r>
            <a:endParaRPr lang="pt-BR" dirty="0"/>
          </a:p>
        </p:txBody>
      </p:sp>
      <p:sp>
        <p:nvSpPr>
          <p:cNvPr id="13" name="Retângulo 12">
            <a:extLst>
              <a:ext uri="{FF2B5EF4-FFF2-40B4-BE49-F238E27FC236}">
                <a16:creationId xmlns:a16="http://schemas.microsoft.com/office/drawing/2014/main" id="{7CC7C815-C4F7-4512-8FBB-FDEA4FFA802C}"/>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Tree>
    <p:extLst>
      <p:ext uri="{BB962C8B-B14F-4D97-AF65-F5344CB8AC3E}">
        <p14:creationId xmlns:p14="http://schemas.microsoft.com/office/powerpoint/2010/main" val="1473992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7EDC6A-3FE3-00E4-968F-F6220B43BEE7}"/>
              </a:ext>
            </a:extLst>
          </p:cNvPr>
          <p:cNvSpPr>
            <a:spLocks noGrp="1"/>
          </p:cNvSpPr>
          <p:nvPr>
            <p:ph type="dt" sz="half" idx="10"/>
          </p:nvPr>
        </p:nvSpPr>
        <p:spPr/>
        <p:txBody>
          <a:bodyPr/>
          <a:lstStyle/>
          <a:p>
            <a:fld id="{67B76E6E-9FB3-4E4E-A99A-837BEC0FF80E}" type="datetime1">
              <a:rPr lang="pt-BR" smtClean="0"/>
              <a:t>28/02/2026</a:t>
            </a:fld>
            <a:endParaRPr lang="pt-BR" dirty="0"/>
          </a:p>
        </p:txBody>
      </p:sp>
      <p:sp>
        <p:nvSpPr>
          <p:cNvPr id="3" name="Espaço Reservado para Rodapé 2">
            <a:extLst>
              <a:ext uri="{FF2B5EF4-FFF2-40B4-BE49-F238E27FC236}">
                <a16:creationId xmlns:a16="http://schemas.microsoft.com/office/drawing/2014/main" id="{BF81AB19-84D7-83DB-FC9A-8979F49632B2}"/>
              </a:ext>
            </a:extLst>
          </p:cNvPr>
          <p:cNvSpPr>
            <a:spLocks noGrp="1"/>
          </p:cNvSpPr>
          <p:nvPr>
            <p:ph type="ftr" sz="quarter" idx="11"/>
          </p:nvPr>
        </p:nvSpPr>
        <p:spPr/>
        <p:txBody>
          <a:bodyPr/>
          <a:lstStyle/>
          <a:p>
            <a:r>
              <a:rPr lang="pt-BR"/>
              <a:t>Professor MSc. Elionai Magalhães</a:t>
            </a:r>
            <a:endParaRPr lang="pt-BR" dirty="0"/>
          </a:p>
        </p:txBody>
      </p:sp>
      <p:sp>
        <p:nvSpPr>
          <p:cNvPr id="4" name="Espaço Reservado para Número de Slide 3">
            <a:extLst>
              <a:ext uri="{FF2B5EF4-FFF2-40B4-BE49-F238E27FC236}">
                <a16:creationId xmlns:a16="http://schemas.microsoft.com/office/drawing/2014/main" id="{972E6E24-97F6-565B-FF8C-0FE573E400D3}"/>
              </a:ext>
            </a:extLst>
          </p:cNvPr>
          <p:cNvSpPr>
            <a:spLocks noGrp="1"/>
          </p:cNvSpPr>
          <p:nvPr>
            <p:ph type="sldNum" sz="quarter" idx="12"/>
          </p:nvPr>
        </p:nvSpPr>
        <p:spPr/>
        <p:txBody>
          <a:bodyPr/>
          <a:lstStyle/>
          <a:p>
            <a:fld id="{7C77B986-2480-449B-886E-7A027CF271D4}" type="slidenum">
              <a:rPr lang="pt-BR" smtClean="0"/>
              <a:pPr/>
              <a:t>31</a:t>
            </a:fld>
            <a:endParaRPr lang="pt-BR" dirty="0"/>
          </a:p>
        </p:txBody>
      </p:sp>
      <p:sp>
        <p:nvSpPr>
          <p:cNvPr id="5" name="CaixaDeTexto 4">
            <a:extLst>
              <a:ext uri="{FF2B5EF4-FFF2-40B4-BE49-F238E27FC236}">
                <a16:creationId xmlns:a16="http://schemas.microsoft.com/office/drawing/2014/main" id="{54C4AB5A-639F-7A67-F15E-42C337E83D88}"/>
              </a:ext>
            </a:extLst>
          </p:cNvPr>
          <p:cNvSpPr txBox="1"/>
          <p:nvPr/>
        </p:nvSpPr>
        <p:spPr>
          <a:xfrm>
            <a:off x="503548" y="2136338"/>
            <a:ext cx="8136904" cy="258532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pt-BR" sz="1800" dirty="0">
                <a:effectLst/>
                <a:latin typeface="Calibri" panose="020F0502020204030204" pitchFamily="34" charset="0"/>
                <a:ea typeface="Calibri" panose="020F0502020204030204" pitchFamily="34" charset="0"/>
              </a:rPr>
              <a:t>Referência:</a:t>
            </a:r>
          </a:p>
          <a:p>
            <a:endParaRPr lang="pt-BR" sz="1800" dirty="0">
              <a:effectLst/>
              <a:latin typeface="Calibri" panose="020F0502020204030204" pitchFamily="34" charset="0"/>
              <a:ea typeface="Calibri" panose="020F0502020204030204" pitchFamily="34" charset="0"/>
            </a:endParaRPr>
          </a:p>
          <a:p>
            <a:r>
              <a:rPr lang="pt-BR" sz="1800" dirty="0">
                <a:effectLst/>
                <a:latin typeface="Calibri" panose="020F0502020204030204" pitchFamily="34" charset="0"/>
                <a:ea typeface="Calibri" panose="020F0502020204030204" pitchFamily="34" charset="0"/>
              </a:rPr>
              <a:t>(Informada na ementa e disponível na biblioteca digital)</a:t>
            </a:r>
          </a:p>
          <a:p>
            <a:endParaRPr lang="pt-BR" sz="1800" dirty="0">
              <a:effectLst/>
              <a:latin typeface="Calibri" panose="020F0502020204030204" pitchFamily="34" charset="0"/>
              <a:ea typeface="Calibri" panose="020F0502020204030204" pitchFamily="34" charset="0"/>
            </a:endParaRPr>
          </a:p>
          <a:p>
            <a:r>
              <a:rPr lang="pt-BR" sz="1800" dirty="0">
                <a:effectLst/>
                <a:latin typeface="Calibri" panose="020F0502020204030204" pitchFamily="34" charset="0"/>
                <a:ea typeface="Calibri" panose="020F0502020204030204" pitchFamily="34" charset="0"/>
              </a:rPr>
              <a:t>PICHETTI, Roni F.; VIDA, </a:t>
            </a:r>
            <a:r>
              <a:rPr lang="pt-BR" sz="1800" dirty="0" err="1">
                <a:effectLst/>
                <a:latin typeface="Calibri" panose="020F0502020204030204" pitchFamily="34" charset="0"/>
                <a:ea typeface="Calibri" panose="020F0502020204030204" pitchFamily="34" charset="0"/>
              </a:rPr>
              <a:t>Edinilson</a:t>
            </a:r>
            <a:r>
              <a:rPr lang="pt-BR" sz="1800" dirty="0">
                <a:effectLst/>
                <a:latin typeface="Calibri" panose="020F0502020204030204" pitchFamily="34" charset="0"/>
                <a:ea typeface="Calibri" panose="020F0502020204030204" pitchFamily="34" charset="0"/>
              </a:rPr>
              <a:t> S.; CORTES, Vanessa S. M P. Banco de dados. Porto Alegre: Grupo A, 2021. E-book. ISBN 9786556900186. </a:t>
            </a:r>
          </a:p>
          <a:p>
            <a:endParaRPr lang="pt-BR" dirty="0">
              <a:latin typeface="Calibri" panose="020F0502020204030204" pitchFamily="34" charset="0"/>
              <a:ea typeface="Calibri" panose="020F0502020204030204" pitchFamily="34" charset="0"/>
            </a:endParaRPr>
          </a:p>
          <a:p>
            <a:r>
              <a:rPr lang="pt-BR" sz="1800" dirty="0">
                <a:effectLst/>
                <a:latin typeface="Calibri" panose="020F0502020204030204" pitchFamily="34" charset="0"/>
                <a:ea typeface="Calibri" panose="020F0502020204030204" pitchFamily="34" charset="0"/>
              </a:rPr>
              <a:t>Disponível em: </a:t>
            </a:r>
          </a:p>
          <a:p>
            <a:r>
              <a:rPr lang="pt-BR" sz="1800" dirty="0">
                <a:effectLst/>
                <a:latin typeface="Calibri" panose="020F0502020204030204" pitchFamily="34" charset="0"/>
                <a:ea typeface="Calibri" panose="020F0502020204030204" pitchFamily="34" charset="0"/>
              </a:rPr>
              <a:t>https://integrada.minhabiblioteca.com.br/#/books/9786556900186/. </a:t>
            </a:r>
          </a:p>
        </p:txBody>
      </p:sp>
    </p:spTree>
    <p:extLst>
      <p:ext uri="{BB962C8B-B14F-4D97-AF65-F5344CB8AC3E}">
        <p14:creationId xmlns:p14="http://schemas.microsoft.com/office/powerpoint/2010/main" val="250631672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18152</TotalTime>
  <Words>2356</Words>
  <Application>Microsoft Office PowerPoint</Application>
  <PresentationFormat>Apresentação na tela (4:3)</PresentationFormat>
  <Paragraphs>271</Paragraphs>
  <Slides>31</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31</vt:i4>
      </vt:variant>
    </vt:vector>
  </HeadingPairs>
  <TitlesOfParts>
    <vt:vector size="38" baseType="lpstr">
      <vt:lpstr>Arial</vt:lpstr>
      <vt:lpstr>Calibri</vt:lpstr>
      <vt:lpstr>Calibri Light</vt:lpstr>
      <vt:lpstr>Frutiger LT Std</vt:lpstr>
      <vt:lpstr>Open Sans</vt:lpstr>
      <vt:lpstr>Times New Roman</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Exagerado</dc:creator>
  <cp:lastModifiedBy>Elionai Magalhaes 487017 - Professor MULTIVIX</cp:lastModifiedBy>
  <cp:revision>935</cp:revision>
  <dcterms:created xsi:type="dcterms:W3CDTF">2019-04-29T13:17:28Z</dcterms:created>
  <dcterms:modified xsi:type="dcterms:W3CDTF">2026-02-28T20:21:21Z</dcterms:modified>
</cp:coreProperties>
</file>