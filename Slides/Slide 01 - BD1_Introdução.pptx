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45"/>
  </p:notesMasterIdLst>
  <p:handoutMasterIdLst>
    <p:handoutMasterId r:id="rId46"/>
  </p:handoutMasterIdLst>
  <p:sldIdLst>
    <p:sldId id="266" r:id="rId2"/>
    <p:sldId id="405" r:id="rId3"/>
    <p:sldId id="400" r:id="rId4"/>
    <p:sldId id="388" r:id="rId5"/>
    <p:sldId id="401" r:id="rId6"/>
    <p:sldId id="389" r:id="rId7"/>
    <p:sldId id="390" r:id="rId8"/>
    <p:sldId id="391" r:id="rId9"/>
    <p:sldId id="392" r:id="rId10"/>
    <p:sldId id="393" r:id="rId11"/>
    <p:sldId id="394" r:id="rId12"/>
    <p:sldId id="395" r:id="rId13"/>
    <p:sldId id="396" r:id="rId14"/>
    <p:sldId id="397" r:id="rId15"/>
    <p:sldId id="398" r:id="rId16"/>
    <p:sldId id="399" r:id="rId17"/>
    <p:sldId id="362" r:id="rId18"/>
    <p:sldId id="363" r:id="rId19"/>
    <p:sldId id="364" r:id="rId20"/>
    <p:sldId id="365" r:id="rId21"/>
    <p:sldId id="366" r:id="rId22"/>
    <p:sldId id="367" r:id="rId23"/>
    <p:sldId id="368" r:id="rId24"/>
    <p:sldId id="369" r:id="rId25"/>
    <p:sldId id="370"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402" r:id="rId42"/>
    <p:sldId id="403" r:id="rId43"/>
    <p:sldId id="404" r:id="rId44"/>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B2"/>
    <a:srgbClr val="7EC234"/>
    <a:srgbClr val="008000"/>
    <a:srgbClr val="EECD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6" autoAdjust="0"/>
    <p:restoredTop sz="99104" autoAdjust="0"/>
  </p:normalViewPr>
  <p:slideViewPr>
    <p:cSldViewPr>
      <p:cViewPr varScale="1">
        <p:scale>
          <a:sx n="82" d="100"/>
          <a:sy n="82" d="100"/>
        </p:scale>
        <p:origin x="132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6686C5-9FC3-4ECF-B0E5-F803BBF7867B}" type="datetimeFigureOut">
              <a:rPr lang="pt-BR" smtClean="0"/>
              <a:pPr/>
              <a:t>03/08/2026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378A3F-4B77-4156-875B-A64AE335C5C0}" type="slidenum">
              <a:rPr lang="pt-BR" smtClean="0"/>
              <a:pPr/>
              <a:t>‹nº›</a:t>
            </a:fld>
            <a:endParaRPr 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980A45-D736-45A4-B247-1A59E06B267F}" type="datetimeFigureOut">
              <a:rPr lang="pt-BR" smtClean="0"/>
              <a:pPr/>
              <a:t>03/08/2026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5DF64-329D-4CCC-BB41-12FF3AB451DC}"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6E89D4-9082-41A3-B96C-DE7289D46709}"/>
              </a:ext>
            </a:extLst>
          </p:cNvPr>
          <p:cNvSpPr>
            <a:spLocks noGrp="1"/>
          </p:cNvSpPr>
          <p:nvPr>
            <p:ph type="ctrTitle"/>
          </p:nvPr>
        </p:nvSpPr>
        <p:spPr>
          <a:xfrm>
            <a:off x="1143000" y="1122363"/>
            <a:ext cx="6858000" cy="23876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1320872A-91F2-4910-8680-8703F02047B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250633F-BA48-434B-9AD4-0404C341C7E8}"/>
              </a:ext>
            </a:extLst>
          </p:cNvPr>
          <p:cNvSpPr>
            <a:spLocks noGrp="1"/>
          </p:cNvSpPr>
          <p:nvPr>
            <p:ph type="dt" sz="half" idx="10"/>
          </p:nvPr>
        </p:nvSpPr>
        <p:spPr/>
        <p:txBody>
          <a:bodyPr/>
          <a:lstStyle/>
          <a:p>
            <a:fld id="{F0023A2D-14FC-4307-9DDA-A651729FFCD4}" type="datetime1">
              <a:rPr lang="pt-BR" smtClean="0"/>
              <a:t>03/08/2026</a:t>
            </a:fld>
            <a:endParaRPr lang="pt-BR" dirty="0"/>
          </a:p>
        </p:txBody>
      </p:sp>
      <p:sp>
        <p:nvSpPr>
          <p:cNvPr id="5" name="Espaço Reservado para Rodapé 4">
            <a:extLst>
              <a:ext uri="{FF2B5EF4-FFF2-40B4-BE49-F238E27FC236}">
                <a16:creationId xmlns:a16="http://schemas.microsoft.com/office/drawing/2014/main" id="{7C6E5B55-29CC-4ED6-A69A-C6741CB48336}"/>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367ED2BF-DA1A-40F7-AAE3-31F6622F6C4D}"/>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576066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75FA7D-83C1-41CF-B0FE-702780658A4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AF54223-A3DC-4AA3-840F-474A11A41B60}"/>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2267CF3-D421-4746-9356-9ED2A46E4B8A}"/>
              </a:ext>
            </a:extLst>
          </p:cNvPr>
          <p:cNvSpPr>
            <a:spLocks noGrp="1"/>
          </p:cNvSpPr>
          <p:nvPr>
            <p:ph type="dt" sz="half" idx="10"/>
          </p:nvPr>
        </p:nvSpPr>
        <p:spPr/>
        <p:txBody>
          <a:bodyPr/>
          <a:lstStyle/>
          <a:p>
            <a:fld id="{F4AA626D-E763-48BF-B5CA-B3CF1B6AEFEF}" type="datetime1">
              <a:rPr lang="pt-BR" smtClean="0"/>
              <a:t>03/08/2026</a:t>
            </a:fld>
            <a:endParaRPr lang="pt-BR" dirty="0"/>
          </a:p>
        </p:txBody>
      </p:sp>
      <p:sp>
        <p:nvSpPr>
          <p:cNvPr id="5" name="Espaço Reservado para Rodapé 4">
            <a:extLst>
              <a:ext uri="{FF2B5EF4-FFF2-40B4-BE49-F238E27FC236}">
                <a16:creationId xmlns:a16="http://schemas.microsoft.com/office/drawing/2014/main" id="{7988178D-4C1A-457B-AF9F-E9C43BAF71AD}"/>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FD1D7932-9B25-4D40-BA2E-95F3040CD2F2}"/>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61566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8E3D8C-2023-423F-86A4-C841DD407062}"/>
              </a:ext>
            </a:extLst>
          </p:cNvPr>
          <p:cNvSpPr>
            <a:spLocks noGrp="1"/>
          </p:cNvSpPr>
          <p:nvPr>
            <p:ph type="title"/>
          </p:nvPr>
        </p:nvSpPr>
        <p:spPr>
          <a:xfrm>
            <a:off x="623888" y="1709739"/>
            <a:ext cx="7886700" cy="2852737"/>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9D230370-7F10-495F-844A-EA2B930A4E1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E7271F6C-A9BD-4AB5-8FF8-08574321BDB7}"/>
              </a:ext>
            </a:extLst>
          </p:cNvPr>
          <p:cNvSpPr>
            <a:spLocks noGrp="1"/>
          </p:cNvSpPr>
          <p:nvPr>
            <p:ph type="dt" sz="half" idx="10"/>
          </p:nvPr>
        </p:nvSpPr>
        <p:spPr/>
        <p:txBody>
          <a:bodyPr/>
          <a:lstStyle/>
          <a:p>
            <a:fld id="{22F47A71-95AA-4A4E-8B5A-0EFFCABF6F7B}" type="datetime1">
              <a:rPr lang="pt-BR" smtClean="0"/>
              <a:t>03/08/2026</a:t>
            </a:fld>
            <a:endParaRPr lang="pt-BR"/>
          </a:p>
        </p:txBody>
      </p:sp>
      <p:sp>
        <p:nvSpPr>
          <p:cNvPr id="5" name="Espaço Reservado para Rodapé 4">
            <a:extLst>
              <a:ext uri="{FF2B5EF4-FFF2-40B4-BE49-F238E27FC236}">
                <a16:creationId xmlns:a16="http://schemas.microsoft.com/office/drawing/2014/main" id="{5F646902-F00C-4645-AD3D-E14DFCB10BC5}"/>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17E7EF7F-97AD-441D-A73A-3B8844F66D8E}"/>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803010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C840A1-7730-4DCD-819A-9D08073A00A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F46E83F0-5B4B-4202-8B4C-6891943A01DA}"/>
              </a:ext>
            </a:extLst>
          </p:cNvPr>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13C01FEF-E210-42DF-95C3-3A7A180688BF}"/>
              </a:ext>
            </a:extLst>
          </p:cNvPr>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099997-C25B-4C6D-A752-29DA99746A2A}"/>
              </a:ext>
            </a:extLst>
          </p:cNvPr>
          <p:cNvSpPr>
            <a:spLocks noGrp="1"/>
          </p:cNvSpPr>
          <p:nvPr>
            <p:ph type="dt" sz="half" idx="10"/>
          </p:nvPr>
        </p:nvSpPr>
        <p:spPr/>
        <p:txBody>
          <a:bodyPr/>
          <a:lstStyle/>
          <a:p>
            <a:fld id="{79B919B7-5C3D-4C1F-A19F-A2A764B0B047}" type="datetime1">
              <a:rPr lang="pt-BR" smtClean="0"/>
              <a:t>03/08/2026</a:t>
            </a:fld>
            <a:endParaRPr lang="pt-BR"/>
          </a:p>
        </p:txBody>
      </p:sp>
      <p:sp>
        <p:nvSpPr>
          <p:cNvPr id="6" name="Espaço Reservado para Rodapé 5">
            <a:extLst>
              <a:ext uri="{FF2B5EF4-FFF2-40B4-BE49-F238E27FC236}">
                <a16:creationId xmlns:a16="http://schemas.microsoft.com/office/drawing/2014/main" id="{8F82CC14-D55D-4D18-A39A-352CC754A1DF}"/>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8FBC7D91-3B0B-477B-8747-7A972850DA41}"/>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335452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A5D677-5984-4E65-AF4C-B175B398E0BB}"/>
              </a:ext>
            </a:extLst>
          </p:cNvPr>
          <p:cNvSpPr>
            <a:spLocks noGrp="1"/>
          </p:cNvSpPr>
          <p:nvPr>
            <p:ph type="title"/>
          </p:nvPr>
        </p:nvSpPr>
        <p:spPr>
          <a:xfrm>
            <a:off x="629841" y="365126"/>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2D26529-7733-4040-A6DC-AFACE564452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6CC3C509-2486-45AF-AC7E-1E03E090DDA0}"/>
              </a:ext>
            </a:extLst>
          </p:cNvPr>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A5FFA04E-4674-4F03-A7E8-AE680F8F344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9D53F577-F6ED-4A62-B8CB-8B73D5BB2086}"/>
              </a:ext>
            </a:extLst>
          </p:cNvPr>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ACBF5811-1505-4238-B615-8478A40EBBC4}"/>
              </a:ext>
            </a:extLst>
          </p:cNvPr>
          <p:cNvSpPr>
            <a:spLocks noGrp="1"/>
          </p:cNvSpPr>
          <p:nvPr>
            <p:ph type="dt" sz="half" idx="10"/>
          </p:nvPr>
        </p:nvSpPr>
        <p:spPr/>
        <p:txBody>
          <a:bodyPr/>
          <a:lstStyle/>
          <a:p>
            <a:fld id="{B2B52046-FB60-4C2A-AA29-F21FFE947F9A}" type="datetime1">
              <a:rPr lang="pt-BR" smtClean="0"/>
              <a:t>03/08/2026</a:t>
            </a:fld>
            <a:endParaRPr lang="pt-BR"/>
          </a:p>
        </p:txBody>
      </p:sp>
      <p:sp>
        <p:nvSpPr>
          <p:cNvPr id="8" name="Espaço Reservado para Rodapé 7">
            <a:extLst>
              <a:ext uri="{FF2B5EF4-FFF2-40B4-BE49-F238E27FC236}">
                <a16:creationId xmlns:a16="http://schemas.microsoft.com/office/drawing/2014/main" id="{4BC91DCF-C791-4BCD-A0C7-AE7A37F19A9C}"/>
              </a:ext>
            </a:extLst>
          </p:cNvPr>
          <p:cNvSpPr>
            <a:spLocks noGrp="1"/>
          </p:cNvSpPr>
          <p:nvPr>
            <p:ph type="ftr" sz="quarter" idx="11"/>
          </p:nvPr>
        </p:nvSpPr>
        <p:spPr/>
        <p:txBody>
          <a:bodyPr/>
          <a:lstStyle/>
          <a:p>
            <a:r>
              <a:rPr lang="pt-BR"/>
              <a:t>Professor MSc. Elionai Magalhães</a:t>
            </a:r>
          </a:p>
        </p:txBody>
      </p:sp>
      <p:sp>
        <p:nvSpPr>
          <p:cNvPr id="9" name="Espaço Reservado para Número de Slide 8">
            <a:extLst>
              <a:ext uri="{FF2B5EF4-FFF2-40B4-BE49-F238E27FC236}">
                <a16:creationId xmlns:a16="http://schemas.microsoft.com/office/drawing/2014/main" id="{2CB710EE-481C-4D65-A841-1BD7AE89AD86}"/>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2953557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7BA652-82AD-424B-A787-EC3057A154E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B2CBAC0-BDA1-4D28-B2D4-20D4B0E4E429}"/>
              </a:ext>
            </a:extLst>
          </p:cNvPr>
          <p:cNvSpPr>
            <a:spLocks noGrp="1"/>
          </p:cNvSpPr>
          <p:nvPr>
            <p:ph type="dt" sz="half" idx="10"/>
          </p:nvPr>
        </p:nvSpPr>
        <p:spPr/>
        <p:txBody>
          <a:bodyPr/>
          <a:lstStyle/>
          <a:p>
            <a:fld id="{34ADD712-D3CF-4740-ABA7-7CE0ADAAAD68}" type="datetime1">
              <a:rPr lang="pt-BR" smtClean="0"/>
              <a:t>03/08/2026</a:t>
            </a:fld>
            <a:endParaRPr lang="pt-BR" dirty="0"/>
          </a:p>
        </p:txBody>
      </p:sp>
      <p:sp>
        <p:nvSpPr>
          <p:cNvPr id="4" name="Espaço Reservado para Rodapé 3">
            <a:extLst>
              <a:ext uri="{FF2B5EF4-FFF2-40B4-BE49-F238E27FC236}">
                <a16:creationId xmlns:a16="http://schemas.microsoft.com/office/drawing/2014/main" id="{78E15DFA-14BC-4290-934B-611678442DBA}"/>
              </a:ext>
            </a:extLst>
          </p:cNvPr>
          <p:cNvSpPr>
            <a:spLocks noGrp="1"/>
          </p:cNvSpPr>
          <p:nvPr>
            <p:ph type="ftr" sz="quarter" idx="11"/>
          </p:nvPr>
        </p:nvSpPr>
        <p:spPr/>
        <p:txBody>
          <a:bodyPr/>
          <a:lstStyle/>
          <a:p>
            <a:r>
              <a:rPr lang="pt-BR"/>
              <a:t>Professor MSc. Elionai Magalhães</a:t>
            </a:r>
          </a:p>
        </p:txBody>
      </p:sp>
      <p:sp>
        <p:nvSpPr>
          <p:cNvPr id="5" name="Espaço Reservado para Número de Slide 4">
            <a:extLst>
              <a:ext uri="{FF2B5EF4-FFF2-40B4-BE49-F238E27FC236}">
                <a16:creationId xmlns:a16="http://schemas.microsoft.com/office/drawing/2014/main" id="{4A26DCBC-1B48-43D7-BA9A-414DC8488579}"/>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039848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3380BC8-4CE1-4CE8-A47A-24DCCC51994D}"/>
              </a:ext>
            </a:extLst>
          </p:cNvPr>
          <p:cNvSpPr>
            <a:spLocks noGrp="1"/>
          </p:cNvSpPr>
          <p:nvPr>
            <p:ph type="dt" sz="half" idx="10"/>
          </p:nvPr>
        </p:nvSpPr>
        <p:spPr/>
        <p:txBody>
          <a:bodyPr/>
          <a:lstStyle/>
          <a:p>
            <a:fld id="{A16AD671-1AC2-4946-93CF-2642240DBCCD}" type="datetime1">
              <a:rPr lang="pt-BR" smtClean="0"/>
              <a:t>03/08/2026</a:t>
            </a:fld>
            <a:endParaRPr lang="pt-BR" dirty="0"/>
          </a:p>
        </p:txBody>
      </p:sp>
      <p:sp>
        <p:nvSpPr>
          <p:cNvPr id="3" name="Espaço Reservado para Rodapé 2">
            <a:extLst>
              <a:ext uri="{FF2B5EF4-FFF2-40B4-BE49-F238E27FC236}">
                <a16:creationId xmlns:a16="http://schemas.microsoft.com/office/drawing/2014/main" id="{3E1A873C-7696-436C-AA54-C4F9C330FFA6}"/>
              </a:ext>
            </a:extLst>
          </p:cNvPr>
          <p:cNvSpPr>
            <a:spLocks noGrp="1"/>
          </p:cNvSpPr>
          <p:nvPr>
            <p:ph type="ftr" sz="quarter" idx="11"/>
          </p:nvPr>
        </p:nvSpPr>
        <p:spPr/>
        <p:txBody>
          <a:bodyPr/>
          <a:lstStyle/>
          <a:p>
            <a:r>
              <a:rPr lang="pt-BR"/>
              <a:t>Professor MSc. Elionai Magalhães</a:t>
            </a:r>
            <a:endParaRPr lang="pt-BR" dirty="0"/>
          </a:p>
        </p:txBody>
      </p:sp>
      <p:sp>
        <p:nvSpPr>
          <p:cNvPr id="4" name="Espaço Reservado para Número de Slide 3">
            <a:extLst>
              <a:ext uri="{FF2B5EF4-FFF2-40B4-BE49-F238E27FC236}">
                <a16:creationId xmlns:a16="http://schemas.microsoft.com/office/drawing/2014/main" id="{A13642CC-0E81-4056-A0D0-691CB02AD75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898382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243B5-6CC6-4CB2-A018-9481BB06529A}"/>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78EAB40-E8E5-4B73-94F3-A817882C9F7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534255F-EFF2-4277-AACC-B965F6D6B49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FEC23757-E331-4470-9AF8-4A6A48C44044}"/>
              </a:ext>
            </a:extLst>
          </p:cNvPr>
          <p:cNvSpPr>
            <a:spLocks noGrp="1"/>
          </p:cNvSpPr>
          <p:nvPr>
            <p:ph type="dt" sz="half" idx="10"/>
          </p:nvPr>
        </p:nvSpPr>
        <p:spPr/>
        <p:txBody>
          <a:bodyPr/>
          <a:lstStyle/>
          <a:p>
            <a:fld id="{5609C37D-A2A2-47BB-85FA-055B5D218568}" type="datetime1">
              <a:rPr lang="pt-BR" smtClean="0"/>
              <a:t>03/08/2026</a:t>
            </a:fld>
            <a:endParaRPr lang="pt-BR"/>
          </a:p>
        </p:txBody>
      </p:sp>
      <p:sp>
        <p:nvSpPr>
          <p:cNvPr id="6" name="Espaço Reservado para Rodapé 5">
            <a:extLst>
              <a:ext uri="{FF2B5EF4-FFF2-40B4-BE49-F238E27FC236}">
                <a16:creationId xmlns:a16="http://schemas.microsoft.com/office/drawing/2014/main" id="{A719C28F-2455-4034-BBB7-6D853C841D5E}"/>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D9C5B0E3-A471-4FFC-A50D-864F8B9D82AD}"/>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309346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1F8775-689A-434C-801C-7A3364B81893}"/>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5B350726-E040-4FFB-BF43-2821311B7F9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013BAAB0-8652-4124-A92D-F04E80601DB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B315D2A5-DF45-4417-89DB-896709EB72AD}"/>
              </a:ext>
            </a:extLst>
          </p:cNvPr>
          <p:cNvSpPr>
            <a:spLocks noGrp="1"/>
          </p:cNvSpPr>
          <p:nvPr>
            <p:ph type="dt" sz="half" idx="10"/>
          </p:nvPr>
        </p:nvSpPr>
        <p:spPr/>
        <p:txBody>
          <a:bodyPr/>
          <a:lstStyle/>
          <a:p>
            <a:fld id="{34596EBA-4FD1-43D8-8F3F-FE6AD5AA695B}" type="datetime1">
              <a:rPr lang="pt-BR" smtClean="0"/>
              <a:t>03/08/2026</a:t>
            </a:fld>
            <a:endParaRPr lang="pt-BR"/>
          </a:p>
        </p:txBody>
      </p:sp>
      <p:sp>
        <p:nvSpPr>
          <p:cNvPr id="6" name="Espaço Reservado para Rodapé 5">
            <a:extLst>
              <a:ext uri="{FF2B5EF4-FFF2-40B4-BE49-F238E27FC236}">
                <a16:creationId xmlns:a16="http://schemas.microsoft.com/office/drawing/2014/main" id="{2C8FC9C0-E594-4682-B6A9-4FD3F47083C6}"/>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FCD22AE0-A789-4208-9D88-4FAEF1BFEFDC}"/>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291644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500BC-1B17-4721-812D-C0EA8F45FE5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E7F53E2-3913-47B5-A88C-7E95993B5492}"/>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AE6A1E1-3052-4F3B-B6E8-5B67E083DCD6}"/>
              </a:ext>
            </a:extLst>
          </p:cNvPr>
          <p:cNvSpPr>
            <a:spLocks noGrp="1"/>
          </p:cNvSpPr>
          <p:nvPr>
            <p:ph type="dt" sz="half" idx="10"/>
          </p:nvPr>
        </p:nvSpPr>
        <p:spPr/>
        <p:txBody>
          <a:bodyPr/>
          <a:lstStyle/>
          <a:p>
            <a:fld id="{57961A4E-62A5-49B6-9DCC-8041EE4F06CE}" type="datetime1">
              <a:rPr lang="pt-BR" smtClean="0"/>
              <a:t>03/08/2026</a:t>
            </a:fld>
            <a:endParaRPr lang="pt-BR" dirty="0"/>
          </a:p>
        </p:txBody>
      </p:sp>
      <p:sp>
        <p:nvSpPr>
          <p:cNvPr id="5" name="Espaço Reservado para Rodapé 4">
            <a:extLst>
              <a:ext uri="{FF2B5EF4-FFF2-40B4-BE49-F238E27FC236}">
                <a16:creationId xmlns:a16="http://schemas.microsoft.com/office/drawing/2014/main" id="{672BCEDB-DD67-4CC6-8D11-60182F8F49EA}"/>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79EB8A16-A3BB-4FCD-BA48-3E589868A99C}"/>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34521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DEC0D2-C77F-4891-BE6C-6121CBD95039}"/>
              </a:ext>
            </a:extLst>
          </p:cNvPr>
          <p:cNvSpPr>
            <a:spLocks noGrp="1"/>
          </p:cNvSpPr>
          <p:nvPr>
            <p:ph type="title" orient="vert"/>
          </p:nvPr>
        </p:nvSpPr>
        <p:spPr>
          <a:xfrm>
            <a:off x="6543675" y="365125"/>
            <a:ext cx="1971675"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1141D152-A451-43B2-94EB-2D3F6D72D599}"/>
              </a:ext>
            </a:extLst>
          </p:cNvPr>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EFCDD0A-7B76-4E90-90FE-088B2B9C0A0D}"/>
              </a:ext>
            </a:extLst>
          </p:cNvPr>
          <p:cNvSpPr>
            <a:spLocks noGrp="1"/>
          </p:cNvSpPr>
          <p:nvPr>
            <p:ph type="dt" sz="half" idx="10"/>
          </p:nvPr>
        </p:nvSpPr>
        <p:spPr/>
        <p:txBody>
          <a:bodyPr/>
          <a:lstStyle/>
          <a:p>
            <a:fld id="{53F572BD-308E-4259-ADBB-0B485F21019B}" type="datetime1">
              <a:rPr lang="pt-BR" smtClean="0"/>
              <a:t>03/08/2026</a:t>
            </a:fld>
            <a:endParaRPr lang="pt-BR" dirty="0"/>
          </a:p>
        </p:txBody>
      </p:sp>
      <p:sp>
        <p:nvSpPr>
          <p:cNvPr id="5" name="Espaço Reservado para Rodapé 4">
            <a:extLst>
              <a:ext uri="{FF2B5EF4-FFF2-40B4-BE49-F238E27FC236}">
                <a16:creationId xmlns:a16="http://schemas.microsoft.com/office/drawing/2014/main" id="{358D12AF-8392-4B5E-82BE-49F35BF329CF}"/>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C4682104-6E05-4C53-BC51-C9D2010AB689}"/>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943031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401FE52-3F7B-4130-8B31-B0A7AE10DDF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8B5CEAE-A40E-4383-9216-9FAEA62956D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BB94007-7717-4D7B-B0C9-2F9EDEF441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7C11BFF-6AA7-4860-A8B5-974CA427BE04}" type="datetime1">
              <a:rPr lang="pt-BR" smtClean="0"/>
              <a:t>03/08/2026</a:t>
            </a:fld>
            <a:endParaRPr lang="pt-BR" dirty="0"/>
          </a:p>
        </p:txBody>
      </p:sp>
      <p:sp>
        <p:nvSpPr>
          <p:cNvPr id="5" name="Espaço Reservado para Rodapé 4">
            <a:extLst>
              <a:ext uri="{FF2B5EF4-FFF2-40B4-BE49-F238E27FC236}">
                <a16:creationId xmlns:a16="http://schemas.microsoft.com/office/drawing/2014/main" id="{F17D92B8-AC5E-44B3-B561-226CB276459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pt-BR"/>
              <a:t>Professor MSc. Elionai Magalhães</a:t>
            </a:r>
          </a:p>
        </p:txBody>
      </p:sp>
      <p:sp>
        <p:nvSpPr>
          <p:cNvPr id="6" name="Espaço Reservado para Número de Slide 5">
            <a:extLst>
              <a:ext uri="{FF2B5EF4-FFF2-40B4-BE49-F238E27FC236}">
                <a16:creationId xmlns:a16="http://schemas.microsoft.com/office/drawing/2014/main" id="{EE9AD2CE-8736-4BDC-A332-DD8FEDC48E9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16300116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integrada.minhabiblioteca.com.br/books/9788536519418"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4F24A26-E736-41E4-962B-7CABA56F0862}"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dirty="0"/>
              <a:t>Professor </a:t>
            </a:r>
            <a:r>
              <a:rPr lang="pt-BR" dirty="0" err="1"/>
              <a:t>MSc</a:t>
            </a:r>
            <a:r>
              <a:rPr lang="pt-BR" dirty="0"/>
              <a:t>.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a:t>
            </a:fld>
            <a:endParaRPr lang="pt-BR"/>
          </a:p>
        </p:txBody>
      </p:sp>
      <p:sp>
        <p:nvSpPr>
          <p:cNvPr id="6" name="Retângulo 5">
            <a:extLst>
              <a:ext uri="{FF2B5EF4-FFF2-40B4-BE49-F238E27FC236}">
                <a16:creationId xmlns:a16="http://schemas.microsoft.com/office/drawing/2014/main" id="{C5FA61CD-8020-406D-BECA-AF2E9A592B62}"/>
              </a:ext>
            </a:extLst>
          </p:cNvPr>
          <p:cNvSpPr/>
          <p:nvPr/>
        </p:nvSpPr>
        <p:spPr>
          <a:xfrm>
            <a:off x="384583" y="1052736"/>
            <a:ext cx="8119814" cy="739754"/>
          </a:xfrm>
          <a:prstGeom prst="rect">
            <a:avLst/>
          </a:prstGeom>
        </p:spPr>
        <p:txBody>
          <a:bodyPr wrap="square">
            <a:spAutoFit/>
          </a:bodyPr>
          <a:lstStyle/>
          <a:p>
            <a:pPr indent="450215" algn="ctr">
              <a:lnSpc>
                <a:spcPct val="150000"/>
              </a:lnSpc>
              <a:spcAft>
                <a:spcPts val="800"/>
              </a:spcAft>
            </a:pPr>
            <a:r>
              <a:rPr lang="pt-BR" sz="3200" dirty="0">
                <a:latin typeface="Arial" panose="020B0604020202020204" pitchFamily="34" charset="0"/>
                <a:ea typeface="Calibri" panose="020F0502020204030204" pitchFamily="34" charset="0"/>
                <a:cs typeface="Times New Roman" panose="02020603050405020304" pitchFamily="18" charset="0"/>
              </a:rPr>
              <a:t>Introdução aos Bancos de Dados</a:t>
            </a:r>
          </a:p>
        </p:txBody>
      </p:sp>
      <p:sp>
        <p:nvSpPr>
          <p:cNvPr id="5" name="CaixaDeTexto 4">
            <a:extLst>
              <a:ext uri="{FF2B5EF4-FFF2-40B4-BE49-F238E27FC236}">
                <a16:creationId xmlns:a16="http://schemas.microsoft.com/office/drawing/2014/main" id="{8A7E0372-9CCF-9819-EAFE-CB07D778EC9B}"/>
              </a:ext>
            </a:extLst>
          </p:cNvPr>
          <p:cNvSpPr txBox="1"/>
          <p:nvPr/>
        </p:nvSpPr>
        <p:spPr>
          <a:xfrm>
            <a:off x="575556" y="4077072"/>
            <a:ext cx="7992888" cy="1600438"/>
          </a:xfrm>
          <a:prstGeom prst="rect">
            <a:avLst/>
          </a:prstGeom>
          <a:noFill/>
        </p:spPr>
        <p:txBody>
          <a:bodyPr wrap="square" rtlCol="0">
            <a:spAutoFit/>
          </a:bodyPr>
          <a:lstStyle/>
          <a:p>
            <a:r>
              <a:rPr lang="pt-BR" sz="1400" b="1" dirty="0">
                <a:solidFill>
                  <a:srgbClr val="FF0000"/>
                </a:solidFill>
              </a:rPr>
              <a:t>Atenção!</a:t>
            </a:r>
            <a:endParaRPr lang="pt-BR" sz="1400" dirty="0">
              <a:solidFill>
                <a:srgbClr val="FF0000"/>
              </a:solidFill>
            </a:endParaRPr>
          </a:p>
          <a:p>
            <a:br>
              <a:rPr lang="pt-BR" sz="1400" dirty="0"/>
            </a:br>
            <a:r>
              <a:rPr lang="pt-BR" sz="1400" dirty="0"/>
              <a:t>Aqui estão só os pontos principais para guiar a aula.</a:t>
            </a:r>
          </a:p>
          <a:p>
            <a:r>
              <a:rPr lang="pt-BR" sz="1400" dirty="0"/>
              <a:t>Quem quer realmente aprender (e ir bem na prova) precisa estudar </a:t>
            </a:r>
            <a:r>
              <a:rPr lang="pt-BR" sz="1400" b="1" dirty="0"/>
              <a:t>pelas referências indicadas</a:t>
            </a:r>
            <a:r>
              <a:rPr lang="pt-BR" sz="1400" dirty="0"/>
              <a:t>.</a:t>
            </a:r>
          </a:p>
          <a:p>
            <a:r>
              <a:rPr lang="pt-BR" sz="1400" dirty="0"/>
              <a:t>O conteúdo completo está nos livros e materiais recomendados.</a:t>
            </a:r>
            <a:br>
              <a:rPr lang="pt-BR" sz="1400" dirty="0"/>
            </a:br>
            <a:r>
              <a:rPr lang="pt-BR" sz="1400" dirty="0"/>
              <a:t>Slide não substitui leitura.</a:t>
            </a:r>
          </a:p>
          <a:p>
            <a:r>
              <a:rPr lang="pt-BR" sz="1400" dirty="0"/>
              <a:t>Depois não diga que o professor não avisou. </a:t>
            </a:r>
          </a:p>
        </p:txBody>
      </p:sp>
      <p:sp>
        <p:nvSpPr>
          <p:cNvPr id="7" name="Espaço Reservado para Rodapé 3">
            <a:extLst>
              <a:ext uri="{FF2B5EF4-FFF2-40B4-BE49-F238E27FC236}">
                <a16:creationId xmlns:a16="http://schemas.microsoft.com/office/drawing/2014/main" id="{0FB6C84D-6F0E-1452-65D5-7068B149B374}"/>
              </a:ext>
            </a:extLst>
          </p:cNvPr>
          <p:cNvSpPr txBox="1">
            <a:spLocks/>
          </p:cNvSpPr>
          <p:nvPr/>
        </p:nvSpPr>
        <p:spPr>
          <a:xfrm>
            <a:off x="2411760" y="2569655"/>
            <a:ext cx="4248472" cy="365125"/>
          </a:xfrm>
          <a:prstGeom prst="rect">
            <a:avLst/>
          </a:prstGeom>
        </p:spPr>
        <p:txBody>
          <a:bodyPr vert="horz" lIns="91440" tIns="45720" rIns="91440" bIns="45720" rtlCol="0" anchor="ctr"/>
          <a:lstStyle>
            <a:defPPr>
              <a:defRPr lang="pt-BR"/>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sz="1800"/>
              <a:t>Professor MSc. Elionai Magalhães</a:t>
            </a:r>
            <a:endParaRPr lang="pt-B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BF49-A8A2-BFB9-8DC6-6FF015C2B33A}"/>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171FA8B-FCF2-0169-BB15-C223220E8C1A}"/>
              </a:ext>
            </a:extLst>
          </p:cNvPr>
          <p:cNvSpPr>
            <a:spLocks noGrp="1"/>
          </p:cNvSpPr>
          <p:nvPr>
            <p:ph type="dt" sz="half" idx="10"/>
          </p:nvPr>
        </p:nvSpPr>
        <p:spPr/>
        <p:txBody>
          <a:bodyPr/>
          <a:lstStyle/>
          <a:p>
            <a:fld id="{A4F24A26-E736-41E4-962B-7CABA56F0862}" type="datetime1">
              <a:rPr lang="pt-BR" smtClean="0"/>
              <a:t>03/08/2026</a:t>
            </a:fld>
            <a:endParaRPr lang="pt-BR"/>
          </a:p>
        </p:txBody>
      </p:sp>
      <p:sp>
        <p:nvSpPr>
          <p:cNvPr id="4" name="Espaço Reservado para Rodapé 3">
            <a:extLst>
              <a:ext uri="{FF2B5EF4-FFF2-40B4-BE49-F238E27FC236}">
                <a16:creationId xmlns:a16="http://schemas.microsoft.com/office/drawing/2014/main" id="{43BE9FD3-28C8-FA89-953D-5FFECB02CFD7}"/>
              </a:ext>
            </a:extLst>
          </p:cNvPr>
          <p:cNvSpPr>
            <a:spLocks noGrp="1"/>
          </p:cNvSpPr>
          <p:nvPr>
            <p:ph type="ftr" sz="quarter" idx="11"/>
          </p:nvPr>
        </p:nvSpPr>
        <p:spPr/>
        <p:txBody>
          <a:bodyPr/>
          <a:lstStyle/>
          <a:p>
            <a:r>
              <a:rPr lang="pt-BR"/>
              <a:t>Professor MSc. Elionai Magalhães</a:t>
            </a:r>
          </a:p>
        </p:txBody>
      </p:sp>
      <p:sp>
        <p:nvSpPr>
          <p:cNvPr id="3" name="Espaço Reservado para Número de Slide 2">
            <a:extLst>
              <a:ext uri="{FF2B5EF4-FFF2-40B4-BE49-F238E27FC236}">
                <a16:creationId xmlns:a16="http://schemas.microsoft.com/office/drawing/2014/main" id="{E57A97C4-0B01-7203-943E-C23FEC568021}"/>
              </a:ext>
            </a:extLst>
          </p:cNvPr>
          <p:cNvSpPr>
            <a:spLocks noGrp="1"/>
          </p:cNvSpPr>
          <p:nvPr>
            <p:ph type="sldNum" sz="quarter" idx="12"/>
          </p:nvPr>
        </p:nvSpPr>
        <p:spPr/>
        <p:txBody>
          <a:bodyPr/>
          <a:lstStyle/>
          <a:p>
            <a:fld id="{7C77B986-2480-449B-886E-7A027CF271D4}" type="slidenum">
              <a:rPr lang="pt-BR" smtClean="0"/>
              <a:pPr/>
              <a:t>2</a:t>
            </a:fld>
            <a:endParaRPr lang="pt-BR"/>
          </a:p>
        </p:txBody>
      </p:sp>
      <p:sp>
        <p:nvSpPr>
          <p:cNvPr id="5" name="Retângulo 4">
            <a:extLst>
              <a:ext uri="{FF2B5EF4-FFF2-40B4-BE49-F238E27FC236}">
                <a16:creationId xmlns:a16="http://schemas.microsoft.com/office/drawing/2014/main" id="{E2A7D5CC-7C42-3E93-6B80-E4BCBAC1D3EE}"/>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56BF0929-A40C-18DF-65BE-B1D0316D16D5}"/>
              </a:ext>
            </a:extLst>
          </p:cNvPr>
          <p:cNvSpPr/>
          <p:nvPr/>
        </p:nvSpPr>
        <p:spPr>
          <a:xfrm>
            <a:off x="323528" y="578297"/>
            <a:ext cx="7687766" cy="4704237"/>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Definição de Banco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dirty="0">
                <a:latin typeface="Times New Roman" panose="02020603050405020304" pitchFamily="18" charset="0"/>
                <a:ea typeface="Times New Roman" panose="02020603050405020304" pitchFamily="18" charset="0"/>
                <a:cs typeface="Times New Roman" panose="02020603050405020304" pitchFamily="18" charset="0"/>
              </a:rPr>
              <a:t>Um </a:t>
            </a: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banco de dados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é uma coleção organizada de dados estruturados, armazenados eletronicamente em um sistema de computador. A organização dos dados é feita de maneira que facilite a recuperação, a manipulação e a atualização de informações. Os bancos de dados são gerenciados por Sistemas Gerenciadores de Banco de Dados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SGBDs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que são softwares que fornecem ferramentas para criar, acessar e gerenciar os dados de forma eficiente e segura.</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2048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4F24A26-E736-41E4-962B-7CABA56F0862}"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pic>
        <p:nvPicPr>
          <p:cNvPr id="1026" name="Picture 2" descr="Banco de Dados: o que é, tipos e um guia para iniciar | Alura">
            <a:extLst>
              <a:ext uri="{FF2B5EF4-FFF2-40B4-BE49-F238E27FC236}">
                <a16:creationId xmlns:a16="http://schemas.microsoft.com/office/drawing/2014/main" id="{516CB296-0678-4266-B51D-6F9B95B1D8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700808"/>
            <a:ext cx="6845582" cy="3035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889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B7584D2-56DE-4E40-BF42-8CB6129A71B5}"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4</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827584" y="1124744"/>
            <a:ext cx="7560840" cy="4298997"/>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Histórico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nSpc>
                <a:spcPct val="150000"/>
              </a:lnSpc>
              <a:spcAft>
                <a:spcPts val="800"/>
              </a:spcAft>
            </a:pPr>
            <a:r>
              <a:rPr lang="pt-BR" sz="2200" dirty="0">
                <a:latin typeface="Times New Roman" panose="02020603050405020304" pitchFamily="18" charset="0"/>
                <a:ea typeface="Times New Roman" panose="02020603050405020304" pitchFamily="18" charset="0"/>
                <a:cs typeface="Times New Roman" panose="02020603050405020304" pitchFamily="18" charset="0"/>
              </a:rPr>
              <a:t>Os bancos de dados evoluíram significativamente desde o seu início: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mj-lt"/>
              <a:buAutoNum type="arabicPeriod"/>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Anos 1960</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O conceito de banco de dados começou a se desenvolver. Os primeiros sistemas de banco de dados eram sistemas de rede e hierárquicos. Um exemplo famoso dessa época é o sistema IMS da IBM, que usava uma estrutura hierárquica.</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2103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B7584D2-56DE-4E40-BF42-8CB6129A71B5}"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5</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pic>
        <p:nvPicPr>
          <p:cNvPr id="2050" name="Picture 2" descr="O sistema IBM DOS/VS de 1972 – MCC - Museu Capixaba do Computador">
            <a:extLst>
              <a:ext uri="{FF2B5EF4-FFF2-40B4-BE49-F238E27FC236}">
                <a16:creationId xmlns:a16="http://schemas.microsoft.com/office/drawing/2014/main" id="{CAA49F52-817B-426A-BF02-E4E13EE7CC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883" y="1362199"/>
            <a:ext cx="7595478" cy="3979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246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C9491FCD-BC24-4E52-B233-4F0370C8CA8D}"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6</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827584" y="1124744"/>
            <a:ext cx="7488832" cy="3688574"/>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Histórico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Anos 1970</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Edgar F.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Codd</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 cientista da computação da IBM, propôs o modelo relacional de banco de dados, que organiza os dados em tabelas (ou relações). Este modelo se tornou a base para muitos sistemas de banco de dados modernos. Na mesma década, foi desenvolvido o primeiro SGBD relacional, o System R, também pela IBM.</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932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C9DDEE1-9E6D-404A-A6B9-79E917A38C66}"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7</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827584" y="1124744"/>
            <a:ext cx="7687766" cy="2672911"/>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Histórico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Anos 1980</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Surgiram os primeiros produtos comerciais baseados no modelo relacional, como o Oracle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Database</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e o DB2 da IBM. Também nessa década, foram introduzidos os bancos de dados orientados a objetos.</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786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4ECAB86-B53A-47D2-B7C2-936C5A80467A}"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8</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395536" y="579108"/>
            <a:ext cx="7687766" cy="2672911"/>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Histórico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rPr>
              <a:t>Anos 1990</a:t>
            </a:r>
            <a:r>
              <a:rPr lang="pt-BR" sz="2200" dirty="0">
                <a:latin typeface="Times New Roman" panose="02020603050405020304" pitchFamily="18" charset="0"/>
                <a:ea typeface="Times New Roman" panose="02020603050405020304" pitchFamily="18" charset="0"/>
              </a:rPr>
              <a:t>: Com o crescimento da internet, os bancos de dados se tornaram essenciais para a construção de aplicativos web. SQL (</a:t>
            </a:r>
            <a:r>
              <a:rPr lang="pt-BR" sz="2200" dirty="0" err="1">
                <a:latin typeface="Times New Roman" panose="02020603050405020304" pitchFamily="18" charset="0"/>
                <a:ea typeface="Times New Roman" panose="02020603050405020304" pitchFamily="18" charset="0"/>
              </a:rPr>
              <a:t>Structured</a:t>
            </a:r>
            <a:r>
              <a:rPr lang="pt-BR" sz="2200" dirty="0">
                <a:latin typeface="Times New Roman" panose="02020603050405020304" pitchFamily="18" charset="0"/>
                <a:ea typeface="Times New Roman" panose="02020603050405020304" pitchFamily="18" charset="0"/>
              </a:rPr>
              <a:t> Query </a:t>
            </a:r>
            <a:r>
              <a:rPr lang="pt-BR" sz="2200" dirty="0" err="1">
                <a:latin typeface="Times New Roman" panose="02020603050405020304" pitchFamily="18" charset="0"/>
                <a:ea typeface="Times New Roman" panose="02020603050405020304" pitchFamily="18" charset="0"/>
              </a:rPr>
              <a:t>Language</a:t>
            </a:r>
            <a:r>
              <a:rPr lang="pt-BR" sz="2200" dirty="0">
                <a:latin typeface="Times New Roman" panose="02020603050405020304" pitchFamily="18" charset="0"/>
                <a:ea typeface="Times New Roman" panose="02020603050405020304" pitchFamily="18" charset="0"/>
              </a:rPr>
              <a:t>) se consolidou como a linguagem padrão para manipulação de bancos de dados relacionais.</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2050" name="Picture 2" descr="Database Basics and Types: Relational vs Non-relational">
            <a:extLst>
              <a:ext uri="{FF2B5EF4-FFF2-40B4-BE49-F238E27FC236}">
                <a16:creationId xmlns:a16="http://schemas.microsoft.com/office/drawing/2014/main" id="{4E72611F-708E-2454-87F9-BA1BCFE507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3399" y="3252019"/>
            <a:ext cx="4932040" cy="2746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117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A122AE6-AC83-463C-AB07-EA09E1D83A4B}"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9</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395536" y="692696"/>
            <a:ext cx="7848872" cy="3281732"/>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Histórico dos Bancos de Dados</a:t>
            </a: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Anos 2000 até o presente</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Surgiram novos tipos de bancos de dados, como os bancos de dados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NoSQL</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que são mais adequados para grandes volumes de dados não estruturados e de alta velocidade, utilizados em big data e aplicações em tempo real.</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nSpc>
                <a:spcPct val="150000"/>
              </a:lnSpc>
              <a:spcAft>
                <a:spcPts val="800"/>
              </a:spcAft>
            </a:pP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2" descr="Database Basics and Types: Relational vs Non-relational">
            <a:extLst>
              <a:ext uri="{FF2B5EF4-FFF2-40B4-BE49-F238E27FC236}">
                <a16:creationId xmlns:a16="http://schemas.microsoft.com/office/drawing/2014/main" id="{6F38FA31-DA71-7B05-7B65-2FCDAE092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429000"/>
            <a:ext cx="6264696" cy="2497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905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CE137123-6276-4ECE-A319-925792B72B6D}"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10</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162422" y="578297"/>
            <a:ext cx="8352928" cy="3791166"/>
          </a:xfrm>
          <a:prstGeom prst="rect">
            <a:avLst/>
          </a:prstGeom>
        </p:spPr>
        <p:txBody>
          <a:bodyPr wrap="square">
            <a:spAutoFit/>
          </a:bodyPr>
          <a:lstStyle/>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Vantagens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Organização e Eficiência</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Bancos de dados permitem armazenar grandes volumes de dados de forma organizada, facilitando o acesso e a manipulação.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Redundância Reduzida</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Os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SGBDs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permitem a normalização dos dados, reduzindo a redundância e, consequentemente, economizando espaço de armazenamento.</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7466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A80E42E-9B37-43C7-8ED7-1806EA0B4D44}"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11</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539552" y="692696"/>
            <a:ext cx="7920880" cy="2862322"/>
          </a:xfrm>
          <a:prstGeom prst="rect">
            <a:avLst/>
          </a:prstGeom>
        </p:spPr>
        <p:txBody>
          <a:bodyPr wrap="square">
            <a:spAutoFit/>
          </a:bodyPr>
          <a:lstStyle/>
          <a:p>
            <a:pPr indent="450215" algn="just">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Vantagens dos Bancos de Dados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lvl="0" algn="just">
              <a:spcAft>
                <a:spcPts val="800"/>
              </a:spcAft>
              <a:tabLst>
                <a:tab pos="457200" algn="l"/>
              </a:tabLst>
            </a:pPr>
            <a:r>
              <a:rPr lang="pt-BR"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Segurança</a:t>
            </a:r>
            <a:r>
              <a:rPr lang="pt-BR" sz="20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Oferecem mecanismos de segurança para proteger os dados contra acesso não autorizado e perdas.</a:t>
            </a:r>
            <a:endParaRPr lang="pt-BR" sz="2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spcAft>
                <a:spcPts val="800"/>
              </a:spcAft>
              <a:tabLst>
                <a:tab pos="457200" algn="l"/>
              </a:tabLst>
            </a:pPr>
            <a:r>
              <a:rPr lang="pt-BR"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Consistência de Dados</a:t>
            </a:r>
            <a:r>
              <a:rPr lang="pt-BR" sz="20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Garantem a integridade e a consistência dos dados, especialmente em sistemas transacionais, através do uso de transações ACID (Atomicidade, Consistência, Isolamento e Durabilidade).</a:t>
            </a:r>
            <a:endParaRPr lang="pt-BR" sz="2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gn="just"/>
            <a:r>
              <a:rPr lang="pt-BR" sz="2000" b="1" dirty="0">
                <a:solidFill>
                  <a:prstClr val="black"/>
                </a:solidFill>
                <a:latin typeface="Times New Roman" panose="02020603050405020304" pitchFamily="18" charset="0"/>
                <a:ea typeface="Times New Roman" panose="02020603050405020304" pitchFamily="18" charset="0"/>
              </a:rPr>
              <a:t>Backup e Recuperação</a:t>
            </a:r>
            <a:r>
              <a:rPr lang="pt-BR" sz="2000" dirty="0">
                <a:solidFill>
                  <a:prstClr val="black"/>
                </a:solidFill>
                <a:latin typeface="Times New Roman" panose="02020603050405020304" pitchFamily="18" charset="0"/>
                <a:ea typeface="Times New Roman" panose="02020603050405020304" pitchFamily="18" charset="0"/>
              </a:rPr>
              <a:t>: Facilidades para realizar backups e recuperar dados em caso de falhas.</a:t>
            </a:r>
            <a:endParaRPr lang="pt-BR" sz="2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pic>
        <p:nvPicPr>
          <p:cNvPr id="3078" name="Picture 6" descr="O que é o GBackup? - GBackup">
            <a:extLst>
              <a:ext uri="{FF2B5EF4-FFF2-40B4-BE49-F238E27FC236}">
                <a16:creationId xmlns:a16="http://schemas.microsoft.com/office/drawing/2014/main" id="{97666E19-C2BF-5AFB-4FC1-E03ECB02B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7" y="3543738"/>
            <a:ext cx="8263830" cy="299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591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801AD22-2345-4B23-8A6E-06857CCF575C}"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12</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251520" y="1070635"/>
            <a:ext cx="7632848" cy="4734629"/>
          </a:xfrm>
          <a:prstGeom prst="rect">
            <a:avLst/>
          </a:prstGeom>
        </p:spPr>
        <p:txBody>
          <a:bodyPr wrap="square">
            <a:spAutoFit/>
          </a:bodyPr>
          <a:lstStyle/>
          <a:p>
            <a:pPr indent="450215">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Desvantagens dos Bancos de Dados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Custo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Implementação e manutenção de bancos de dados e </a:t>
            </a:r>
            <a:r>
              <a:rPr lang="pt-BR" sz="2200" dirty="0" err="1">
                <a:latin typeface="Times New Roman" panose="02020603050405020304" pitchFamily="18" charset="0"/>
                <a:ea typeface="Times New Roman" panose="02020603050405020304" pitchFamily="18" charset="0"/>
                <a:cs typeface="Times New Roman" panose="02020603050405020304" pitchFamily="18" charset="0"/>
              </a:rPr>
              <a:t>SGBDs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podem ser caros, incluindo o custo do software e do hardware necessários.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Complexidade</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Exigem conhecimentos técnicos especializados para o seu gerenciamento e manutenção.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lvl="0" algn="just">
              <a:spcAft>
                <a:spcPts val="800"/>
              </a:spcAft>
              <a:tabLst>
                <a:tab pos="457200" algn="l"/>
              </a:tabLs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Desempenho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Podem apresentar problemas de desempenho à medida que o volume de dados cresce, necessitando de otimizações constantes.</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2200" b="1" dirty="0">
                <a:latin typeface="Times New Roman" panose="02020603050405020304" pitchFamily="18" charset="0"/>
                <a:ea typeface="Times New Roman" panose="02020603050405020304" pitchFamily="18" charset="0"/>
              </a:rPr>
              <a:t>Segurança e Privacidade</a:t>
            </a:r>
            <a:r>
              <a:rPr lang="pt-BR" sz="2200" dirty="0">
                <a:latin typeface="Times New Roman" panose="02020603050405020304" pitchFamily="18" charset="0"/>
                <a:ea typeface="Times New Roman" panose="02020603050405020304" pitchFamily="18" charset="0"/>
              </a:rPr>
              <a:t>: Embora ofereçam mecanismos de segurança, também são alvos comuns de ataques cibernéticos, necessitando de constantes atualizações e monitoramento.</a:t>
            </a:r>
            <a:endParaRPr lang="pt-BR" sz="22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3589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EDB1931-9462-4D99-A6B9-3EF46AB4A511}"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13</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251519" y="692696"/>
            <a:ext cx="7272809" cy="4185761"/>
          </a:xfrm>
          <a:prstGeom prst="rect">
            <a:avLst/>
          </a:prstGeom>
        </p:spPr>
        <p:txBody>
          <a:bodyPr wrap="square">
            <a:spAutoFit/>
          </a:bodyPr>
          <a:lstStyle/>
          <a:p>
            <a:pPr indent="450215" algn="just">
              <a:lnSpc>
                <a:spcPct val="150000"/>
              </a:lnSpc>
              <a:spcAft>
                <a:spcPts val="800"/>
              </a:spcAft>
            </a:pPr>
            <a:r>
              <a:rPr lang="pt-BR" sz="2400" b="1" dirty="0">
                <a:latin typeface="Times New Roman" panose="02020603050405020304" pitchFamily="18" charset="0"/>
                <a:ea typeface="Times New Roman" panose="02020603050405020304" pitchFamily="18" charset="0"/>
                <a:cs typeface="Times New Roman" panose="02020603050405020304" pitchFamily="18" charset="0"/>
              </a:rPr>
              <a:t>Aplicações em Sistemas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000" dirty="0">
                <a:latin typeface="Times New Roman" panose="02020603050405020304" pitchFamily="18" charset="0"/>
                <a:ea typeface="Times New Roman" panose="02020603050405020304" pitchFamily="18" charset="0"/>
                <a:cs typeface="Times New Roman" panose="02020603050405020304" pitchFamily="18" charset="0"/>
              </a:rPr>
              <a:t>Bancos de dados são amplamente utilizados em diversos tipos de sistemas, incluindo:</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228600"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Sistemas de Gestão Empresarial</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Empresas utilizam bancos de dados para gerenciar suas operações, como vendas, compras, inventário, recursos humanos, entre outros.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2000" i="1" dirty="0">
                <a:latin typeface="Times New Roman" panose="02020603050405020304" pitchFamily="18" charset="0"/>
                <a:ea typeface="Times New Roman" panose="02020603050405020304" pitchFamily="18" charset="0"/>
              </a:rPr>
              <a:t>Exemplo</a:t>
            </a:r>
            <a:r>
              <a:rPr lang="pt-BR" sz="2000" dirty="0">
                <a:latin typeface="Times New Roman" panose="02020603050405020304" pitchFamily="18" charset="0"/>
                <a:ea typeface="Times New Roman" panose="02020603050405020304" pitchFamily="18" charset="0"/>
              </a:rPr>
              <a:t>: Um sistema ERP (Enterprise </a:t>
            </a:r>
            <a:r>
              <a:rPr lang="pt-BR" sz="2000" dirty="0" err="1">
                <a:latin typeface="Times New Roman" panose="02020603050405020304" pitchFamily="18" charset="0"/>
                <a:ea typeface="Times New Roman" panose="02020603050405020304" pitchFamily="18" charset="0"/>
              </a:rPr>
              <a:t>Resource</a:t>
            </a:r>
            <a:r>
              <a:rPr lang="pt-BR" sz="2000" dirty="0">
                <a:latin typeface="Times New Roman" panose="02020603050405020304" pitchFamily="18" charset="0"/>
                <a:ea typeface="Times New Roman" panose="02020603050405020304" pitchFamily="18" charset="0"/>
              </a:rPr>
              <a:t> Planning) que integra todas as funções de uma empresa, utilizando um banco de dados central para armazenar todas as informações.</a:t>
            </a:r>
            <a:endParaRPr lang="pt-BR" sz="2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362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EDB1931-9462-4D99-A6B9-3EF46AB4A511}"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14</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251519" y="692696"/>
            <a:ext cx="7992889" cy="5156027"/>
          </a:xfrm>
          <a:prstGeom prst="rect">
            <a:avLst/>
          </a:prstGeom>
        </p:spPr>
        <p:txBody>
          <a:bodyPr wrap="square">
            <a:spAutoFit/>
          </a:bodyPr>
          <a:lstStyle/>
          <a:p>
            <a:pPr indent="450215" algn="just">
              <a:lnSpc>
                <a:spcPct val="150000"/>
              </a:lnSpc>
              <a:spcAft>
                <a:spcPts val="800"/>
              </a:spcAft>
            </a:pPr>
            <a:r>
              <a:rPr lang="pt-BR" sz="2400" b="1" dirty="0">
                <a:latin typeface="Times New Roman" panose="02020603050405020304" pitchFamily="18" charset="0"/>
                <a:ea typeface="Times New Roman" panose="02020603050405020304" pitchFamily="18" charset="0"/>
                <a:cs typeface="Times New Roman" panose="02020603050405020304" pitchFamily="18" charset="0"/>
              </a:rPr>
              <a:t>Aplicações em Sistemas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228600"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Sistemas de Informação Geográfica (SIG)</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Utilizados para armazenar, analisar e visualizar dados </a:t>
            </a:r>
            <a:r>
              <a:rPr lang="pt-BR" sz="2000" dirty="0" err="1">
                <a:latin typeface="Times New Roman" panose="02020603050405020304" pitchFamily="18" charset="0"/>
                <a:ea typeface="Times New Roman" panose="02020603050405020304" pitchFamily="18" charset="0"/>
                <a:cs typeface="Times New Roman" panose="02020603050405020304" pitchFamily="18" charset="0"/>
              </a:rPr>
              <a:t>geoespaciais</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457200" indent="450215" algn="just">
              <a:lnSpc>
                <a:spcPct val="150000"/>
              </a:lnSpc>
              <a:spcAft>
                <a:spcPts val="800"/>
              </a:spcAft>
            </a:pPr>
            <a:r>
              <a:rPr lang="pt-BR" sz="2000" i="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Google Maps utiliza bancos de dados para armazenar informações geográficas e fornecer direções e mapas detalhados.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228600"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Aplicações Web</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Sites e aplicativos web usam bancos de dados para armazenar dados de usuários, conteúdos e transações.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457200" indent="450215" algn="just">
              <a:lnSpc>
                <a:spcPct val="150000"/>
              </a:lnSpc>
              <a:spcAft>
                <a:spcPts val="800"/>
              </a:spcAft>
            </a:pPr>
            <a:r>
              <a:rPr lang="pt-BR" sz="2000" i="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Redes sociais como Facebook e Instagram armazenam perfis de usuários, postagens, comentários e curtidas em bancos de dados.</a:t>
            </a:r>
            <a:endParaRPr lang="pt-BR" sz="20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8396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EDB1931-9462-4D99-A6B9-3EF46AB4A511}"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15</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251519" y="692696"/>
            <a:ext cx="7992889" cy="3949799"/>
          </a:xfrm>
          <a:prstGeom prst="rect">
            <a:avLst/>
          </a:prstGeom>
        </p:spPr>
        <p:txBody>
          <a:bodyPr wrap="square">
            <a:spAutoFit/>
          </a:bodyPr>
          <a:lstStyle/>
          <a:p>
            <a:pPr indent="450215" algn="just">
              <a:spcAft>
                <a:spcPts val="800"/>
              </a:spcAft>
            </a:pPr>
            <a:r>
              <a:rPr lang="pt-BR" sz="2400" b="1" dirty="0">
                <a:latin typeface="Times New Roman" panose="02020603050405020304" pitchFamily="18" charset="0"/>
                <a:ea typeface="Times New Roman" panose="02020603050405020304" pitchFamily="18" charset="0"/>
                <a:cs typeface="Times New Roman" panose="02020603050405020304" pitchFamily="18" charset="0"/>
              </a:rPr>
              <a:t>Aplicações em Sistemas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228600" indent="450215" algn="just">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Sistemas Financeiros</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Bancos e instituições financeiras utilizam bancos de dados para gerenciar contas, transações, empréstimos e outros serviços financeiros.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457200" indent="450215" algn="just">
              <a:spcAft>
                <a:spcPts val="800"/>
              </a:spcAft>
            </a:pPr>
            <a:r>
              <a:rPr lang="pt-BR" sz="2000" i="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Um banco utiliza um sistema de banco de dados para gerenciar contas de clientes, transações financeiras e emitir relatórios financeiros.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marL="228600" indent="450215" algn="just">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E-commerce</a:t>
            </a:r>
            <a:r>
              <a:rPr lang="pt-BR" sz="2000" dirty="0">
                <a:latin typeface="Times New Roman" panose="02020603050405020304" pitchFamily="18" charset="0"/>
                <a:ea typeface="Times New Roman" panose="02020603050405020304" pitchFamily="18" charset="0"/>
                <a:cs typeface="Times New Roman" panose="02020603050405020304" pitchFamily="18" charset="0"/>
              </a:rPr>
              <a:t>: Lojas online utilizam bancos de dados para gerenciar produtos, inventário, pedidos e informações de clientes.</a:t>
            </a:r>
            <a:endParaRPr lang="pt-BR" sz="20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2000" i="1" dirty="0">
                <a:latin typeface="Times New Roman" panose="02020603050405020304" pitchFamily="18" charset="0"/>
                <a:ea typeface="Times New Roman" panose="02020603050405020304" pitchFamily="18" charset="0"/>
              </a:rPr>
              <a:t>Exemplo</a:t>
            </a:r>
            <a:r>
              <a:rPr lang="pt-BR" sz="2000" dirty="0">
                <a:latin typeface="Times New Roman" panose="02020603050405020304" pitchFamily="18" charset="0"/>
                <a:ea typeface="Times New Roman" panose="02020603050405020304" pitchFamily="18" charset="0"/>
              </a:rPr>
              <a:t>: </a:t>
            </a:r>
            <a:r>
              <a:rPr lang="pt-BR" sz="2000" dirty="0" err="1">
                <a:latin typeface="Times New Roman" panose="02020603050405020304" pitchFamily="18" charset="0"/>
                <a:ea typeface="Times New Roman" panose="02020603050405020304" pitchFamily="18" charset="0"/>
              </a:rPr>
              <a:t>Amazon</a:t>
            </a:r>
            <a:r>
              <a:rPr lang="pt-BR" sz="2000" dirty="0">
                <a:latin typeface="Times New Roman" panose="02020603050405020304" pitchFamily="18" charset="0"/>
                <a:ea typeface="Times New Roman" panose="02020603050405020304" pitchFamily="18" charset="0"/>
              </a:rPr>
              <a:t> utiliza bancos de dados para gerenciar milhões de produtos, pedidos de clientes e recomendações de produtos.</a:t>
            </a:r>
            <a:endParaRPr lang="pt-BR" sz="20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6718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EDB1931-9462-4D99-A6B9-3EF46AB4A511}"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16</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683567" y="11663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a:t>
            </a:r>
            <a:r>
              <a:rPr lang="pt-BR" b="1" dirty="0"/>
              <a:t>– Introdução aos conceitos de Banco de dados </a:t>
            </a:r>
            <a:r>
              <a:rPr lang="pt-BR" sz="2400" b="1" dirty="0">
                <a:latin typeface="Times New Roman" panose="02020603050405020304" pitchFamily="18" charset="0"/>
                <a:cs typeface="Times New Roman" panose="02020603050405020304" pitchFamily="18" charset="0"/>
              </a:rPr>
              <a:t>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C5FA61CD-8020-406D-BECA-AF2E9A592B62}"/>
              </a:ext>
            </a:extLst>
          </p:cNvPr>
          <p:cNvSpPr/>
          <p:nvPr/>
        </p:nvSpPr>
        <p:spPr>
          <a:xfrm>
            <a:off x="251519" y="692696"/>
            <a:ext cx="7992889" cy="3585982"/>
          </a:xfrm>
          <a:prstGeom prst="rect">
            <a:avLst/>
          </a:prstGeom>
        </p:spPr>
        <p:txBody>
          <a:bodyPr wrap="square">
            <a:spAutoFit/>
          </a:bodyPr>
          <a:lstStyle/>
          <a:p>
            <a:pPr indent="450215" algn="just">
              <a:lnSpc>
                <a:spcPct val="150000"/>
              </a:lnSpc>
              <a:spcAft>
                <a:spcPts val="800"/>
              </a:spcAft>
            </a:pPr>
            <a:r>
              <a:rPr lang="pt-BR" sz="2200" dirty="0">
                <a:latin typeface="Times New Roman" panose="02020603050405020304" pitchFamily="18" charset="0"/>
                <a:ea typeface="Times New Roman" panose="02020603050405020304" pitchFamily="18" charset="0"/>
                <a:cs typeface="Times New Roman" panose="02020603050405020304" pitchFamily="18" charset="0"/>
              </a:rPr>
              <a:t>Bancos de dados são essenciais para a operação eficiente de muitos sistemas modernos. Eles oferecem vantagens significativas em termos de organização, eficiência, segurança e consistência de dados, mas também apresentam desafios como custo, complexidade e necessidade de segurança robusta. A compreensão do histórico, vantagens, desvantagens e aplicações práticas dos bancos de dados é essencial para qualquer profissional da área de TI.</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3916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A8E17C6-2A84-47F4-BDC7-B3BC4B3E9E3D}"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17</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2446083"/>
            <a:ext cx="8542517" cy="707886"/>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	Entender o porquê de modelar dados, os principais conceitos envolvidos e quais são os benefícios para o processo de desenvolvimento de sistemas. </a:t>
            </a:r>
          </a:p>
        </p:txBody>
      </p:sp>
      <p:sp>
        <p:nvSpPr>
          <p:cNvPr id="8" name="Retângulo 7">
            <a:extLst>
              <a:ext uri="{FF2B5EF4-FFF2-40B4-BE49-F238E27FC236}">
                <a16:creationId xmlns:a16="http://schemas.microsoft.com/office/drawing/2014/main" id="{EAA0AF3D-7F03-42D2-BCCA-AF22E75E66D9}"/>
              </a:ext>
            </a:extLst>
          </p:cNvPr>
          <p:cNvSpPr/>
          <p:nvPr/>
        </p:nvSpPr>
        <p:spPr>
          <a:xfrm>
            <a:off x="555328" y="1577084"/>
            <a:ext cx="1611339" cy="523220"/>
          </a:xfrm>
          <a:prstGeom prst="rect">
            <a:avLst/>
          </a:prstGeom>
        </p:spPr>
        <p:txBody>
          <a:bodyPr wrap="none">
            <a:spAutoFit/>
          </a:bodyPr>
          <a:lstStyle/>
          <a:p>
            <a:pPr lvl="0" algn="just"/>
            <a:r>
              <a:rPr lang="pt-BR" sz="2800" b="1" dirty="0">
                <a:solidFill>
                  <a:prstClr val="black"/>
                </a:solidFill>
                <a:latin typeface="Times New Roman" panose="02020603050405020304" pitchFamily="18" charset="0"/>
                <a:cs typeface="Times New Roman" panose="02020603050405020304" pitchFamily="18" charset="0"/>
              </a:rPr>
              <a:t>Objetivo </a:t>
            </a:r>
          </a:p>
        </p:txBody>
      </p:sp>
    </p:spTree>
    <p:extLst>
      <p:ext uri="{BB962C8B-B14F-4D97-AF65-F5344CB8AC3E}">
        <p14:creationId xmlns:p14="http://schemas.microsoft.com/office/powerpoint/2010/main" val="982385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C2B66266-E14C-4C69-9124-9DF9793A3F1C}"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18</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179512" y="48727"/>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179512" y="692696"/>
            <a:ext cx="8496944" cy="3078535"/>
          </a:xfrm>
          <a:prstGeom prst="rect">
            <a:avLst/>
          </a:prstGeom>
        </p:spPr>
        <p:txBody>
          <a:bodyPr wrap="square">
            <a:spAutoFit/>
          </a:bodyPr>
          <a:lstStyle/>
          <a:p>
            <a:pPr algn="just">
              <a:lnSpc>
                <a:spcPct val="150000"/>
              </a:lnSpc>
            </a:pPr>
            <a:r>
              <a:rPr lang="pt-BR" sz="2200" dirty="0">
                <a:latin typeface="Times New Roman" panose="02020603050405020304" pitchFamily="18" charset="0"/>
                <a:cs typeface="Times New Roman" panose="02020603050405020304" pitchFamily="18" charset="0"/>
              </a:rPr>
              <a:t>	O objetivo deste texto é oferecer uma visão abrangente sobre o tema. A ideia é fazer uma abordagem objetiva, proporcionando a transmissão de conhecimentos teóricos aplicados de forma crítica a partir da experiência do autor no desenvolvimento, manutenção e implantação de diversos tipos de sistemas de informação, em empresas dos mais variados portes e ramos de atividades. </a:t>
            </a:r>
          </a:p>
        </p:txBody>
      </p:sp>
    </p:spTree>
    <p:extLst>
      <p:ext uri="{BB962C8B-B14F-4D97-AF65-F5344CB8AC3E}">
        <p14:creationId xmlns:p14="http://schemas.microsoft.com/office/powerpoint/2010/main" val="303152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1E44AC-6C2E-4359-AE77-53A0F3570FEF}"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dirty="0"/>
              <a:t>Professor </a:t>
            </a:r>
            <a:r>
              <a:rPr lang="pt-BR" dirty="0" err="1"/>
              <a:t>MSc</a:t>
            </a:r>
            <a:r>
              <a:rPr lang="pt-BR" dirty="0"/>
              <a:t>.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19</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315479" y="136524"/>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188857" y="598189"/>
            <a:ext cx="8326493" cy="2570704"/>
          </a:xfrm>
          <a:prstGeom prst="rect">
            <a:avLst/>
          </a:prstGeom>
        </p:spPr>
        <p:txBody>
          <a:bodyPr wrap="square">
            <a:spAutoFit/>
          </a:bodyPr>
          <a:lstStyle/>
          <a:p>
            <a:pPr algn="just">
              <a:lnSpc>
                <a:spcPct val="150000"/>
              </a:lnSpc>
            </a:pPr>
            <a:r>
              <a:rPr lang="pt-BR" sz="2200" dirty="0">
                <a:latin typeface="Times New Roman" panose="02020603050405020304" pitchFamily="18" charset="0"/>
                <a:cs typeface="Times New Roman" panose="02020603050405020304" pitchFamily="18" charset="0"/>
              </a:rPr>
              <a:t>	O texto utiliza uma metodologia em que um conteúdo teórico é seguido de um estudo de caso que serve como pano de fundo para discussão das possíveis soluções e de seus impactos no resultado final de um produto de software. O MySQL foi utilizado como banco de dados de referência para apresentação dos exemplos práticos.</a:t>
            </a:r>
          </a:p>
        </p:txBody>
      </p:sp>
    </p:spTree>
    <p:extLst>
      <p:ext uri="{BB962C8B-B14F-4D97-AF65-F5344CB8AC3E}">
        <p14:creationId xmlns:p14="http://schemas.microsoft.com/office/powerpoint/2010/main" val="3590232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2C9AAB-A8B5-470D-875E-6377781D2737}"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20</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894104"/>
            <a:ext cx="7894445" cy="3078535"/>
          </a:xfrm>
          <a:prstGeom prst="rect">
            <a:avLst/>
          </a:prstGeom>
        </p:spPr>
        <p:txBody>
          <a:bodyPr wrap="square">
            <a:spAutoFit/>
          </a:bodyPr>
          <a:lstStyle/>
          <a:p>
            <a:pPr algn="just">
              <a:lnSpc>
                <a:spcPct val="150000"/>
              </a:lnSpc>
            </a:pPr>
            <a:r>
              <a:rPr lang="pt-BR" sz="2200" dirty="0">
                <a:latin typeface="Times New Roman" panose="02020603050405020304" pitchFamily="18" charset="0"/>
                <a:cs typeface="Times New Roman" panose="02020603050405020304" pitchFamily="18" charset="0"/>
              </a:rPr>
              <a:t>	No decorrer das aulas, o objetivo é mostrar e justificar para quais são as vantagens em projetar um modelo de dados com rigor, utilizando todo o poder oferecido pelos SGBDs atuais. Afinal os </a:t>
            </a:r>
            <a:r>
              <a:rPr lang="pt-BR" sz="2200" dirty="0" err="1">
                <a:latin typeface="Times New Roman" panose="02020603050405020304" pitchFamily="18" charset="0"/>
                <a:cs typeface="Times New Roman" panose="02020603050405020304" pitchFamily="18" charset="0"/>
              </a:rPr>
              <a:t>SGBSs</a:t>
            </a:r>
            <a:r>
              <a:rPr lang="pt-BR" sz="2200" dirty="0">
                <a:latin typeface="Times New Roman" panose="02020603050405020304" pitchFamily="18" charset="0"/>
                <a:cs typeface="Times New Roman" panose="02020603050405020304" pitchFamily="18" charset="0"/>
              </a:rPr>
              <a:t> são não somente um local seguro para armazenar e recuperar dados, mas principalmente um local capaz de garantir a riqueza semântica dos dados.</a:t>
            </a:r>
          </a:p>
        </p:txBody>
      </p:sp>
      <p:sp>
        <p:nvSpPr>
          <p:cNvPr id="7" name="Retângulo 6">
            <a:extLst>
              <a:ext uri="{FF2B5EF4-FFF2-40B4-BE49-F238E27FC236}">
                <a16:creationId xmlns:a16="http://schemas.microsoft.com/office/drawing/2014/main" id="{806DBFB0-7236-45F0-AE43-A539B81D4B0B}"/>
              </a:ext>
            </a:extLst>
          </p:cNvPr>
          <p:cNvSpPr/>
          <p:nvPr/>
        </p:nvSpPr>
        <p:spPr>
          <a:xfrm>
            <a:off x="555328" y="1330564"/>
            <a:ext cx="1984774" cy="523220"/>
          </a:xfrm>
          <a:prstGeom prst="rect">
            <a:avLst/>
          </a:prstGeom>
        </p:spPr>
        <p:txBody>
          <a:bodyPr wrap="none">
            <a:spAutoFit/>
          </a:bodyPr>
          <a:lstStyle/>
          <a:p>
            <a:pPr lvl="0" algn="just"/>
            <a:r>
              <a:rPr lang="pt-BR" sz="2800" b="1" dirty="0">
                <a:solidFill>
                  <a:prstClr val="black"/>
                </a:solidFill>
                <a:latin typeface="Times New Roman" panose="02020603050405020304" pitchFamily="18" charset="0"/>
                <a:cs typeface="Times New Roman" panose="02020603050405020304" pitchFamily="18" charset="0"/>
              </a:rPr>
              <a:t>Introdução </a:t>
            </a:r>
          </a:p>
        </p:txBody>
      </p:sp>
    </p:spTree>
    <p:extLst>
      <p:ext uri="{BB962C8B-B14F-4D97-AF65-F5344CB8AC3E}">
        <p14:creationId xmlns:p14="http://schemas.microsoft.com/office/powerpoint/2010/main" val="1224492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877154A-D468-4DB1-82B5-F7AC012AEFE6}"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21</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3" y="1894104"/>
            <a:ext cx="6891450" cy="3903954"/>
          </a:xfrm>
          <a:prstGeom prst="rect">
            <a:avLst/>
          </a:prstGeom>
        </p:spPr>
        <p:txBody>
          <a:bodyPr wrap="square">
            <a:spAutoFit/>
          </a:bodyPr>
          <a:lstStyle/>
          <a:p>
            <a:pPr algn="just">
              <a:lnSpc>
                <a:spcPct val="150000"/>
              </a:lnSpc>
            </a:pPr>
            <a:r>
              <a:rPr lang="pt-BR" sz="2400" dirty="0">
                <a:latin typeface="Times New Roman" panose="02020603050405020304" pitchFamily="18" charset="0"/>
                <a:cs typeface="Times New Roman" panose="02020603050405020304" pitchFamily="18" charset="0"/>
              </a:rPr>
              <a:t>	Esta estratégia procura trazer parte do conhecimento ou das regras do negócio, que normalmente ficam espalhadas pelo código-fonte das linguagens de programação para dentro do banco de dados. Isto certamente trará ganhos de produtividade se considerado todo o processo de desenvolvimento de software.</a:t>
            </a:r>
          </a:p>
        </p:txBody>
      </p:sp>
      <p:sp>
        <p:nvSpPr>
          <p:cNvPr id="7" name="Retângulo 6">
            <a:extLst>
              <a:ext uri="{FF2B5EF4-FFF2-40B4-BE49-F238E27FC236}">
                <a16:creationId xmlns:a16="http://schemas.microsoft.com/office/drawing/2014/main" id="{806DBFB0-7236-45F0-AE43-A539B81D4B0B}"/>
              </a:ext>
            </a:extLst>
          </p:cNvPr>
          <p:cNvSpPr/>
          <p:nvPr/>
        </p:nvSpPr>
        <p:spPr>
          <a:xfrm>
            <a:off x="1410498" y="1330564"/>
            <a:ext cx="274434" cy="523220"/>
          </a:xfrm>
          <a:prstGeom prst="rect">
            <a:avLst/>
          </a:prstGeom>
        </p:spPr>
        <p:txBody>
          <a:bodyPr wrap="none">
            <a:spAutoFit/>
          </a:bodyPr>
          <a:lstStyle/>
          <a:p>
            <a:pPr lvl="0" algn="just"/>
            <a:r>
              <a:rPr lang="pt-BR" sz="2800" b="1" dirty="0">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36053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9B1BA22-3E5F-4209-B4CF-7BF63851C07A}"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22</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 Conceitos de modelos de dados </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3" y="1894104"/>
            <a:ext cx="6891450" cy="2795958"/>
          </a:xfrm>
          <a:prstGeom prst="rect">
            <a:avLst/>
          </a:prstGeom>
        </p:spPr>
        <p:txBody>
          <a:bodyPr wrap="square">
            <a:spAutoFit/>
          </a:bodyPr>
          <a:lstStyle/>
          <a:p>
            <a:pPr algn="just">
              <a:lnSpc>
                <a:spcPct val="150000"/>
              </a:lnSpc>
            </a:pPr>
            <a:r>
              <a:rPr lang="pt-BR" sz="2400" dirty="0">
                <a:latin typeface="Times New Roman" panose="02020603050405020304" pitchFamily="18" charset="0"/>
                <a:cs typeface="Times New Roman" panose="02020603050405020304" pitchFamily="18" charset="0"/>
              </a:rPr>
              <a:t>	Estudar este tema com afinco é vital para a formação do profissional. Portanto, espero ajudá-los alcançar esse objetivo. </a:t>
            </a:r>
          </a:p>
          <a:p>
            <a:pPr algn="just">
              <a:lnSpc>
                <a:spcPct val="150000"/>
              </a:lnSpc>
            </a:pPr>
            <a:endParaRPr lang="pt-BR" sz="2400" dirty="0">
              <a:latin typeface="Times New Roman" panose="02020603050405020304" pitchFamily="18" charset="0"/>
              <a:cs typeface="Times New Roman" panose="02020603050405020304" pitchFamily="18" charset="0"/>
            </a:endParaRPr>
          </a:p>
          <a:p>
            <a:pPr algn="just">
              <a:lnSpc>
                <a:spcPct val="150000"/>
              </a:lnSpc>
            </a:pPr>
            <a:r>
              <a:rPr lang="pt-BR" sz="2400" dirty="0">
                <a:latin typeface="Times New Roman" panose="02020603050405020304" pitchFamily="18" charset="0"/>
                <a:cs typeface="Times New Roman" panose="02020603050405020304" pitchFamily="18" charset="0"/>
              </a:rPr>
              <a:t>Vamos ao trabalho!</a:t>
            </a:r>
          </a:p>
        </p:txBody>
      </p:sp>
      <p:sp>
        <p:nvSpPr>
          <p:cNvPr id="7" name="Retângulo 6">
            <a:extLst>
              <a:ext uri="{FF2B5EF4-FFF2-40B4-BE49-F238E27FC236}">
                <a16:creationId xmlns:a16="http://schemas.microsoft.com/office/drawing/2014/main" id="{806DBFB0-7236-45F0-AE43-A539B81D4B0B}"/>
              </a:ext>
            </a:extLst>
          </p:cNvPr>
          <p:cNvSpPr/>
          <p:nvPr/>
        </p:nvSpPr>
        <p:spPr>
          <a:xfrm>
            <a:off x="1410498" y="1330564"/>
            <a:ext cx="274434" cy="523220"/>
          </a:xfrm>
          <a:prstGeom prst="rect">
            <a:avLst/>
          </a:prstGeom>
        </p:spPr>
        <p:txBody>
          <a:bodyPr wrap="none">
            <a:spAutoFit/>
          </a:bodyPr>
          <a:lstStyle/>
          <a:p>
            <a:pPr lvl="0" algn="just"/>
            <a:r>
              <a:rPr lang="pt-BR" sz="2800" b="1" dirty="0">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80404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896D2E06-7CC7-48B5-B1E5-89EA96992EF7}"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dirty="0"/>
              <a:t>Professor </a:t>
            </a:r>
            <a:r>
              <a:rPr lang="pt-BR" dirty="0" err="1"/>
              <a:t>MSc</a:t>
            </a:r>
            <a:r>
              <a:rPr lang="pt-BR" dirty="0"/>
              <a:t>.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23</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 Conceitos sobre modelagem de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3" y="1484784"/>
            <a:ext cx="6891450" cy="2795958"/>
          </a:xfrm>
          <a:prstGeom prst="rect">
            <a:avLst/>
          </a:prstGeom>
        </p:spPr>
        <p:txBody>
          <a:bodyPr wrap="square">
            <a:spAutoFit/>
          </a:bodyPr>
          <a:lstStyle/>
          <a:p>
            <a:pPr algn="just">
              <a:lnSpc>
                <a:spcPct val="150000"/>
              </a:lnSpc>
            </a:pPr>
            <a:r>
              <a:rPr lang="pt-BR" sz="2400" dirty="0">
                <a:latin typeface="Times New Roman" panose="02020603050405020304" pitchFamily="18" charset="0"/>
                <a:cs typeface="Times New Roman" panose="02020603050405020304" pitchFamily="18" charset="0"/>
              </a:rPr>
              <a:t>	Esta aula começa apresentando uma discussão da importância dos dados como a base para o desenvolvimento do software. A partir daí estuda-se o que é e quais são os principais conceitos envolvidos no processo de modelagem de dados. </a:t>
            </a:r>
          </a:p>
        </p:txBody>
      </p:sp>
    </p:spTree>
    <p:extLst>
      <p:ext uri="{BB962C8B-B14F-4D97-AF65-F5344CB8AC3E}">
        <p14:creationId xmlns:p14="http://schemas.microsoft.com/office/powerpoint/2010/main" val="1129715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50A14D7-6263-462F-8910-31D5B14DA502}"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24</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39552" y="104272"/>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Conceitos sobre modelagem de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23528" y="565937"/>
            <a:ext cx="8398501" cy="234532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Em destaque, uma discussão sobre as três formas normais e suas aplicações, pois afinal normalização é um importante conceito da modelagem de dados, que evita as anomalias, tais como redundância e perda de informação. Bom! Mas isso é o que veremos a seguir.</a:t>
            </a:r>
          </a:p>
          <a:p>
            <a:pPr algn="just">
              <a:lnSpc>
                <a:spcPct val="150000"/>
              </a:lnSpc>
            </a:pPr>
            <a:r>
              <a:rPr lang="pt-BR"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82275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76D0F30-F03A-40C8-857F-4554C1B6BCBC}"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25</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107504" y="21095"/>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89451" y="584536"/>
            <a:ext cx="8254485" cy="326865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Durante as últimas décadas, o processo de desenvolvimento de sistemas para fins comerciais vem ocorrendo tanto para uso específico de alguma empresa quanto elaborado por empresas desenvolvedoras de soluções para seus clientes. </a:t>
            </a:r>
          </a:p>
          <a:p>
            <a:pPr algn="just">
              <a:lnSpc>
                <a:spcPct val="150000"/>
              </a:lnSpc>
            </a:pPr>
            <a:r>
              <a:rPr lang="pt-BR" sz="2000" dirty="0">
                <a:latin typeface="Times New Roman" panose="02020603050405020304" pitchFamily="18" charset="0"/>
                <a:cs typeface="Times New Roman" panose="02020603050405020304" pitchFamily="18" charset="0"/>
              </a:rPr>
              <a:t>	Nesse período surgiram diversas metodologias para o desenvolvimento de sistemas, diversas formas de abordar o problema e propor solução: análise estruturada, essencial, orientada a objetos, etc.</a:t>
            </a:r>
          </a:p>
        </p:txBody>
      </p:sp>
    </p:spTree>
    <p:extLst>
      <p:ext uri="{BB962C8B-B14F-4D97-AF65-F5344CB8AC3E}">
        <p14:creationId xmlns:p14="http://schemas.microsoft.com/office/powerpoint/2010/main" val="982102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CF5CB78F-3047-4B3C-AF0D-AF5A2656404D}"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26</a:t>
            </a:fld>
            <a:endParaRPr lang="pt-BR"/>
          </a:p>
        </p:txBody>
      </p:sp>
      <p:sp>
        <p:nvSpPr>
          <p:cNvPr id="6" name="Retângulo 5">
            <a:extLst>
              <a:ext uri="{FF2B5EF4-FFF2-40B4-BE49-F238E27FC236}">
                <a16:creationId xmlns:a16="http://schemas.microsoft.com/office/drawing/2014/main" id="{39DABD13-A865-4486-B190-9DD958D9AE13}"/>
              </a:ext>
            </a:extLst>
          </p:cNvPr>
          <p:cNvSpPr/>
          <p:nvPr/>
        </p:nvSpPr>
        <p:spPr>
          <a:xfrm>
            <a:off x="179512" y="260648"/>
            <a:ext cx="8568952" cy="188365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Sem falar no lado tecnológico, que sofre uma nova onda a cada período e com ciclos cada vez menores. Foram várias as linguagens de programação e ambiente de desenvolvimento: </a:t>
            </a:r>
            <a:r>
              <a:rPr lang="pt-BR" sz="2000" dirty="0" err="1">
                <a:latin typeface="Times New Roman" panose="02020603050405020304" pitchFamily="18" charset="0"/>
                <a:cs typeface="Times New Roman" panose="02020603050405020304" pitchFamily="18" charset="0"/>
              </a:rPr>
              <a:t>Cobol</a:t>
            </a:r>
            <a:r>
              <a:rPr lang="pt-BR" sz="2000" dirty="0">
                <a:latin typeface="Times New Roman" panose="02020603050405020304" pitchFamily="18" charset="0"/>
                <a:cs typeface="Times New Roman" panose="02020603050405020304" pitchFamily="18" charset="0"/>
              </a:rPr>
              <a:t>, Clipper e a família </a:t>
            </a:r>
            <a:r>
              <a:rPr lang="pt-BR" sz="2000" dirty="0" err="1">
                <a:latin typeface="Times New Roman" panose="02020603050405020304" pitchFamily="18" charset="0"/>
                <a:cs typeface="Times New Roman" panose="02020603050405020304" pitchFamily="18" charset="0"/>
              </a:rPr>
              <a:t>dBase</a:t>
            </a:r>
            <a:r>
              <a:rPr lang="pt-BR" sz="2000" dirty="0">
                <a:latin typeface="Times New Roman" panose="02020603050405020304" pitchFamily="18" charset="0"/>
                <a:cs typeface="Times New Roman" panose="02020603050405020304" pitchFamily="18" charset="0"/>
              </a:rPr>
              <a:t>, o Delphi, o </a:t>
            </a:r>
            <a:r>
              <a:rPr lang="pt-BR" sz="2000" dirty="0" err="1">
                <a:latin typeface="Times New Roman" panose="02020603050405020304" pitchFamily="18" charset="0"/>
                <a:cs typeface="Times New Roman" panose="02020603050405020304" pitchFamily="18" charset="0"/>
              </a:rPr>
              <a:t>VisualBasic</a:t>
            </a:r>
            <a:r>
              <a:rPr lang="pt-BR" sz="2000" dirty="0">
                <a:latin typeface="Times New Roman" panose="02020603050405020304" pitchFamily="18" charset="0"/>
                <a:cs typeface="Times New Roman" panose="02020603050405020304" pitchFamily="18" charset="0"/>
              </a:rPr>
              <a:t>, PHP, Java, etc.</a:t>
            </a:r>
          </a:p>
        </p:txBody>
      </p:sp>
    </p:spTree>
    <p:extLst>
      <p:ext uri="{BB962C8B-B14F-4D97-AF65-F5344CB8AC3E}">
        <p14:creationId xmlns:p14="http://schemas.microsoft.com/office/powerpoint/2010/main" val="768419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3025BBD-1FE1-47EF-AE00-504B5ECCAB82}"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27</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467544" y="136524"/>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107504" y="476672"/>
            <a:ext cx="8542517" cy="188365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Convivemos com diversas formas de interface com o usuário: texto, semigráfica, gráfica, web, etc. Durante todo esse período houve muitos erros e acertos. O sucesso da informática é inexorável; a prova disso é que ela está em toda a parte.</a:t>
            </a:r>
          </a:p>
        </p:txBody>
      </p:sp>
    </p:spTree>
    <p:extLst>
      <p:ext uri="{BB962C8B-B14F-4D97-AF65-F5344CB8AC3E}">
        <p14:creationId xmlns:p14="http://schemas.microsoft.com/office/powerpoint/2010/main" val="1539410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594E8A7-4330-4C69-ADCB-AEF6B5778664}"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28</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470509" cy="280698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O uso da tecnologia da informação é visto pelas empresas não apenas como necessário para condução das tarefas, mas, como uma vantagem competitiva. Em contrapartida, tivemos também muitos casos de insucesso na implantação de sistemas, em que um enorme volume de recursos foi gasto sem que se houvesse um retorno econômico esperado. Não é tão raro presenciarmos cancelamentos de projetos nos quais já se investiram valores significativos.</a:t>
            </a:r>
          </a:p>
        </p:txBody>
      </p:sp>
    </p:spTree>
    <p:extLst>
      <p:ext uri="{BB962C8B-B14F-4D97-AF65-F5344CB8AC3E}">
        <p14:creationId xmlns:p14="http://schemas.microsoft.com/office/powerpoint/2010/main" val="2301551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5BBA003-813A-4996-B00E-8BA5D02093F5}"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29</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179512" y="0"/>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44841" y="461665"/>
            <a:ext cx="8470509" cy="188365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Diante desse mundo da TI, em que tudo é efêmero, vivenciamos situações em que sistemas de informação têm de ser substituídos, não porque suas funcionalidades não atendem aos processos de negócio, mas apenas porque estão defasados tecnologicamente.</a:t>
            </a:r>
          </a:p>
        </p:txBody>
      </p:sp>
    </p:spTree>
    <p:extLst>
      <p:ext uri="{BB962C8B-B14F-4D97-AF65-F5344CB8AC3E}">
        <p14:creationId xmlns:p14="http://schemas.microsoft.com/office/powerpoint/2010/main" val="3195034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C304B70-7B06-484E-AA21-DF76DA5326D7}"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30</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470509" cy="234532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Isso leva à reconstrução de sistemas inteiros, trocando o ambiente de desenvolvimento, reescrevendo todos os programas para obter um novo resultado final, em um novo paradigma tecnológico. Mudanças tecnológicas normalmente levam a mudanças da metodologia de desenvolvimento de sistemas, pois, cada uma delas é mais adequada a um determinado arcabouço tecnológico.</a:t>
            </a:r>
          </a:p>
        </p:txBody>
      </p:sp>
    </p:spTree>
    <p:extLst>
      <p:ext uri="{BB962C8B-B14F-4D97-AF65-F5344CB8AC3E}">
        <p14:creationId xmlns:p14="http://schemas.microsoft.com/office/powerpoint/2010/main" val="578071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30E5CE8-FF80-4984-AED1-088D0560BC0D}"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31</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326493" cy="234532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Entretanto, diante de tudo isso, podemos observar, que independe da arquitetura utilizada na construção da solução: sistema multiusuário, cliente-servidor ou em camadas. Ou ainda, no tocante à interface do front-</a:t>
            </a:r>
            <a:r>
              <a:rPr lang="pt-BR" sz="2000" dirty="0" err="1">
                <a:latin typeface="Times New Roman" panose="02020603050405020304" pitchFamily="18" charset="0"/>
                <a:cs typeface="Times New Roman" panose="02020603050405020304" pitchFamily="18" charset="0"/>
              </a:rPr>
              <a:t>end</a:t>
            </a:r>
            <a:r>
              <a:rPr lang="pt-BR" sz="2000" dirty="0">
                <a:latin typeface="Times New Roman" panose="02020603050405020304" pitchFamily="18" charset="0"/>
                <a:cs typeface="Times New Roman" panose="02020603050405020304" pitchFamily="18" charset="0"/>
              </a:rPr>
              <a:t>: texto, gráfico ou web. O fato é que, desde a década de 1970, os bancos de dados estão aí como solução de repositório de dados e informações</a:t>
            </a:r>
          </a:p>
        </p:txBody>
      </p:sp>
    </p:spTree>
    <p:extLst>
      <p:ext uri="{BB962C8B-B14F-4D97-AF65-F5344CB8AC3E}">
        <p14:creationId xmlns:p14="http://schemas.microsoft.com/office/powerpoint/2010/main" val="3975032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14AB634-86EE-4CC3-87B7-D77676385AEC}"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32</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398501" cy="234532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Eles </a:t>
            </a:r>
            <a:r>
              <a:rPr lang="pt-BR" sz="2000" b="1" dirty="0">
                <a:latin typeface="Times New Roman" panose="02020603050405020304" pitchFamily="18" charset="0"/>
                <a:cs typeface="Times New Roman" panose="02020603050405020304" pitchFamily="18" charset="0"/>
              </a:rPr>
              <a:t>garantem integridade</a:t>
            </a:r>
            <a:r>
              <a:rPr lang="pt-BR" sz="2000" dirty="0">
                <a:latin typeface="Times New Roman" panose="02020603050405020304" pitchFamily="18" charset="0"/>
                <a:cs typeface="Times New Roman" panose="02020603050405020304" pitchFamily="18" charset="0"/>
              </a:rPr>
              <a:t>, </a:t>
            </a:r>
            <a:r>
              <a:rPr lang="pt-BR" sz="2000" b="1" dirty="0">
                <a:latin typeface="Times New Roman" panose="02020603050405020304" pitchFamily="18" charset="0"/>
                <a:cs typeface="Times New Roman" panose="02020603050405020304" pitchFamily="18" charset="0"/>
              </a:rPr>
              <a:t>segurança</a:t>
            </a:r>
            <a:r>
              <a:rPr lang="pt-BR" sz="2000" dirty="0">
                <a:latin typeface="Times New Roman" panose="02020603050405020304" pitchFamily="18" charset="0"/>
                <a:cs typeface="Times New Roman" panose="02020603050405020304" pitchFamily="18" charset="0"/>
              </a:rPr>
              <a:t>, </a:t>
            </a:r>
            <a:r>
              <a:rPr lang="pt-BR" sz="2000" b="1" dirty="0">
                <a:latin typeface="Times New Roman" panose="02020603050405020304" pitchFamily="18" charset="0"/>
                <a:cs typeface="Times New Roman" panose="02020603050405020304" pitchFamily="18" charset="0"/>
              </a:rPr>
              <a:t>confiabilidade</a:t>
            </a:r>
            <a:r>
              <a:rPr lang="pt-BR" sz="2000" dirty="0">
                <a:latin typeface="Times New Roman" panose="02020603050405020304" pitchFamily="18" charset="0"/>
                <a:cs typeface="Times New Roman" panose="02020603050405020304" pitchFamily="18" charset="0"/>
              </a:rPr>
              <a:t>, etc. Dessa forma, podemos afirmar sem medo de estarmos cometendo algum equívoco, que a parte mais estável no tocante às tecnologias que envolvem as soluções de TI está relacionado com os dados e com a forma em que eles são armazenados e disponibilizados.</a:t>
            </a:r>
          </a:p>
        </p:txBody>
      </p:sp>
    </p:spTree>
    <p:extLst>
      <p:ext uri="{BB962C8B-B14F-4D97-AF65-F5344CB8AC3E}">
        <p14:creationId xmlns:p14="http://schemas.microsoft.com/office/powerpoint/2010/main" val="56127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79CDCA6-FA68-4F0A-92CF-F71D58D7D1A6}"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33</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165387" cy="2138534"/>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A seguir apresentaremos mais alguns argumentos de que a partir do entendimento do problema, uma boa forma de propor uma solução é tomar como base a elaboração de um modelo de </a:t>
            </a:r>
            <a:r>
              <a:rPr lang="pt-BR" sz="2400" b="1" i="1" dirty="0">
                <a:latin typeface="Times New Roman" panose="02020603050405020304" pitchFamily="18" charset="0"/>
                <a:cs typeface="Times New Roman" panose="02020603050405020304" pitchFamily="18" charset="0"/>
              </a:rPr>
              <a:t>persistência</a:t>
            </a:r>
            <a:r>
              <a:rPr lang="pt-BR" sz="2000" dirty="0">
                <a:latin typeface="Times New Roman" panose="02020603050405020304" pitchFamily="18" charset="0"/>
                <a:cs typeface="Times New Roman" panose="02020603050405020304" pitchFamily="18" charset="0"/>
              </a:rPr>
              <a:t> de dados com grande riqueza </a:t>
            </a:r>
            <a:r>
              <a:rPr lang="pt-BR" sz="2400" b="1" i="1" dirty="0">
                <a:latin typeface="Times New Roman" panose="02020603050405020304" pitchFamily="18" charset="0"/>
                <a:cs typeface="Times New Roman" panose="02020603050405020304" pitchFamily="18" charset="0"/>
              </a:rPr>
              <a:t>semântica</a:t>
            </a:r>
            <a:r>
              <a:rPr lang="pt-B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35614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CF42E93-0BD4-4E97-A4C4-CC8E639303B4}"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34</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382739"/>
            <a:ext cx="8542517" cy="1514325"/>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a:t>
            </a:r>
            <a:r>
              <a:rPr lang="pt-BR" sz="2400" b="1" dirty="0">
                <a:latin typeface="Times New Roman" panose="02020603050405020304" pitchFamily="18" charset="0"/>
                <a:cs typeface="Times New Roman" panose="02020603050405020304" pitchFamily="18" charset="0"/>
              </a:rPr>
              <a:t>Persistência</a:t>
            </a:r>
            <a:endParaRPr lang="pt-BR" sz="2000" b="1" dirty="0">
              <a:latin typeface="Times New Roman" panose="02020603050405020304" pitchFamily="18" charset="0"/>
              <a:cs typeface="Times New Roman" panose="02020603050405020304" pitchFamily="18" charset="0"/>
            </a:endParaRPr>
          </a:p>
          <a:p>
            <a:pPr algn="just">
              <a:lnSpc>
                <a:spcPct val="150000"/>
              </a:lnSpc>
            </a:pPr>
            <a:r>
              <a:rPr lang="pt-BR" sz="2000" dirty="0">
                <a:latin typeface="Times New Roman" panose="02020603050405020304" pitchFamily="18" charset="0"/>
                <a:cs typeface="Times New Roman" panose="02020603050405020304" pitchFamily="18" charset="0"/>
              </a:rPr>
              <a:t>Nesse contexto, está relacionada à garantia de permanência ou gravação dos dados em um meio seguro.</a:t>
            </a:r>
          </a:p>
        </p:txBody>
      </p:sp>
      <p:pic>
        <p:nvPicPr>
          <p:cNvPr id="7" name="Gráfico 6" descr="Alvo">
            <a:extLst>
              <a:ext uri="{FF2B5EF4-FFF2-40B4-BE49-F238E27FC236}">
                <a16:creationId xmlns:a16="http://schemas.microsoft.com/office/drawing/2014/main" id="{B6659EF5-5265-47C1-B2E7-474B3D7CD8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7134" y="903571"/>
            <a:ext cx="914400" cy="914400"/>
          </a:xfrm>
          <a:prstGeom prst="rect">
            <a:avLst/>
          </a:prstGeom>
        </p:spPr>
      </p:pic>
    </p:spTree>
    <p:extLst>
      <p:ext uri="{BB962C8B-B14F-4D97-AF65-F5344CB8AC3E}">
        <p14:creationId xmlns:p14="http://schemas.microsoft.com/office/powerpoint/2010/main" val="2058726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24CA8CA-C58C-4CEA-A6CA-0140402A6CCA}"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35</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196752"/>
            <a:ext cx="8542517" cy="2437655"/>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a:t>
            </a:r>
            <a:r>
              <a:rPr lang="pt-BR" sz="2400" b="1" dirty="0">
                <a:latin typeface="Times New Roman" panose="02020603050405020304" pitchFamily="18" charset="0"/>
                <a:cs typeface="Times New Roman" panose="02020603050405020304" pitchFamily="18" charset="0"/>
              </a:rPr>
              <a:t>Semântica</a:t>
            </a:r>
            <a:endParaRPr lang="pt-BR" sz="2000" b="1" dirty="0">
              <a:latin typeface="Times New Roman" panose="02020603050405020304" pitchFamily="18" charset="0"/>
              <a:cs typeface="Times New Roman" panose="02020603050405020304" pitchFamily="18" charset="0"/>
            </a:endParaRPr>
          </a:p>
          <a:p>
            <a:pPr algn="just">
              <a:lnSpc>
                <a:spcPct val="150000"/>
              </a:lnSpc>
            </a:pPr>
            <a:r>
              <a:rPr lang="pt-BR" sz="2000" dirty="0">
                <a:latin typeface="Times New Roman" panose="02020603050405020304" pitchFamily="18" charset="0"/>
                <a:cs typeface="Times New Roman" panose="02020603050405020304" pitchFamily="18" charset="0"/>
              </a:rPr>
              <a:t>	Nesse contexto, está relacionada a levar para o banco de dados informações a respeito do significado dos dados armazenados. </a:t>
            </a:r>
          </a:p>
          <a:p>
            <a:pPr algn="just">
              <a:lnSpc>
                <a:spcPct val="150000"/>
              </a:lnSpc>
            </a:pPr>
            <a:r>
              <a:rPr lang="pt-BR" sz="2000" dirty="0">
                <a:latin typeface="Times New Roman" panose="02020603050405020304" pitchFamily="18" charset="0"/>
                <a:cs typeface="Times New Roman" panose="02020603050405020304" pitchFamily="18" charset="0"/>
              </a:rPr>
              <a:t>	Ex.: garantir que no campo com informações sobre o CPF do cliente só aceite dados referentes à um CPF válido.</a:t>
            </a:r>
          </a:p>
        </p:txBody>
      </p:sp>
      <p:pic>
        <p:nvPicPr>
          <p:cNvPr id="8" name="Gráfico 7" descr="Alvo">
            <a:extLst>
              <a:ext uri="{FF2B5EF4-FFF2-40B4-BE49-F238E27FC236}">
                <a16:creationId xmlns:a16="http://schemas.microsoft.com/office/drawing/2014/main" id="{E6088A5C-A8F1-4D5E-9ED7-063C514C34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7134" y="903571"/>
            <a:ext cx="914400" cy="914400"/>
          </a:xfrm>
          <a:prstGeom prst="rect">
            <a:avLst/>
          </a:prstGeom>
        </p:spPr>
      </p:pic>
    </p:spTree>
    <p:extLst>
      <p:ext uri="{BB962C8B-B14F-4D97-AF65-F5344CB8AC3E}">
        <p14:creationId xmlns:p14="http://schemas.microsoft.com/office/powerpoint/2010/main" val="864574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7F6F651-D412-440E-95D0-B7553F1FAD01}"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36</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519204"/>
            <a:ext cx="8542517" cy="188365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O dado é a origem da informação. Muitas das vezes não é possível, independentemente da tecnologia, alterar programas para obter uma informação desejada. Ou seja, armazenando apenas o todo não é possível conhecer as partes que o compõem.</a:t>
            </a:r>
          </a:p>
        </p:txBody>
      </p:sp>
      <p:pic>
        <p:nvPicPr>
          <p:cNvPr id="5122" name="Picture 2" descr="Engenharia de Dados — EL, ETL e ELT | by Lucas Magnum | Medium">
            <a:extLst>
              <a:ext uri="{FF2B5EF4-FFF2-40B4-BE49-F238E27FC236}">
                <a16:creationId xmlns:a16="http://schemas.microsoft.com/office/drawing/2014/main" id="{D242A268-7874-0C32-C5BB-12634AB75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464268"/>
            <a:ext cx="5263976" cy="2729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2262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84002D8-7F9B-449C-A7F3-8BDBC2B0C18E}"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37</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395536" y="260648"/>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179512" y="764704"/>
            <a:ext cx="8470509" cy="1883657"/>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O dado é a infraestrutura do sistema e está por baixo da estrutura. Ele suporta a estrutura. Portanto, mexer na forma de armazenar os dados impacta toda a estrutura. O mesmo não é sempre verdade quando temos mudança na regra de negócio contida nos programas ou na forma visual da interface.</a:t>
            </a:r>
          </a:p>
        </p:txBody>
      </p:sp>
      <p:pic>
        <p:nvPicPr>
          <p:cNvPr id="6146" name="Picture 2" descr="Big Data: o que é, para que serve e exemplos de uso">
            <a:extLst>
              <a:ext uri="{FF2B5EF4-FFF2-40B4-BE49-F238E27FC236}">
                <a16:creationId xmlns:a16="http://schemas.microsoft.com/office/drawing/2014/main" id="{DE1FBE9D-EBCA-5B61-6421-6823E9008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093" y="3160486"/>
            <a:ext cx="4785345" cy="3186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837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A924BF0-99AD-4553-BCEF-DA4027F67028}"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38</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519204"/>
            <a:ext cx="8470509" cy="234532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Normalmente, as falhas de normalização irão gerar esforço de programação a fim de evitar inconsistência dos dados.</a:t>
            </a:r>
          </a:p>
          <a:p>
            <a:pPr marL="342900" indent="-342900" algn="just">
              <a:lnSpc>
                <a:spcPct val="150000"/>
              </a:lnSpc>
              <a:buFont typeface="Arial" panose="020B0604020202020204" pitchFamily="34" charset="0"/>
              <a:buChar char="•"/>
            </a:pPr>
            <a:endParaRPr lang="pt-BR" sz="2000" dirty="0">
              <a:latin typeface="Times New Roman" panose="02020603050405020304" pitchFamily="18" charset="0"/>
              <a:cs typeface="Times New Roman" panose="02020603050405020304" pitchFamily="18" charset="0"/>
            </a:endParaRPr>
          </a:p>
          <a:p>
            <a:pPr algn="just">
              <a:lnSpc>
                <a:spcPct val="150000"/>
              </a:lnSpc>
            </a:pPr>
            <a:r>
              <a:rPr lang="pt-BR" sz="2000" dirty="0">
                <a:latin typeface="Times New Roman" panose="02020603050405020304" pitchFamily="18" charset="0"/>
                <a:cs typeface="Times New Roman" panose="02020603050405020304" pitchFamily="18" charset="0"/>
              </a:rPr>
              <a:t>Definir semântica no modelo de dados reduz a quantidade necessária de código- fonte a ser escrito no programa aplicativo.</a:t>
            </a:r>
          </a:p>
        </p:txBody>
      </p:sp>
    </p:spTree>
    <p:extLst>
      <p:ext uri="{BB962C8B-B14F-4D97-AF65-F5344CB8AC3E}">
        <p14:creationId xmlns:p14="http://schemas.microsoft.com/office/powerpoint/2010/main" val="1310577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D5A04E6-2524-4DF2-A84F-B4AE18EFDB68}"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39</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519204"/>
            <a:ext cx="8398501" cy="1421992"/>
          </a:xfrm>
          <a:prstGeom prst="rect">
            <a:avLst/>
          </a:prstGeom>
        </p:spPr>
        <p:txBody>
          <a:bodyPr wrap="square">
            <a:spAutoFit/>
          </a:bodyPr>
          <a:lstStyle/>
          <a:p>
            <a:pPr algn="just">
              <a:lnSpc>
                <a:spcPct val="150000"/>
              </a:lnSpc>
            </a:pPr>
            <a:r>
              <a:rPr lang="pt-BR" sz="2000" dirty="0">
                <a:latin typeface="Times New Roman" panose="02020603050405020304" pitchFamily="18" charset="0"/>
                <a:cs typeface="Times New Roman" panose="02020603050405020304" pitchFamily="18" charset="0"/>
              </a:rPr>
              <a:t>	Embutir regras de negócio no banco de dados melhora o desempenho do sistema, garante a unicidade do código, além de simplificar o programa de aplicação e criar maior independência da interface e do aplicativo.</a:t>
            </a:r>
          </a:p>
        </p:txBody>
      </p:sp>
    </p:spTree>
    <p:extLst>
      <p:ext uri="{BB962C8B-B14F-4D97-AF65-F5344CB8AC3E}">
        <p14:creationId xmlns:p14="http://schemas.microsoft.com/office/powerpoint/2010/main" val="15765829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34505E-1189-473E-8E69-92A73562DFC0}"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40</a:t>
            </a:fld>
            <a:endParaRPr lang="pt-BR"/>
          </a:p>
        </p:txBody>
      </p:sp>
      <p:sp>
        <p:nvSpPr>
          <p:cNvPr id="5" name="Retângulo 4">
            <a:extLst>
              <a:ext uri="{FF2B5EF4-FFF2-40B4-BE49-F238E27FC236}">
                <a16:creationId xmlns:a16="http://schemas.microsoft.com/office/drawing/2014/main" id="{9618C282-065D-4415-B259-52CA3C899FC7}"/>
              </a:ext>
            </a:extLst>
          </p:cNvPr>
          <p:cNvSpPr/>
          <p:nvPr/>
        </p:nvSpPr>
        <p:spPr>
          <a:xfrm>
            <a:off x="555328" y="692696"/>
            <a:ext cx="6480720" cy="461665"/>
          </a:xfrm>
          <a:prstGeom prst="rect">
            <a:avLst/>
          </a:prstGeom>
        </p:spPr>
        <p:txBody>
          <a:bodyPr wrap="square">
            <a:spAutoFit/>
          </a:bodyPr>
          <a:lstStyle/>
          <a:p>
            <a:r>
              <a:rPr lang="pt-BR" sz="2400" b="1" dirty="0">
                <a:latin typeface="Times New Roman" panose="02020603050405020304" pitchFamily="18" charset="0"/>
                <a:cs typeface="Times New Roman" panose="02020603050405020304" pitchFamily="18" charset="0"/>
              </a:rPr>
              <a:t>1.2.1 Por que devemos modelar dados?</a:t>
            </a:r>
            <a:endParaRPr lang="pt-BR" sz="2400"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39DABD13-A865-4486-B190-9DD958D9AE13}"/>
              </a:ext>
            </a:extLst>
          </p:cNvPr>
          <p:cNvSpPr/>
          <p:nvPr/>
        </p:nvSpPr>
        <p:spPr>
          <a:xfrm>
            <a:off x="349962" y="1519204"/>
            <a:ext cx="8165387" cy="2570704"/>
          </a:xfrm>
          <a:prstGeom prst="rect">
            <a:avLst/>
          </a:prstGeom>
        </p:spPr>
        <p:txBody>
          <a:bodyPr wrap="square">
            <a:spAutoFit/>
          </a:bodyPr>
          <a:lstStyle/>
          <a:p>
            <a:pPr algn="just">
              <a:lnSpc>
                <a:spcPct val="150000"/>
              </a:lnSpc>
            </a:pPr>
            <a:r>
              <a:rPr lang="pt-BR" sz="2200" dirty="0">
                <a:latin typeface="Times New Roman" panose="02020603050405020304" pitchFamily="18" charset="0"/>
                <a:cs typeface="Times New Roman" panose="02020603050405020304" pitchFamily="18" charset="0"/>
              </a:rPr>
              <a:t>	Mas, como nem tudo são louros, obviamente, utilizar o banco de dados em sua plenitude aumenta o grau de dificuldade na sua administração, entretanto, de uma forma bastante controlada e justificável. Por fim, o trabalho é menor e o resultado será sempre melhor.</a:t>
            </a:r>
          </a:p>
        </p:txBody>
      </p:sp>
    </p:spTree>
    <p:extLst>
      <p:ext uri="{BB962C8B-B14F-4D97-AF65-F5344CB8AC3E}">
        <p14:creationId xmlns:p14="http://schemas.microsoft.com/office/powerpoint/2010/main" val="2058016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34505E-1189-473E-8E69-92A73562DFC0}"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41</a:t>
            </a:fld>
            <a:endParaRPr lang="pt-BR"/>
          </a:p>
        </p:txBody>
      </p:sp>
      <p:sp>
        <p:nvSpPr>
          <p:cNvPr id="8" name="Retângulo 7">
            <a:extLst>
              <a:ext uri="{FF2B5EF4-FFF2-40B4-BE49-F238E27FC236}">
                <a16:creationId xmlns:a16="http://schemas.microsoft.com/office/drawing/2014/main" id="{72DB5591-550C-4B75-95ED-920203BCE96F}"/>
              </a:ext>
            </a:extLst>
          </p:cNvPr>
          <p:cNvSpPr/>
          <p:nvPr/>
        </p:nvSpPr>
        <p:spPr>
          <a:xfrm>
            <a:off x="575556" y="764704"/>
            <a:ext cx="7992888" cy="5671040"/>
          </a:xfrm>
          <a:prstGeom prst="rect">
            <a:avLst/>
          </a:prstGeom>
        </p:spPr>
        <p:txBody>
          <a:bodyPr wrap="square">
            <a:spAutoFit/>
          </a:bodyPr>
          <a:lstStyle/>
          <a:p>
            <a:pPr>
              <a:lnSpc>
                <a:spcPct val="107000"/>
              </a:lnSpc>
              <a:spcBef>
                <a:spcPts val="200"/>
              </a:spcBef>
              <a:spcAft>
                <a:spcPts val="0"/>
              </a:spcAft>
            </a:pPr>
            <a:r>
              <a:rPr lang="pt-BR"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Bibliografia Principal (disponível na biblioteca digital da Multivix)</a:t>
            </a: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PICHETTI, Roni F.; VIDA, </a:t>
            </a:r>
            <a:r>
              <a:rPr lang="pt-BR" dirty="0" err="1">
                <a:latin typeface="Calibri" panose="020F0502020204030204" pitchFamily="34" charset="0"/>
                <a:ea typeface="Calibri" panose="020F0502020204030204" pitchFamily="34" charset="0"/>
                <a:cs typeface="Times New Roman" panose="02020603050405020304" pitchFamily="18" charset="0"/>
              </a:rPr>
              <a:t>Edinilson</a:t>
            </a:r>
            <a:r>
              <a:rPr lang="pt-BR" dirty="0">
                <a:latin typeface="Calibri" panose="020F0502020204030204" pitchFamily="34" charset="0"/>
                <a:ea typeface="Calibri" panose="020F0502020204030204" pitchFamily="34" charset="0"/>
                <a:cs typeface="Times New Roman" panose="02020603050405020304" pitchFamily="18" charset="0"/>
              </a:rPr>
              <a:t> S.; CORTES, Vanessa S. M P. Banco de dados. Porto Alegre: Grupo A, 2021. E-book. ISBN 9786556900186. Disponível em: https://integrada.minhabiblioteca.com.br/#/books/9786556900186/. Acesso em: 12 ago. 2024.</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spcAft>
                <a:spcPts val="0"/>
              </a:spcAft>
            </a:pPr>
            <a:r>
              <a:rPr lang="pt-BR"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Bibliografia Básica</a:t>
            </a: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NAVATHE, S. B.; ELMASRI, R. Sistemas de Banco de Dados.6ªed. Pearson Brasil, 2011</a:t>
            </a: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ELMASRI, RAMEZ </a:t>
            </a:r>
            <a:r>
              <a:rPr lang="pt-BR" sz="1600" i="1" dirty="0">
                <a:latin typeface="Calibri" panose="020F0502020204030204" pitchFamily="34" charset="0"/>
                <a:ea typeface="Calibri" panose="020F0502020204030204" pitchFamily="34" charset="0"/>
                <a:cs typeface="Times New Roman" panose="02020603050405020304" pitchFamily="18" charset="0"/>
              </a:rPr>
              <a:t>et al</a:t>
            </a:r>
            <a:r>
              <a:rPr lang="pt-BR" sz="1600" dirty="0">
                <a:latin typeface="Calibri" panose="020F0502020204030204" pitchFamily="34" charset="0"/>
                <a:ea typeface="Calibri" panose="020F0502020204030204" pitchFamily="34" charset="0"/>
                <a:cs typeface="Times New Roman" panose="02020603050405020304" pitchFamily="18" charset="0"/>
              </a:rPr>
              <a:t>.; Sistemas de Banco de Dados; 6ªª Edição; Rio de Janeiro; LTC; 2011.</a:t>
            </a: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MACHADO, Felipe Nery Rodrigues. Banco de dados: projeto e implementação. São Paulo: Érica, 2004</a:t>
            </a: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77824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34505E-1189-473E-8E69-92A73562DFC0}"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42</a:t>
            </a:fld>
            <a:endParaRPr lang="pt-BR"/>
          </a:p>
        </p:txBody>
      </p:sp>
      <p:sp>
        <p:nvSpPr>
          <p:cNvPr id="8" name="Retângulo 7">
            <a:extLst>
              <a:ext uri="{FF2B5EF4-FFF2-40B4-BE49-F238E27FC236}">
                <a16:creationId xmlns:a16="http://schemas.microsoft.com/office/drawing/2014/main" id="{72DB5591-550C-4B75-95ED-920203BCE96F}"/>
              </a:ext>
            </a:extLst>
          </p:cNvPr>
          <p:cNvSpPr/>
          <p:nvPr/>
        </p:nvSpPr>
        <p:spPr>
          <a:xfrm>
            <a:off x="575556" y="764704"/>
            <a:ext cx="7992888" cy="5626733"/>
          </a:xfrm>
          <a:prstGeom prst="rect">
            <a:avLst/>
          </a:prstGeom>
        </p:spPr>
        <p:txBody>
          <a:bodyPr wrap="square">
            <a:spAutoFit/>
          </a:bodyPr>
          <a:lstStyle/>
          <a:p>
            <a:pPr>
              <a:lnSpc>
                <a:spcPct val="107000"/>
              </a:lnSpc>
              <a:spcBef>
                <a:spcPts val="200"/>
              </a:spcBef>
              <a:spcAft>
                <a:spcPts val="0"/>
              </a:spcAft>
            </a:pPr>
            <a:r>
              <a:rPr lang="pt-BR"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Bibliografia Complementar</a:t>
            </a:r>
          </a:p>
          <a:p>
            <a:pPr indent="450215" algn="just">
              <a:lnSpc>
                <a:spcPct val="107000"/>
              </a:lnSpc>
              <a:spcAft>
                <a:spcPts val="600"/>
              </a:spcAft>
            </a:pPr>
            <a:r>
              <a:rPr lang="pt-BR" sz="1400" dirty="0">
                <a:latin typeface="Calibri" panose="020F0502020204030204" pitchFamily="34" charset="0"/>
                <a:ea typeface="Calibri" panose="020F0502020204030204" pitchFamily="34" charset="0"/>
                <a:cs typeface="Times New Roman" panose="02020603050405020304" pitchFamily="18" charset="0"/>
              </a:rPr>
              <a:t>SILBERSCHATZ, Abraham; KORTH, Henry F.; SUDARSHAN, S. Sistema de banco de dados. 5.ed. Rio de Janeiro: Elsevier, 2006</a:t>
            </a:r>
          </a:p>
          <a:p>
            <a:pPr indent="450215" algn="just">
              <a:lnSpc>
                <a:spcPct val="107000"/>
              </a:lnSpc>
              <a:spcAft>
                <a:spcPts val="600"/>
              </a:spcAft>
            </a:pPr>
            <a:r>
              <a:rPr lang="pt-BR" sz="1400" dirty="0">
                <a:latin typeface="Calibri" panose="020F0502020204030204" pitchFamily="34" charset="0"/>
                <a:ea typeface="Calibri" panose="020F0502020204030204" pitchFamily="34" charset="0"/>
                <a:cs typeface="Times New Roman" panose="02020603050405020304" pitchFamily="18" charset="0"/>
              </a:rPr>
              <a:t>KORTH, H. et al. Sistemas de Banco de Dados. 3ª Edição. Makron Books.1999.</a:t>
            </a:r>
          </a:p>
          <a:p>
            <a:pPr indent="450215" algn="just">
              <a:lnSpc>
                <a:spcPct val="107000"/>
              </a:lnSpc>
              <a:spcAft>
                <a:spcPts val="600"/>
              </a:spcAft>
            </a:pPr>
            <a:r>
              <a:rPr lang="pt-BR" sz="1400" dirty="0">
                <a:latin typeface="Calibri" panose="020F0502020204030204" pitchFamily="34" charset="0"/>
                <a:ea typeface="Calibri" panose="020F0502020204030204" pitchFamily="34" charset="0"/>
                <a:cs typeface="Times New Roman" panose="02020603050405020304" pitchFamily="18" charset="0"/>
              </a:rPr>
              <a:t>ELMASRI, Ramez. Sistemas de banco de dados. </a:t>
            </a:r>
            <a:r>
              <a:rPr lang="en-US" sz="1400" dirty="0">
                <a:latin typeface="Calibri" panose="020F0502020204030204" pitchFamily="34" charset="0"/>
                <a:ea typeface="Calibri" panose="020F0502020204030204" pitchFamily="34" charset="0"/>
                <a:cs typeface="Times New Roman" panose="02020603050405020304" pitchFamily="18" charset="0"/>
              </a:rPr>
              <a:t>6.ed. São Paulo: Pearson Addison Wesley, 2011</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400" dirty="0">
                <a:latin typeface="Calibri" panose="020F0502020204030204" pitchFamily="34" charset="0"/>
                <a:ea typeface="Calibri" panose="020F0502020204030204" pitchFamily="34" charset="0"/>
                <a:cs typeface="Times New Roman" panose="02020603050405020304" pitchFamily="18" charset="0"/>
              </a:rPr>
              <a:t>SETZER, Valdemar W. Bancos de dados: conceitos, modelos, gerenciadores, projeto lógico, projeto físico. 3.ed. São Paulo: Edgard </a:t>
            </a:r>
            <a:r>
              <a:rPr lang="pt-BR" sz="1400" dirty="0" err="1">
                <a:latin typeface="Calibri" panose="020F0502020204030204" pitchFamily="34" charset="0"/>
                <a:ea typeface="Calibri" panose="020F0502020204030204" pitchFamily="34" charset="0"/>
                <a:cs typeface="Times New Roman" panose="02020603050405020304" pitchFamily="18" charset="0"/>
              </a:rPr>
              <a:t>Blucher</a:t>
            </a:r>
            <a:r>
              <a:rPr lang="pt-BR" sz="1400" dirty="0">
                <a:latin typeface="Calibri" panose="020F0502020204030204" pitchFamily="34" charset="0"/>
                <a:ea typeface="Calibri" panose="020F0502020204030204" pitchFamily="34" charset="0"/>
                <a:cs typeface="Times New Roman" panose="02020603050405020304" pitchFamily="18" charset="0"/>
              </a:rPr>
              <a:t>, 1999</a:t>
            </a:r>
          </a:p>
          <a:p>
            <a:pPr indent="450215" algn="just">
              <a:lnSpc>
                <a:spcPct val="107000"/>
              </a:lnSpc>
              <a:spcAft>
                <a:spcPts val="600"/>
              </a:spcAft>
            </a:pPr>
            <a:r>
              <a:rPr lang="pt-BR" sz="1400" dirty="0">
                <a:latin typeface="Calibri" panose="020F0502020204030204" pitchFamily="34" charset="0"/>
                <a:ea typeface="Calibri" panose="020F0502020204030204" pitchFamily="34" charset="0"/>
                <a:cs typeface="Times New Roman" panose="02020603050405020304" pitchFamily="18" charset="0"/>
              </a:rPr>
              <a:t>DATE, C.J. Introdução a sistemas de bancos de dados. Rio de Janeiro: Elsevier, 2000</a:t>
            </a: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HIRAMA, </a:t>
            </a:r>
            <a:r>
              <a:rPr lang="pt-BR" sz="1600" dirty="0" err="1">
                <a:latin typeface="Calibri" panose="020F0502020204030204" pitchFamily="34" charset="0"/>
                <a:ea typeface="Calibri" panose="020F0502020204030204" pitchFamily="34" charset="0"/>
                <a:cs typeface="Times New Roman" panose="02020603050405020304" pitchFamily="18" charset="0"/>
              </a:rPr>
              <a:t>Kechi</a:t>
            </a:r>
            <a:r>
              <a:rPr lang="pt-BR" sz="1600" dirty="0">
                <a:latin typeface="Calibri" panose="020F0502020204030204" pitchFamily="34" charset="0"/>
                <a:ea typeface="Calibri" panose="020F0502020204030204" pitchFamily="34" charset="0"/>
                <a:cs typeface="Times New Roman" panose="02020603050405020304" pitchFamily="18" charset="0"/>
              </a:rPr>
              <a:t>. Engenharia de software: qualidade e produtividade com tecnologia. Rio de Janeiro: GEN LTC, 2011. Livro digital. (1 recurso online). ISBN 9788595155404. Disponível em: https://integrada.minhabiblioteca.com.br/books/9788595155404.</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SBROCCO, José Henrique Teixeira de Carvalho; MACEDO, Paulo Cesar de. Metodologias ágeis: engenharia de software sob medida. São Paulo: Érica, 2012. Livro digital. (1 recurso online). ISBN 9788536519418. Disponível em: </a:t>
            </a:r>
            <a:r>
              <a:rPr lang="pt-BR" sz="16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https://integrada.minhabiblioteca.com.br/books/9788536519418</a:t>
            </a:r>
            <a:r>
              <a:rPr lang="pt-BR" sz="1600" dirty="0">
                <a:latin typeface="Calibri" panose="020F0502020204030204" pitchFamily="34" charset="0"/>
                <a:ea typeface="Calibri" panose="020F0502020204030204" pitchFamily="34" charset="0"/>
                <a:cs typeface="Times New Roman" panose="02020603050405020304" pitchFamily="18" charset="0"/>
              </a:rPr>
              <a:t>.</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2664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34505E-1189-473E-8E69-92A73562DFC0}" type="datetime1">
              <a:rPr lang="pt-BR" smtClean="0"/>
              <a:t>03/08/2026</a:t>
            </a:fld>
            <a:endParaRPr lang="pt-BR"/>
          </a:p>
        </p:txBody>
      </p:sp>
      <p:sp>
        <p:nvSpPr>
          <p:cNvPr id="4" name="Espaço Reservado para Rodapé 3"/>
          <p:cNvSpPr>
            <a:spLocks noGrp="1"/>
          </p:cNvSpPr>
          <p:nvPr>
            <p:ph type="ftr" sz="quarter" idx="11"/>
          </p:nvPr>
        </p:nvSpPr>
        <p:spPr/>
        <p:txBody>
          <a:bodyPr/>
          <a:lstStyle/>
          <a:p>
            <a:r>
              <a:rPr lang="pt-BR"/>
              <a:t>Professor MSc. Elionai Magalhães</a:t>
            </a: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pPr/>
              <a:t>43</a:t>
            </a:fld>
            <a:endParaRPr lang="pt-BR"/>
          </a:p>
        </p:txBody>
      </p:sp>
      <p:sp>
        <p:nvSpPr>
          <p:cNvPr id="8" name="Retângulo 7">
            <a:extLst>
              <a:ext uri="{FF2B5EF4-FFF2-40B4-BE49-F238E27FC236}">
                <a16:creationId xmlns:a16="http://schemas.microsoft.com/office/drawing/2014/main" id="{72DB5591-550C-4B75-95ED-920203BCE96F}"/>
              </a:ext>
            </a:extLst>
          </p:cNvPr>
          <p:cNvSpPr/>
          <p:nvPr/>
        </p:nvSpPr>
        <p:spPr>
          <a:xfrm>
            <a:off x="575556" y="275572"/>
            <a:ext cx="7992888" cy="6306855"/>
          </a:xfrm>
          <a:prstGeom prst="rect">
            <a:avLst/>
          </a:prstGeom>
        </p:spPr>
        <p:txBody>
          <a:bodyPr wrap="square">
            <a:spAutoFit/>
          </a:bodyPr>
          <a:lstStyle/>
          <a:p>
            <a:pPr>
              <a:lnSpc>
                <a:spcPct val="107000"/>
              </a:lnSpc>
              <a:spcBef>
                <a:spcPts val="200"/>
              </a:spcBef>
              <a:spcAft>
                <a:spcPts val="0"/>
              </a:spcAft>
            </a:pPr>
            <a:r>
              <a:rPr lang="pt-BR" sz="2000"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Leitura complementar</a:t>
            </a: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Clean </a:t>
            </a:r>
            <a:r>
              <a:rPr lang="pt-BR" dirty="0" err="1">
                <a:latin typeface="Calibri" panose="020F0502020204030204" pitchFamily="34" charset="0"/>
                <a:ea typeface="Calibri" panose="020F0502020204030204" pitchFamily="34" charset="0"/>
                <a:cs typeface="Times New Roman" panose="02020603050405020304" pitchFamily="18" charset="0"/>
              </a:rPr>
              <a:t>Code</a:t>
            </a:r>
            <a:r>
              <a:rPr lang="pt-BR" dirty="0">
                <a:latin typeface="Calibri" panose="020F0502020204030204" pitchFamily="34" charset="0"/>
                <a:ea typeface="Calibri" panose="020F0502020204030204" pitchFamily="34" charset="0"/>
                <a:cs typeface="Times New Roman" panose="02020603050405020304" pitchFamily="18" charset="0"/>
              </a:rPr>
              <a:t>: A </a:t>
            </a:r>
            <a:r>
              <a:rPr lang="pt-BR" dirty="0" err="1">
                <a:latin typeface="Calibri" panose="020F0502020204030204" pitchFamily="34" charset="0"/>
                <a:ea typeface="Calibri" panose="020F0502020204030204" pitchFamily="34" charset="0"/>
                <a:cs typeface="Times New Roman" panose="02020603050405020304" pitchFamily="18" charset="0"/>
              </a:rPr>
              <a:t>Handbook</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of</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Agile</a:t>
            </a:r>
            <a:r>
              <a:rPr lang="pt-BR" dirty="0">
                <a:latin typeface="Calibri" panose="020F0502020204030204" pitchFamily="34" charset="0"/>
                <a:ea typeface="Calibri" panose="020F0502020204030204" pitchFamily="34" charset="0"/>
                <a:cs typeface="Times New Roman" panose="02020603050405020304" pitchFamily="18" charset="0"/>
              </a:rPr>
              <a:t> Software </a:t>
            </a:r>
            <a:r>
              <a:rPr lang="pt-BR" dirty="0" err="1">
                <a:latin typeface="Calibri" panose="020F0502020204030204" pitchFamily="34" charset="0"/>
                <a:ea typeface="Calibri" panose="020F0502020204030204" pitchFamily="34" charset="0"/>
                <a:cs typeface="Times New Roman" panose="02020603050405020304" pitchFamily="18" charset="0"/>
              </a:rPr>
              <a:t>Craftsmanship</a:t>
            </a:r>
            <a:r>
              <a:rPr lang="pt-BR" dirty="0">
                <a:latin typeface="Calibri" panose="020F0502020204030204" pitchFamily="34" charset="0"/>
                <a:ea typeface="Calibri" panose="020F0502020204030204" pitchFamily="34" charset="0"/>
                <a:cs typeface="Times New Roman" panose="02020603050405020304" pitchFamily="18" charset="0"/>
              </a:rPr>
              <a:t> por Robert C. Martin - Um livro que explora boas práticas de codificação, focando na legibilidade, manutenibilidade e eficiência do código.</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Design </a:t>
            </a:r>
            <a:r>
              <a:rPr lang="pt-BR" dirty="0" err="1">
                <a:latin typeface="Calibri" panose="020F0502020204030204" pitchFamily="34" charset="0"/>
                <a:ea typeface="Calibri" panose="020F0502020204030204" pitchFamily="34" charset="0"/>
                <a:cs typeface="Times New Roman" panose="02020603050405020304" pitchFamily="18" charset="0"/>
              </a:rPr>
              <a:t>Patterns</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Elements</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of</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Reusable</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Object-Oriented</a:t>
            </a:r>
            <a:r>
              <a:rPr lang="pt-BR" dirty="0">
                <a:latin typeface="Calibri" panose="020F0502020204030204" pitchFamily="34" charset="0"/>
                <a:ea typeface="Calibri" panose="020F0502020204030204" pitchFamily="34" charset="0"/>
                <a:cs typeface="Times New Roman" panose="02020603050405020304" pitchFamily="18" charset="0"/>
              </a:rPr>
              <a:t> Software por Erich </a:t>
            </a:r>
            <a:r>
              <a:rPr lang="pt-BR" dirty="0" err="1">
                <a:latin typeface="Calibri" panose="020F0502020204030204" pitchFamily="34" charset="0"/>
                <a:ea typeface="Calibri" panose="020F0502020204030204" pitchFamily="34" charset="0"/>
                <a:cs typeface="Times New Roman" panose="02020603050405020304" pitchFamily="18" charset="0"/>
              </a:rPr>
              <a:t>Gamma</a:t>
            </a:r>
            <a:r>
              <a:rPr lang="pt-BR" dirty="0">
                <a:latin typeface="Calibri" panose="020F0502020204030204" pitchFamily="34" charset="0"/>
                <a:ea typeface="Calibri" panose="020F0502020204030204" pitchFamily="34" charset="0"/>
                <a:cs typeface="Times New Roman" panose="02020603050405020304" pitchFamily="18" charset="0"/>
              </a:rPr>
              <a:t>, Richard </a:t>
            </a:r>
            <a:r>
              <a:rPr lang="pt-BR" dirty="0" err="1">
                <a:latin typeface="Calibri" panose="020F0502020204030204" pitchFamily="34" charset="0"/>
                <a:ea typeface="Calibri" panose="020F0502020204030204" pitchFamily="34" charset="0"/>
                <a:cs typeface="Times New Roman" panose="02020603050405020304" pitchFamily="18" charset="0"/>
              </a:rPr>
              <a:t>Helm</a:t>
            </a:r>
            <a:r>
              <a:rPr lang="pt-BR" dirty="0">
                <a:latin typeface="Calibri" panose="020F0502020204030204" pitchFamily="34" charset="0"/>
                <a:ea typeface="Calibri" panose="020F0502020204030204" pitchFamily="34" charset="0"/>
                <a:cs typeface="Times New Roman" panose="02020603050405020304" pitchFamily="18" charset="0"/>
              </a:rPr>
              <a:t>, Ralph Johnson, John </a:t>
            </a:r>
            <a:r>
              <a:rPr lang="pt-BR" dirty="0" err="1">
                <a:latin typeface="Calibri" panose="020F0502020204030204" pitchFamily="34" charset="0"/>
                <a:ea typeface="Calibri" panose="020F0502020204030204" pitchFamily="34" charset="0"/>
                <a:cs typeface="Times New Roman" panose="02020603050405020304" pitchFamily="18" charset="0"/>
              </a:rPr>
              <a:t>Vlissides</a:t>
            </a:r>
            <a:r>
              <a:rPr lang="pt-BR" dirty="0">
                <a:latin typeface="Calibri" panose="020F0502020204030204" pitchFamily="34" charset="0"/>
                <a:ea typeface="Calibri" panose="020F0502020204030204" pitchFamily="34" charset="0"/>
                <a:cs typeface="Times New Roman" panose="02020603050405020304" pitchFamily="18" charset="0"/>
              </a:rPr>
              <a:t> (conhecidos como "Gang </a:t>
            </a:r>
            <a:r>
              <a:rPr lang="pt-BR" dirty="0" err="1">
                <a:latin typeface="Calibri" panose="020F0502020204030204" pitchFamily="34" charset="0"/>
                <a:ea typeface="Calibri" panose="020F0502020204030204" pitchFamily="34" charset="0"/>
                <a:cs typeface="Times New Roman" panose="02020603050405020304" pitchFamily="18" charset="0"/>
              </a:rPr>
              <a:t>of</a:t>
            </a:r>
            <a:r>
              <a:rPr lang="pt-BR" dirty="0">
                <a:latin typeface="Calibri" panose="020F0502020204030204" pitchFamily="34" charset="0"/>
                <a:ea typeface="Calibri" panose="020F0502020204030204" pitchFamily="34" charset="0"/>
                <a:cs typeface="Times New Roman" panose="02020603050405020304" pitchFamily="18" charset="0"/>
              </a:rPr>
              <a:t> Four") - Introduz padrões de projeto comuns para melhorar o design de software.</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err="1">
                <a:latin typeface="Calibri" panose="020F0502020204030204" pitchFamily="34" charset="0"/>
                <a:ea typeface="Calibri" panose="020F0502020204030204" pitchFamily="34" charset="0"/>
                <a:cs typeface="Times New Roman" panose="02020603050405020304" pitchFamily="18" charset="0"/>
              </a:rPr>
              <a:t>Refactoring</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Improving</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the</a:t>
            </a:r>
            <a:r>
              <a:rPr lang="pt-BR" dirty="0">
                <a:latin typeface="Calibri" panose="020F0502020204030204" pitchFamily="34" charset="0"/>
                <a:ea typeface="Calibri" panose="020F0502020204030204" pitchFamily="34" charset="0"/>
                <a:cs typeface="Times New Roman" panose="02020603050405020304" pitchFamily="18" charset="0"/>
              </a:rPr>
              <a:t> Design </a:t>
            </a:r>
            <a:r>
              <a:rPr lang="pt-BR" dirty="0" err="1">
                <a:latin typeface="Calibri" panose="020F0502020204030204" pitchFamily="34" charset="0"/>
                <a:ea typeface="Calibri" panose="020F0502020204030204" pitchFamily="34" charset="0"/>
                <a:cs typeface="Times New Roman" panose="02020603050405020304" pitchFamily="18" charset="0"/>
              </a:rPr>
              <a:t>of</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Existing</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Code</a:t>
            </a:r>
            <a:r>
              <a:rPr lang="pt-BR" dirty="0">
                <a:latin typeface="Calibri" panose="020F0502020204030204" pitchFamily="34" charset="0"/>
                <a:ea typeface="Calibri" panose="020F0502020204030204" pitchFamily="34" charset="0"/>
                <a:cs typeface="Times New Roman" panose="02020603050405020304" pitchFamily="18" charset="0"/>
              </a:rPr>
              <a:t> por Martin Fowler - Explora técnicas de </a:t>
            </a:r>
            <a:r>
              <a:rPr lang="pt-BR" dirty="0" err="1">
                <a:latin typeface="Calibri" panose="020F0502020204030204" pitchFamily="34" charset="0"/>
                <a:ea typeface="Calibri" panose="020F0502020204030204" pitchFamily="34" charset="0"/>
                <a:cs typeface="Times New Roman" panose="02020603050405020304" pitchFamily="18" charset="0"/>
              </a:rPr>
              <a:t>refatoração</a:t>
            </a:r>
            <a:r>
              <a:rPr lang="pt-BR" dirty="0">
                <a:latin typeface="Calibri" panose="020F0502020204030204" pitchFamily="34" charset="0"/>
                <a:ea typeface="Calibri" panose="020F0502020204030204" pitchFamily="34" charset="0"/>
                <a:cs typeface="Times New Roman" panose="02020603050405020304" pitchFamily="18" charset="0"/>
              </a:rPr>
              <a:t>, ou seja, aprimoramento gradual do código existente para melhorar sua estrutura e manutenibilidade.</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dirty="0">
                <a:latin typeface="Calibri" panose="020F0502020204030204" pitchFamily="34" charset="0"/>
                <a:ea typeface="Calibri" panose="020F0502020204030204" pitchFamily="34" charset="0"/>
                <a:cs typeface="Times New Roman" panose="02020603050405020304" pitchFamily="18" charset="0"/>
              </a:rPr>
              <a:t>The </a:t>
            </a:r>
            <a:r>
              <a:rPr lang="pt-BR" dirty="0" err="1">
                <a:latin typeface="Calibri" panose="020F0502020204030204" pitchFamily="34" charset="0"/>
                <a:ea typeface="Calibri" panose="020F0502020204030204" pitchFamily="34" charset="0"/>
                <a:cs typeface="Times New Roman" panose="02020603050405020304" pitchFamily="18" charset="0"/>
              </a:rPr>
              <a:t>Mythical</a:t>
            </a:r>
            <a:r>
              <a:rPr lang="pt-BR" dirty="0">
                <a:latin typeface="Calibri" panose="020F0502020204030204" pitchFamily="34" charset="0"/>
                <a:ea typeface="Calibri" panose="020F0502020204030204" pitchFamily="34" charset="0"/>
                <a:cs typeface="Times New Roman" panose="02020603050405020304" pitchFamily="18" charset="0"/>
              </a:rPr>
              <a:t> Man-</a:t>
            </a:r>
            <a:r>
              <a:rPr lang="pt-BR" dirty="0" err="1">
                <a:latin typeface="Calibri" panose="020F0502020204030204" pitchFamily="34" charset="0"/>
                <a:ea typeface="Calibri" panose="020F0502020204030204" pitchFamily="34" charset="0"/>
                <a:cs typeface="Times New Roman" panose="02020603050405020304" pitchFamily="18" charset="0"/>
              </a:rPr>
              <a:t>Month</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Essays</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err="1">
                <a:latin typeface="Calibri" panose="020F0502020204030204" pitchFamily="34" charset="0"/>
                <a:ea typeface="Calibri" panose="020F0502020204030204" pitchFamily="34" charset="0"/>
                <a:cs typeface="Times New Roman" panose="02020603050405020304" pitchFamily="18" charset="0"/>
              </a:rPr>
              <a:t>on</a:t>
            </a:r>
            <a:r>
              <a:rPr lang="pt-BR" dirty="0">
                <a:latin typeface="Calibri" panose="020F0502020204030204" pitchFamily="34" charset="0"/>
                <a:ea typeface="Calibri" panose="020F0502020204030204" pitchFamily="34" charset="0"/>
                <a:cs typeface="Times New Roman" panose="02020603050405020304" pitchFamily="18" charset="0"/>
              </a:rPr>
              <a:t> Software </a:t>
            </a:r>
            <a:r>
              <a:rPr lang="pt-BR" dirty="0" err="1">
                <a:latin typeface="Calibri" panose="020F0502020204030204" pitchFamily="34" charset="0"/>
                <a:ea typeface="Calibri" panose="020F0502020204030204" pitchFamily="34" charset="0"/>
                <a:cs typeface="Times New Roman" panose="02020603050405020304" pitchFamily="18" charset="0"/>
              </a:rPr>
              <a:t>Engineering</a:t>
            </a:r>
            <a:r>
              <a:rPr lang="pt-BR" dirty="0">
                <a:latin typeface="Calibri" panose="020F0502020204030204" pitchFamily="34" charset="0"/>
                <a:ea typeface="Calibri" panose="020F0502020204030204" pitchFamily="34" charset="0"/>
                <a:cs typeface="Times New Roman" panose="02020603050405020304" pitchFamily="18" charset="0"/>
              </a:rPr>
              <a:t> por Frederick P. Brooks Jr. - Um clássico que aborda desafios de gerenciamento de projetos e desenvolvimento de software.</a:t>
            </a:r>
            <a:endParaRPr lang="pt-BR"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600"/>
              </a:spcAft>
            </a:pPr>
            <a:r>
              <a:rPr lang="pt-BR" sz="1600" dirty="0">
                <a:latin typeface="Calibri" panose="020F0502020204030204" pitchFamily="34" charset="0"/>
                <a:ea typeface="Calibri" panose="020F0502020204030204" pitchFamily="34" charset="0"/>
                <a:cs typeface="Times New Roman" panose="02020603050405020304" pitchFamily="18" charset="0"/>
              </a:rPr>
              <a:t> </a:t>
            </a:r>
            <a:endParaRPr lang="pt-BR"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823803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18408</TotalTime>
  <Words>3263</Words>
  <Application>Microsoft Office PowerPoint</Application>
  <PresentationFormat>Apresentação na tela (4:3)</PresentationFormat>
  <Paragraphs>286</Paragraphs>
  <Slides>43</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43</vt:i4>
      </vt:variant>
    </vt:vector>
  </HeadingPairs>
  <TitlesOfParts>
    <vt:vector size="48" baseType="lpstr">
      <vt:lpstr>Arial</vt:lpstr>
      <vt:lpstr>Calibri</vt:lpstr>
      <vt:lpstr>Calibri Light</vt:lpstr>
      <vt:lpstr>Times New Roman</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Exagerado</dc:creator>
  <cp:lastModifiedBy>Elionai</cp:lastModifiedBy>
  <cp:revision>915</cp:revision>
  <dcterms:created xsi:type="dcterms:W3CDTF">2019-04-29T13:17:28Z</dcterms:created>
  <dcterms:modified xsi:type="dcterms:W3CDTF">2026-08-03T13:22:07Z</dcterms:modified>
</cp:coreProperties>
</file>