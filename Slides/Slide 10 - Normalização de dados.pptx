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35" r:id="rId5"/>
    <p:sldId id="336" r:id="rId6"/>
    <p:sldId id="337" r:id="rId7"/>
    <p:sldId id="339" r:id="rId8"/>
    <p:sldId id="349" r:id="rId9"/>
    <p:sldId id="350" r:id="rId10"/>
    <p:sldId id="351" r:id="rId11"/>
    <p:sldId id="352" r:id="rId12"/>
    <p:sldId id="353" r:id="rId13"/>
    <p:sldId id="354" r:id="rId14"/>
    <p:sldId id="338" r:id="rId15"/>
    <p:sldId id="348" r:id="rId16"/>
    <p:sldId id="355" r:id="rId17"/>
    <p:sldId id="356" r:id="rId18"/>
    <p:sldId id="357" r:id="rId19"/>
    <p:sldId id="340" r:id="rId20"/>
    <p:sldId id="341" r:id="rId21"/>
    <p:sldId id="358" r:id="rId22"/>
    <p:sldId id="343" r:id="rId23"/>
    <p:sldId id="347" r:id="rId2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608A2FC-94EB-4E78-A22A-4C048CB24776}" type="datetime1">
              <a:rPr lang="pt-BR" smtClean="0"/>
              <a:t>31/07/2025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9E9D563E-BCB2-465B-8A3C-AC86CE64F69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AD503E83-D289-449C-983E-79AA9113407F}" type="datetime1">
              <a:rPr lang="pt-BR" smtClean="0"/>
              <a:pPr/>
              <a:t>31/07/2025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8B990660-4B7D-4C11-96DB-B19FFA8CA9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19333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2545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06147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F8EA-8867-6EAE-5B9D-EE4685C87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82236DC-0081-5E08-E949-4E940E104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32F7C77-69CB-2E74-F6AE-9448AADD8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EF2891A-6DE8-4811-DA7E-517A0EAAF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00208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43807-DB26-99FE-106D-138B6543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B994277-D8EB-8E5A-B708-ED0D0A861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A29976F-C17C-FE26-E14C-073333932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356F341-9AD1-8627-3DDC-FA887BEC6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53839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8A8C-A45A-2B43-38B5-094CD0702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8DED356-FE7D-A789-07EF-8A2CCF0F2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9B679627-9049-1F4A-D3B1-10AC548D7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BC64128-BE68-FB94-6D6A-AD8D962BA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07652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9F75-7144-F2EE-6C99-099D30615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29048301-A32B-485D-F22A-5DCB69721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2D21004-0027-A91E-4BDF-5857C7448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6E3343D-5D7F-3177-9BA9-2AAF75F0B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33278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AE019-61AE-FCBE-E952-20DCEA30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228B57E-A45A-E25E-43F6-DA1740B27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6FEE2948-E7D8-E459-BC83-F9BF79D58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9923022-8CDA-920E-6F4F-4D830E943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78910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53D01-9A4D-26B8-9388-C0A7D58F8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B83225C-1791-9E5B-181F-46766CDB6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53C97B0-E89D-61C8-E152-3506FE53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1DAC84B-00D2-47B8-2B2F-E721DB021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41421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91274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98F4D-1E02-52D1-AB77-EE988CCD3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058D28C-08D3-0B7B-A81D-235BA4B0A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97AE59F8-10E9-F650-4083-8715C0B5F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FABB513-8160-FE1B-9C9E-2D709B462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927978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6015B-15A5-6B51-F15B-91F1804A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CE1054AC-D97B-6067-9BAA-D1DD2ECD9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E2B85D68-47F5-516D-F55E-372EDABF7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F07F87C-2763-4260-650E-F296DB838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60954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6BA9C-0518-8809-84A4-B85E9FFA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57E295C-F738-DE77-FA5A-F09B3E065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291717E-9DDE-7493-33D9-A35F74273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9392E67-2801-0878-05EB-325C52439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081432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6C07D-5A7C-3E89-38D0-654A8DFB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37DCE4E-C32E-14A8-CFDB-482ABEB75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F8A38A8F-B97E-EA09-81FC-73D01DC2A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5528D16-04BF-4AC0-73A9-97312FFDA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18926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89252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74796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8A3A5-63D5-EAD8-979C-A5B2FC732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B816C1F-1CBD-1895-68C5-F1CEC00A3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0A6E745-F077-141D-D40A-78CDBBB12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70ABE04-AE81-CAFD-0354-F7D1C70EC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495303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122968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pt-BR" sz="4000" b="1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 Título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pt-BR" sz="2800"/>
            </a:lvl1pPr>
            <a:lvl2pPr marL="457200" indent="0">
              <a:buNone/>
              <a:defRPr lang="pt-BR" sz="2400"/>
            </a:lvl2pPr>
            <a:lvl3pPr marL="914400" indent="0">
              <a:buNone/>
              <a:defRPr lang="pt-BR" sz="20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675" name="Espaço Reservado para Texto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pt-BR" sz="2800"/>
            </a:lvl1pPr>
            <a:lvl2pPr marL="457200" indent="0">
              <a:lnSpc>
                <a:spcPts val="2400"/>
              </a:lnSpc>
              <a:buNone/>
              <a:defRPr lang="pt-BR" sz="2000"/>
            </a:lvl2pPr>
            <a:lvl3pPr marL="914400" indent="0">
              <a:lnSpc>
                <a:spcPts val="2400"/>
              </a:lnSpc>
              <a:buNone/>
              <a:defRPr lang="pt-BR" sz="2000"/>
            </a:lvl3pPr>
            <a:lvl4pPr marL="1371600" indent="0">
              <a:lnSpc>
                <a:spcPts val="2400"/>
              </a:lnSpc>
              <a:buNone/>
              <a:defRPr lang="pt-BR" sz="2000"/>
            </a:lvl4pPr>
            <a:lvl5pPr marL="1828800" indent="0">
              <a:lnSpc>
                <a:spcPts val="2400"/>
              </a:lnSpc>
              <a:buNone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  <a:lvl6pPr marL="1600200">
              <a:defRPr lang="pt-BR"/>
            </a:lvl6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4" rtl="0"/>
            <a:r>
              <a:rPr lang="pt-BR"/>
              <a:t>Quarto nível</a:t>
            </a:r>
          </a:p>
          <a:p>
            <a:pPr lvl="5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pt-BR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pt-BR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pt-BR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pt-BR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 do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pt-BR"/>
            </a:lvl1pPr>
            <a:lvl2pPr>
              <a:spcBef>
                <a:spcPts val="0"/>
              </a:spcBef>
              <a:spcAft>
                <a:spcPts val="600"/>
              </a:spcAft>
              <a:defRPr lang="pt-BR"/>
            </a:lvl2pPr>
            <a:lvl3pPr>
              <a:spcBef>
                <a:spcPts val="0"/>
              </a:spcBef>
              <a:spcAft>
                <a:spcPts val="600"/>
              </a:spcAft>
              <a:defRPr lang="pt-BR"/>
            </a:lvl3pPr>
            <a:lvl4pPr>
              <a:spcBef>
                <a:spcPts val="0"/>
              </a:spcBef>
              <a:spcAft>
                <a:spcPts val="600"/>
              </a:spcAft>
              <a:defRPr lang="pt-BR" sz="2000"/>
            </a:lvl4pPr>
            <a:lvl5pPr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815" name="Grupo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 rtlCol="0"/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dirty="0"/>
              <a:t>Dependência Funcional</a:t>
            </a:r>
            <a:br>
              <a:rPr lang="pt-BR" dirty="0"/>
            </a:br>
            <a:endParaRPr lang="pt-BR" dirty="0"/>
          </a:p>
        </p:txBody>
      </p:sp>
      <p:pic>
        <p:nvPicPr>
          <p:cNvPr id="4" name="Câmera 3">
            <a:extLst>
              <a:ext uri="{FF2B5EF4-FFF2-40B4-BE49-F238E27FC236}">
                <a16:creationId xmlns:a16="http://schemas.microsoft.com/office/drawing/2014/main" id="{D4AACD14-F026-3EFD-26CC-F42403918BB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  <a:ln>
            <a:noFill/>
          </a:ln>
          <a:effectLst>
            <a:outerShdw blurRad="190500" algn="tl" rotWithShape="0">
              <a:srgbClr val="000000">
                <a:alpha val="3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Agenda 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b="1" dirty="0"/>
              <a:t>Conceito de Dependência Funcional e sua Importância na Modelagem de Dados</a:t>
            </a:r>
            <a:endParaRPr lang="pt-BR" dirty="0"/>
          </a:p>
          <a:p>
            <a:r>
              <a:rPr lang="pt-BR" b="1" dirty="0"/>
              <a:t>Importância na Integridade dos </a:t>
            </a:r>
            <a:r>
              <a:rPr lang="pt-BR" b="1" dirty="0" err="1"/>
              <a:t>Dados</a:t>
            </a:r>
            <a:r>
              <a:rPr lang="pt-BR" dirty="0" err="1"/>
              <a:t>Envolvendo</a:t>
            </a:r>
            <a:r>
              <a:rPr lang="pt-BR" dirty="0"/>
              <a:t> o público</a:t>
            </a:r>
          </a:p>
          <a:p>
            <a:r>
              <a:rPr lang="pt-BR" b="1" dirty="0"/>
              <a:t>Exemplo de Normalização Utilizando Dependências Funcionais</a:t>
            </a:r>
          </a:p>
          <a:p>
            <a:r>
              <a:rPr lang="pt-BR" b="1" dirty="0"/>
              <a:t>Conclusão</a:t>
            </a: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/>
              <a:t>2</a:t>
            </a:fld>
            <a:endParaRPr lang="pt-BR" dirty="0"/>
          </a:p>
        </p:txBody>
      </p:sp>
      <p:pic>
        <p:nvPicPr>
          <p:cNvPr id="4" name="Câmera 3">
            <a:extLst>
              <a:ext uri="{FF2B5EF4-FFF2-40B4-BE49-F238E27FC236}">
                <a16:creationId xmlns:a16="http://schemas.microsoft.com/office/drawing/2014/main" id="{8C4CC789-9672-001F-2D64-FECBE8C1E26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68969" y="4728136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Conceito de Dependência Funcional e sua Importância na Modelagem de Dados</a:t>
            </a:r>
          </a:p>
        </p:txBody>
      </p:sp>
      <p:pic>
        <p:nvPicPr>
          <p:cNvPr id="10" name="Espaço Reservado para Imagem 9" descr="Uma pessoa sorrindo para um computador">
            <a:extLst>
              <a:ext uri="{FF2B5EF4-FFF2-40B4-BE49-F238E27FC236}">
                <a16:creationId xmlns:a16="http://schemas.microsoft.com/office/drawing/2014/main" id="{0E7DFFA9-9901-3CE7-AAC2-C1754C65BD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8" r="18"/>
          <a:stretch/>
        </p:blipFill>
        <p:spPr>
          <a:xfrm>
            <a:off x="7625969" y="-9144"/>
            <a:ext cx="4581525" cy="6602413"/>
          </a:xfrm>
        </p:spPr>
      </p:pic>
      <p:pic>
        <p:nvPicPr>
          <p:cNvPr id="3" name="Câmera 2">
            <a:extLst>
              <a:ext uri="{FF2B5EF4-FFF2-40B4-BE49-F238E27FC236}">
                <a16:creationId xmlns:a16="http://schemas.microsoft.com/office/drawing/2014/main" id="{450A3394-9C35-9579-F24E-02A5974BCBB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Conceito de Dependência Funcional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algn="just">
              <a:buNone/>
            </a:pPr>
            <a:r>
              <a:rPr lang="pt-BR" dirty="0"/>
              <a:t>A dependência funcional é um conceito fundamental na teoria de bancos de dados relacionais, usado para descrever a relação entre diferentes atributos em uma tabela. Ela é uma condição em que um atributo depende de outro atributo para determinar seu valor de maneira única.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</a:t>
            </a:fld>
            <a:endParaRPr lang="pt-BR" dirty="0"/>
          </a:p>
        </p:txBody>
      </p:sp>
      <p:pic>
        <p:nvPicPr>
          <p:cNvPr id="5" name="Câmera 4">
            <a:extLst>
              <a:ext uri="{FF2B5EF4-FFF2-40B4-BE49-F238E27FC236}">
                <a16:creationId xmlns:a16="http://schemas.microsoft.com/office/drawing/2014/main" id="{BF923C11-997F-F55E-C2B9-8EEFDA8BC71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68AE2-4E73-611F-7502-E848E01A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289F7-50B5-647C-3BCB-BD1A93D9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Conceito de Dependência Funcional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6AAF48-E271-CA11-C939-BCFE371C6F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algn="just">
              <a:buNone/>
            </a:pPr>
            <a:r>
              <a:rPr lang="pt-BR" b="1" dirty="0"/>
              <a:t>Definição</a:t>
            </a:r>
            <a:r>
              <a:rPr lang="pt-BR" dirty="0"/>
              <a:t>: Um atributo B é funcionalmente dependente de um atributo A (denotado como A -&gt; B) se, em qualquer instante, dois registros que tenham o mesmo valor para A também tiverem o mesmo valor para B. Em outras palavras, A determina unicamente B.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E0D70CDE-5822-7D12-150B-4A1F7907E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 dirty="0"/>
          </a:p>
        </p:txBody>
      </p:sp>
      <p:pic>
        <p:nvPicPr>
          <p:cNvPr id="5" name="Câmera 4">
            <a:extLst>
              <a:ext uri="{FF2B5EF4-FFF2-40B4-BE49-F238E27FC236}">
                <a16:creationId xmlns:a16="http://schemas.microsoft.com/office/drawing/2014/main" id="{F8B27699-776E-19F3-7918-241BFB8529A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5005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F50A-EEF1-1D3E-4B2F-732ED83A9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AD559-3A7D-6511-4DAF-5BB5A70B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Conceito de Dependência Funcional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2B9DD9-CF12-60F5-9FEC-C9C97595F5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1681316"/>
            <a:ext cx="9186673" cy="388433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lvl="0"/>
            <a:r>
              <a:rPr lang="pt-BR" sz="2400" b="1" dirty="0"/>
              <a:t>Exemplo Simples</a:t>
            </a:r>
            <a:r>
              <a:rPr lang="pt-BR" sz="2400" dirty="0"/>
              <a:t>: </a:t>
            </a:r>
          </a:p>
          <a:p>
            <a:pPr marL="0" lvl="0" indent="0">
              <a:buNone/>
            </a:pPr>
            <a:r>
              <a:rPr lang="pt-BR" sz="2400" dirty="0"/>
              <a:t>Considere uma tabela "Estudantes" com os atributos "</a:t>
            </a:r>
            <a:r>
              <a:rPr lang="pt-BR" sz="2400" dirty="0" err="1"/>
              <a:t>ID_Estudante</a:t>
            </a:r>
            <a:r>
              <a:rPr lang="pt-BR" sz="2400" dirty="0"/>
              <a:t>", "Nome", e "</a:t>
            </a:r>
            <a:r>
              <a:rPr lang="pt-BR" sz="2400" dirty="0" err="1"/>
              <a:t>Data_de_Nascimento</a:t>
            </a:r>
            <a:r>
              <a:rPr lang="pt-BR" sz="2400" dirty="0"/>
              <a:t>". Se "</a:t>
            </a:r>
            <a:r>
              <a:rPr lang="pt-BR" sz="2400" dirty="0" err="1"/>
              <a:t>ID_Estudante</a:t>
            </a:r>
            <a:r>
              <a:rPr lang="pt-BR" sz="2400" dirty="0"/>
              <a:t>" determina unicamente "Nome" e "</a:t>
            </a:r>
            <a:r>
              <a:rPr lang="pt-BR" sz="2400" dirty="0" err="1"/>
              <a:t>Data_de_Nascimento</a:t>
            </a:r>
            <a:r>
              <a:rPr lang="pt-BR" sz="2400" dirty="0"/>
              <a:t>", temos as dependências funcionais:</a:t>
            </a:r>
          </a:p>
          <a:p>
            <a:pPr lvl="1"/>
            <a:r>
              <a:rPr lang="pt-BR" sz="2400" dirty="0" err="1"/>
              <a:t>ID_Estudante</a:t>
            </a:r>
            <a:r>
              <a:rPr lang="pt-BR" sz="2400" dirty="0"/>
              <a:t> -&gt; Nome</a:t>
            </a:r>
          </a:p>
          <a:p>
            <a:pPr lvl="1"/>
            <a:r>
              <a:rPr lang="pt-BR" sz="2400" dirty="0" err="1"/>
              <a:t>ID_Estudante</a:t>
            </a:r>
            <a:r>
              <a:rPr lang="pt-BR" sz="2400" dirty="0"/>
              <a:t> -&gt; </a:t>
            </a:r>
            <a:r>
              <a:rPr lang="pt-BR" sz="2400" dirty="0" err="1"/>
              <a:t>Data_de_Nascimento</a:t>
            </a:r>
            <a:endParaRPr lang="pt-BR" sz="2400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2664D6A-9F37-E367-A343-ED07FA41E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6</a:t>
            </a:fld>
            <a:endParaRPr lang="pt-BR" dirty="0"/>
          </a:p>
        </p:txBody>
      </p:sp>
      <p:pic>
        <p:nvPicPr>
          <p:cNvPr id="5" name="Câmera 4">
            <a:extLst>
              <a:ext uri="{FF2B5EF4-FFF2-40B4-BE49-F238E27FC236}">
                <a16:creationId xmlns:a16="http://schemas.microsoft.com/office/drawing/2014/main" id="{CD9841F8-6756-B058-2628-5B8E3927225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21311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0D19F-22C8-33B5-31D4-6D1C64A4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35BE0-C198-146C-5036-A004629D9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Conceito de Dependência Funcional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1FDA5C-9AFE-7D3D-E9A9-9B9DE4CCB5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9064950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sz="2800" b="1" dirty="0"/>
              <a:t>Exemplos Práticos</a:t>
            </a:r>
            <a:endParaRPr lang="pt-BR" sz="2800" dirty="0"/>
          </a:p>
          <a:p>
            <a:r>
              <a:rPr lang="pt-BR" sz="2800" dirty="0"/>
              <a:t>Vamos explorar alguns exemplos práticos para entender melhor como as dependências funcionais operam:</a:t>
            </a:r>
          </a:p>
          <a:p>
            <a:pPr marL="0" lvl="0" indent="0">
              <a:buNone/>
            </a:pPr>
            <a:endParaRPr lang="pt-BR" sz="2800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E8C81F5-2C58-60A4-B5FD-3A2B21013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 dirty="0"/>
          </a:p>
        </p:txBody>
      </p:sp>
      <p:pic>
        <p:nvPicPr>
          <p:cNvPr id="5" name="Câmera 4">
            <a:extLst>
              <a:ext uri="{FF2B5EF4-FFF2-40B4-BE49-F238E27FC236}">
                <a16:creationId xmlns:a16="http://schemas.microsoft.com/office/drawing/2014/main" id="{1DF1DB93-98A4-4960-6318-FCC835401C1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9813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81F79-E2AE-AF00-385D-AF7F4BF2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5EE6F-4FB4-0B1F-B10D-D7F246D5A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Conceito de Dependência Funcional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E07553-75A3-5B12-3C17-5E0DBA14E3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486834"/>
            <a:ext cx="8828251" cy="4759788"/>
          </a:xfrm>
        </p:spPr>
        <p:txBody>
          <a:bodyPr rtlCol="0">
            <a:normAutofit fontScale="85000" lnSpcReduction="10000"/>
          </a:bodyPr>
          <a:lstStyle>
            <a:defPPr>
              <a:defRPr lang="pt-BR"/>
            </a:defPPr>
          </a:lstStyle>
          <a:p>
            <a:pPr marL="0" lvl="0" indent="0">
              <a:lnSpc>
                <a:spcPct val="120000"/>
              </a:lnSpc>
              <a:buNone/>
            </a:pPr>
            <a:r>
              <a:rPr lang="pt-BR" b="1" dirty="0"/>
              <a:t>Tabela de Estudantes</a:t>
            </a:r>
            <a:r>
              <a:rPr lang="pt-BR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CREATE TABLE Estudantes (</a:t>
            </a:r>
            <a:endParaRPr lang="pt-B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</a:t>
            </a:r>
            <a:r>
              <a:rPr lang="en-US" dirty="0" err="1"/>
              <a:t>ID_Estudante</a:t>
            </a:r>
            <a:r>
              <a:rPr lang="en-US" dirty="0"/>
              <a:t> INT PRIMARY KEY,</a:t>
            </a:r>
            <a:endParaRPr lang="pt-B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</a:t>
            </a:r>
            <a:r>
              <a:rPr lang="pt-BR" dirty="0"/>
              <a:t>Nome VARCHAR(255),</a:t>
            </a:r>
            <a:endParaRPr lang="pt-B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  </a:t>
            </a:r>
            <a:r>
              <a:rPr lang="pt-BR" dirty="0" err="1"/>
              <a:t>Data_de_Nascimento</a:t>
            </a:r>
            <a:r>
              <a:rPr lang="pt-BR" dirty="0"/>
              <a:t> DATE,</a:t>
            </a:r>
            <a:endParaRPr lang="pt-B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  Curso VARCHAR(255)</a:t>
            </a:r>
            <a:endParaRPr lang="pt-B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);</a:t>
            </a:r>
            <a:endParaRPr lang="pt-BR" sz="3200" dirty="0"/>
          </a:p>
          <a:p>
            <a:pPr algn="just">
              <a:lnSpc>
                <a:spcPct val="120000"/>
              </a:lnSpc>
            </a:pPr>
            <a:r>
              <a:rPr lang="pt-BR" b="1" dirty="0"/>
              <a:t>Dependência Funcional</a:t>
            </a:r>
            <a:r>
              <a:rPr lang="pt-BR" dirty="0"/>
              <a:t>: </a:t>
            </a:r>
            <a:r>
              <a:rPr lang="pt-BR" dirty="0" err="1"/>
              <a:t>ID_Estudante</a:t>
            </a:r>
            <a:r>
              <a:rPr lang="pt-BR" dirty="0"/>
              <a:t> -&gt; Nome, </a:t>
            </a:r>
            <a:r>
              <a:rPr lang="pt-BR" dirty="0" err="1"/>
              <a:t>Data_de_Nascimento</a:t>
            </a:r>
            <a:r>
              <a:rPr lang="pt-BR" dirty="0"/>
              <a:t>, Curso</a:t>
            </a:r>
          </a:p>
          <a:p>
            <a:pPr algn="just">
              <a:lnSpc>
                <a:spcPct val="120000"/>
              </a:lnSpc>
            </a:pPr>
            <a:r>
              <a:rPr lang="pt-BR" b="1" dirty="0"/>
              <a:t>Explicação</a:t>
            </a:r>
            <a:r>
              <a:rPr lang="pt-BR" dirty="0"/>
              <a:t>: O valor do "</a:t>
            </a:r>
            <a:r>
              <a:rPr lang="pt-BR" dirty="0" err="1"/>
              <a:t>ID_Estudante</a:t>
            </a:r>
            <a:r>
              <a:rPr lang="pt-BR" dirty="0"/>
              <a:t>" determina unicamente os valores de "Nome", "</a:t>
            </a:r>
            <a:r>
              <a:rPr lang="pt-BR" dirty="0" err="1"/>
              <a:t>Data_de_Nascimento</a:t>
            </a:r>
            <a:r>
              <a:rPr lang="pt-BR" dirty="0"/>
              <a:t>", e "Curso". Se dois registros têm o mesmo "</a:t>
            </a:r>
            <a:r>
              <a:rPr lang="pt-BR" dirty="0" err="1"/>
              <a:t>ID_Estudante</a:t>
            </a:r>
            <a:r>
              <a:rPr lang="pt-BR" dirty="0"/>
              <a:t>", eles devem ter o mesmo "Nome", "</a:t>
            </a:r>
            <a:r>
              <a:rPr lang="pt-BR" dirty="0" err="1"/>
              <a:t>Data_de_Nascimento</a:t>
            </a:r>
            <a:r>
              <a:rPr lang="pt-BR" dirty="0"/>
              <a:t>", e "Curso".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C88921D2-1381-A43B-1073-A5DB1C7D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 dirty="0"/>
          </a:p>
        </p:txBody>
      </p:sp>
      <p:pic>
        <p:nvPicPr>
          <p:cNvPr id="5" name="Câmera 4">
            <a:extLst>
              <a:ext uri="{FF2B5EF4-FFF2-40B4-BE49-F238E27FC236}">
                <a16:creationId xmlns:a16="http://schemas.microsoft.com/office/drawing/2014/main" id="{277DDF79-050E-099C-C131-35A5DCAA70C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35855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DED23-E3D8-70DB-272B-BCE1324ED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820E8-F314-7AAF-09C5-2AF7C019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Conceito de Dependência Funcional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41FC48-960A-FDB3-F375-5409D46B01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486834"/>
            <a:ext cx="8324089" cy="4618998"/>
          </a:xfrm>
        </p:spPr>
        <p:txBody>
          <a:bodyPr rtlCol="0">
            <a:normAutofit fontScale="77500" lnSpcReduction="20000"/>
          </a:bodyPr>
          <a:lstStyle>
            <a:defPPr>
              <a:defRPr lang="pt-BR"/>
            </a:defPPr>
          </a:lstStyle>
          <a:p>
            <a:pPr lvl="0">
              <a:lnSpc>
                <a:spcPct val="120000"/>
              </a:lnSpc>
            </a:pPr>
            <a:r>
              <a:rPr lang="pt-BR" b="1" dirty="0"/>
              <a:t>Tabela de Vendas</a:t>
            </a:r>
            <a:r>
              <a:rPr lang="pt-BR" dirty="0"/>
              <a:t>:</a:t>
            </a:r>
          </a:p>
          <a:p>
            <a:pPr>
              <a:lnSpc>
                <a:spcPct val="120000"/>
              </a:lnSpc>
            </a:pPr>
            <a:r>
              <a:rPr lang="pt-BR" dirty="0"/>
              <a:t>CREATE TABLE Vendas (</a:t>
            </a:r>
            <a:endParaRPr lang="pt-BR" sz="3200" dirty="0"/>
          </a:p>
          <a:p>
            <a:pPr>
              <a:lnSpc>
                <a:spcPct val="120000"/>
              </a:lnSpc>
            </a:pPr>
            <a:r>
              <a:rPr lang="en-US" dirty="0"/>
              <a:t>  </a:t>
            </a:r>
            <a:r>
              <a:rPr lang="en-US" dirty="0" err="1"/>
              <a:t>ID_Venda</a:t>
            </a:r>
            <a:r>
              <a:rPr lang="en-US" dirty="0"/>
              <a:t> INT PRIMARY KEY,</a:t>
            </a:r>
            <a:endParaRPr lang="pt-BR" sz="3200" dirty="0"/>
          </a:p>
          <a:p>
            <a:pPr>
              <a:lnSpc>
                <a:spcPct val="120000"/>
              </a:lnSpc>
            </a:pPr>
            <a:r>
              <a:rPr lang="en-US" dirty="0"/>
              <a:t>  </a:t>
            </a:r>
            <a:r>
              <a:rPr lang="pt-BR" dirty="0"/>
              <a:t>Data DATE,</a:t>
            </a:r>
            <a:endParaRPr lang="pt-BR" sz="3200" dirty="0"/>
          </a:p>
          <a:p>
            <a:pPr>
              <a:lnSpc>
                <a:spcPct val="120000"/>
              </a:lnSpc>
            </a:pPr>
            <a:r>
              <a:rPr lang="pt-BR" dirty="0"/>
              <a:t>  </a:t>
            </a:r>
            <a:r>
              <a:rPr lang="pt-BR" dirty="0" err="1"/>
              <a:t>ID_Produto</a:t>
            </a:r>
            <a:r>
              <a:rPr lang="pt-BR" dirty="0"/>
              <a:t> INT,</a:t>
            </a:r>
            <a:endParaRPr lang="pt-BR" sz="3200" dirty="0"/>
          </a:p>
          <a:p>
            <a:pPr>
              <a:lnSpc>
                <a:spcPct val="120000"/>
              </a:lnSpc>
            </a:pPr>
            <a:r>
              <a:rPr lang="pt-BR" dirty="0"/>
              <a:t>  Quantidade INT,</a:t>
            </a:r>
            <a:endParaRPr lang="pt-BR" sz="3200" dirty="0"/>
          </a:p>
          <a:p>
            <a:pPr>
              <a:lnSpc>
                <a:spcPct val="120000"/>
              </a:lnSpc>
            </a:pPr>
            <a:r>
              <a:rPr lang="pt-BR" dirty="0"/>
              <a:t>  </a:t>
            </a:r>
            <a:r>
              <a:rPr lang="pt-BR" dirty="0" err="1"/>
              <a:t>Preco_Unitario</a:t>
            </a:r>
            <a:r>
              <a:rPr lang="pt-BR" dirty="0"/>
              <a:t> DECIMAL(10, 2)</a:t>
            </a:r>
            <a:endParaRPr lang="pt-BR" sz="3200" dirty="0"/>
          </a:p>
          <a:p>
            <a:pPr>
              <a:lnSpc>
                <a:spcPct val="120000"/>
              </a:lnSpc>
            </a:pPr>
            <a:r>
              <a:rPr lang="pt-BR" dirty="0"/>
              <a:t>);</a:t>
            </a:r>
            <a:endParaRPr lang="pt-BR" sz="3200" dirty="0"/>
          </a:p>
          <a:p>
            <a:pPr lvl="1">
              <a:lnSpc>
                <a:spcPct val="120000"/>
              </a:lnSpc>
            </a:pPr>
            <a:r>
              <a:rPr lang="pt-BR" b="1" dirty="0"/>
              <a:t>Dependência Funcional</a:t>
            </a:r>
            <a:r>
              <a:rPr lang="pt-BR" dirty="0"/>
              <a:t>: </a:t>
            </a:r>
            <a:r>
              <a:rPr lang="pt-BR" dirty="0" err="1"/>
              <a:t>ID_Venda</a:t>
            </a:r>
            <a:r>
              <a:rPr lang="pt-BR" dirty="0"/>
              <a:t> -&gt; Data, </a:t>
            </a:r>
            <a:r>
              <a:rPr lang="pt-BR" dirty="0" err="1"/>
              <a:t>ID_Produto</a:t>
            </a:r>
            <a:r>
              <a:rPr lang="pt-BR" dirty="0"/>
              <a:t>, Quantidade, </a:t>
            </a:r>
            <a:r>
              <a:rPr lang="pt-BR" dirty="0" err="1"/>
              <a:t>Preco_Unitario</a:t>
            </a:r>
            <a:endParaRPr lang="pt-BR" dirty="0"/>
          </a:p>
          <a:p>
            <a:pPr lvl="1">
              <a:lnSpc>
                <a:spcPct val="120000"/>
              </a:lnSpc>
            </a:pPr>
            <a:r>
              <a:rPr lang="pt-BR" b="1" dirty="0"/>
              <a:t>Explicação</a:t>
            </a:r>
            <a:r>
              <a:rPr lang="pt-BR" dirty="0"/>
              <a:t>: O valor de "</a:t>
            </a:r>
            <a:r>
              <a:rPr lang="pt-BR" dirty="0" err="1"/>
              <a:t>ID_Venda</a:t>
            </a:r>
            <a:r>
              <a:rPr lang="pt-BR" dirty="0"/>
              <a:t>" determina unicamente os valores de "Data", "</a:t>
            </a:r>
            <a:r>
              <a:rPr lang="pt-BR" dirty="0" err="1"/>
              <a:t>ID_Produto</a:t>
            </a:r>
            <a:r>
              <a:rPr lang="pt-BR" dirty="0"/>
              <a:t>", "Quantidade", e "</a:t>
            </a:r>
            <a:r>
              <a:rPr lang="pt-BR" dirty="0" err="1"/>
              <a:t>Preco_Unitario</a:t>
            </a:r>
            <a:r>
              <a:rPr lang="pt-BR" dirty="0"/>
              <a:t>". Cada venda única possui um conjunto único de atributos associados a ela.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CDECA062-E94F-1ECD-2E4D-B73174A6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9</a:t>
            </a:fld>
            <a:endParaRPr lang="pt-BR" dirty="0"/>
          </a:p>
        </p:txBody>
      </p:sp>
      <p:pic>
        <p:nvPicPr>
          <p:cNvPr id="5" name="Câmera 4">
            <a:extLst>
              <a:ext uri="{FF2B5EF4-FFF2-40B4-BE49-F238E27FC236}">
                <a16:creationId xmlns:a16="http://schemas.microsoft.com/office/drawing/2014/main" id="{797FA981-5DCF-149C-3C7E-BE3E308EBBC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39271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92931-F460-D5AA-BC27-30903D72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E7774-5254-7584-3AED-683D5F97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Conceito de Dependência Funcional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37E2E2-67C2-3C45-9193-1EF6F3AEAD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486834"/>
            <a:ext cx="9015064" cy="4618998"/>
          </a:xfrm>
        </p:spPr>
        <p:txBody>
          <a:bodyPr rtlCol="0">
            <a:normAutofit fontScale="85000" lnSpcReduction="20000"/>
          </a:bodyPr>
          <a:lstStyle>
            <a:defPPr>
              <a:defRPr lang="pt-BR"/>
            </a:defPPr>
          </a:lstStyle>
          <a:p>
            <a:pPr marL="0" lvl="0" indent="0">
              <a:lnSpc>
                <a:spcPct val="120000"/>
              </a:lnSpc>
              <a:buNone/>
            </a:pPr>
            <a:r>
              <a:rPr lang="pt-BR" b="1" dirty="0"/>
              <a:t>Tabela de Funcionários</a:t>
            </a:r>
            <a:r>
              <a:rPr lang="pt-BR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  </a:t>
            </a:r>
            <a:endParaRPr lang="pt-B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CREATE TABLE </a:t>
            </a:r>
            <a:r>
              <a:rPr lang="pt-BR" dirty="0" err="1"/>
              <a:t>Funcionarios</a:t>
            </a:r>
            <a:r>
              <a:rPr lang="pt-BR" dirty="0"/>
              <a:t> (</a:t>
            </a:r>
            <a:endParaRPr lang="pt-B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</a:t>
            </a:r>
            <a:r>
              <a:rPr lang="en-US" dirty="0" err="1"/>
              <a:t>ID_Funcionario</a:t>
            </a:r>
            <a:r>
              <a:rPr lang="en-US" dirty="0"/>
              <a:t> INT PRIMARY KEY,</a:t>
            </a:r>
            <a:endParaRPr lang="pt-B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</a:t>
            </a:r>
            <a:r>
              <a:rPr lang="pt-BR" dirty="0"/>
              <a:t>Nome VARCHAR(255),</a:t>
            </a:r>
            <a:endParaRPr lang="pt-B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  Departamento VARCHAR(255),</a:t>
            </a:r>
            <a:endParaRPr lang="pt-B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  Salario DECIMAL(10, 2)</a:t>
            </a:r>
            <a:endParaRPr lang="pt-BR" sz="3200" dirty="0"/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);</a:t>
            </a:r>
            <a:endParaRPr lang="pt-BR" sz="32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pt-BR" b="1" dirty="0"/>
              <a:t>Dependência Funcional</a:t>
            </a:r>
            <a:r>
              <a:rPr lang="pt-BR" dirty="0"/>
              <a:t>: </a:t>
            </a:r>
            <a:r>
              <a:rPr lang="pt-BR" dirty="0" err="1"/>
              <a:t>ID_Funcionario</a:t>
            </a:r>
            <a:r>
              <a:rPr lang="pt-BR" dirty="0"/>
              <a:t> -&gt; Nome, Departamento, Salario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pt-BR" b="1" dirty="0"/>
              <a:t>Explicação</a:t>
            </a:r>
            <a:r>
              <a:rPr lang="pt-BR" dirty="0"/>
              <a:t>: O valor de "</a:t>
            </a:r>
            <a:r>
              <a:rPr lang="pt-BR" dirty="0" err="1"/>
              <a:t>ID_Funcionario</a:t>
            </a:r>
            <a:r>
              <a:rPr lang="pt-BR" dirty="0"/>
              <a:t>" determina unicamente os valores de "Nome", "Departamento", e "Salario". Cada funcionário é identificado por um ID único, que determina seus atributos associados.</a:t>
            </a:r>
          </a:p>
          <a:p>
            <a:pPr marL="0" indent="0">
              <a:lnSpc>
                <a:spcPct val="120000"/>
              </a:lnSpc>
              <a:buNone/>
            </a:pP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8CF9D453-6B51-9B0A-C472-BAE9E401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10</a:t>
            </a:fld>
            <a:endParaRPr lang="pt-BR" dirty="0"/>
          </a:p>
        </p:txBody>
      </p:sp>
      <p:pic>
        <p:nvPicPr>
          <p:cNvPr id="5" name="Câmera 4">
            <a:extLst>
              <a:ext uri="{FF2B5EF4-FFF2-40B4-BE49-F238E27FC236}">
                <a16:creationId xmlns:a16="http://schemas.microsoft.com/office/drawing/2014/main" id="{B375299D-D6AF-4876-B65E-213F226EE1E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7098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387" y="410845"/>
            <a:ext cx="5864352" cy="2362836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Importância na Integridade dos Dados</a:t>
            </a:r>
          </a:p>
        </p:txBody>
      </p:sp>
      <p:pic>
        <p:nvPicPr>
          <p:cNvPr id="12" name="Espaço Reservado para Imagem 11" descr="Uma pessoa com uma camisa amarela">
            <a:extLst>
              <a:ext uri="{FF2B5EF4-FFF2-40B4-BE49-F238E27FC236}">
                <a16:creationId xmlns:a16="http://schemas.microsoft.com/office/drawing/2014/main" id="{BC85F8C0-B84C-01D2-4208-5596D725B2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" r="33"/>
          <a:stretch/>
        </p:blipFill>
        <p:spPr>
          <a:xfrm>
            <a:off x="-15240" y="-15240"/>
            <a:ext cx="4581525" cy="6602413"/>
          </a:xfr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D6AA66-EC20-FCAE-04B0-6BEB18463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04387" y="2902902"/>
            <a:ext cx="5864225" cy="236283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A dependência funcional desempenha um papel crucial na integridade dos dados e na normalização de tabelas em bancos de dados relacionais:</a:t>
            </a:r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D845CE63-E46E-4AE0-9BD6-FE5E09843EA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4F40F-07FD-86BB-5850-424FD2D0C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BFEDD-8C45-4084-8AFD-96EC1AADB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Integridade dos Dados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D98A56D-07F9-366E-E8F6-C94895D5C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8986" y="1682496"/>
            <a:ext cx="9383318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lvl="1" algn="just"/>
            <a:r>
              <a:rPr lang="pt-BR" sz="2400" b="1" dirty="0"/>
              <a:t>Garante a Consistência</a:t>
            </a:r>
            <a:r>
              <a:rPr lang="pt-BR" sz="2400" dirty="0"/>
              <a:t>: A dependência funcional ajuda a garantir que os dados em uma tabela sejam consistentes e precisos. Por exemplo, se "</a:t>
            </a:r>
            <a:r>
              <a:rPr lang="pt-BR" sz="2400" dirty="0" err="1"/>
              <a:t>ID_Estudante</a:t>
            </a:r>
            <a:r>
              <a:rPr lang="pt-BR" sz="2400" dirty="0"/>
              <a:t>" determina "Nome", não pode haver dois registros com o mesmo "</a:t>
            </a:r>
            <a:r>
              <a:rPr lang="pt-BR" sz="2400" dirty="0" err="1"/>
              <a:t>ID_Estudante</a:t>
            </a:r>
            <a:r>
              <a:rPr lang="pt-BR" sz="2400" dirty="0"/>
              <a:t>" mas com nomes diferentes.</a:t>
            </a:r>
          </a:p>
          <a:p>
            <a:pPr lvl="1" algn="just"/>
            <a:r>
              <a:rPr lang="pt-BR" sz="2400" b="1" dirty="0"/>
              <a:t>Evita Redundância</a:t>
            </a:r>
            <a:r>
              <a:rPr lang="pt-BR" sz="2400" dirty="0"/>
              <a:t>: Com a definição clara de dependências funcionais, é possível evitar a redundância de dados. A redundância pode levar a inconsistências e a um maior uso de espaço de armazenamento.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F37C9DA8-EE4D-AC81-668A-532FBC5D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12</a:t>
            </a:fld>
            <a:endParaRPr lang="pt-BR" dirty="0"/>
          </a:p>
        </p:txBody>
      </p:sp>
      <p:pic>
        <p:nvPicPr>
          <p:cNvPr id="5" name="Câmera 4">
            <a:extLst>
              <a:ext uri="{FF2B5EF4-FFF2-40B4-BE49-F238E27FC236}">
                <a16:creationId xmlns:a16="http://schemas.microsoft.com/office/drawing/2014/main" id="{30D3B7F4-A7A5-3028-CFDA-E6D78DE297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21344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1364-3FCC-C529-8094-3AA29F10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6F0F7B-B6CC-C94F-CC72-D2F912CDA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Normalização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F99855-E268-231C-619A-78CC5A1D7F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8986" y="1682496"/>
            <a:ext cx="9383318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lvl="1" algn="just"/>
            <a:r>
              <a:rPr lang="pt-BR" sz="2400" b="1" dirty="0"/>
              <a:t>Primeira Forma Normal (1NF)</a:t>
            </a:r>
            <a:r>
              <a:rPr lang="pt-BR" sz="2400" dirty="0"/>
              <a:t>: Uma tabela está na 1NF se todos os valores das colunas são atômicos (não divididos). A dependência funcional é usada para identificar os atributos que devem estar em tabelas separadas.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0BA87D1-1857-8547-72E5-1C73272D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13</a:t>
            </a:fld>
            <a:endParaRPr lang="pt-BR" dirty="0"/>
          </a:p>
        </p:txBody>
      </p:sp>
      <p:pic>
        <p:nvPicPr>
          <p:cNvPr id="5" name="Câmera 4">
            <a:extLst>
              <a:ext uri="{FF2B5EF4-FFF2-40B4-BE49-F238E27FC236}">
                <a16:creationId xmlns:a16="http://schemas.microsoft.com/office/drawing/2014/main" id="{870B937C-9733-2217-0A74-A0601A01C87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7210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33DCD-BA48-24DB-6B5B-6717CBD7B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253BE-57D7-B4B5-9C93-6EB74DA0D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Normalização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B99DF5-AFC0-E581-3199-EA7DE89CED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8986" y="1682496"/>
            <a:ext cx="9383318" cy="149332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lvl="1" algn="just"/>
            <a:r>
              <a:rPr lang="pt-BR" sz="2400" b="1" dirty="0"/>
              <a:t>Segunda Forma Normal (2NF): Uma tabela está na 2NF se está na 1NF e todos os atributos não-chave são totalmente dependentes da chave primária. Isso elimina dependências parciais.</a:t>
            </a:r>
            <a:endParaRPr lang="pt-BR" sz="2400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0A8FF52-E928-AB32-7260-BF376E05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14</a:t>
            </a:fld>
            <a:endParaRPr lang="pt-BR" dirty="0"/>
          </a:p>
        </p:txBody>
      </p:sp>
      <p:pic>
        <p:nvPicPr>
          <p:cNvPr id="5" name="Câmera 4">
            <a:extLst>
              <a:ext uri="{FF2B5EF4-FFF2-40B4-BE49-F238E27FC236}">
                <a16:creationId xmlns:a16="http://schemas.microsoft.com/office/drawing/2014/main" id="{942A864A-B3B9-A084-3034-0CB90C3C9D5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22172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49B9D-4326-313D-897D-F1FE0E2B8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7D3A6-E957-A81C-9970-23097DF2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Normalização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A8166A-FDD2-B29C-83A9-0970576F88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8986" y="1682496"/>
            <a:ext cx="9383318" cy="149332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lvl="1" algn="just"/>
            <a:r>
              <a:rPr lang="pt-BR" sz="2400" b="1" dirty="0"/>
              <a:t>Terceira Forma Normal (3NF): Uma tabela está na 3NF se está na 2NF e todos os atributos não-chave são dependentes apenas da chave primária, eliminando dependências transitivas.</a:t>
            </a:r>
            <a:endParaRPr lang="pt-BR" sz="2400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0A3A1439-8907-0342-4568-E3AB44B2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15</a:t>
            </a:fld>
            <a:endParaRPr lang="pt-BR" dirty="0"/>
          </a:p>
        </p:txBody>
      </p:sp>
      <p:pic>
        <p:nvPicPr>
          <p:cNvPr id="5" name="Câmera 4">
            <a:extLst>
              <a:ext uri="{FF2B5EF4-FFF2-40B4-BE49-F238E27FC236}">
                <a16:creationId xmlns:a16="http://schemas.microsoft.com/office/drawing/2014/main" id="{BDA0ED1D-D271-8159-FD6E-36538CE9D08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27827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4615544" cy="3316893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Exemplo de Normalização Utilizando Dependências Funcionais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Considere uma tabela "Pedidos" que não está normalizada:</a:t>
            </a:r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420E6AF7-4F0A-B1A8-ACCD-484055700EF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909" y="274231"/>
            <a:ext cx="10405174" cy="62719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Exemplo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934066"/>
            <a:ext cx="5005592" cy="515210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1600" b="1" dirty="0"/>
              <a:t>CREATE</a:t>
            </a:r>
            <a:r>
              <a:rPr lang="pt-BR" sz="1600" dirty="0"/>
              <a:t> </a:t>
            </a:r>
            <a:r>
              <a:rPr lang="pt-BR" sz="1600" b="1" dirty="0"/>
              <a:t>TABLE</a:t>
            </a:r>
            <a:r>
              <a:rPr lang="pt-BR" sz="1600" dirty="0"/>
              <a:t> Pedidos (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ID_Pedido</a:t>
            </a:r>
            <a:r>
              <a:rPr lang="pt-BR" sz="1600" dirty="0"/>
              <a:t> INT,</a:t>
            </a:r>
          </a:p>
          <a:p>
            <a:r>
              <a:rPr lang="pt-BR" sz="1600" dirty="0"/>
              <a:t>  Data DATE,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ID_Cliente</a:t>
            </a:r>
            <a:r>
              <a:rPr lang="pt-BR" sz="1600" dirty="0"/>
              <a:t> INT,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Nome_Cliente</a:t>
            </a:r>
            <a:r>
              <a:rPr lang="pt-BR" sz="1600" dirty="0"/>
              <a:t> VARCHAR(255),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Endereco_Cliente</a:t>
            </a:r>
            <a:r>
              <a:rPr lang="pt-BR" sz="1600" dirty="0"/>
              <a:t> VARCHAR(255),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ID_Produto</a:t>
            </a:r>
            <a:r>
              <a:rPr lang="pt-BR" sz="1600" dirty="0"/>
              <a:t> INT,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Descricao_Produto</a:t>
            </a:r>
            <a:r>
              <a:rPr lang="pt-BR" sz="1600" dirty="0"/>
              <a:t> VARCHAR(255),</a:t>
            </a:r>
          </a:p>
          <a:p>
            <a:r>
              <a:rPr lang="pt-BR" sz="1600" dirty="0"/>
              <a:t>  Quantidade INT,</a:t>
            </a:r>
          </a:p>
          <a:p>
            <a:r>
              <a:rPr lang="pt-BR" sz="1600" dirty="0"/>
              <a:t>  </a:t>
            </a:r>
            <a:r>
              <a:rPr lang="pt-BR" sz="1600" dirty="0" err="1"/>
              <a:t>Preco_Unitario</a:t>
            </a:r>
            <a:r>
              <a:rPr lang="pt-BR" sz="1600" dirty="0"/>
              <a:t> DECIMAL(10, 2)</a:t>
            </a:r>
          </a:p>
          <a:p>
            <a:r>
              <a:rPr lang="pt-BR" sz="1600" dirty="0"/>
              <a:t>);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E5B1204-B9F7-0D66-EBAA-9265C1E35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766916"/>
            <a:ext cx="5202238" cy="515210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b="1" dirty="0"/>
              <a:t>Dependências funcionais</a:t>
            </a:r>
            <a:r>
              <a:rPr lang="pt-BR" dirty="0"/>
              <a:t>:</a:t>
            </a:r>
          </a:p>
          <a:p>
            <a:pPr lvl="0"/>
            <a:r>
              <a:rPr lang="pt-BR" dirty="0" err="1"/>
              <a:t>ID_Pedido</a:t>
            </a:r>
            <a:r>
              <a:rPr lang="pt-BR" dirty="0"/>
              <a:t> -&gt; Data, </a:t>
            </a:r>
            <a:r>
              <a:rPr lang="pt-BR" dirty="0" err="1"/>
              <a:t>ID_Cliente</a:t>
            </a:r>
            <a:r>
              <a:rPr lang="pt-BR" dirty="0"/>
              <a:t>, </a:t>
            </a:r>
            <a:r>
              <a:rPr lang="pt-BR" dirty="0" err="1"/>
              <a:t>ID_Produto</a:t>
            </a:r>
            <a:r>
              <a:rPr lang="pt-BR" dirty="0"/>
              <a:t>, Quantidade, </a:t>
            </a:r>
            <a:r>
              <a:rPr lang="pt-BR" dirty="0" err="1"/>
              <a:t>Preco_Unitario</a:t>
            </a:r>
            <a:endParaRPr lang="pt-BR" dirty="0"/>
          </a:p>
          <a:p>
            <a:pPr lvl="0"/>
            <a:r>
              <a:rPr lang="pt-BR" dirty="0" err="1"/>
              <a:t>ID_Cliente</a:t>
            </a:r>
            <a:r>
              <a:rPr lang="pt-BR" dirty="0"/>
              <a:t> -&gt; </a:t>
            </a:r>
            <a:r>
              <a:rPr lang="pt-BR" dirty="0" err="1"/>
              <a:t>Nome_Cliente</a:t>
            </a:r>
            <a:r>
              <a:rPr lang="pt-BR" dirty="0"/>
              <a:t>, </a:t>
            </a:r>
            <a:r>
              <a:rPr lang="pt-BR" dirty="0" err="1"/>
              <a:t>Endereco_Cliente</a:t>
            </a:r>
            <a:endParaRPr lang="pt-BR" dirty="0"/>
          </a:p>
          <a:p>
            <a:pPr lvl="0"/>
            <a:r>
              <a:rPr lang="pt-BR" dirty="0" err="1"/>
              <a:t>ID_Produto</a:t>
            </a:r>
            <a:r>
              <a:rPr lang="pt-BR" dirty="0"/>
              <a:t> -&gt; </a:t>
            </a:r>
            <a:r>
              <a:rPr lang="pt-BR" dirty="0" err="1"/>
              <a:t>Descricao_Produto</a:t>
            </a:r>
            <a:endParaRPr lang="pt-BR" dirty="0"/>
          </a:p>
          <a:p>
            <a:r>
              <a:rPr lang="pt-BR" b="1" dirty="0"/>
              <a:t>Problemas</a:t>
            </a:r>
            <a:r>
              <a:rPr lang="pt-BR" dirty="0"/>
              <a:t>:</a:t>
            </a:r>
          </a:p>
          <a:p>
            <a:pPr lvl="0"/>
            <a:r>
              <a:rPr lang="pt-BR" dirty="0"/>
              <a:t>Redundância de dados do cliente e do produto.</a:t>
            </a:r>
          </a:p>
          <a:p>
            <a:pPr lvl="0"/>
            <a:r>
              <a:rPr lang="pt-BR" dirty="0"/>
              <a:t>Dificuldade em manter a integridade dos dados.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17</a:t>
            </a:fld>
            <a:endParaRPr lang="pt-BR" dirty="0"/>
          </a:p>
        </p:txBody>
      </p:sp>
      <p:pic>
        <p:nvPicPr>
          <p:cNvPr id="6" name="Câmera 5">
            <a:extLst>
              <a:ext uri="{FF2B5EF4-FFF2-40B4-BE49-F238E27FC236}">
                <a16:creationId xmlns:a16="http://schemas.microsoft.com/office/drawing/2014/main" id="{B97ED55A-8774-8E8A-E4F1-894554EF28E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A21FE-ACD2-436D-93F6-944EF02B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4AD12-9B8B-3EB3-5CB7-AA6F0F3B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909" y="274231"/>
            <a:ext cx="10405174" cy="797485"/>
          </a:xfrm>
        </p:spPr>
        <p:txBody>
          <a:bodyPr rtlCol="0">
            <a:normAutofit fontScale="90000"/>
          </a:bodyPr>
          <a:lstStyle>
            <a:defPPr>
              <a:defRPr lang="pt-BR"/>
            </a:defPPr>
          </a:lstStyle>
          <a:p>
            <a:r>
              <a:rPr lang="pt-BR" dirty="0"/>
              <a:t>Exemplo - Normalização: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91F7DA-CA3B-0D2D-7F9E-97BE8E5DA2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934066"/>
            <a:ext cx="5005592" cy="515210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lvl="0"/>
            <a:r>
              <a:rPr lang="pt-BR" b="1" dirty="0"/>
              <a:t>Criar Tabela de Clientes</a:t>
            </a:r>
            <a:r>
              <a:rPr lang="pt-BR" dirty="0"/>
              <a:t>:</a:t>
            </a:r>
          </a:p>
          <a:p>
            <a:r>
              <a:rPr lang="pt-BR" dirty="0"/>
              <a:t> CREATE TABLE Clientes (</a:t>
            </a:r>
          </a:p>
          <a:p>
            <a:r>
              <a:rPr lang="en-US" dirty="0"/>
              <a:t>  </a:t>
            </a:r>
            <a:r>
              <a:rPr lang="en-US" dirty="0" err="1"/>
              <a:t>ID_Cliente</a:t>
            </a:r>
            <a:r>
              <a:rPr lang="en-US" dirty="0"/>
              <a:t> INT PRIMARY KEY,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 err="1"/>
              <a:t>Nome_Cliente</a:t>
            </a:r>
            <a:r>
              <a:rPr lang="pt-BR" dirty="0"/>
              <a:t> VARCHAR(255),</a:t>
            </a:r>
          </a:p>
          <a:p>
            <a:r>
              <a:rPr lang="pt-BR" dirty="0"/>
              <a:t>  </a:t>
            </a:r>
            <a:r>
              <a:rPr lang="pt-BR" dirty="0" err="1"/>
              <a:t>Endereco_Cliente</a:t>
            </a:r>
            <a:r>
              <a:rPr lang="pt-BR" dirty="0"/>
              <a:t> VARCHAR(255)</a:t>
            </a:r>
          </a:p>
          <a:p>
            <a:r>
              <a:rPr lang="pt-BR" dirty="0"/>
              <a:t>);</a:t>
            </a:r>
          </a:p>
          <a:p>
            <a:pPr lvl="0"/>
            <a:r>
              <a:rPr lang="pt-BR" b="1" dirty="0"/>
              <a:t>Criar Tabela de Produtos</a:t>
            </a:r>
            <a:r>
              <a:rPr lang="pt-BR" dirty="0"/>
              <a:t>:</a:t>
            </a:r>
          </a:p>
          <a:p>
            <a:r>
              <a:rPr lang="pt-BR" dirty="0"/>
              <a:t>CREATE TABLE Produtos (</a:t>
            </a:r>
          </a:p>
          <a:p>
            <a:r>
              <a:rPr lang="en-US" dirty="0"/>
              <a:t>  </a:t>
            </a:r>
            <a:r>
              <a:rPr lang="en-US" dirty="0" err="1"/>
              <a:t>ID_Produto</a:t>
            </a:r>
            <a:r>
              <a:rPr lang="en-US" dirty="0"/>
              <a:t> INT PRIMARY KEY,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 err="1"/>
              <a:t>Descricao_Produto</a:t>
            </a:r>
            <a:r>
              <a:rPr lang="pt-BR" dirty="0"/>
              <a:t> VARCHAR(255)</a:t>
            </a:r>
          </a:p>
          <a:p>
            <a:r>
              <a:rPr lang="pt-BR" dirty="0"/>
              <a:t>);</a:t>
            </a:r>
          </a:p>
          <a:p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2312CFA-39AF-A3CC-E568-3E1B5A7387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766916"/>
            <a:ext cx="5202238" cy="5152103"/>
          </a:xfrm>
        </p:spPr>
        <p:txBody>
          <a:bodyPr rtlCol="0">
            <a:normAutofit fontScale="92500" lnSpcReduction="20000"/>
          </a:bodyPr>
          <a:lstStyle>
            <a:defPPr>
              <a:defRPr lang="pt-BR"/>
            </a:defPPr>
          </a:lstStyle>
          <a:p>
            <a:pPr lvl="0"/>
            <a:r>
              <a:rPr lang="pt-BR" b="1" dirty="0"/>
              <a:t>Atualizar Tabela de Pedidos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CREATE TABLE Pedidos (</a:t>
            </a:r>
          </a:p>
          <a:p>
            <a:r>
              <a:rPr lang="pt-BR" dirty="0"/>
              <a:t>  </a:t>
            </a:r>
            <a:r>
              <a:rPr lang="en-US" dirty="0" err="1"/>
              <a:t>ID_Pedido</a:t>
            </a:r>
            <a:r>
              <a:rPr lang="en-US" dirty="0"/>
              <a:t> INT PRIMARY KEY,</a:t>
            </a:r>
            <a:endParaRPr lang="pt-BR" dirty="0"/>
          </a:p>
          <a:p>
            <a:r>
              <a:rPr lang="en-US" dirty="0"/>
              <a:t>  Data DATE,</a:t>
            </a:r>
            <a:endParaRPr lang="pt-BR" dirty="0"/>
          </a:p>
          <a:p>
            <a:r>
              <a:rPr lang="en-US" dirty="0"/>
              <a:t>  </a:t>
            </a:r>
            <a:r>
              <a:rPr lang="en-US" dirty="0" err="1"/>
              <a:t>ID_Cliente</a:t>
            </a:r>
            <a:r>
              <a:rPr lang="en-US" dirty="0"/>
              <a:t> INT,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 err="1"/>
              <a:t>ID_Produto</a:t>
            </a:r>
            <a:r>
              <a:rPr lang="pt-BR" dirty="0"/>
              <a:t> INT,</a:t>
            </a:r>
          </a:p>
          <a:p>
            <a:r>
              <a:rPr lang="pt-BR" dirty="0"/>
              <a:t>  Quantidade INT,</a:t>
            </a:r>
          </a:p>
          <a:p>
            <a:r>
              <a:rPr lang="pt-BR" dirty="0"/>
              <a:t>  </a:t>
            </a:r>
            <a:r>
              <a:rPr lang="pt-BR" dirty="0" err="1"/>
              <a:t>Preco_Unitario</a:t>
            </a:r>
            <a:r>
              <a:rPr lang="pt-BR" dirty="0"/>
              <a:t> DECIMAL(10, 2),</a:t>
            </a:r>
          </a:p>
          <a:p>
            <a:r>
              <a:rPr lang="pt-BR" dirty="0"/>
              <a:t>  FOREIGN KEY (</a:t>
            </a:r>
            <a:r>
              <a:rPr lang="pt-BR" dirty="0" err="1"/>
              <a:t>ID_Cliente</a:t>
            </a:r>
            <a:r>
              <a:rPr lang="pt-BR" dirty="0"/>
              <a:t>) REFERENCES Clientes(</a:t>
            </a:r>
            <a:r>
              <a:rPr lang="pt-BR" dirty="0" err="1"/>
              <a:t>ID_Cliente</a:t>
            </a:r>
            <a:r>
              <a:rPr lang="pt-BR" dirty="0"/>
              <a:t>),</a:t>
            </a:r>
          </a:p>
          <a:p>
            <a:r>
              <a:rPr lang="pt-BR" dirty="0"/>
              <a:t>  FOREIGN KEY (</a:t>
            </a:r>
            <a:r>
              <a:rPr lang="pt-BR" dirty="0" err="1"/>
              <a:t>ID_Produto</a:t>
            </a:r>
            <a:r>
              <a:rPr lang="pt-BR" dirty="0"/>
              <a:t>) REFERENCES Produtos(</a:t>
            </a:r>
            <a:r>
              <a:rPr lang="pt-BR" dirty="0" err="1"/>
              <a:t>ID_Produto</a:t>
            </a:r>
            <a:r>
              <a:rPr lang="pt-BR" dirty="0"/>
              <a:t>)</a:t>
            </a:r>
          </a:p>
          <a:p>
            <a:r>
              <a:rPr lang="pt-BR" dirty="0"/>
              <a:t>);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450F8041-12CB-B217-DA9A-AD17EEC99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18</a:t>
            </a:fld>
            <a:endParaRPr lang="pt-BR" dirty="0"/>
          </a:p>
        </p:txBody>
      </p:sp>
      <p:pic>
        <p:nvPicPr>
          <p:cNvPr id="6" name="Câmera 5">
            <a:extLst>
              <a:ext uri="{FF2B5EF4-FFF2-40B4-BE49-F238E27FC236}">
                <a16:creationId xmlns:a16="http://schemas.microsoft.com/office/drawing/2014/main" id="{29D03A4D-AD97-333B-5E92-6A8C6654616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6618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Conclusão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59" y="1573692"/>
            <a:ext cx="10968375" cy="246888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algn="just"/>
            <a:r>
              <a:rPr lang="pt-BR" dirty="0"/>
              <a:t>Entender o conceito de dependência funcional e sua aplicação na modelagem de dados é essencial para garantir a integridade e eficiência dos bancos de dados. As dependências funcionais são fundamentais para identificar e eliminar redundâncias, garantindo que os dados sejam armazenados de maneira lógica e consistente. Além disso, elas são uma parte crucial do processo de normalização, ajudando a dividir os dados em tabelas menores e mais gerenciáveis, mantendo a integridade dos dados ao longo do tempo.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19</a:t>
            </a:fld>
            <a:endParaRPr lang="pt-BR" dirty="0"/>
          </a:p>
        </p:txBody>
      </p:sp>
      <p:pic>
        <p:nvPicPr>
          <p:cNvPr id="10" name="Espaço Reservado para Imagem 9" descr="Uma pessoa usando um lenço azul na cabeça">
            <a:extLst>
              <a:ext uri="{FF2B5EF4-FFF2-40B4-BE49-F238E27FC236}">
                <a16:creationId xmlns:a16="http://schemas.microsoft.com/office/drawing/2014/main" id="{2DB9BC6B-625B-CD8D-FB1A-1E9EBC1544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962" b="962"/>
          <a:stretch/>
        </p:blipFill>
        <p:spPr>
          <a:xfrm>
            <a:off x="2179320" y="4094802"/>
            <a:ext cx="10027919" cy="2468880"/>
          </a:xfrm>
        </p:spPr>
      </p:pic>
      <p:pic>
        <p:nvPicPr>
          <p:cNvPr id="3" name="Câmera 2">
            <a:extLst>
              <a:ext uri="{FF2B5EF4-FFF2-40B4-BE49-F238E27FC236}">
                <a16:creationId xmlns:a16="http://schemas.microsoft.com/office/drawing/2014/main" id="{2C94008C-79A2-E718-09D1-A060B4460E4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Obrigado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Elionai Magalhães</a:t>
            </a:r>
          </a:p>
        </p:txBody>
      </p:sp>
      <p:pic>
        <p:nvPicPr>
          <p:cNvPr id="4" name="Câmera 3">
            <a:extLst>
              <a:ext uri="{FF2B5EF4-FFF2-40B4-BE49-F238E27FC236}">
                <a16:creationId xmlns:a16="http://schemas.microsoft.com/office/drawing/2014/main" id="{F140174F-479F-F05A-A1AE-FE53464AF65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477_TF16411248_Win32" id="{E0B7C64D-E7E1-4555-8117-61C2A45FE039}" vid="{4C7C9429-2BC7-4AFE-A088-9B9FA8128CA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{D9673681-6E91-4589-9524-1D7960017B89}tf16411248_win32</Template>
  <TotalTime>603</TotalTime>
  <Words>1185</Words>
  <Application>Microsoft Office PowerPoint</Application>
  <PresentationFormat>Widescreen</PresentationFormat>
  <Paragraphs>146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Avenir Next LT Pro Light</vt:lpstr>
      <vt:lpstr>Calibri</vt:lpstr>
      <vt:lpstr>Posterama</vt:lpstr>
      <vt:lpstr>Personalizado</vt:lpstr>
      <vt:lpstr>Dependência Funcional </vt:lpstr>
      <vt:lpstr>Agenda </vt:lpstr>
      <vt:lpstr>Conceito de Dependência Funcional e sua Importância na Modelagem de Dados</vt:lpstr>
      <vt:lpstr>Conceito de Dependência Funcional</vt:lpstr>
      <vt:lpstr>Conceito de Dependência Funcional</vt:lpstr>
      <vt:lpstr>Conceito de Dependência Funcional</vt:lpstr>
      <vt:lpstr>Conceito de Dependência Funcional</vt:lpstr>
      <vt:lpstr>Conceito de Dependência Funcional</vt:lpstr>
      <vt:lpstr>Conceito de Dependência Funcional</vt:lpstr>
      <vt:lpstr>Conceito de Dependência Funcional</vt:lpstr>
      <vt:lpstr>Importância na Integridade dos Dados</vt:lpstr>
      <vt:lpstr>Integridade dos Dados</vt:lpstr>
      <vt:lpstr>Normalização</vt:lpstr>
      <vt:lpstr>Normalização</vt:lpstr>
      <vt:lpstr>Normalização</vt:lpstr>
      <vt:lpstr>Exemplo de Normalização Utilizando Dependências Funcionais</vt:lpstr>
      <vt:lpstr>Exemplo</vt:lpstr>
      <vt:lpstr>Exemplo - Normalização: </vt:lpstr>
      <vt:lpstr>Conclusão</vt:lpstr>
      <vt:lpstr>Obrigado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Elionai Magalhaes 487017 - Professor MULTIVIX</dc:creator>
  <cp:lastModifiedBy>Elionai Magalhaes 487017 - Professor MULTIVIX</cp:lastModifiedBy>
  <cp:revision>12</cp:revision>
  <dcterms:created xsi:type="dcterms:W3CDTF">2025-07-31T13:16:37Z</dcterms:created>
  <dcterms:modified xsi:type="dcterms:W3CDTF">2025-07-31T23:19:39Z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