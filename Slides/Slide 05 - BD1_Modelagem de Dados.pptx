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1" r:id="rId1"/>
  </p:sldMasterIdLst>
  <p:notesMasterIdLst>
    <p:notesMasterId r:id="rId56"/>
  </p:notesMasterIdLst>
  <p:handoutMasterIdLst>
    <p:handoutMasterId r:id="rId57"/>
  </p:handoutMasterIdLst>
  <p:sldIdLst>
    <p:sldId id="513" r:id="rId2"/>
    <p:sldId id="465" r:id="rId3"/>
    <p:sldId id="466" r:id="rId4"/>
    <p:sldId id="467" r:id="rId5"/>
    <p:sldId id="468" r:id="rId6"/>
    <p:sldId id="474" r:id="rId7"/>
    <p:sldId id="475" r:id="rId8"/>
    <p:sldId id="476" r:id="rId9"/>
    <p:sldId id="477" r:id="rId10"/>
    <p:sldId id="478" r:id="rId11"/>
    <p:sldId id="479" r:id="rId12"/>
    <p:sldId id="515" r:id="rId13"/>
    <p:sldId id="516" r:id="rId14"/>
    <p:sldId id="517" r:id="rId15"/>
    <p:sldId id="518" r:id="rId16"/>
    <p:sldId id="520" r:id="rId17"/>
    <p:sldId id="521" r:id="rId18"/>
    <p:sldId id="480" r:id="rId19"/>
    <p:sldId id="481" r:id="rId20"/>
    <p:sldId id="519" r:id="rId21"/>
    <p:sldId id="522" r:id="rId22"/>
    <p:sldId id="523" r:id="rId23"/>
    <p:sldId id="482" r:id="rId24"/>
    <p:sldId id="483" r:id="rId25"/>
    <p:sldId id="484" r:id="rId26"/>
    <p:sldId id="485" r:id="rId27"/>
    <p:sldId id="486" r:id="rId28"/>
    <p:sldId id="487" r:id="rId29"/>
    <p:sldId id="488" r:id="rId30"/>
    <p:sldId id="490" r:id="rId31"/>
    <p:sldId id="491" r:id="rId32"/>
    <p:sldId id="489" r:id="rId33"/>
    <p:sldId id="492" r:id="rId34"/>
    <p:sldId id="494" r:id="rId35"/>
    <p:sldId id="495" r:id="rId36"/>
    <p:sldId id="496" r:id="rId37"/>
    <p:sldId id="497" r:id="rId38"/>
    <p:sldId id="498" r:id="rId39"/>
    <p:sldId id="499" r:id="rId40"/>
    <p:sldId id="500" r:id="rId41"/>
    <p:sldId id="501" r:id="rId42"/>
    <p:sldId id="502" r:id="rId43"/>
    <p:sldId id="503" r:id="rId44"/>
    <p:sldId id="504" r:id="rId45"/>
    <p:sldId id="505" r:id="rId46"/>
    <p:sldId id="506" r:id="rId47"/>
    <p:sldId id="507" r:id="rId48"/>
    <p:sldId id="508" r:id="rId49"/>
    <p:sldId id="509" r:id="rId50"/>
    <p:sldId id="510" r:id="rId51"/>
    <p:sldId id="511" r:id="rId52"/>
    <p:sldId id="512" r:id="rId53"/>
    <p:sldId id="514" r:id="rId54"/>
    <p:sldId id="524" r:id="rId55"/>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CB2"/>
    <a:srgbClr val="7EC234"/>
    <a:srgbClr val="008000"/>
    <a:srgbClr val="EECD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6" autoAdjust="0"/>
    <p:restoredTop sz="99104" autoAdjust="0"/>
  </p:normalViewPr>
  <p:slideViewPr>
    <p:cSldViewPr>
      <p:cViewPr varScale="1">
        <p:scale>
          <a:sx n="82" d="100"/>
          <a:sy n="82" d="100"/>
        </p:scale>
        <p:origin x="1320"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66686C5-9FC3-4ECF-B0E5-F803BBF7867B}" type="datetimeFigureOut">
              <a:rPr lang="pt-BR" smtClean="0"/>
              <a:pPr/>
              <a:t>06/04/2026</a:t>
            </a:fld>
            <a:endParaRPr lang="pt-BR"/>
          </a:p>
        </p:txBody>
      </p:sp>
      <p:sp>
        <p:nvSpPr>
          <p:cNvPr id="4" name="Espaço Reservado para Rodapé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378A3F-4B77-4156-875B-A64AE335C5C0}" type="slidenum">
              <a:rPr lang="pt-BR" smtClean="0"/>
              <a:pPr/>
              <a:t>‹nº›</a:t>
            </a:fld>
            <a:endParaRPr lang="pt-B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980A45-D736-45A4-B247-1A59E06B267F}" type="datetimeFigureOut">
              <a:rPr lang="pt-BR" smtClean="0"/>
              <a:pPr/>
              <a:t>06/04/2026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C5DF64-329D-4CCC-BB41-12FF3AB451DC}" type="slidenum">
              <a:rPr lang="pt-BR" smtClean="0"/>
              <a:pPr/>
              <a:t>‹nº›</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F50DF9-7D9F-459B-9FFC-4F2827764A7D}"/>
              </a:ext>
            </a:extLst>
          </p:cNvPr>
          <p:cNvSpPr>
            <a:spLocks noGrp="1"/>
          </p:cNvSpPr>
          <p:nvPr>
            <p:ph type="ctrTitle"/>
          </p:nvPr>
        </p:nvSpPr>
        <p:spPr>
          <a:xfrm>
            <a:off x="1143000" y="1122363"/>
            <a:ext cx="6858000" cy="2387600"/>
          </a:xfrm>
        </p:spPr>
        <p:txBody>
          <a:bodyPr anchor="b"/>
          <a:lstStyle>
            <a:lvl1pPr algn="ctr">
              <a:defRPr sz="4500"/>
            </a:lvl1pPr>
          </a:lstStyle>
          <a:p>
            <a:r>
              <a:rPr lang="pt-BR"/>
              <a:t>Clique para editar o título Mestre</a:t>
            </a:r>
          </a:p>
        </p:txBody>
      </p:sp>
      <p:sp>
        <p:nvSpPr>
          <p:cNvPr id="3" name="Subtítulo 2">
            <a:extLst>
              <a:ext uri="{FF2B5EF4-FFF2-40B4-BE49-F238E27FC236}">
                <a16:creationId xmlns:a16="http://schemas.microsoft.com/office/drawing/2014/main" id="{4E819A93-B14E-42B6-8FC5-160083A546B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E93CE30B-4C5E-4857-B421-2BD23971F93A}"/>
              </a:ext>
            </a:extLst>
          </p:cNvPr>
          <p:cNvSpPr>
            <a:spLocks noGrp="1"/>
          </p:cNvSpPr>
          <p:nvPr>
            <p:ph type="dt" sz="half" idx="10"/>
          </p:nvPr>
        </p:nvSpPr>
        <p:spPr/>
        <p:txBody>
          <a:bodyPr/>
          <a:lstStyle/>
          <a:p>
            <a:fld id="{B089DFFF-6767-4A78-A1FB-06DB9CD2B572}" type="datetimeFigureOut">
              <a:rPr lang="pt-BR" smtClean="0"/>
              <a:pPr/>
              <a:t>06/04/2026</a:t>
            </a:fld>
            <a:endParaRPr lang="pt-BR" dirty="0"/>
          </a:p>
        </p:txBody>
      </p:sp>
      <p:sp>
        <p:nvSpPr>
          <p:cNvPr id="5" name="Espaço Reservado para Rodapé 4">
            <a:extLst>
              <a:ext uri="{FF2B5EF4-FFF2-40B4-BE49-F238E27FC236}">
                <a16:creationId xmlns:a16="http://schemas.microsoft.com/office/drawing/2014/main" id="{442D90EF-28DC-45EE-86D7-EC294B22397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E0875E-78AB-414C-B362-11BB47C5BDBD}"/>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3979991938"/>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24EFCA-8653-4D6C-AF9E-767733BE579B}"/>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18F1E570-F325-4C0F-9D01-2D14B2658AAA}"/>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C819C85-9A82-4512-8869-3A496E26CF23}"/>
              </a:ext>
            </a:extLst>
          </p:cNvPr>
          <p:cNvSpPr>
            <a:spLocks noGrp="1"/>
          </p:cNvSpPr>
          <p:nvPr>
            <p:ph type="dt" sz="half" idx="10"/>
          </p:nvPr>
        </p:nvSpPr>
        <p:spPr/>
        <p:txBody>
          <a:bodyPr/>
          <a:lstStyle/>
          <a:p>
            <a:fld id="{B089DFFF-6767-4A78-A1FB-06DB9CD2B572}" type="datetimeFigureOut">
              <a:rPr lang="pt-BR" smtClean="0"/>
              <a:pPr/>
              <a:t>06/04/2026</a:t>
            </a:fld>
            <a:endParaRPr lang="pt-BR" dirty="0"/>
          </a:p>
        </p:txBody>
      </p:sp>
      <p:sp>
        <p:nvSpPr>
          <p:cNvPr id="5" name="Espaço Reservado para Rodapé 4">
            <a:extLst>
              <a:ext uri="{FF2B5EF4-FFF2-40B4-BE49-F238E27FC236}">
                <a16:creationId xmlns:a16="http://schemas.microsoft.com/office/drawing/2014/main" id="{D45D47E2-1987-4DB3-8E2B-4A3F911028B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C8AE7D3-0DA8-4E5A-9ECD-08831F9E00D0}"/>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138551467"/>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D9BED6-A874-45D9-844B-C1E1751C5BE2}"/>
              </a:ext>
            </a:extLst>
          </p:cNvPr>
          <p:cNvSpPr>
            <a:spLocks noGrp="1"/>
          </p:cNvSpPr>
          <p:nvPr>
            <p:ph type="title"/>
          </p:nvPr>
        </p:nvSpPr>
        <p:spPr>
          <a:xfrm>
            <a:off x="623888" y="1709739"/>
            <a:ext cx="7886700" cy="2852737"/>
          </a:xfrm>
        </p:spPr>
        <p:txBody>
          <a:bodyPr anchor="b"/>
          <a:lstStyle>
            <a:lvl1pPr>
              <a:defRPr sz="4500"/>
            </a:lvl1pPr>
          </a:lstStyle>
          <a:p>
            <a:r>
              <a:rPr lang="pt-BR"/>
              <a:t>Clique para editar o título Mestre</a:t>
            </a:r>
          </a:p>
        </p:txBody>
      </p:sp>
      <p:sp>
        <p:nvSpPr>
          <p:cNvPr id="3" name="Espaço Reservado para Texto 2">
            <a:extLst>
              <a:ext uri="{FF2B5EF4-FFF2-40B4-BE49-F238E27FC236}">
                <a16:creationId xmlns:a16="http://schemas.microsoft.com/office/drawing/2014/main" id="{F06551A6-D2D0-44AD-9915-BC9981B8768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DE87C2BB-70D3-47A4-B45D-8237D7BE1227}"/>
              </a:ext>
            </a:extLst>
          </p:cNvPr>
          <p:cNvSpPr>
            <a:spLocks noGrp="1"/>
          </p:cNvSpPr>
          <p:nvPr>
            <p:ph type="dt" sz="half" idx="10"/>
          </p:nvPr>
        </p:nvSpPr>
        <p:spPr/>
        <p:txBody>
          <a:bodyPr/>
          <a:lstStyle/>
          <a:p>
            <a:fld id="{B089DFFF-6767-4A78-A1FB-06DB9CD2B572}" type="datetimeFigureOut">
              <a:rPr lang="pt-BR" smtClean="0"/>
              <a:pPr/>
              <a:t>06/04/2026</a:t>
            </a:fld>
            <a:endParaRPr lang="pt-BR"/>
          </a:p>
        </p:txBody>
      </p:sp>
      <p:sp>
        <p:nvSpPr>
          <p:cNvPr id="5" name="Espaço Reservado para Rodapé 4">
            <a:extLst>
              <a:ext uri="{FF2B5EF4-FFF2-40B4-BE49-F238E27FC236}">
                <a16:creationId xmlns:a16="http://schemas.microsoft.com/office/drawing/2014/main" id="{58B74924-E736-477E-993A-56D5FC9B20D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AB31208-D674-4729-B9D0-3AAC69566BEB}"/>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3815447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CE239-30DA-4411-BCD5-62ED58309278}"/>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13BDBBD-DD31-4BA0-A0FE-9B9EBD4C5020}"/>
              </a:ext>
            </a:extLst>
          </p:cNvPr>
          <p:cNvSpPr>
            <a:spLocks noGrp="1"/>
          </p:cNvSpPr>
          <p:nvPr>
            <p:ph sz="half" idx="1"/>
          </p:nvPr>
        </p:nvSpPr>
        <p:spPr>
          <a:xfrm>
            <a:off x="628650" y="1825625"/>
            <a:ext cx="38862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8AD1DE87-6B1C-4C49-B03D-45D87EAB7592}"/>
              </a:ext>
            </a:extLst>
          </p:cNvPr>
          <p:cNvSpPr>
            <a:spLocks noGrp="1"/>
          </p:cNvSpPr>
          <p:nvPr>
            <p:ph sz="half" idx="2"/>
          </p:nvPr>
        </p:nvSpPr>
        <p:spPr>
          <a:xfrm>
            <a:off x="4629150" y="1825625"/>
            <a:ext cx="38862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22EEC256-0368-4817-A681-43B6FFCA5B66}"/>
              </a:ext>
            </a:extLst>
          </p:cNvPr>
          <p:cNvSpPr>
            <a:spLocks noGrp="1"/>
          </p:cNvSpPr>
          <p:nvPr>
            <p:ph type="dt" sz="half" idx="10"/>
          </p:nvPr>
        </p:nvSpPr>
        <p:spPr/>
        <p:txBody>
          <a:bodyPr/>
          <a:lstStyle/>
          <a:p>
            <a:fld id="{B089DFFF-6767-4A78-A1FB-06DB9CD2B572}" type="datetimeFigureOut">
              <a:rPr lang="pt-BR" smtClean="0"/>
              <a:pPr/>
              <a:t>06/04/2026</a:t>
            </a:fld>
            <a:endParaRPr lang="pt-BR"/>
          </a:p>
        </p:txBody>
      </p:sp>
      <p:sp>
        <p:nvSpPr>
          <p:cNvPr id="6" name="Espaço Reservado para Rodapé 5">
            <a:extLst>
              <a:ext uri="{FF2B5EF4-FFF2-40B4-BE49-F238E27FC236}">
                <a16:creationId xmlns:a16="http://schemas.microsoft.com/office/drawing/2014/main" id="{2FB3294D-3E18-425C-9465-682EAEE0DCAA}"/>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1AF2E520-2748-4D78-866C-046671BF8C50}"/>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3865675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C589DF-0A30-40F3-AB99-D60C432CF9A3}"/>
              </a:ext>
            </a:extLst>
          </p:cNvPr>
          <p:cNvSpPr>
            <a:spLocks noGrp="1"/>
          </p:cNvSpPr>
          <p:nvPr>
            <p:ph type="title"/>
          </p:nvPr>
        </p:nvSpPr>
        <p:spPr>
          <a:xfrm>
            <a:off x="629841" y="365126"/>
            <a:ext cx="78867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CCA67762-A936-438D-9B5F-581B0E15C642}"/>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BA8A4022-1E6E-4AAD-AB12-3A39C8A494E7}"/>
              </a:ext>
            </a:extLst>
          </p:cNvPr>
          <p:cNvSpPr>
            <a:spLocks noGrp="1"/>
          </p:cNvSpPr>
          <p:nvPr>
            <p:ph sz="half" idx="2"/>
          </p:nvPr>
        </p:nvSpPr>
        <p:spPr>
          <a:xfrm>
            <a:off x="629842" y="2505075"/>
            <a:ext cx="3868340"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70E04501-52B4-4320-AADA-9F330DD69BE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C8D74088-9976-46DB-82EC-1F67B684AA8D}"/>
              </a:ext>
            </a:extLst>
          </p:cNvPr>
          <p:cNvSpPr>
            <a:spLocks noGrp="1"/>
          </p:cNvSpPr>
          <p:nvPr>
            <p:ph sz="quarter" idx="4"/>
          </p:nvPr>
        </p:nvSpPr>
        <p:spPr>
          <a:xfrm>
            <a:off x="4629150" y="2505075"/>
            <a:ext cx="3887391"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0FABD2CC-EE63-4389-BC9A-EF83C35E1782}"/>
              </a:ext>
            </a:extLst>
          </p:cNvPr>
          <p:cNvSpPr>
            <a:spLocks noGrp="1"/>
          </p:cNvSpPr>
          <p:nvPr>
            <p:ph type="dt" sz="half" idx="10"/>
          </p:nvPr>
        </p:nvSpPr>
        <p:spPr/>
        <p:txBody>
          <a:bodyPr/>
          <a:lstStyle/>
          <a:p>
            <a:fld id="{B089DFFF-6767-4A78-A1FB-06DB9CD2B572}" type="datetimeFigureOut">
              <a:rPr lang="pt-BR" smtClean="0"/>
              <a:pPr/>
              <a:t>06/04/2026</a:t>
            </a:fld>
            <a:endParaRPr lang="pt-BR"/>
          </a:p>
        </p:txBody>
      </p:sp>
      <p:sp>
        <p:nvSpPr>
          <p:cNvPr id="8" name="Espaço Reservado para Rodapé 7">
            <a:extLst>
              <a:ext uri="{FF2B5EF4-FFF2-40B4-BE49-F238E27FC236}">
                <a16:creationId xmlns:a16="http://schemas.microsoft.com/office/drawing/2014/main" id="{13771B07-F0A4-431E-8E0C-CAA3A70EF925}"/>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BCBCAF75-7FEF-44E5-ABE0-AB67A69BF88E}"/>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177742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91C452-B5DF-433D-8F28-95A9F4E5B1F8}"/>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BEDC9B1-A4B1-4729-A8BF-60559DBC8638}"/>
              </a:ext>
            </a:extLst>
          </p:cNvPr>
          <p:cNvSpPr>
            <a:spLocks noGrp="1"/>
          </p:cNvSpPr>
          <p:nvPr>
            <p:ph type="dt" sz="half" idx="10"/>
          </p:nvPr>
        </p:nvSpPr>
        <p:spPr/>
        <p:txBody>
          <a:bodyPr/>
          <a:lstStyle/>
          <a:p>
            <a:fld id="{B089DFFF-6767-4A78-A1FB-06DB9CD2B572}" type="datetimeFigureOut">
              <a:rPr lang="pt-BR" smtClean="0"/>
              <a:pPr/>
              <a:t>06/04/2026</a:t>
            </a:fld>
            <a:endParaRPr lang="pt-BR" dirty="0"/>
          </a:p>
        </p:txBody>
      </p:sp>
      <p:sp>
        <p:nvSpPr>
          <p:cNvPr id="4" name="Espaço Reservado para Rodapé 3">
            <a:extLst>
              <a:ext uri="{FF2B5EF4-FFF2-40B4-BE49-F238E27FC236}">
                <a16:creationId xmlns:a16="http://schemas.microsoft.com/office/drawing/2014/main" id="{2831EA89-D894-490B-942B-538615BC3A5B}"/>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CA5BF259-E26B-42DC-B8CE-5B4E20E4C060}"/>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356415998"/>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EAE81CE5-CECC-42F1-96E1-B3AEFD660608}"/>
              </a:ext>
            </a:extLst>
          </p:cNvPr>
          <p:cNvSpPr>
            <a:spLocks noGrp="1"/>
          </p:cNvSpPr>
          <p:nvPr>
            <p:ph type="dt" sz="half" idx="10"/>
          </p:nvPr>
        </p:nvSpPr>
        <p:spPr/>
        <p:txBody>
          <a:bodyPr/>
          <a:lstStyle/>
          <a:p>
            <a:fld id="{B089DFFF-6767-4A78-A1FB-06DB9CD2B572}" type="datetimeFigureOut">
              <a:rPr lang="pt-BR" smtClean="0"/>
              <a:pPr/>
              <a:t>06/04/2026</a:t>
            </a:fld>
            <a:endParaRPr lang="pt-BR" dirty="0"/>
          </a:p>
        </p:txBody>
      </p:sp>
      <p:sp>
        <p:nvSpPr>
          <p:cNvPr id="3" name="Espaço Reservado para Rodapé 2">
            <a:extLst>
              <a:ext uri="{FF2B5EF4-FFF2-40B4-BE49-F238E27FC236}">
                <a16:creationId xmlns:a16="http://schemas.microsoft.com/office/drawing/2014/main" id="{16E527CB-781A-463A-9F1A-10D2B67ECB27}"/>
              </a:ext>
            </a:extLst>
          </p:cNvPr>
          <p:cNvSpPr>
            <a:spLocks noGrp="1"/>
          </p:cNvSpPr>
          <p:nvPr>
            <p:ph type="ftr" sz="quarter" idx="1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503DA7D7-6F8E-4D32-98B8-7BA41FFB68C1}"/>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977554111"/>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22231D-04BA-4FF8-9BB5-30C1EECC187A}"/>
              </a:ext>
            </a:extLst>
          </p:cNvPr>
          <p:cNvSpPr>
            <a:spLocks noGrp="1"/>
          </p:cNvSpPr>
          <p:nvPr>
            <p:ph type="title"/>
          </p:nvPr>
        </p:nvSpPr>
        <p:spPr>
          <a:xfrm>
            <a:off x="629841" y="457200"/>
            <a:ext cx="2949178" cy="1600200"/>
          </a:xfrm>
        </p:spPr>
        <p:txBody>
          <a:bodyPr anchor="b"/>
          <a:lstStyle>
            <a:lvl1pPr>
              <a:defRPr sz="24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31FCFEC1-93E7-4C5A-9B93-7C2E6C6D38A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3F1C410A-A631-4EE9-AA36-A35F5C8BDB6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Editar estilos de texto Mestre</a:t>
            </a:r>
          </a:p>
        </p:txBody>
      </p:sp>
      <p:sp>
        <p:nvSpPr>
          <p:cNvPr id="5" name="Espaço Reservado para Data 4">
            <a:extLst>
              <a:ext uri="{FF2B5EF4-FFF2-40B4-BE49-F238E27FC236}">
                <a16:creationId xmlns:a16="http://schemas.microsoft.com/office/drawing/2014/main" id="{0B7E2B55-6ABC-463E-B83B-D6C7E3884232}"/>
              </a:ext>
            </a:extLst>
          </p:cNvPr>
          <p:cNvSpPr>
            <a:spLocks noGrp="1"/>
          </p:cNvSpPr>
          <p:nvPr>
            <p:ph type="dt" sz="half" idx="10"/>
          </p:nvPr>
        </p:nvSpPr>
        <p:spPr/>
        <p:txBody>
          <a:bodyPr/>
          <a:lstStyle/>
          <a:p>
            <a:fld id="{B089DFFF-6767-4A78-A1FB-06DB9CD2B572}" type="datetimeFigureOut">
              <a:rPr lang="pt-BR" smtClean="0"/>
              <a:pPr/>
              <a:t>06/04/2026</a:t>
            </a:fld>
            <a:endParaRPr lang="pt-BR"/>
          </a:p>
        </p:txBody>
      </p:sp>
      <p:sp>
        <p:nvSpPr>
          <p:cNvPr id="6" name="Espaço Reservado para Rodapé 5">
            <a:extLst>
              <a:ext uri="{FF2B5EF4-FFF2-40B4-BE49-F238E27FC236}">
                <a16:creationId xmlns:a16="http://schemas.microsoft.com/office/drawing/2014/main" id="{337570CF-3B42-4264-97D4-DFC0B435D41A}"/>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7E11E8F5-4438-4550-ABFE-B3FE13C52C7C}"/>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584797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CE9A58-89CB-4250-AA9D-5DCA3FC44BB8}"/>
              </a:ext>
            </a:extLst>
          </p:cNvPr>
          <p:cNvSpPr>
            <a:spLocks noGrp="1"/>
          </p:cNvSpPr>
          <p:nvPr>
            <p:ph type="title"/>
          </p:nvPr>
        </p:nvSpPr>
        <p:spPr>
          <a:xfrm>
            <a:off x="629841" y="457200"/>
            <a:ext cx="2949178" cy="1600200"/>
          </a:xfrm>
        </p:spPr>
        <p:txBody>
          <a:bodyPr anchor="b"/>
          <a:lstStyle>
            <a:lvl1pPr>
              <a:defRPr sz="2400"/>
            </a:lvl1pPr>
          </a:lstStyle>
          <a:p>
            <a:r>
              <a:rPr lang="pt-BR"/>
              <a:t>Clique para editar o título Mestre</a:t>
            </a:r>
          </a:p>
        </p:txBody>
      </p:sp>
      <p:sp>
        <p:nvSpPr>
          <p:cNvPr id="3" name="Espaço Reservado para Imagem 2">
            <a:extLst>
              <a:ext uri="{FF2B5EF4-FFF2-40B4-BE49-F238E27FC236}">
                <a16:creationId xmlns:a16="http://schemas.microsoft.com/office/drawing/2014/main" id="{36ED8142-1288-4110-9D6C-A8C073DE1FC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pt-BR"/>
          </a:p>
        </p:txBody>
      </p:sp>
      <p:sp>
        <p:nvSpPr>
          <p:cNvPr id="4" name="Espaço Reservado para Texto 3">
            <a:extLst>
              <a:ext uri="{FF2B5EF4-FFF2-40B4-BE49-F238E27FC236}">
                <a16:creationId xmlns:a16="http://schemas.microsoft.com/office/drawing/2014/main" id="{695F1485-5FB9-49B2-9FDC-84A0C73FC15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Editar estilos de texto Mestre</a:t>
            </a:r>
          </a:p>
        </p:txBody>
      </p:sp>
      <p:sp>
        <p:nvSpPr>
          <p:cNvPr id="5" name="Espaço Reservado para Data 4">
            <a:extLst>
              <a:ext uri="{FF2B5EF4-FFF2-40B4-BE49-F238E27FC236}">
                <a16:creationId xmlns:a16="http://schemas.microsoft.com/office/drawing/2014/main" id="{41C02030-A6E3-4E96-B12F-648E741C2B2D}"/>
              </a:ext>
            </a:extLst>
          </p:cNvPr>
          <p:cNvSpPr>
            <a:spLocks noGrp="1"/>
          </p:cNvSpPr>
          <p:nvPr>
            <p:ph type="dt" sz="half" idx="10"/>
          </p:nvPr>
        </p:nvSpPr>
        <p:spPr/>
        <p:txBody>
          <a:bodyPr/>
          <a:lstStyle/>
          <a:p>
            <a:fld id="{B089DFFF-6767-4A78-A1FB-06DB9CD2B572}" type="datetimeFigureOut">
              <a:rPr lang="pt-BR" smtClean="0"/>
              <a:pPr/>
              <a:t>06/04/2026</a:t>
            </a:fld>
            <a:endParaRPr lang="pt-BR"/>
          </a:p>
        </p:txBody>
      </p:sp>
      <p:sp>
        <p:nvSpPr>
          <p:cNvPr id="6" name="Espaço Reservado para Rodapé 5">
            <a:extLst>
              <a:ext uri="{FF2B5EF4-FFF2-40B4-BE49-F238E27FC236}">
                <a16:creationId xmlns:a16="http://schemas.microsoft.com/office/drawing/2014/main" id="{284C9FB4-94DA-4837-9D41-D932C821373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4548FFF-7420-450E-B641-6491F6F048B8}"/>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1939769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BEB205-2ABD-4951-9194-6DC026A2202D}"/>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63C7071F-AC30-43B1-8E05-9CA0B7E19CE1}"/>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FEA90B2-77EB-46B2-B0A1-943710984756}"/>
              </a:ext>
            </a:extLst>
          </p:cNvPr>
          <p:cNvSpPr>
            <a:spLocks noGrp="1"/>
          </p:cNvSpPr>
          <p:nvPr>
            <p:ph type="dt" sz="half" idx="10"/>
          </p:nvPr>
        </p:nvSpPr>
        <p:spPr/>
        <p:txBody>
          <a:bodyPr/>
          <a:lstStyle/>
          <a:p>
            <a:fld id="{B089DFFF-6767-4A78-A1FB-06DB9CD2B572}" type="datetimeFigureOut">
              <a:rPr lang="pt-BR" smtClean="0"/>
              <a:pPr/>
              <a:t>06/04/2026</a:t>
            </a:fld>
            <a:endParaRPr lang="pt-BR" dirty="0"/>
          </a:p>
        </p:txBody>
      </p:sp>
      <p:sp>
        <p:nvSpPr>
          <p:cNvPr id="5" name="Espaço Reservado para Rodapé 4">
            <a:extLst>
              <a:ext uri="{FF2B5EF4-FFF2-40B4-BE49-F238E27FC236}">
                <a16:creationId xmlns:a16="http://schemas.microsoft.com/office/drawing/2014/main" id="{13CD4844-5316-46A3-957E-B9C9AC0C80C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7A1294F-087B-4990-B56B-51D4B8364360}"/>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1451410301"/>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9CA03B7-13C8-4EB6-BBBC-CBE4F5CC318C}"/>
              </a:ext>
            </a:extLst>
          </p:cNvPr>
          <p:cNvSpPr>
            <a:spLocks noGrp="1"/>
          </p:cNvSpPr>
          <p:nvPr>
            <p:ph type="title" orient="vert"/>
          </p:nvPr>
        </p:nvSpPr>
        <p:spPr>
          <a:xfrm>
            <a:off x="6543675" y="365125"/>
            <a:ext cx="1971675"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4197B7F-8376-4F96-AC5F-A089468DA53F}"/>
              </a:ext>
            </a:extLst>
          </p:cNvPr>
          <p:cNvSpPr>
            <a:spLocks noGrp="1"/>
          </p:cNvSpPr>
          <p:nvPr>
            <p:ph type="body" orient="vert" idx="1"/>
          </p:nvPr>
        </p:nvSpPr>
        <p:spPr>
          <a:xfrm>
            <a:off x="628650" y="365125"/>
            <a:ext cx="5800725"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CE8C371-9D77-4662-A914-9533FD07CEC4}"/>
              </a:ext>
            </a:extLst>
          </p:cNvPr>
          <p:cNvSpPr>
            <a:spLocks noGrp="1"/>
          </p:cNvSpPr>
          <p:nvPr>
            <p:ph type="dt" sz="half" idx="10"/>
          </p:nvPr>
        </p:nvSpPr>
        <p:spPr/>
        <p:txBody>
          <a:bodyPr/>
          <a:lstStyle/>
          <a:p>
            <a:fld id="{B089DFFF-6767-4A78-A1FB-06DB9CD2B572}" type="datetimeFigureOut">
              <a:rPr lang="pt-BR" smtClean="0"/>
              <a:pPr/>
              <a:t>06/04/2026</a:t>
            </a:fld>
            <a:endParaRPr lang="pt-BR" dirty="0"/>
          </a:p>
        </p:txBody>
      </p:sp>
      <p:sp>
        <p:nvSpPr>
          <p:cNvPr id="5" name="Espaço Reservado para Rodapé 4">
            <a:extLst>
              <a:ext uri="{FF2B5EF4-FFF2-40B4-BE49-F238E27FC236}">
                <a16:creationId xmlns:a16="http://schemas.microsoft.com/office/drawing/2014/main" id="{FD604DC2-DD53-47DA-B183-A6138E2A7DB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7DAF549-7359-4BE7-8D39-062D0A3A3482}"/>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06773592"/>
      </p:ext>
    </p:extLst>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FB7A7037-C570-40EB-AD6D-290C703E1A8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E497AD53-B718-4815-A297-CADAF290B4A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1F5DA0C-79DD-4940-8D68-239AF6AC8CA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089DFFF-6767-4A78-A1FB-06DB9CD2B572}" type="datetimeFigureOut">
              <a:rPr lang="pt-BR" smtClean="0"/>
              <a:pPr/>
              <a:t>06/04/2026</a:t>
            </a:fld>
            <a:endParaRPr lang="pt-BR" dirty="0"/>
          </a:p>
        </p:txBody>
      </p:sp>
      <p:sp>
        <p:nvSpPr>
          <p:cNvPr id="5" name="Espaço Reservado para Rodapé 4">
            <a:extLst>
              <a:ext uri="{FF2B5EF4-FFF2-40B4-BE49-F238E27FC236}">
                <a16:creationId xmlns:a16="http://schemas.microsoft.com/office/drawing/2014/main" id="{42CAF63B-0E4E-4102-BECD-C0FEA668785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80272BA0-F731-426F-9455-20EC79EDE71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97559803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t-B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a:t>
            </a:fld>
            <a:endParaRPr lang="pt-BR">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5F8AA343-5CF0-4E7E-A7B8-E28E41C8015D}"/>
              </a:ext>
            </a:extLst>
          </p:cNvPr>
          <p:cNvSpPr/>
          <p:nvPr/>
        </p:nvSpPr>
        <p:spPr>
          <a:xfrm>
            <a:off x="628650" y="136524"/>
            <a:ext cx="7090267" cy="1031051"/>
          </a:xfrm>
          <a:prstGeom prst="rect">
            <a:avLst/>
          </a:prstGeom>
        </p:spPr>
        <p:txBody>
          <a:bodyPr wrap="square">
            <a:spAutoFit/>
          </a:bodyPr>
          <a:lstStyle/>
          <a:p>
            <a:pPr algn="just">
              <a:spcAft>
                <a:spcPts val="600"/>
              </a:spcAft>
            </a:pPr>
            <a:r>
              <a:rPr lang="pt-BR" sz="2800" b="1" dirty="0">
                <a:latin typeface="Times New Roman" panose="02020603050405020304" pitchFamily="18" charset="0"/>
                <a:cs typeface="Times New Roman" panose="02020603050405020304" pitchFamily="18" charset="0"/>
              </a:rPr>
              <a:t>Modelagem de Dados</a:t>
            </a:r>
          </a:p>
          <a:p>
            <a:pPr algn="just">
              <a:spcAft>
                <a:spcPts val="600"/>
              </a:spcAft>
            </a:pPr>
            <a:r>
              <a:rPr lang="pt-BR" sz="2800" b="1" dirty="0">
                <a:latin typeface="Times New Roman" panose="02020603050405020304" pitchFamily="18" charset="0"/>
                <a:cs typeface="Times New Roman" panose="02020603050405020304" pitchFamily="18" charset="0"/>
              </a:rPr>
              <a:t>Níveis de abstração</a:t>
            </a:r>
          </a:p>
        </p:txBody>
      </p:sp>
      <p:sp>
        <p:nvSpPr>
          <p:cNvPr id="10" name="Retângulo 9">
            <a:extLst>
              <a:ext uri="{FF2B5EF4-FFF2-40B4-BE49-F238E27FC236}">
                <a16:creationId xmlns:a16="http://schemas.microsoft.com/office/drawing/2014/main" id="{34C6C06A-D6A0-4186-A382-C0AB1A7958A1}"/>
              </a:ext>
            </a:extLst>
          </p:cNvPr>
          <p:cNvSpPr/>
          <p:nvPr/>
        </p:nvSpPr>
        <p:spPr>
          <a:xfrm>
            <a:off x="290044" y="1280081"/>
            <a:ext cx="8458419" cy="2570704"/>
          </a:xfrm>
          <a:prstGeom prst="rect">
            <a:avLst/>
          </a:prstGeom>
        </p:spPr>
        <p:txBody>
          <a:bodyPr wrap="square">
            <a:spAutoFit/>
          </a:bodyPr>
          <a:lstStyle/>
          <a:p>
            <a:pPr algn="just">
              <a:lnSpc>
                <a:spcPct val="150000"/>
              </a:lnSpc>
              <a:spcAft>
                <a:spcPts val="600"/>
              </a:spcAft>
            </a:pPr>
            <a:r>
              <a:rPr lang="pt-BR" sz="2200" dirty="0">
                <a:latin typeface="Times New Roman" panose="02020603050405020304" pitchFamily="18" charset="0"/>
                <a:cs typeface="Times New Roman" panose="02020603050405020304" pitchFamily="18" charset="0"/>
              </a:rPr>
              <a:t>	 Na arquitetura de banco de dados, </a:t>
            </a:r>
            <a:r>
              <a:rPr lang="pt-BR" sz="2200" b="1" dirty="0">
                <a:latin typeface="Times New Roman" panose="02020603050405020304" pitchFamily="18" charset="0"/>
                <a:cs typeface="Times New Roman" panose="02020603050405020304" pitchFamily="18" charset="0"/>
              </a:rPr>
              <a:t>temos várias categorias de modelos de dados</a:t>
            </a:r>
            <a:r>
              <a:rPr lang="pt-BR" sz="2200" dirty="0">
                <a:latin typeface="Times New Roman" panose="02020603050405020304" pitchFamily="18" charset="0"/>
                <a:cs typeface="Times New Roman" panose="02020603050405020304" pitchFamily="18" charset="0"/>
              </a:rPr>
              <a:t>. Podemos classificar cada modelo de acordo com os tipos de conceitos utilizados para descrever sua estrutura. Os modelos de dados conceituais, ou modelos de alto nível, possuem conceitos que descrevem os dados como são percebidos pelos usuários. </a:t>
            </a:r>
          </a:p>
        </p:txBody>
      </p:sp>
    </p:spTree>
    <p:extLst>
      <p:ext uri="{BB962C8B-B14F-4D97-AF65-F5344CB8AC3E}">
        <p14:creationId xmlns:p14="http://schemas.microsoft.com/office/powerpoint/2010/main" val="3937282962"/>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a:t>
            </a:fld>
            <a:endParaRPr lang="pt-BR">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5F8AA343-5CF0-4E7E-A7B8-E28E41C8015D}"/>
              </a:ext>
            </a:extLst>
          </p:cNvPr>
          <p:cNvSpPr/>
          <p:nvPr/>
        </p:nvSpPr>
        <p:spPr>
          <a:xfrm>
            <a:off x="144488" y="548680"/>
            <a:ext cx="7090267" cy="523220"/>
          </a:xfrm>
          <a:prstGeom prst="rect">
            <a:avLst/>
          </a:prstGeom>
        </p:spPr>
        <p:txBody>
          <a:bodyPr wrap="square">
            <a:spAutoFit/>
          </a:bodyPr>
          <a:lstStyle/>
          <a:p>
            <a:pPr algn="just">
              <a:spcAft>
                <a:spcPts val="600"/>
              </a:spcAft>
            </a:pPr>
            <a:r>
              <a:rPr lang="pt-BR" sz="2800" b="1" dirty="0">
                <a:latin typeface="Times New Roman" panose="02020603050405020304" pitchFamily="18" charset="0"/>
                <a:cs typeface="Times New Roman" panose="02020603050405020304" pitchFamily="18" charset="0"/>
              </a:rPr>
              <a:t>Níveis de abstração</a:t>
            </a:r>
          </a:p>
        </p:txBody>
      </p:sp>
      <p:sp>
        <p:nvSpPr>
          <p:cNvPr id="10" name="Retângulo 9">
            <a:extLst>
              <a:ext uri="{FF2B5EF4-FFF2-40B4-BE49-F238E27FC236}">
                <a16:creationId xmlns:a16="http://schemas.microsoft.com/office/drawing/2014/main" id="{34C6C06A-D6A0-4186-A382-C0AB1A7958A1}"/>
              </a:ext>
            </a:extLst>
          </p:cNvPr>
          <p:cNvSpPr/>
          <p:nvPr/>
        </p:nvSpPr>
        <p:spPr>
          <a:xfrm>
            <a:off x="290044" y="1280081"/>
            <a:ext cx="8386411" cy="2215991"/>
          </a:xfrm>
          <a:prstGeom prst="rect">
            <a:avLst/>
          </a:prstGeom>
        </p:spPr>
        <p:txBody>
          <a:bodyPr wrap="square">
            <a:spAutoFit/>
          </a:bodyPr>
          <a:lstStyle/>
          <a:p>
            <a:pPr algn="just">
              <a:spcAft>
                <a:spcPts val="600"/>
              </a:spcAft>
            </a:pPr>
            <a:r>
              <a:rPr lang="pt-BR" sz="2300" dirty="0">
                <a:latin typeface="Times New Roman" panose="02020603050405020304" pitchFamily="18" charset="0"/>
                <a:cs typeface="Times New Roman" panose="02020603050405020304" pitchFamily="18" charset="0"/>
              </a:rPr>
              <a:t>	 Os modelos de dados conceituais usam conceitos como </a:t>
            </a:r>
            <a:r>
              <a:rPr lang="pt-BR" sz="2300" b="1" dirty="0">
                <a:latin typeface="Times New Roman" panose="02020603050405020304" pitchFamily="18" charset="0"/>
                <a:cs typeface="Times New Roman" panose="02020603050405020304" pitchFamily="18" charset="0"/>
              </a:rPr>
              <a:t>entidades</a:t>
            </a:r>
            <a:r>
              <a:rPr lang="pt-BR" sz="2300" dirty="0">
                <a:latin typeface="Times New Roman" panose="02020603050405020304" pitchFamily="18" charset="0"/>
                <a:cs typeface="Times New Roman" panose="02020603050405020304" pitchFamily="18" charset="0"/>
              </a:rPr>
              <a:t>, </a:t>
            </a:r>
            <a:r>
              <a:rPr lang="pt-BR" sz="2300" b="1" dirty="0">
                <a:latin typeface="Times New Roman" panose="02020603050405020304" pitchFamily="18" charset="0"/>
                <a:cs typeface="Times New Roman" panose="02020603050405020304" pitchFamily="18" charset="0"/>
              </a:rPr>
              <a:t>atributos</a:t>
            </a:r>
            <a:r>
              <a:rPr lang="pt-BR" sz="2300" dirty="0">
                <a:latin typeface="Times New Roman" panose="02020603050405020304" pitchFamily="18" charset="0"/>
                <a:cs typeface="Times New Roman" panose="02020603050405020304" pitchFamily="18" charset="0"/>
              </a:rPr>
              <a:t> e </a:t>
            </a:r>
            <a:r>
              <a:rPr lang="pt-BR" sz="2300" b="1" dirty="0">
                <a:latin typeface="Times New Roman" panose="02020603050405020304" pitchFamily="18" charset="0"/>
                <a:cs typeface="Times New Roman" panose="02020603050405020304" pitchFamily="18" charset="0"/>
              </a:rPr>
              <a:t>relacionamentos</a:t>
            </a:r>
            <a:r>
              <a:rPr lang="pt-BR" sz="2300" dirty="0">
                <a:latin typeface="Times New Roman" panose="02020603050405020304" pitchFamily="18" charset="0"/>
                <a:cs typeface="Times New Roman" panose="02020603050405020304" pitchFamily="18" charset="0"/>
              </a:rPr>
              <a:t>. Uma </a:t>
            </a:r>
            <a:r>
              <a:rPr lang="pt-BR" sz="2300" b="1" dirty="0">
                <a:latin typeface="Times New Roman" panose="02020603050405020304" pitchFamily="18" charset="0"/>
                <a:cs typeface="Times New Roman" panose="02020603050405020304" pitchFamily="18" charset="0"/>
              </a:rPr>
              <a:t>entidade</a:t>
            </a:r>
            <a:r>
              <a:rPr lang="pt-BR" sz="2300" dirty="0">
                <a:latin typeface="Times New Roman" panose="02020603050405020304" pitchFamily="18" charset="0"/>
                <a:cs typeface="Times New Roman" panose="02020603050405020304" pitchFamily="18" charset="0"/>
              </a:rPr>
              <a:t> corresponde a um objeto do mundo real descrito no banco de dados. Um atributo corresponde a uma </a:t>
            </a:r>
            <a:r>
              <a:rPr lang="pt-BR" sz="2300" b="1" dirty="0">
                <a:latin typeface="Times New Roman" panose="02020603050405020304" pitchFamily="18" charset="0"/>
                <a:cs typeface="Times New Roman" panose="02020603050405020304" pitchFamily="18" charset="0"/>
              </a:rPr>
              <a:t>propriedade</a:t>
            </a:r>
            <a:r>
              <a:rPr lang="pt-BR" sz="2300" dirty="0">
                <a:latin typeface="Times New Roman" panose="02020603050405020304" pitchFamily="18" charset="0"/>
                <a:cs typeface="Times New Roman" panose="02020603050405020304" pitchFamily="18" charset="0"/>
              </a:rPr>
              <a:t> que auxilia na descrição de uma entidade. O </a:t>
            </a:r>
            <a:r>
              <a:rPr lang="pt-BR" sz="2300" b="1" dirty="0">
                <a:latin typeface="Times New Roman" panose="02020603050405020304" pitchFamily="18" charset="0"/>
                <a:cs typeface="Times New Roman" panose="02020603050405020304" pitchFamily="18" charset="0"/>
              </a:rPr>
              <a:t>relacionamento</a:t>
            </a:r>
            <a:r>
              <a:rPr lang="pt-BR" sz="2300" dirty="0">
                <a:latin typeface="Times New Roman" panose="02020603050405020304" pitchFamily="18" charset="0"/>
                <a:cs typeface="Times New Roman" panose="02020603050405020304" pitchFamily="18" charset="0"/>
              </a:rPr>
              <a:t> entre duas ou mais entidades representa uma </a:t>
            </a:r>
            <a:r>
              <a:rPr lang="pt-BR" sz="2300" b="1" dirty="0">
                <a:latin typeface="Times New Roman" panose="02020603050405020304" pitchFamily="18" charset="0"/>
                <a:cs typeface="Times New Roman" panose="02020603050405020304" pitchFamily="18" charset="0"/>
              </a:rPr>
              <a:t>associação</a:t>
            </a:r>
            <a:r>
              <a:rPr lang="pt-BR" sz="2300" dirty="0">
                <a:latin typeface="Times New Roman" panose="02020603050405020304" pitchFamily="18" charset="0"/>
                <a:cs typeface="Times New Roman" panose="02020603050405020304" pitchFamily="18" charset="0"/>
              </a:rPr>
              <a:t> </a:t>
            </a:r>
            <a:r>
              <a:rPr lang="pt-BR" sz="2300" b="1" dirty="0">
                <a:latin typeface="Times New Roman" panose="02020603050405020304" pitchFamily="18" charset="0"/>
                <a:cs typeface="Times New Roman" panose="02020603050405020304" pitchFamily="18" charset="0"/>
              </a:rPr>
              <a:t>entre</a:t>
            </a:r>
            <a:r>
              <a:rPr lang="pt-BR" sz="2300" dirty="0">
                <a:latin typeface="Times New Roman" panose="02020603050405020304" pitchFamily="18" charset="0"/>
                <a:cs typeface="Times New Roman" panose="02020603050405020304" pitchFamily="18" charset="0"/>
              </a:rPr>
              <a:t> </a:t>
            </a:r>
            <a:r>
              <a:rPr lang="pt-BR" sz="2300" b="1" dirty="0">
                <a:latin typeface="Times New Roman" panose="02020603050405020304" pitchFamily="18" charset="0"/>
                <a:cs typeface="Times New Roman" panose="02020603050405020304" pitchFamily="18" charset="0"/>
              </a:rPr>
              <a:t>elas</a:t>
            </a:r>
            <a:r>
              <a:rPr lang="pt-BR" sz="23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86230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a:t>
            </a:fld>
            <a:endParaRPr lang="pt-BR">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5F8AA343-5CF0-4E7E-A7B8-E28E41C8015D}"/>
              </a:ext>
            </a:extLst>
          </p:cNvPr>
          <p:cNvSpPr/>
          <p:nvPr/>
        </p:nvSpPr>
        <p:spPr>
          <a:xfrm>
            <a:off x="144488" y="548680"/>
            <a:ext cx="7090267" cy="523220"/>
          </a:xfrm>
          <a:prstGeom prst="rect">
            <a:avLst/>
          </a:prstGeom>
        </p:spPr>
        <p:txBody>
          <a:bodyPr wrap="square">
            <a:spAutoFit/>
          </a:bodyPr>
          <a:lstStyle/>
          <a:p>
            <a:pPr algn="just">
              <a:spcAft>
                <a:spcPts val="600"/>
              </a:spcAft>
            </a:pPr>
            <a:r>
              <a:rPr lang="pt-BR" sz="2800" b="1" dirty="0">
                <a:latin typeface="Times New Roman" panose="02020603050405020304" pitchFamily="18" charset="0"/>
                <a:cs typeface="Times New Roman" panose="02020603050405020304" pitchFamily="18" charset="0"/>
              </a:rPr>
              <a:t>Níveis de abstração</a:t>
            </a:r>
          </a:p>
        </p:txBody>
      </p:sp>
      <p:sp>
        <p:nvSpPr>
          <p:cNvPr id="10" name="Retângulo 9">
            <a:extLst>
              <a:ext uri="{FF2B5EF4-FFF2-40B4-BE49-F238E27FC236}">
                <a16:creationId xmlns:a16="http://schemas.microsoft.com/office/drawing/2014/main" id="{34C6C06A-D6A0-4186-A382-C0AB1A7958A1}"/>
              </a:ext>
            </a:extLst>
          </p:cNvPr>
          <p:cNvSpPr/>
          <p:nvPr/>
        </p:nvSpPr>
        <p:spPr>
          <a:xfrm>
            <a:off x="290044" y="1280081"/>
            <a:ext cx="8225305" cy="3586366"/>
          </a:xfrm>
          <a:prstGeom prst="rect">
            <a:avLst/>
          </a:prstGeom>
        </p:spPr>
        <p:txBody>
          <a:bodyPr wrap="square">
            <a:spAutoFit/>
          </a:bodyPr>
          <a:lstStyle/>
          <a:p>
            <a:pPr algn="just">
              <a:lnSpc>
                <a:spcPct val="150000"/>
              </a:lnSpc>
              <a:spcAft>
                <a:spcPts val="600"/>
              </a:spcAft>
            </a:pPr>
            <a:r>
              <a:rPr lang="pt-BR" sz="2200" dirty="0">
                <a:latin typeface="Times New Roman" panose="02020603050405020304" pitchFamily="18" charset="0"/>
                <a:cs typeface="Times New Roman" panose="02020603050405020304" pitchFamily="18" charset="0"/>
              </a:rPr>
              <a:t>	 Os modelos de </a:t>
            </a:r>
            <a:r>
              <a:rPr lang="pt-BR" sz="2200" b="1" dirty="0">
                <a:latin typeface="Times New Roman" panose="02020603050405020304" pitchFamily="18" charset="0"/>
                <a:cs typeface="Times New Roman" panose="02020603050405020304" pitchFamily="18" charset="0"/>
              </a:rPr>
              <a:t>dados</a:t>
            </a:r>
            <a:r>
              <a:rPr lang="pt-BR" sz="2200" dirty="0">
                <a:latin typeface="Times New Roman" panose="02020603050405020304" pitchFamily="18" charset="0"/>
                <a:cs typeface="Times New Roman" panose="02020603050405020304" pitchFamily="18" charset="0"/>
              </a:rPr>
              <a:t> </a:t>
            </a:r>
            <a:r>
              <a:rPr lang="pt-BR" sz="2200" b="1" dirty="0">
                <a:latin typeface="Times New Roman" panose="02020603050405020304" pitchFamily="18" charset="0"/>
                <a:cs typeface="Times New Roman" panose="02020603050405020304" pitchFamily="18" charset="0"/>
              </a:rPr>
              <a:t>físicos</a:t>
            </a:r>
            <a:r>
              <a:rPr lang="pt-BR" sz="2200" dirty="0">
                <a:latin typeface="Times New Roman" panose="02020603050405020304" pitchFamily="18" charset="0"/>
                <a:cs typeface="Times New Roman" panose="02020603050405020304" pitchFamily="18" charset="0"/>
              </a:rPr>
              <a:t>, ou modelos de </a:t>
            </a:r>
            <a:r>
              <a:rPr lang="pt-BR" sz="2200" b="1" dirty="0">
                <a:latin typeface="Times New Roman" panose="02020603050405020304" pitchFamily="18" charset="0"/>
                <a:cs typeface="Times New Roman" panose="02020603050405020304" pitchFamily="18" charset="0"/>
              </a:rPr>
              <a:t>baixo</a:t>
            </a:r>
            <a:r>
              <a:rPr lang="pt-BR" sz="2200" dirty="0">
                <a:latin typeface="Times New Roman" panose="02020603050405020304" pitchFamily="18" charset="0"/>
                <a:cs typeface="Times New Roman" panose="02020603050405020304" pitchFamily="18" charset="0"/>
              </a:rPr>
              <a:t> </a:t>
            </a:r>
            <a:r>
              <a:rPr lang="pt-BR" sz="2200" b="1" dirty="0">
                <a:latin typeface="Times New Roman" panose="02020603050405020304" pitchFamily="18" charset="0"/>
                <a:cs typeface="Times New Roman" panose="02020603050405020304" pitchFamily="18" charset="0"/>
              </a:rPr>
              <a:t>nível</a:t>
            </a:r>
            <a:r>
              <a:rPr lang="pt-BR" sz="2200" dirty="0">
                <a:latin typeface="Times New Roman" panose="02020603050405020304" pitchFamily="18" charset="0"/>
                <a:cs typeface="Times New Roman" panose="02020603050405020304" pitchFamily="18" charset="0"/>
              </a:rPr>
              <a:t>, contêm conceitos que descrevem os dados, detalhadamente, como estão armazenados no banco de dados. </a:t>
            </a:r>
            <a:r>
              <a:rPr lang="pt-BR" sz="2200" b="1" dirty="0">
                <a:latin typeface="Times New Roman" panose="02020603050405020304" pitchFamily="18" charset="0"/>
                <a:cs typeface="Times New Roman" panose="02020603050405020304" pitchFamily="18" charset="0"/>
              </a:rPr>
              <a:t>Esses modelos descrevem os dados pela representação do formato dos registros</a:t>
            </a:r>
            <a:r>
              <a:rPr lang="pt-BR" sz="2200" dirty="0">
                <a:latin typeface="Times New Roman" panose="02020603050405020304" pitchFamily="18" charset="0"/>
                <a:cs typeface="Times New Roman" panose="02020603050405020304" pitchFamily="18" charset="0"/>
              </a:rPr>
              <a:t>, da ordem e da disposição dos registros e das suas rotas de acesso, que são estruturas que tornam as pesquisas por registros no banco de dados mais rápidas e eficientes. </a:t>
            </a:r>
          </a:p>
        </p:txBody>
      </p:sp>
    </p:spTree>
    <p:extLst>
      <p:ext uri="{BB962C8B-B14F-4D97-AF65-F5344CB8AC3E}">
        <p14:creationId xmlns:p14="http://schemas.microsoft.com/office/powerpoint/2010/main" val="2697101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4</a:t>
            </a:fld>
            <a:endParaRPr lang="pt-BR">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5F8AA343-5CF0-4E7E-A7B8-E28E41C8015D}"/>
              </a:ext>
            </a:extLst>
          </p:cNvPr>
          <p:cNvSpPr/>
          <p:nvPr/>
        </p:nvSpPr>
        <p:spPr>
          <a:xfrm>
            <a:off x="144488" y="548680"/>
            <a:ext cx="7090267" cy="523220"/>
          </a:xfrm>
          <a:prstGeom prst="rect">
            <a:avLst/>
          </a:prstGeom>
        </p:spPr>
        <p:txBody>
          <a:bodyPr wrap="square">
            <a:spAutoFit/>
          </a:bodyPr>
          <a:lstStyle/>
          <a:p>
            <a:pPr algn="just">
              <a:spcAft>
                <a:spcPts val="600"/>
              </a:spcAft>
            </a:pPr>
            <a:r>
              <a:rPr lang="pt-BR" sz="2800" b="1" dirty="0">
                <a:latin typeface="Times New Roman" panose="02020603050405020304" pitchFamily="18" charset="0"/>
                <a:cs typeface="Times New Roman" panose="02020603050405020304" pitchFamily="18" charset="0"/>
              </a:rPr>
              <a:t>Níveis de abstração</a:t>
            </a:r>
          </a:p>
        </p:txBody>
      </p:sp>
      <p:sp>
        <p:nvSpPr>
          <p:cNvPr id="10" name="Retângulo 9">
            <a:extLst>
              <a:ext uri="{FF2B5EF4-FFF2-40B4-BE49-F238E27FC236}">
                <a16:creationId xmlns:a16="http://schemas.microsoft.com/office/drawing/2014/main" id="{34C6C06A-D6A0-4186-A382-C0AB1A7958A1}"/>
              </a:ext>
            </a:extLst>
          </p:cNvPr>
          <p:cNvSpPr/>
          <p:nvPr/>
        </p:nvSpPr>
        <p:spPr>
          <a:xfrm>
            <a:off x="290044" y="1280080"/>
            <a:ext cx="8225305" cy="2062872"/>
          </a:xfrm>
          <a:prstGeom prst="rect">
            <a:avLst/>
          </a:prstGeom>
        </p:spPr>
        <p:txBody>
          <a:bodyPr wrap="square">
            <a:spAutoFit/>
          </a:bodyPr>
          <a:lstStyle/>
          <a:p>
            <a:pPr algn="just">
              <a:lnSpc>
                <a:spcPct val="150000"/>
              </a:lnSpc>
              <a:spcAft>
                <a:spcPts val="600"/>
              </a:spcAft>
            </a:pPr>
            <a:r>
              <a:rPr lang="pt-BR" sz="2200" dirty="0">
                <a:latin typeface="Times New Roman" panose="02020603050405020304" pitchFamily="18" charset="0"/>
                <a:cs typeface="Times New Roman" panose="02020603050405020304" pitchFamily="18" charset="0"/>
              </a:rPr>
              <a:t>	 Entre esses dois níveis extremos, temos uma classe de modelos de dados chamada de </a:t>
            </a:r>
            <a:r>
              <a:rPr lang="pt-BR" sz="2200" b="1" dirty="0">
                <a:latin typeface="Times New Roman" panose="02020603050405020304" pitchFamily="18" charset="0"/>
                <a:cs typeface="Times New Roman" panose="02020603050405020304" pitchFamily="18" charset="0"/>
              </a:rPr>
              <a:t>modelos</a:t>
            </a:r>
            <a:r>
              <a:rPr lang="pt-BR" sz="2200" dirty="0">
                <a:latin typeface="Times New Roman" panose="02020603050405020304" pitchFamily="18" charset="0"/>
                <a:cs typeface="Times New Roman" panose="02020603050405020304" pitchFamily="18" charset="0"/>
              </a:rPr>
              <a:t> </a:t>
            </a:r>
            <a:r>
              <a:rPr lang="pt-BR" sz="2200" b="1" dirty="0">
                <a:latin typeface="Times New Roman" panose="02020603050405020304" pitchFamily="18" charset="0"/>
                <a:cs typeface="Times New Roman" panose="02020603050405020304" pitchFamily="18" charset="0"/>
              </a:rPr>
              <a:t>representacionais</a:t>
            </a:r>
            <a:r>
              <a:rPr lang="pt-BR" sz="2200" dirty="0">
                <a:latin typeface="Times New Roman" panose="02020603050405020304" pitchFamily="18" charset="0"/>
                <a:cs typeface="Times New Roman" panose="02020603050405020304" pitchFamily="18" charset="0"/>
              </a:rPr>
              <a:t> ou </a:t>
            </a:r>
            <a:r>
              <a:rPr lang="pt-BR" sz="2200" b="1" dirty="0">
                <a:latin typeface="Times New Roman" panose="02020603050405020304" pitchFamily="18" charset="0"/>
                <a:cs typeface="Times New Roman" panose="02020603050405020304" pitchFamily="18" charset="0"/>
              </a:rPr>
              <a:t>de</a:t>
            </a:r>
            <a:r>
              <a:rPr lang="pt-BR" sz="2200" dirty="0">
                <a:latin typeface="Times New Roman" panose="02020603050405020304" pitchFamily="18" charset="0"/>
                <a:cs typeface="Times New Roman" panose="02020603050405020304" pitchFamily="18" charset="0"/>
              </a:rPr>
              <a:t> </a:t>
            </a:r>
            <a:r>
              <a:rPr lang="pt-BR" sz="2200" b="1" dirty="0">
                <a:latin typeface="Times New Roman" panose="02020603050405020304" pitchFamily="18" charset="0"/>
                <a:cs typeface="Times New Roman" panose="02020603050405020304" pitchFamily="18" charset="0"/>
              </a:rPr>
              <a:t>implementação</a:t>
            </a:r>
            <a:r>
              <a:rPr lang="pt-BR" sz="2200" dirty="0">
                <a:latin typeface="Times New Roman" panose="02020603050405020304" pitchFamily="18" charset="0"/>
                <a:cs typeface="Times New Roman" panose="02020603050405020304" pitchFamily="18" charset="0"/>
              </a:rPr>
              <a:t>, que descreve conceitos que ocultam alguns detalhes de como os dados estão organizados e armazenados no banco de dados. </a:t>
            </a:r>
          </a:p>
        </p:txBody>
      </p:sp>
    </p:spTree>
    <p:extLst>
      <p:ext uri="{BB962C8B-B14F-4D97-AF65-F5344CB8AC3E}">
        <p14:creationId xmlns:p14="http://schemas.microsoft.com/office/powerpoint/2010/main" val="4190505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5</a:t>
            </a:fld>
            <a:endParaRPr lang="pt-BR">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5F8AA343-5CF0-4E7E-A7B8-E28E41C8015D}"/>
              </a:ext>
            </a:extLst>
          </p:cNvPr>
          <p:cNvSpPr/>
          <p:nvPr/>
        </p:nvSpPr>
        <p:spPr>
          <a:xfrm>
            <a:off x="144488" y="548680"/>
            <a:ext cx="7090267" cy="523220"/>
          </a:xfrm>
          <a:prstGeom prst="rect">
            <a:avLst/>
          </a:prstGeom>
        </p:spPr>
        <p:txBody>
          <a:bodyPr wrap="square">
            <a:spAutoFit/>
          </a:bodyPr>
          <a:lstStyle/>
          <a:p>
            <a:pPr algn="just">
              <a:spcAft>
                <a:spcPts val="600"/>
              </a:spcAft>
            </a:pPr>
            <a:r>
              <a:rPr lang="pt-BR" sz="2800" b="1" dirty="0">
                <a:latin typeface="Times New Roman" panose="02020603050405020304" pitchFamily="18" charset="0"/>
                <a:cs typeface="Times New Roman" panose="02020603050405020304" pitchFamily="18" charset="0"/>
              </a:rPr>
              <a:t>Níveis de abstração</a:t>
            </a:r>
          </a:p>
        </p:txBody>
      </p:sp>
      <p:sp>
        <p:nvSpPr>
          <p:cNvPr id="10" name="Retângulo 9">
            <a:extLst>
              <a:ext uri="{FF2B5EF4-FFF2-40B4-BE49-F238E27FC236}">
                <a16:creationId xmlns:a16="http://schemas.microsoft.com/office/drawing/2014/main" id="{34C6C06A-D6A0-4186-A382-C0AB1A7958A1}"/>
              </a:ext>
            </a:extLst>
          </p:cNvPr>
          <p:cNvSpPr/>
          <p:nvPr/>
        </p:nvSpPr>
        <p:spPr>
          <a:xfrm>
            <a:off x="290044" y="1280081"/>
            <a:ext cx="8225305" cy="3586366"/>
          </a:xfrm>
          <a:prstGeom prst="rect">
            <a:avLst/>
          </a:prstGeom>
        </p:spPr>
        <p:txBody>
          <a:bodyPr wrap="square">
            <a:spAutoFit/>
          </a:bodyPr>
          <a:lstStyle/>
          <a:p>
            <a:pPr algn="just">
              <a:lnSpc>
                <a:spcPct val="150000"/>
              </a:lnSpc>
              <a:spcAft>
                <a:spcPts val="600"/>
              </a:spcAft>
            </a:pPr>
            <a:r>
              <a:rPr lang="pt-BR" sz="2200" dirty="0">
                <a:latin typeface="Times New Roman" panose="02020603050405020304" pitchFamily="18" charset="0"/>
                <a:cs typeface="Times New Roman" panose="02020603050405020304" pitchFamily="18" charset="0"/>
              </a:rPr>
              <a:t>	 Estes, porém, podem ser interpretados pelos usuários finais dos aplicativos. Atualmente, os modelos de dados </a:t>
            </a:r>
            <a:r>
              <a:rPr lang="pt-BR" sz="2200" b="1" dirty="0">
                <a:latin typeface="Times New Roman" panose="02020603050405020304" pitchFamily="18" charset="0"/>
                <a:cs typeface="Times New Roman" panose="02020603050405020304" pitchFamily="18" charset="0"/>
              </a:rPr>
              <a:t>representacionais</a:t>
            </a:r>
            <a:r>
              <a:rPr lang="pt-BR" sz="2200" dirty="0">
                <a:latin typeface="Times New Roman" panose="02020603050405020304" pitchFamily="18" charset="0"/>
                <a:cs typeface="Times New Roman" panose="02020603050405020304" pitchFamily="18" charset="0"/>
              </a:rPr>
              <a:t> são os mais usados comercialmente pelos </a:t>
            </a:r>
            <a:r>
              <a:rPr lang="pt-BR" sz="2200" b="1" dirty="0">
                <a:latin typeface="Times New Roman" panose="02020603050405020304" pitchFamily="18" charset="0"/>
                <a:cs typeface="Times New Roman" panose="02020603050405020304" pitchFamily="18" charset="0"/>
              </a:rPr>
              <a:t>SGBDs</a:t>
            </a:r>
            <a:r>
              <a:rPr lang="pt-BR" sz="2200" dirty="0">
                <a:latin typeface="Times New Roman" panose="02020603050405020304" pitchFamily="18" charset="0"/>
                <a:cs typeface="Times New Roman" panose="02020603050405020304" pitchFamily="18" charset="0"/>
              </a:rPr>
              <a:t> mais </a:t>
            </a:r>
            <a:r>
              <a:rPr lang="pt-BR" sz="2200" b="1" dirty="0">
                <a:latin typeface="Times New Roman" panose="02020603050405020304" pitchFamily="18" charset="0"/>
                <a:cs typeface="Times New Roman" panose="02020603050405020304" pitchFamily="18" charset="0"/>
              </a:rPr>
              <a:t>tradicionais</a:t>
            </a:r>
            <a:r>
              <a:rPr lang="pt-BR" sz="2200" dirty="0">
                <a:latin typeface="Times New Roman" panose="02020603050405020304" pitchFamily="18" charset="0"/>
                <a:cs typeface="Times New Roman" panose="02020603050405020304" pitchFamily="18" charset="0"/>
              </a:rPr>
              <a:t>. Essa classe inclui o </a:t>
            </a:r>
            <a:r>
              <a:rPr lang="pt-BR" sz="2200" b="1" dirty="0">
                <a:latin typeface="Times New Roman" panose="02020603050405020304" pitchFamily="18" charset="0"/>
                <a:cs typeface="Times New Roman" panose="02020603050405020304" pitchFamily="18" charset="0"/>
              </a:rPr>
              <a:t>modelo</a:t>
            </a:r>
            <a:r>
              <a:rPr lang="pt-BR" sz="2200" dirty="0">
                <a:latin typeface="Times New Roman" panose="02020603050405020304" pitchFamily="18" charset="0"/>
                <a:cs typeface="Times New Roman" panose="02020603050405020304" pitchFamily="18" charset="0"/>
              </a:rPr>
              <a:t> </a:t>
            </a:r>
            <a:r>
              <a:rPr lang="pt-BR" sz="2200" b="1" dirty="0">
                <a:latin typeface="Times New Roman" panose="02020603050405020304" pitchFamily="18" charset="0"/>
                <a:cs typeface="Times New Roman" panose="02020603050405020304" pitchFamily="18" charset="0"/>
              </a:rPr>
              <a:t>de</a:t>
            </a:r>
            <a:r>
              <a:rPr lang="pt-BR" sz="2200" dirty="0">
                <a:latin typeface="Times New Roman" panose="02020603050405020304" pitchFamily="18" charset="0"/>
                <a:cs typeface="Times New Roman" panose="02020603050405020304" pitchFamily="18" charset="0"/>
              </a:rPr>
              <a:t> </a:t>
            </a:r>
            <a:r>
              <a:rPr lang="pt-BR" sz="2200" b="1" dirty="0">
                <a:latin typeface="Times New Roman" panose="02020603050405020304" pitchFamily="18" charset="0"/>
                <a:cs typeface="Times New Roman" panose="02020603050405020304" pitchFamily="18" charset="0"/>
              </a:rPr>
              <a:t>dados</a:t>
            </a:r>
            <a:r>
              <a:rPr lang="pt-BR" sz="2200" dirty="0">
                <a:latin typeface="Times New Roman" panose="02020603050405020304" pitchFamily="18" charset="0"/>
                <a:cs typeface="Times New Roman" panose="02020603050405020304" pitchFamily="18" charset="0"/>
              </a:rPr>
              <a:t> </a:t>
            </a:r>
            <a:r>
              <a:rPr lang="pt-BR" sz="2200" b="1" dirty="0">
                <a:latin typeface="Times New Roman" panose="02020603050405020304" pitchFamily="18" charset="0"/>
                <a:cs typeface="Times New Roman" panose="02020603050405020304" pitchFamily="18" charset="0"/>
              </a:rPr>
              <a:t>relacional</a:t>
            </a:r>
            <a:r>
              <a:rPr lang="pt-BR" sz="2200" dirty="0">
                <a:latin typeface="Times New Roman" panose="02020603050405020304" pitchFamily="18" charset="0"/>
                <a:cs typeface="Times New Roman" panose="02020603050405020304" pitchFamily="18" charset="0"/>
              </a:rPr>
              <a:t>, utilizado mais popularmente nos projetos de bancos de dados, e também os modelos </a:t>
            </a:r>
            <a:r>
              <a:rPr lang="pt-BR" sz="2200" b="1" dirty="0">
                <a:latin typeface="Times New Roman" panose="02020603050405020304" pitchFamily="18" charset="0"/>
                <a:cs typeface="Times New Roman" panose="02020603050405020304" pitchFamily="18" charset="0"/>
              </a:rPr>
              <a:t>hierárquicos</a:t>
            </a:r>
            <a:r>
              <a:rPr lang="pt-BR" sz="2200" dirty="0">
                <a:latin typeface="Times New Roman" panose="02020603050405020304" pitchFamily="18" charset="0"/>
                <a:cs typeface="Times New Roman" panose="02020603050405020304" pitchFamily="18" charset="0"/>
              </a:rPr>
              <a:t> e os </a:t>
            </a:r>
            <a:r>
              <a:rPr lang="pt-BR" sz="2200" b="1" dirty="0">
                <a:latin typeface="Times New Roman" panose="02020603050405020304" pitchFamily="18" charset="0"/>
                <a:cs typeface="Times New Roman" panose="02020603050405020304" pitchFamily="18" charset="0"/>
              </a:rPr>
              <a:t>modelos</a:t>
            </a:r>
            <a:r>
              <a:rPr lang="pt-BR" sz="2200" dirty="0">
                <a:latin typeface="Times New Roman" panose="02020603050405020304" pitchFamily="18" charset="0"/>
                <a:cs typeface="Times New Roman" panose="02020603050405020304" pitchFamily="18" charset="0"/>
              </a:rPr>
              <a:t> </a:t>
            </a:r>
            <a:r>
              <a:rPr lang="pt-BR" sz="2200" b="1" dirty="0">
                <a:latin typeface="Times New Roman" panose="02020603050405020304" pitchFamily="18" charset="0"/>
                <a:cs typeface="Times New Roman" panose="02020603050405020304" pitchFamily="18" charset="0"/>
              </a:rPr>
              <a:t>de</a:t>
            </a:r>
            <a:r>
              <a:rPr lang="pt-BR" sz="2200" dirty="0">
                <a:latin typeface="Times New Roman" panose="02020603050405020304" pitchFamily="18" charset="0"/>
                <a:cs typeface="Times New Roman" panose="02020603050405020304" pitchFamily="18" charset="0"/>
              </a:rPr>
              <a:t> </a:t>
            </a:r>
            <a:r>
              <a:rPr lang="pt-BR" sz="2200" b="1" dirty="0">
                <a:latin typeface="Times New Roman" panose="02020603050405020304" pitchFamily="18" charset="0"/>
                <a:cs typeface="Times New Roman" panose="02020603050405020304" pitchFamily="18" charset="0"/>
              </a:rPr>
              <a:t>rede</a:t>
            </a:r>
            <a:r>
              <a:rPr lang="pt-BR" sz="2200" dirty="0">
                <a:latin typeface="Times New Roman" panose="02020603050405020304" pitchFamily="18" charset="0"/>
                <a:cs typeface="Times New Roman" panose="02020603050405020304" pitchFamily="18" charset="0"/>
              </a:rPr>
              <a:t>, considerados modelos de dados legados, que já foram muito utilizados no passado.</a:t>
            </a:r>
          </a:p>
        </p:txBody>
      </p:sp>
    </p:spTree>
    <p:extLst>
      <p:ext uri="{BB962C8B-B14F-4D97-AF65-F5344CB8AC3E}">
        <p14:creationId xmlns:p14="http://schemas.microsoft.com/office/powerpoint/2010/main" val="3722287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6</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215956" y="136524"/>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6" name="Retângulo 5">
            <a:extLst>
              <a:ext uri="{FF2B5EF4-FFF2-40B4-BE49-F238E27FC236}">
                <a16:creationId xmlns:a16="http://schemas.microsoft.com/office/drawing/2014/main" id="{9F86EBA0-1CB3-45F9-9335-B1529DD69D90}"/>
              </a:ext>
            </a:extLst>
          </p:cNvPr>
          <p:cNvSpPr/>
          <p:nvPr/>
        </p:nvSpPr>
        <p:spPr>
          <a:xfrm>
            <a:off x="1259632" y="1233076"/>
            <a:ext cx="5165434" cy="461665"/>
          </a:xfrm>
          <a:prstGeom prst="rect">
            <a:avLst/>
          </a:prstGeom>
        </p:spPr>
        <p:txBody>
          <a:bodyPr wrap="square">
            <a:spAutoFit/>
          </a:bodyPr>
          <a:lstStyle/>
          <a:p>
            <a:r>
              <a:rPr lang="pt-BR" dirty="0">
                <a:solidFill>
                  <a:srgbClr val="000000"/>
                </a:solidFill>
                <a:latin typeface="Times New Roman" panose="02020603050405020304" pitchFamily="18" charset="0"/>
                <a:cs typeface="Times New Roman" panose="02020603050405020304" pitchFamily="18" charset="0"/>
              </a:rPr>
              <a:t> </a:t>
            </a:r>
            <a:r>
              <a:rPr lang="pt-BR" sz="2400" b="1" dirty="0">
                <a:solidFill>
                  <a:srgbClr val="000000"/>
                </a:solidFill>
                <a:latin typeface="Times New Roman" panose="02020603050405020304" pitchFamily="18" charset="0"/>
                <a:cs typeface="Times New Roman" panose="02020603050405020304" pitchFamily="18" charset="0"/>
              </a:rPr>
              <a:t>modelos conceitual, lógico e físico </a:t>
            </a:r>
            <a:endParaRPr lang="pt-BR" sz="2400" dirty="0">
              <a:latin typeface="Times New Roman" panose="02020603050405020304" pitchFamily="18" charset="0"/>
              <a:cs typeface="Times New Roman" panose="02020603050405020304" pitchFamily="18" charset="0"/>
            </a:endParaRPr>
          </a:p>
        </p:txBody>
      </p:sp>
      <p:sp>
        <p:nvSpPr>
          <p:cNvPr id="8" name="Retângulo 7">
            <a:extLst>
              <a:ext uri="{FF2B5EF4-FFF2-40B4-BE49-F238E27FC236}">
                <a16:creationId xmlns:a16="http://schemas.microsoft.com/office/drawing/2014/main" id="{BB8564D0-EAF2-4B5B-A77F-369BB15C8825}"/>
              </a:ext>
            </a:extLst>
          </p:cNvPr>
          <p:cNvSpPr/>
          <p:nvPr/>
        </p:nvSpPr>
        <p:spPr>
          <a:xfrm>
            <a:off x="551028" y="2276872"/>
            <a:ext cx="5677156" cy="1077218"/>
          </a:xfrm>
          <a:prstGeom prst="rect">
            <a:avLst/>
          </a:prstGeom>
        </p:spPr>
        <p:txBody>
          <a:bodyPr wrap="square">
            <a:spAutoFit/>
          </a:bodyPr>
          <a:lstStyle/>
          <a:p>
            <a:r>
              <a:rPr lang="pt-BR" sz="2000" dirty="0"/>
              <a:t> </a:t>
            </a:r>
            <a:r>
              <a:rPr lang="pt-BR" sz="2000" b="1" dirty="0"/>
              <a:t>Objetivos de aprendizagem </a:t>
            </a:r>
            <a:r>
              <a:rPr lang="pt-BR" sz="2400" dirty="0">
                <a:solidFill>
                  <a:srgbClr val="000000"/>
                </a:solidFill>
                <a:latin typeface="Calibri" panose="020F0502020204030204" pitchFamily="34" charset="0"/>
              </a:rPr>
              <a:t> </a:t>
            </a:r>
          </a:p>
          <a:p>
            <a:endParaRPr lang="pt-BR" sz="2000" dirty="0">
              <a:solidFill>
                <a:srgbClr val="000000"/>
              </a:solidFill>
              <a:latin typeface="Calibri" panose="020F0502020204030204" pitchFamily="34" charset="0"/>
            </a:endParaRPr>
          </a:p>
          <a:p>
            <a:r>
              <a:rPr lang="pt-BR" sz="2000" dirty="0">
                <a:solidFill>
                  <a:srgbClr val="000000"/>
                </a:solidFill>
                <a:latin typeface="Calibri" panose="020F0502020204030204" pitchFamily="34" charset="0"/>
              </a:rPr>
              <a:t>Definir os modelos conceitual, lógico e físico. </a:t>
            </a:r>
            <a:endParaRPr lang="pt-BR" sz="2000" dirty="0"/>
          </a:p>
        </p:txBody>
      </p:sp>
    </p:spTree>
    <p:extLst>
      <p:ext uri="{BB962C8B-B14F-4D97-AF65-F5344CB8AC3E}">
        <p14:creationId xmlns:p14="http://schemas.microsoft.com/office/powerpoint/2010/main" val="4155030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7</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251520" y="476672"/>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6" name="Retângulo 5">
            <a:extLst>
              <a:ext uri="{FF2B5EF4-FFF2-40B4-BE49-F238E27FC236}">
                <a16:creationId xmlns:a16="http://schemas.microsoft.com/office/drawing/2014/main" id="{9F86EBA0-1CB3-45F9-9335-B1529DD69D90}"/>
              </a:ext>
            </a:extLst>
          </p:cNvPr>
          <p:cNvSpPr/>
          <p:nvPr/>
        </p:nvSpPr>
        <p:spPr>
          <a:xfrm>
            <a:off x="1259632" y="1233076"/>
            <a:ext cx="5165434" cy="461665"/>
          </a:xfrm>
          <a:prstGeom prst="rect">
            <a:avLst/>
          </a:prstGeom>
        </p:spPr>
        <p:txBody>
          <a:bodyPr wrap="square">
            <a:spAutoFit/>
          </a:bodyPr>
          <a:lstStyle/>
          <a:p>
            <a:r>
              <a:rPr lang="pt-BR" dirty="0">
                <a:solidFill>
                  <a:srgbClr val="000000"/>
                </a:solidFill>
                <a:latin typeface="Times New Roman" panose="02020603050405020304" pitchFamily="18" charset="0"/>
                <a:cs typeface="Times New Roman" panose="02020603050405020304" pitchFamily="18" charset="0"/>
              </a:rPr>
              <a:t> </a:t>
            </a:r>
            <a:r>
              <a:rPr lang="pt-BR" sz="2400" b="1" dirty="0">
                <a:solidFill>
                  <a:srgbClr val="000000"/>
                </a:solidFill>
                <a:latin typeface="Times New Roman" panose="02020603050405020304" pitchFamily="18" charset="0"/>
                <a:cs typeface="Times New Roman" panose="02020603050405020304" pitchFamily="18" charset="0"/>
              </a:rPr>
              <a:t>modelos conceitual, lógico e físico </a:t>
            </a:r>
            <a:endParaRPr lang="pt-BR" sz="2400" dirty="0">
              <a:latin typeface="Times New Roman" panose="02020603050405020304" pitchFamily="18" charset="0"/>
              <a:cs typeface="Times New Roman" panose="02020603050405020304" pitchFamily="18" charset="0"/>
            </a:endParaRPr>
          </a:p>
        </p:txBody>
      </p:sp>
      <p:sp>
        <p:nvSpPr>
          <p:cNvPr id="8" name="Retângulo 7">
            <a:extLst>
              <a:ext uri="{FF2B5EF4-FFF2-40B4-BE49-F238E27FC236}">
                <a16:creationId xmlns:a16="http://schemas.microsoft.com/office/drawing/2014/main" id="{BB8564D0-EAF2-4B5B-A77F-369BB15C8825}"/>
              </a:ext>
            </a:extLst>
          </p:cNvPr>
          <p:cNvSpPr/>
          <p:nvPr/>
        </p:nvSpPr>
        <p:spPr>
          <a:xfrm>
            <a:off x="551028" y="2276872"/>
            <a:ext cx="6973300" cy="2246769"/>
          </a:xfrm>
          <a:prstGeom prst="rect">
            <a:avLst/>
          </a:prstGeom>
        </p:spPr>
        <p:txBody>
          <a:bodyPr wrap="square">
            <a:spAutoFit/>
          </a:bodyPr>
          <a:lstStyle/>
          <a:p>
            <a:pPr algn="just"/>
            <a:r>
              <a:rPr lang="pt-BR" sz="2000" dirty="0"/>
              <a:t> Introdução </a:t>
            </a:r>
          </a:p>
          <a:p>
            <a:pPr algn="just"/>
            <a:endParaRPr lang="pt-BR" sz="2000" dirty="0"/>
          </a:p>
          <a:p>
            <a:pPr marL="342900" indent="-342900" algn="just">
              <a:buFont typeface="Arial" panose="020B0604020202020204" pitchFamily="34" charset="0"/>
              <a:buChar char="•"/>
            </a:pPr>
            <a:r>
              <a:rPr lang="pt-BR" sz="2000" dirty="0"/>
              <a:t>O conhecimento acerca dos modelos entidade-relacionamento (</a:t>
            </a:r>
            <a:r>
              <a:rPr lang="pt-BR" sz="2000" dirty="0" err="1"/>
              <a:t>MERs</a:t>
            </a:r>
            <a:r>
              <a:rPr lang="pt-BR" sz="2000" dirty="0"/>
              <a:t>);</a:t>
            </a:r>
          </a:p>
          <a:p>
            <a:pPr marL="342900" indent="-342900" algn="just">
              <a:buFont typeface="Arial" panose="020B0604020202020204" pitchFamily="34" charset="0"/>
              <a:buChar char="•"/>
            </a:pPr>
            <a:r>
              <a:rPr lang="pt-BR" sz="2000" dirty="0"/>
              <a:t>Estudar os tipos e modelos de bancos de dados, com destaque para o modelo relacional, e vai aprender sobre o projeto desses bancos de dados.</a:t>
            </a:r>
          </a:p>
        </p:txBody>
      </p:sp>
    </p:spTree>
    <p:extLst>
      <p:ext uri="{BB962C8B-B14F-4D97-AF65-F5344CB8AC3E}">
        <p14:creationId xmlns:p14="http://schemas.microsoft.com/office/powerpoint/2010/main" val="3634851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8</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523220"/>
          </a:xfrm>
          <a:prstGeom prst="rect">
            <a:avLst/>
          </a:prstGeom>
        </p:spPr>
        <p:txBody>
          <a:bodyPr wrap="square">
            <a:spAutoFit/>
          </a:bodyPr>
          <a:lstStyle/>
          <a:p>
            <a:r>
              <a:rPr lang="pt-BR" sz="2800" dirty="0">
                <a:solidFill>
                  <a:srgbClr val="000000"/>
                </a:solidFill>
                <a:latin typeface="Calibri" panose="020F0502020204030204" pitchFamily="34" charset="0"/>
              </a:rPr>
              <a:t> </a:t>
            </a:r>
            <a:r>
              <a:rPr lang="pt-BR" sz="2400" b="1" dirty="0">
                <a:solidFill>
                  <a:srgbClr val="000000"/>
                </a:solidFill>
                <a:latin typeface="Calibri" panose="020F0502020204030204" pitchFamily="34" charset="0"/>
              </a:rPr>
              <a:t>1 Modelagem e projeto de banco de dados </a:t>
            </a:r>
            <a:endParaRPr lang="pt-BR" sz="2400" dirty="0"/>
          </a:p>
        </p:txBody>
      </p:sp>
      <p:sp>
        <p:nvSpPr>
          <p:cNvPr id="10" name="Retângulo 9">
            <a:extLst>
              <a:ext uri="{FF2B5EF4-FFF2-40B4-BE49-F238E27FC236}">
                <a16:creationId xmlns:a16="http://schemas.microsoft.com/office/drawing/2014/main" id="{C8E03CEC-65B1-40E4-9A3B-E499E5E6FBF8}"/>
              </a:ext>
            </a:extLst>
          </p:cNvPr>
          <p:cNvSpPr/>
          <p:nvPr/>
        </p:nvSpPr>
        <p:spPr>
          <a:xfrm>
            <a:off x="329068" y="1359932"/>
            <a:ext cx="6979235" cy="3477875"/>
          </a:xfrm>
          <a:prstGeom prst="rect">
            <a:avLst/>
          </a:prstGeom>
        </p:spPr>
        <p:txBody>
          <a:bodyPr wrap="square">
            <a:spAutoFit/>
          </a:bodyPr>
          <a:lstStyle/>
          <a:p>
            <a:pPr algn="just"/>
            <a:endParaRPr lang="pt-BR" sz="2000" dirty="0">
              <a:solidFill>
                <a:srgbClr val="000000"/>
              </a:solidFill>
              <a:latin typeface="Times New Roman" panose="02020603050405020304" pitchFamily="18" charset="0"/>
              <a:cs typeface="Times New Roman" panose="02020603050405020304" pitchFamily="18" charset="0"/>
            </a:endParaRPr>
          </a:p>
          <a:p>
            <a:pPr algn="just"/>
            <a:r>
              <a:rPr lang="pt-BR" sz="2000" dirty="0">
                <a:solidFill>
                  <a:srgbClr val="000000"/>
                </a:solidFill>
                <a:latin typeface="Times New Roman" panose="02020603050405020304" pitchFamily="18" charset="0"/>
                <a:cs typeface="Times New Roman" panose="02020603050405020304" pitchFamily="18" charset="0"/>
              </a:rPr>
              <a:t> A</a:t>
            </a:r>
            <a:r>
              <a:rPr lang="pt-BR" dirty="0">
                <a:solidFill>
                  <a:srgbClr val="000000"/>
                </a:solidFill>
                <a:latin typeface="Times New Roman" panose="02020603050405020304" pitchFamily="18" charset="0"/>
                <a:cs typeface="Times New Roman" panose="02020603050405020304" pitchFamily="18" charset="0"/>
              </a:rPr>
              <a:t> modelagem de banco de dados, deve atingir os objetivos estabelecidos pelo requisitante. </a:t>
            </a:r>
          </a:p>
          <a:p>
            <a:pPr algn="just"/>
            <a:endParaRPr lang="pt-BR" dirty="0">
              <a:solidFill>
                <a:srgbClr val="000000"/>
              </a:solidFill>
              <a:latin typeface="Times New Roman" panose="02020603050405020304" pitchFamily="18" charset="0"/>
              <a:cs typeface="Times New Roman" panose="02020603050405020304" pitchFamily="18" charset="0"/>
            </a:endParaRPr>
          </a:p>
          <a:p>
            <a:pPr algn="just"/>
            <a:r>
              <a:rPr lang="pt-BR" dirty="0">
                <a:latin typeface="Times New Roman" panose="02020603050405020304" pitchFamily="18" charset="0"/>
                <a:cs typeface="Times New Roman" panose="02020603050405020304" pitchFamily="18" charset="0"/>
              </a:rPr>
              <a:t>Os requisitos podem ser descritos graficamente por diagramas, com declarações sobre as funções que o sistema deve oferecer de forma abstrata de alto nível.</a:t>
            </a:r>
          </a:p>
          <a:p>
            <a:pPr algn="just"/>
            <a:endParaRPr lang="pt-BR" dirty="0">
              <a:latin typeface="Times New Roman" panose="02020603050405020304" pitchFamily="18" charset="0"/>
              <a:cs typeface="Times New Roman" panose="02020603050405020304" pitchFamily="18" charset="0"/>
            </a:endParaRPr>
          </a:p>
          <a:p>
            <a:pPr algn="just"/>
            <a:r>
              <a:rPr lang="pt-BR" dirty="0">
                <a:latin typeface="Times New Roman" panose="02020603050405020304" pitchFamily="18" charset="0"/>
                <a:cs typeface="Times New Roman" panose="02020603050405020304" pitchFamily="18" charset="0"/>
              </a:rPr>
              <a:t>Leva-se também em consideração a engenharia de requisitos, que é um processo que engloba todas as atividades que contribuem para a elaboração de um documento, com todos os requisitos, e para a sua manutenção.</a:t>
            </a:r>
          </a:p>
        </p:txBody>
      </p:sp>
    </p:spTree>
    <p:extLst>
      <p:ext uri="{BB962C8B-B14F-4D97-AF65-F5344CB8AC3E}">
        <p14:creationId xmlns:p14="http://schemas.microsoft.com/office/powerpoint/2010/main" val="4097125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9</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523220"/>
          </a:xfrm>
          <a:prstGeom prst="rect">
            <a:avLst/>
          </a:prstGeom>
        </p:spPr>
        <p:txBody>
          <a:bodyPr wrap="square">
            <a:spAutoFit/>
          </a:bodyPr>
          <a:lstStyle/>
          <a:p>
            <a:r>
              <a:rPr lang="pt-BR" sz="2800" dirty="0">
                <a:solidFill>
                  <a:srgbClr val="000000"/>
                </a:solidFill>
                <a:latin typeface="Calibri" panose="020F0502020204030204" pitchFamily="34" charset="0"/>
              </a:rPr>
              <a:t> </a:t>
            </a:r>
            <a:r>
              <a:rPr lang="pt-BR" sz="2400" b="1" dirty="0">
                <a:solidFill>
                  <a:srgbClr val="000000"/>
                </a:solidFill>
                <a:latin typeface="Calibri" panose="020F0502020204030204" pitchFamily="34" charset="0"/>
              </a:rPr>
              <a:t>1 Modelagem e projeto de banco de dados </a:t>
            </a:r>
            <a:endParaRPr lang="pt-BR" sz="2400" dirty="0"/>
          </a:p>
        </p:txBody>
      </p:sp>
      <p:sp>
        <p:nvSpPr>
          <p:cNvPr id="10" name="Retângulo 9">
            <a:extLst>
              <a:ext uri="{FF2B5EF4-FFF2-40B4-BE49-F238E27FC236}">
                <a16:creationId xmlns:a16="http://schemas.microsoft.com/office/drawing/2014/main" id="{C8E03CEC-65B1-40E4-9A3B-E499E5E6FBF8}"/>
              </a:ext>
            </a:extLst>
          </p:cNvPr>
          <p:cNvSpPr/>
          <p:nvPr/>
        </p:nvSpPr>
        <p:spPr>
          <a:xfrm>
            <a:off x="329068" y="1359932"/>
            <a:ext cx="6979235" cy="1938992"/>
          </a:xfrm>
          <a:prstGeom prst="rect">
            <a:avLst/>
          </a:prstGeom>
        </p:spPr>
        <p:txBody>
          <a:bodyPr wrap="square">
            <a:spAutoFit/>
          </a:bodyPr>
          <a:lstStyle/>
          <a:p>
            <a:pPr algn="just"/>
            <a:r>
              <a:rPr lang="pt-BR" sz="2000" dirty="0">
                <a:solidFill>
                  <a:srgbClr val="000000"/>
                </a:solidFill>
                <a:latin typeface="Times New Roman" panose="02020603050405020304" pitchFamily="18" charset="0"/>
                <a:cs typeface="Times New Roman" panose="02020603050405020304" pitchFamily="18" charset="0"/>
              </a:rPr>
              <a:t>Um erro durante a modelagem compromete a usabilidade do sistema final e acarreta a necessidade de retrabalho, o que aumenta o custo do processo de desenvolvimento. Para que isso não ocorra, a seguir serão apresentados os passos fundamentais do processo de modelagem de um banco de dados, conforme as fases apresentadas na Figura 1.</a:t>
            </a:r>
            <a:endParaRPr lang="pt-BR" dirty="0">
              <a:latin typeface="Times New Roman" panose="02020603050405020304" pitchFamily="18" charset="0"/>
              <a:cs typeface="Times New Roman" panose="02020603050405020304" pitchFamily="18" charset="0"/>
            </a:endParaRPr>
          </a:p>
        </p:txBody>
      </p:sp>
      <p:pic>
        <p:nvPicPr>
          <p:cNvPr id="6" name="Imagem 5">
            <a:extLst>
              <a:ext uri="{FF2B5EF4-FFF2-40B4-BE49-F238E27FC236}">
                <a16:creationId xmlns:a16="http://schemas.microsoft.com/office/drawing/2014/main" id="{2CBEB446-5857-4610-A763-4915BADFE8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3404749"/>
            <a:ext cx="5977111" cy="1835797"/>
          </a:xfrm>
          <a:prstGeom prst="rect">
            <a:avLst/>
          </a:prstGeom>
        </p:spPr>
      </p:pic>
    </p:spTree>
    <p:extLst>
      <p:ext uri="{BB962C8B-B14F-4D97-AF65-F5344CB8AC3E}">
        <p14:creationId xmlns:p14="http://schemas.microsoft.com/office/powerpoint/2010/main" val="2439298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10</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523220"/>
          </a:xfrm>
          <a:prstGeom prst="rect">
            <a:avLst/>
          </a:prstGeom>
        </p:spPr>
        <p:txBody>
          <a:bodyPr wrap="square">
            <a:spAutoFit/>
          </a:bodyPr>
          <a:lstStyle/>
          <a:p>
            <a:r>
              <a:rPr lang="pt-BR" sz="2800" dirty="0">
                <a:solidFill>
                  <a:srgbClr val="000000"/>
                </a:solidFill>
                <a:latin typeface="Calibri" panose="020F0502020204030204" pitchFamily="34" charset="0"/>
              </a:rPr>
              <a:t> </a:t>
            </a:r>
            <a:r>
              <a:rPr lang="pt-BR" sz="2400" b="1" dirty="0">
                <a:solidFill>
                  <a:srgbClr val="000000"/>
                </a:solidFill>
                <a:latin typeface="Calibri" panose="020F0502020204030204" pitchFamily="34" charset="0"/>
              </a:rPr>
              <a:t>1 Modelagem e projeto de banco de dados </a:t>
            </a:r>
            <a:endParaRPr lang="pt-BR" sz="2400" dirty="0"/>
          </a:p>
        </p:txBody>
      </p:sp>
      <p:sp>
        <p:nvSpPr>
          <p:cNvPr id="10" name="Retângulo 9">
            <a:extLst>
              <a:ext uri="{FF2B5EF4-FFF2-40B4-BE49-F238E27FC236}">
                <a16:creationId xmlns:a16="http://schemas.microsoft.com/office/drawing/2014/main" id="{C8E03CEC-65B1-40E4-9A3B-E499E5E6FBF8}"/>
              </a:ext>
            </a:extLst>
          </p:cNvPr>
          <p:cNvSpPr/>
          <p:nvPr/>
        </p:nvSpPr>
        <p:spPr>
          <a:xfrm>
            <a:off x="398306" y="1467853"/>
            <a:ext cx="6979235" cy="369332"/>
          </a:xfrm>
          <a:prstGeom prst="rect">
            <a:avLst/>
          </a:prstGeom>
        </p:spPr>
        <p:txBody>
          <a:bodyPr wrap="square">
            <a:spAutoFit/>
          </a:bodyPr>
          <a:lstStyle/>
          <a:p>
            <a:pPr algn="just"/>
            <a:r>
              <a:rPr lang="pt-BR" b="1" dirty="0"/>
              <a:t>Identificação do problema (levantamento de requisitos) </a:t>
            </a:r>
            <a:endParaRPr lang="pt-BR" dirty="0">
              <a:latin typeface="Times New Roman" panose="02020603050405020304" pitchFamily="18" charset="0"/>
              <a:cs typeface="Times New Roman" panose="02020603050405020304" pitchFamily="18" charset="0"/>
            </a:endParaRPr>
          </a:p>
        </p:txBody>
      </p:sp>
      <p:sp>
        <p:nvSpPr>
          <p:cNvPr id="8" name="Retângulo 7">
            <a:extLst>
              <a:ext uri="{FF2B5EF4-FFF2-40B4-BE49-F238E27FC236}">
                <a16:creationId xmlns:a16="http://schemas.microsoft.com/office/drawing/2014/main" id="{E90F4F7E-EFEF-4107-868D-95654040C0C8}"/>
              </a:ext>
            </a:extLst>
          </p:cNvPr>
          <p:cNvSpPr/>
          <p:nvPr/>
        </p:nvSpPr>
        <p:spPr>
          <a:xfrm>
            <a:off x="398305" y="2690336"/>
            <a:ext cx="6979235" cy="1754326"/>
          </a:xfrm>
          <a:prstGeom prst="rect">
            <a:avLst/>
          </a:prstGeom>
        </p:spPr>
        <p:txBody>
          <a:bodyPr wrap="square">
            <a:spAutoFit/>
          </a:bodyPr>
          <a:lstStyle/>
          <a:p>
            <a:pPr algn="just"/>
            <a:r>
              <a:rPr lang="pt-BR" dirty="0">
                <a:solidFill>
                  <a:srgbClr val="000000"/>
                </a:solidFill>
                <a:latin typeface="Times New Roman" panose="02020603050405020304" pitchFamily="18" charset="0"/>
                <a:cs typeface="Times New Roman" panose="02020603050405020304" pitchFamily="18" charset="0"/>
              </a:rPr>
              <a:t>	Os requisitos são a base de todos os produtos de software. Sua elucidação, seu gerenciamento e seu entendimento são problemas comuns a todas as metodologias de desenvolvimento. </a:t>
            </a:r>
          </a:p>
          <a:p>
            <a:pPr algn="just"/>
            <a:r>
              <a:rPr lang="pt-BR" dirty="0">
                <a:latin typeface="Times New Roman" panose="02020603050405020304" pitchFamily="18" charset="0"/>
                <a:cs typeface="Times New Roman" panose="02020603050405020304" pitchFamily="18" charset="0"/>
              </a:rPr>
              <a:t>	</a:t>
            </a:r>
          </a:p>
          <a:p>
            <a:pPr algn="just"/>
            <a:r>
              <a:rPr lang="pt-BR" dirty="0">
                <a:latin typeface="Times New Roman" panose="02020603050405020304" pitchFamily="18" charset="0"/>
                <a:cs typeface="Times New Roman" panose="02020603050405020304" pitchFamily="18" charset="0"/>
              </a:rPr>
              <a:t>	Segundo Pressman e </a:t>
            </a:r>
            <a:r>
              <a:rPr lang="pt-BR" dirty="0" err="1">
                <a:latin typeface="Times New Roman" panose="02020603050405020304" pitchFamily="18" charset="0"/>
                <a:cs typeface="Times New Roman" panose="02020603050405020304" pitchFamily="18" charset="0"/>
              </a:rPr>
              <a:t>Maxim</a:t>
            </a:r>
            <a:r>
              <a:rPr lang="pt-BR" dirty="0">
                <a:latin typeface="Times New Roman" panose="02020603050405020304" pitchFamily="18" charset="0"/>
                <a:cs typeface="Times New Roman" panose="02020603050405020304" pitchFamily="18" charset="0"/>
              </a:rPr>
              <a:t> (2011), a tarefa de análise de requisitos é um processo de descoberta, refinamento, modelagem e especificação.</a:t>
            </a:r>
          </a:p>
        </p:txBody>
      </p:sp>
    </p:spTree>
    <p:extLst>
      <p:ext uri="{BB962C8B-B14F-4D97-AF65-F5344CB8AC3E}">
        <p14:creationId xmlns:p14="http://schemas.microsoft.com/office/powerpoint/2010/main" val="3238682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11</a:t>
            </a:fld>
            <a:endParaRPr lang="pt-BR">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10" name="Retângulo 9">
            <a:extLst>
              <a:ext uri="{FF2B5EF4-FFF2-40B4-BE49-F238E27FC236}">
                <a16:creationId xmlns:a16="http://schemas.microsoft.com/office/drawing/2014/main" id="{C8E03CEC-65B1-40E4-9A3B-E499E5E6FBF8}"/>
              </a:ext>
            </a:extLst>
          </p:cNvPr>
          <p:cNvSpPr/>
          <p:nvPr/>
        </p:nvSpPr>
        <p:spPr>
          <a:xfrm>
            <a:off x="398306" y="4554"/>
            <a:ext cx="6979235" cy="400110"/>
          </a:xfrm>
          <a:prstGeom prst="rect">
            <a:avLst/>
          </a:prstGeom>
        </p:spPr>
        <p:txBody>
          <a:bodyPr wrap="square">
            <a:spAutoFit/>
          </a:bodyPr>
          <a:lstStyle/>
          <a:p>
            <a:pPr algn="just"/>
            <a:r>
              <a:rPr lang="pt-BR" sz="2000" b="1" dirty="0"/>
              <a:t>Modelagem CONCEITUAL (alto nível)</a:t>
            </a:r>
            <a:endParaRPr lang="pt-BR" sz="2000" dirty="0">
              <a:latin typeface="Times New Roman" panose="02020603050405020304" pitchFamily="18" charset="0"/>
              <a:cs typeface="Times New Roman" panose="02020603050405020304" pitchFamily="18" charset="0"/>
            </a:endParaRPr>
          </a:p>
        </p:txBody>
      </p:sp>
      <p:sp>
        <p:nvSpPr>
          <p:cNvPr id="8" name="Retângulo 7">
            <a:extLst>
              <a:ext uri="{FF2B5EF4-FFF2-40B4-BE49-F238E27FC236}">
                <a16:creationId xmlns:a16="http://schemas.microsoft.com/office/drawing/2014/main" id="{E90F4F7E-EFEF-4107-868D-95654040C0C8}"/>
              </a:ext>
            </a:extLst>
          </p:cNvPr>
          <p:cNvSpPr/>
          <p:nvPr/>
        </p:nvSpPr>
        <p:spPr>
          <a:xfrm>
            <a:off x="251520" y="573706"/>
            <a:ext cx="8263830" cy="2862322"/>
          </a:xfrm>
          <a:prstGeom prst="rect">
            <a:avLst/>
          </a:prstGeom>
        </p:spPr>
        <p:txBody>
          <a:bodyPr wrap="square">
            <a:spAutoFit/>
          </a:bodyPr>
          <a:lstStyle/>
          <a:p>
            <a:pPr algn="just"/>
            <a:r>
              <a:rPr lang="pt-BR" dirty="0">
                <a:solidFill>
                  <a:srgbClr val="000000"/>
                </a:solidFill>
                <a:latin typeface="Times New Roman" panose="02020603050405020304" pitchFamily="18" charset="0"/>
                <a:cs typeface="Times New Roman" panose="02020603050405020304" pitchFamily="18" charset="0"/>
              </a:rPr>
              <a:t>	</a:t>
            </a:r>
            <a:r>
              <a:rPr lang="pt-BR" dirty="0">
                <a:latin typeface="Times New Roman" panose="02020603050405020304" pitchFamily="18" charset="0"/>
                <a:cs typeface="Times New Roman" panose="02020603050405020304" pitchFamily="18" charset="0"/>
              </a:rPr>
              <a:t>A modelagem conceitual é a representação que considera exclusivamente o ponto de vista do usuário criador dos dados, levando em consideração fatores técnicos para sua implementação. </a:t>
            </a:r>
          </a:p>
          <a:p>
            <a:pPr algn="just"/>
            <a:endParaRPr lang="pt-BR" dirty="0">
              <a:latin typeface="Times New Roman" panose="02020603050405020304" pitchFamily="18" charset="0"/>
              <a:cs typeface="Times New Roman" panose="02020603050405020304" pitchFamily="18" charset="0"/>
            </a:endParaRPr>
          </a:p>
          <a:p>
            <a:pPr algn="just"/>
            <a:r>
              <a:rPr lang="pt-BR" dirty="0">
                <a:latin typeface="Times New Roman" panose="02020603050405020304" pitchFamily="18" charset="0"/>
                <a:cs typeface="Times New Roman" panose="02020603050405020304" pitchFamily="18" charset="0"/>
              </a:rPr>
              <a:t>O nível conceitual especifica como os dados são armazenados e relacionados, independentemente de como serão implementados no banco de dados. </a:t>
            </a:r>
          </a:p>
          <a:p>
            <a:pPr algn="just"/>
            <a:endParaRPr lang="pt-BR" dirty="0">
              <a:latin typeface="Times New Roman" panose="02020603050405020304" pitchFamily="18" charset="0"/>
              <a:cs typeface="Times New Roman" panose="02020603050405020304" pitchFamily="18" charset="0"/>
            </a:endParaRPr>
          </a:p>
          <a:p>
            <a:pPr algn="just"/>
            <a:r>
              <a:rPr lang="pt-BR" dirty="0">
                <a:latin typeface="Times New Roman" panose="02020603050405020304" pitchFamily="18" charset="0"/>
                <a:cs typeface="Times New Roman" panose="02020603050405020304" pitchFamily="18" charset="0"/>
              </a:rPr>
              <a:t>a técnica de modelagem conceitual mais difundida é a abordagem entidade-relacionamento. Nessa técnica, um modelo conceitual é usualmente representado através de um diagrama”. </a:t>
            </a:r>
          </a:p>
        </p:txBody>
      </p:sp>
    </p:spTree>
    <p:extLst>
      <p:ext uri="{BB962C8B-B14F-4D97-AF65-F5344CB8AC3E}">
        <p14:creationId xmlns:p14="http://schemas.microsoft.com/office/powerpoint/2010/main" val="2369533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12</a:t>
            </a:fld>
            <a:endParaRPr lang="pt-BR">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10" name="Retângulo 9">
            <a:extLst>
              <a:ext uri="{FF2B5EF4-FFF2-40B4-BE49-F238E27FC236}">
                <a16:creationId xmlns:a16="http://schemas.microsoft.com/office/drawing/2014/main" id="{C8E03CEC-65B1-40E4-9A3B-E499E5E6FBF8}"/>
              </a:ext>
            </a:extLst>
          </p:cNvPr>
          <p:cNvSpPr/>
          <p:nvPr/>
        </p:nvSpPr>
        <p:spPr>
          <a:xfrm>
            <a:off x="398306" y="4554"/>
            <a:ext cx="6979235" cy="400110"/>
          </a:xfrm>
          <a:prstGeom prst="rect">
            <a:avLst/>
          </a:prstGeom>
        </p:spPr>
        <p:txBody>
          <a:bodyPr wrap="square">
            <a:spAutoFit/>
          </a:bodyPr>
          <a:lstStyle/>
          <a:p>
            <a:pPr algn="just"/>
            <a:r>
              <a:rPr lang="pt-BR" sz="2000" b="1" dirty="0"/>
              <a:t>Modelagem CONCEITUAL (alto nível)</a:t>
            </a:r>
            <a:endParaRPr lang="pt-BR" sz="2000" dirty="0">
              <a:latin typeface="Times New Roman" panose="02020603050405020304" pitchFamily="18" charset="0"/>
              <a:cs typeface="Times New Roman" panose="02020603050405020304" pitchFamily="18" charset="0"/>
            </a:endParaRPr>
          </a:p>
        </p:txBody>
      </p:sp>
      <p:sp>
        <p:nvSpPr>
          <p:cNvPr id="8" name="Retângulo 7">
            <a:extLst>
              <a:ext uri="{FF2B5EF4-FFF2-40B4-BE49-F238E27FC236}">
                <a16:creationId xmlns:a16="http://schemas.microsoft.com/office/drawing/2014/main" id="{E90F4F7E-EFEF-4107-868D-95654040C0C8}"/>
              </a:ext>
            </a:extLst>
          </p:cNvPr>
          <p:cNvSpPr/>
          <p:nvPr/>
        </p:nvSpPr>
        <p:spPr>
          <a:xfrm>
            <a:off x="251520" y="573706"/>
            <a:ext cx="8263830" cy="3268652"/>
          </a:xfrm>
          <a:prstGeom prst="rect">
            <a:avLst/>
          </a:prstGeom>
        </p:spPr>
        <p:txBody>
          <a:bodyPr wrap="square">
            <a:spAutoFit/>
          </a:bodyPr>
          <a:lstStyle/>
          <a:p>
            <a:pPr algn="just">
              <a:lnSpc>
                <a:spcPct val="150000"/>
              </a:lnSpc>
            </a:pPr>
            <a:r>
              <a:rPr lang="pt-BR" sz="2000" dirty="0">
                <a:solidFill>
                  <a:srgbClr val="000000"/>
                </a:solidFill>
                <a:latin typeface="Times New Roman" panose="02020603050405020304" pitchFamily="18" charset="0"/>
                <a:cs typeface="Times New Roman" panose="02020603050405020304" pitchFamily="18" charset="0"/>
              </a:rPr>
              <a:t>	</a:t>
            </a:r>
            <a:r>
              <a:rPr lang="pt-BR" sz="2000" dirty="0">
                <a:latin typeface="Times New Roman" panose="02020603050405020304" pitchFamily="18" charset="0"/>
                <a:cs typeface="Times New Roman" panose="02020603050405020304" pitchFamily="18" charset="0"/>
              </a:rPr>
              <a:t> Um modelo de (banco de) dados é uma </a:t>
            </a:r>
            <a:r>
              <a:rPr lang="pt-BR" sz="2000" dirty="0" err="1">
                <a:latin typeface="Times New Roman" panose="02020603050405020304" pitchFamily="18" charset="0"/>
                <a:cs typeface="Times New Roman" panose="02020603050405020304" pitchFamily="18" charset="0"/>
              </a:rPr>
              <a:t>descrição</a:t>
            </a:r>
            <a:r>
              <a:rPr lang="pt-BR" sz="2000" dirty="0">
                <a:latin typeface="Times New Roman" panose="02020603050405020304" pitchFamily="18" charset="0"/>
                <a:cs typeface="Times New Roman" panose="02020603050405020304" pitchFamily="18" charset="0"/>
              </a:rPr>
              <a:t> dos tipos de </a:t>
            </a:r>
            <a:r>
              <a:rPr lang="pt-BR" sz="2000" dirty="0" err="1">
                <a:latin typeface="Times New Roman" panose="02020603050405020304" pitchFamily="18" charset="0"/>
                <a:cs typeface="Times New Roman" panose="02020603050405020304" pitchFamily="18" charset="0"/>
              </a:rPr>
              <a:t>informações</a:t>
            </a:r>
            <a:r>
              <a:rPr lang="pt-BR" sz="2000" dirty="0">
                <a:latin typeface="Times New Roman" panose="02020603050405020304" pitchFamily="18" charset="0"/>
                <a:cs typeface="Times New Roman" panose="02020603050405020304" pitchFamily="18" charset="0"/>
              </a:rPr>
              <a:t> que </a:t>
            </a:r>
            <a:r>
              <a:rPr lang="pt-BR" sz="2000" dirty="0" err="1">
                <a:latin typeface="Times New Roman" panose="02020603050405020304" pitchFamily="18" charset="0"/>
                <a:cs typeface="Times New Roman" panose="02020603050405020304" pitchFamily="18" charset="0"/>
              </a:rPr>
              <a:t>estão</a:t>
            </a:r>
            <a:r>
              <a:rPr lang="pt-BR" sz="2000" dirty="0">
                <a:latin typeface="Times New Roman" panose="02020603050405020304" pitchFamily="18" charset="0"/>
                <a:cs typeface="Times New Roman" panose="02020603050405020304" pitchFamily="18" charset="0"/>
              </a:rPr>
              <a:t> armazenadas em um banco de dados. Por exemplo, no caso da </a:t>
            </a:r>
            <a:r>
              <a:rPr lang="pt-BR" sz="2000" dirty="0" err="1">
                <a:latin typeface="Times New Roman" panose="02020603050405020304" pitchFamily="18" charset="0"/>
                <a:cs typeface="Times New Roman" panose="02020603050405020304" pitchFamily="18" charset="0"/>
              </a:rPr>
              <a:t>indústria</a:t>
            </a:r>
            <a:r>
              <a:rPr lang="pt-BR" sz="2000" dirty="0">
                <a:latin typeface="Times New Roman" panose="02020603050405020304" pitchFamily="18" charset="0"/>
                <a:cs typeface="Times New Roman" panose="02020603050405020304" pitchFamily="18" charset="0"/>
              </a:rPr>
              <a:t>, o modelo de dados poderia informar que o banco de dados armazena </a:t>
            </a:r>
            <a:r>
              <a:rPr lang="pt-BR" sz="2000" dirty="0" err="1">
                <a:latin typeface="Times New Roman" panose="02020603050405020304" pitchFamily="18" charset="0"/>
                <a:cs typeface="Times New Roman" panose="02020603050405020304" pitchFamily="18" charset="0"/>
              </a:rPr>
              <a:t>informações</a:t>
            </a:r>
            <a:r>
              <a:rPr lang="pt-BR" sz="2000" dirty="0">
                <a:latin typeface="Times New Roman" panose="02020603050405020304" pitchFamily="18" charset="0"/>
                <a:cs typeface="Times New Roman" panose="02020603050405020304" pitchFamily="18" charset="0"/>
              </a:rPr>
              <a:t> sobre produtos e que, para cada produto, </a:t>
            </a:r>
            <a:r>
              <a:rPr lang="pt-BR" sz="2000" dirty="0" err="1">
                <a:latin typeface="Times New Roman" panose="02020603050405020304" pitchFamily="18" charset="0"/>
                <a:cs typeface="Times New Roman" panose="02020603050405020304" pitchFamily="18" charset="0"/>
              </a:rPr>
              <a:t>são</a:t>
            </a:r>
            <a:r>
              <a:rPr lang="pt-BR" sz="2000" dirty="0">
                <a:latin typeface="Times New Roman" panose="02020603050405020304" pitchFamily="18" charset="0"/>
                <a:cs typeface="Times New Roman" panose="02020603050405020304" pitchFamily="18" charset="0"/>
              </a:rPr>
              <a:t> armazenados seu </a:t>
            </a:r>
            <a:r>
              <a:rPr lang="pt-BR" sz="2000" dirty="0" err="1">
                <a:latin typeface="Times New Roman" panose="02020603050405020304" pitchFamily="18" charset="0"/>
                <a:cs typeface="Times New Roman" panose="02020603050405020304" pitchFamily="18" charset="0"/>
              </a:rPr>
              <a:t>código</a:t>
            </a:r>
            <a:r>
              <a:rPr lang="pt-BR" sz="2000" dirty="0">
                <a:latin typeface="Times New Roman" panose="02020603050405020304" pitchFamily="18" charset="0"/>
                <a:cs typeface="Times New Roman" panose="02020603050405020304" pitchFamily="18" charset="0"/>
              </a:rPr>
              <a:t>, </a:t>
            </a:r>
            <a:r>
              <a:rPr lang="pt-BR" sz="2000" dirty="0" err="1">
                <a:latin typeface="Times New Roman" panose="02020603050405020304" pitchFamily="18" charset="0"/>
                <a:cs typeface="Times New Roman" panose="02020603050405020304" pitchFamily="18" charset="0"/>
              </a:rPr>
              <a:t>preço</a:t>
            </a:r>
            <a:r>
              <a:rPr lang="pt-BR" sz="2000" dirty="0">
                <a:latin typeface="Times New Roman" panose="02020603050405020304" pitchFamily="18" charset="0"/>
                <a:cs typeface="Times New Roman" panose="02020603050405020304" pitchFamily="18" charset="0"/>
              </a:rPr>
              <a:t> e </a:t>
            </a:r>
            <a:r>
              <a:rPr lang="pt-BR" sz="2000" dirty="0" err="1">
                <a:latin typeface="Times New Roman" panose="02020603050405020304" pitchFamily="18" charset="0"/>
                <a:cs typeface="Times New Roman" panose="02020603050405020304" pitchFamily="18" charset="0"/>
              </a:rPr>
              <a:t>descrição</a:t>
            </a:r>
            <a:r>
              <a:rPr lang="pt-BR" sz="2000" dirty="0">
                <a:latin typeface="Times New Roman" panose="02020603050405020304" pitchFamily="18" charset="0"/>
                <a:cs typeface="Times New Roman" panose="02020603050405020304" pitchFamily="18" charset="0"/>
              </a:rPr>
              <a:t>. Observe que o modelo de dados </a:t>
            </a:r>
            <a:r>
              <a:rPr lang="pt-BR" sz="2000" dirty="0" err="1">
                <a:latin typeface="Times New Roman" panose="02020603050405020304" pitchFamily="18" charset="0"/>
                <a:cs typeface="Times New Roman" panose="02020603050405020304" pitchFamily="18" charset="0"/>
              </a:rPr>
              <a:t>não</a:t>
            </a:r>
            <a:r>
              <a:rPr lang="pt-BR" sz="2000" dirty="0">
                <a:latin typeface="Times New Roman" panose="02020603050405020304" pitchFamily="18" charset="0"/>
                <a:cs typeface="Times New Roman" panose="02020603050405020304" pitchFamily="18" charset="0"/>
              </a:rPr>
              <a:t> informa quais os produtos que </a:t>
            </a:r>
            <a:r>
              <a:rPr lang="pt-BR" sz="2000" dirty="0" err="1">
                <a:latin typeface="Times New Roman" panose="02020603050405020304" pitchFamily="18" charset="0"/>
                <a:cs typeface="Times New Roman" panose="02020603050405020304" pitchFamily="18" charset="0"/>
              </a:rPr>
              <a:t>estão</a:t>
            </a:r>
            <a:r>
              <a:rPr lang="pt-BR" sz="2000" dirty="0">
                <a:latin typeface="Times New Roman" panose="02020603050405020304" pitchFamily="18" charset="0"/>
                <a:cs typeface="Times New Roman" panose="02020603050405020304" pitchFamily="18" charset="0"/>
              </a:rPr>
              <a:t> armazenados no banco de dados, mas apenas que o banco de dados </a:t>
            </a:r>
            <a:r>
              <a:rPr lang="pt-BR" sz="2000" dirty="0" err="1">
                <a:latin typeface="Times New Roman" panose="02020603050405020304" pitchFamily="18" charset="0"/>
                <a:cs typeface="Times New Roman" panose="02020603050405020304" pitchFamily="18" charset="0"/>
              </a:rPr>
              <a:t>contém</a:t>
            </a:r>
            <a:r>
              <a:rPr lang="pt-BR" sz="2000" dirty="0">
                <a:latin typeface="Times New Roman" panose="02020603050405020304" pitchFamily="18" charset="0"/>
                <a:cs typeface="Times New Roman" panose="02020603050405020304" pitchFamily="18" charset="0"/>
              </a:rPr>
              <a:t> </a:t>
            </a:r>
            <a:r>
              <a:rPr lang="pt-BR" sz="2000" dirty="0" err="1">
                <a:latin typeface="Times New Roman" panose="02020603050405020304" pitchFamily="18" charset="0"/>
                <a:cs typeface="Times New Roman" panose="02020603050405020304" pitchFamily="18" charset="0"/>
              </a:rPr>
              <a:t>informações</a:t>
            </a:r>
            <a:r>
              <a:rPr lang="pt-BR" sz="2000" dirty="0">
                <a:latin typeface="Times New Roman" panose="02020603050405020304" pitchFamily="18" charset="0"/>
                <a:cs typeface="Times New Roman" panose="02020603050405020304" pitchFamily="18" charset="0"/>
              </a:rPr>
              <a:t> sobre produtos.</a:t>
            </a:r>
          </a:p>
        </p:txBody>
      </p:sp>
      <p:pic>
        <p:nvPicPr>
          <p:cNvPr id="5" name="Imagem 4">
            <a:extLst>
              <a:ext uri="{FF2B5EF4-FFF2-40B4-BE49-F238E27FC236}">
                <a16:creationId xmlns:a16="http://schemas.microsoft.com/office/drawing/2014/main" id="{6B39091A-CDD9-4FB3-9ED7-A6B0A0CD2591}"/>
              </a:ext>
            </a:extLst>
          </p:cNvPr>
          <p:cNvPicPr>
            <a:picLocks noChangeAspect="1"/>
          </p:cNvPicPr>
          <p:nvPr/>
        </p:nvPicPr>
        <p:blipFill rotWithShape="1">
          <a:blip r:embed="rId2"/>
          <a:srcRect l="43700" t="42997" r="16138" b="41959"/>
          <a:stretch/>
        </p:blipFill>
        <p:spPr>
          <a:xfrm>
            <a:off x="753704" y="4125158"/>
            <a:ext cx="7636591" cy="1608245"/>
          </a:xfrm>
          <a:prstGeom prst="rect">
            <a:avLst/>
          </a:prstGeom>
        </p:spPr>
      </p:pic>
    </p:spTree>
    <p:extLst>
      <p:ext uri="{BB962C8B-B14F-4D97-AF65-F5344CB8AC3E}">
        <p14:creationId xmlns:p14="http://schemas.microsoft.com/office/powerpoint/2010/main" val="3028230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13</a:t>
            </a:fld>
            <a:endParaRPr lang="pt-BR">
              <a:latin typeface="Times New Roman" panose="02020603050405020304" pitchFamily="18" charset="0"/>
              <a:cs typeface="Times New Roman" panose="02020603050405020304" pitchFamily="18" charset="0"/>
            </a:endParaRPr>
          </a:p>
        </p:txBody>
      </p:sp>
      <p:sp>
        <p:nvSpPr>
          <p:cNvPr id="10" name="Retângulo 9">
            <a:extLst>
              <a:ext uri="{FF2B5EF4-FFF2-40B4-BE49-F238E27FC236}">
                <a16:creationId xmlns:a16="http://schemas.microsoft.com/office/drawing/2014/main" id="{C8E03CEC-65B1-40E4-9A3B-E499E5E6FBF8}"/>
              </a:ext>
            </a:extLst>
          </p:cNvPr>
          <p:cNvSpPr/>
          <p:nvPr/>
        </p:nvSpPr>
        <p:spPr>
          <a:xfrm>
            <a:off x="398306" y="4554"/>
            <a:ext cx="6979235" cy="400110"/>
          </a:xfrm>
          <a:prstGeom prst="rect">
            <a:avLst/>
          </a:prstGeom>
        </p:spPr>
        <p:txBody>
          <a:bodyPr wrap="square">
            <a:spAutoFit/>
          </a:bodyPr>
          <a:lstStyle/>
          <a:p>
            <a:pPr algn="just"/>
            <a:r>
              <a:rPr lang="pt-BR" sz="2000" b="1" dirty="0"/>
              <a:t>Modelagem CONCEITUAL (alto nível)</a:t>
            </a:r>
            <a:endParaRPr lang="pt-BR" sz="2000" dirty="0">
              <a:latin typeface="Times New Roman" panose="02020603050405020304" pitchFamily="18" charset="0"/>
              <a:cs typeface="Times New Roman" panose="02020603050405020304" pitchFamily="18" charset="0"/>
            </a:endParaRPr>
          </a:p>
        </p:txBody>
      </p:sp>
      <p:sp>
        <p:nvSpPr>
          <p:cNvPr id="7" name="Retângulo 6">
            <a:extLst>
              <a:ext uri="{FF2B5EF4-FFF2-40B4-BE49-F238E27FC236}">
                <a16:creationId xmlns:a16="http://schemas.microsoft.com/office/drawing/2014/main" id="{4321B7FA-A4CD-4489-BBDE-B2E1D434D07E}"/>
              </a:ext>
            </a:extLst>
          </p:cNvPr>
          <p:cNvSpPr/>
          <p:nvPr/>
        </p:nvSpPr>
        <p:spPr>
          <a:xfrm>
            <a:off x="692113" y="620688"/>
            <a:ext cx="7759774" cy="3737946"/>
          </a:xfrm>
          <a:prstGeom prst="rect">
            <a:avLst/>
          </a:prstGeom>
        </p:spPr>
        <p:txBody>
          <a:bodyPr wrap="square">
            <a:spAutoFit/>
          </a:bodyPr>
          <a:lstStyle/>
          <a:p>
            <a:pPr algn="just">
              <a:lnSpc>
                <a:spcPct val="150000"/>
              </a:lnSpc>
            </a:pPr>
            <a:r>
              <a:rPr lang="pt-BR" sz="2000" dirty="0"/>
              <a:t>Para construir um modelo de dados, usa-se uma linguagem de modelagem de dados. Linguagens de modelagem de dados podem ser classificadas de acordo com a forma de apresentar modelos, em linguagens textuais ou linguagens </a:t>
            </a:r>
            <a:r>
              <a:rPr lang="pt-BR" sz="2000" dirty="0" err="1"/>
              <a:t>gráficas</a:t>
            </a:r>
            <a:r>
              <a:rPr lang="pt-BR" sz="2000" dirty="0"/>
              <a:t>. Existem linguagens de modelagem para descrever modelos de dados em diferentes </a:t>
            </a:r>
            <a:r>
              <a:rPr lang="pt-BR" sz="2000" dirty="0" err="1"/>
              <a:t>níveis</a:t>
            </a:r>
            <a:r>
              <a:rPr lang="pt-BR" sz="2000" dirty="0"/>
              <a:t> de </a:t>
            </a:r>
            <a:r>
              <a:rPr lang="pt-BR" sz="2000" dirty="0" err="1"/>
              <a:t>abstração</a:t>
            </a:r>
            <a:r>
              <a:rPr lang="pt-BR" sz="2000" dirty="0"/>
              <a:t> e com diferentes objetivos. Cada </a:t>
            </a:r>
            <a:r>
              <a:rPr lang="pt-BR" sz="2000" dirty="0" err="1"/>
              <a:t>representação</a:t>
            </a:r>
            <a:r>
              <a:rPr lang="pt-BR" sz="2000" dirty="0"/>
              <a:t> de um modelo de dados </a:t>
            </a:r>
            <a:r>
              <a:rPr lang="pt-BR" sz="2000" dirty="0" err="1"/>
              <a:t>através</a:t>
            </a:r>
            <a:r>
              <a:rPr lang="pt-BR" sz="2000" dirty="0"/>
              <a:t> de uma linguagem de modelagem de dados recebe a </a:t>
            </a:r>
            <a:r>
              <a:rPr lang="pt-BR" sz="2000" dirty="0" err="1"/>
              <a:t>denominação</a:t>
            </a:r>
            <a:r>
              <a:rPr lang="pt-BR" sz="2000" dirty="0"/>
              <a:t> esquema de banco de dados.</a:t>
            </a:r>
          </a:p>
        </p:txBody>
      </p:sp>
    </p:spTree>
    <p:extLst>
      <p:ext uri="{BB962C8B-B14F-4D97-AF65-F5344CB8AC3E}">
        <p14:creationId xmlns:p14="http://schemas.microsoft.com/office/powerpoint/2010/main" val="529109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14</a:t>
            </a:fld>
            <a:endParaRPr lang="pt-BR">
              <a:latin typeface="Times New Roman" panose="02020603050405020304" pitchFamily="18" charset="0"/>
              <a:cs typeface="Times New Roman" panose="02020603050405020304" pitchFamily="18" charset="0"/>
            </a:endParaRPr>
          </a:p>
        </p:txBody>
      </p:sp>
      <p:sp>
        <p:nvSpPr>
          <p:cNvPr id="10" name="Retângulo 9">
            <a:extLst>
              <a:ext uri="{FF2B5EF4-FFF2-40B4-BE49-F238E27FC236}">
                <a16:creationId xmlns:a16="http://schemas.microsoft.com/office/drawing/2014/main" id="{C8E03CEC-65B1-40E4-9A3B-E499E5E6FBF8}"/>
              </a:ext>
            </a:extLst>
          </p:cNvPr>
          <p:cNvSpPr/>
          <p:nvPr/>
        </p:nvSpPr>
        <p:spPr>
          <a:xfrm>
            <a:off x="398306" y="4554"/>
            <a:ext cx="6979235" cy="400110"/>
          </a:xfrm>
          <a:prstGeom prst="rect">
            <a:avLst/>
          </a:prstGeom>
        </p:spPr>
        <p:txBody>
          <a:bodyPr wrap="square">
            <a:spAutoFit/>
          </a:bodyPr>
          <a:lstStyle/>
          <a:p>
            <a:pPr algn="just"/>
            <a:r>
              <a:rPr lang="pt-BR" sz="2000" b="1" dirty="0"/>
              <a:t>Modelagem CONCEITUAL (alto nível)</a:t>
            </a:r>
            <a:endParaRPr lang="pt-BR" sz="2000" dirty="0">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8C9466C5-69D7-4926-B4CE-B2DE6C278075}"/>
              </a:ext>
            </a:extLst>
          </p:cNvPr>
          <p:cNvSpPr/>
          <p:nvPr/>
        </p:nvSpPr>
        <p:spPr>
          <a:xfrm>
            <a:off x="467544" y="836712"/>
            <a:ext cx="8047806" cy="3737946"/>
          </a:xfrm>
          <a:prstGeom prst="rect">
            <a:avLst/>
          </a:prstGeom>
        </p:spPr>
        <p:txBody>
          <a:bodyPr wrap="square">
            <a:spAutoFit/>
          </a:bodyPr>
          <a:lstStyle/>
          <a:p>
            <a:pPr algn="just">
              <a:lnSpc>
                <a:spcPct val="150000"/>
              </a:lnSpc>
            </a:pPr>
            <a:r>
              <a:rPr lang="pt-BR" sz="2000" dirty="0"/>
              <a:t>De acordo com a </a:t>
            </a:r>
            <a:r>
              <a:rPr lang="pt-BR" sz="2000" dirty="0" err="1"/>
              <a:t>intenção</a:t>
            </a:r>
            <a:r>
              <a:rPr lang="pt-BR" sz="2000" dirty="0"/>
              <a:t> do modelador, um banco de dados pode ser modelado (descrito) em </a:t>
            </a:r>
            <a:r>
              <a:rPr lang="pt-BR" sz="2000" dirty="0" err="1"/>
              <a:t>vários</a:t>
            </a:r>
            <a:r>
              <a:rPr lang="pt-BR" sz="2000" dirty="0"/>
              <a:t> </a:t>
            </a:r>
            <a:r>
              <a:rPr lang="pt-BR" sz="2000" dirty="0" err="1"/>
              <a:t>níveis</a:t>
            </a:r>
            <a:r>
              <a:rPr lang="pt-BR" sz="2000" dirty="0"/>
              <a:t> de </a:t>
            </a:r>
            <a:r>
              <a:rPr lang="pt-BR" sz="2000" dirty="0" err="1"/>
              <a:t>abstração</a:t>
            </a:r>
            <a:r>
              <a:rPr lang="pt-BR" sz="2000" dirty="0"/>
              <a:t>. Um modelo de dados que servirá para explicar a um </a:t>
            </a:r>
            <a:r>
              <a:rPr lang="pt-BR" sz="2000" dirty="0" err="1"/>
              <a:t>usuário</a:t>
            </a:r>
            <a:r>
              <a:rPr lang="pt-BR" sz="2000" dirty="0"/>
              <a:t> leigo em </a:t>
            </a:r>
            <a:r>
              <a:rPr lang="pt-BR" sz="2000" dirty="0" err="1"/>
              <a:t>informática</a:t>
            </a:r>
            <a:r>
              <a:rPr lang="pt-BR" sz="2000" dirty="0"/>
              <a:t> qual é a </a:t>
            </a:r>
            <a:r>
              <a:rPr lang="pt-BR" sz="2000" dirty="0" err="1"/>
              <a:t>organização</a:t>
            </a:r>
            <a:r>
              <a:rPr lang="pt-BR" sz="2000" dirty="0"/>
              <a:t> de um banco de dados provavelmente </a:t>
            </a:r>
            <a:r>
              <a:rPr lang="pt-BR" sz="2000" dirty="0" err="1"/>
              <a:t>não</a:t>
            </a:r>
            <a:r>
              <a:rPr lang="pt-BR" sz="2000" dirty="0"/>
              <a:t> </a:t>
            </a:r>
            <a:r>
              <a:rPr lang="pt-BR" sz="2000" dirty="0" err="1"/>
              <a:t>contera</a:t>
            </a:r>
            <a:r>
              <a:rPr lang="pt-BR" sz="2000" dirty="0"/>
              <a:t>́ detalhes sobre a </a:t>
            </a:r>
            <a:r>
              <a:rPr lang="pt-BR" sz="2000" dirty="0" err="1"/>
              <a:t>representação</a:t>
            </a:r>
            <a:r>
              <a:rPr lang="pt-BR" sz="2000" dirty="0"/>
              <a:t> em meio </a:t>
            </a:r>
            <a:r>
              <a:rPr lang="pt-BR" sz="2000" dirty="0" err="1"/>
              <a:t>físico</a:t>
            </a:r>
            <a:r>
              <a:rPr lang="pt-BR" sz="2000" dirty="0"/>
              <a:t> das </a:t>
            </a:r>
            <a:r>
              <a:rPr lang="pt-BR" sz="2000" dirty="0" err="1"/>
              <a:t>informações</a:t>
            </a:r>
            <a:r>
              <a:rPr lang="pt-BR" sz="2000" dirty="0"/>
              <a:t>. </a:t>
            </a:r>
            <a:r>
              <a:rPr lang="pt-BR" sz="2000" dirty="0" err="1"/>
              <a:t>Ja</a:t>
            </a:r>
            <a:r>
              <a:rPr lang="pt-BR" sz="2000" dirty="0"/>
              <a:t>́ um modelo de dados usado por um </a:t>
            </a:r>
            <a:r>
              <a:rPr lang="pt-BR" sz="2000" dirty="0" err="1"/>
              <a:t>técnico</a:t>
            </a:r>
            <a:r>
              <a:rPr lang="pt-BR" sz="2000" dirty="0"/>
              <a:t> para otimizar a performance de acesso ao banco de dados </a:t>
            </a:r>
            <a:r>
              <a:rPr lang="pt-BR" sz="2000" dirty="0" err="1"/>
              <a:t>contera</a:t>
            </a:r>
            <a:r>
              <a:rPr lang="pt-BR" sz="2000" dirty="0"/>
              <a:t>́ mais detalhes de como as </a:t>
            </a:r>
            <a:r>
              <a:rPr lang="pt-BR" sz="2000" dirty="0" err="1"/>
              <a:t>informações</a:t>
            </a:r>
            <a:r>
              <a:rPr lang="pt-BR" sz="2000" dirty="0"/>
              <a:t> </a:t>
            </a:r>
            <a:r>
              <a:rPr lang="pt-BR" sz="2000" dirty="0" err="1"/>
              <a:t>estão</a:t>
            </a:r>
            <a:r>
              <a:rPr lang="pt-BR" sz="2000" dirty="0"/>
              <a:t> organizadas internamente e, portanto, </a:t>
            </a:r>
            <a:r>
              <a:rPr lang="pt-BR" sz="2000" dirty="0" err="1"/>
              <a:t>sera</a:t>
            </a:r>
            <a:r>
              <a:rPr lang="pt-BR" sz="2000" dirty="0"/>
              <a:t>́ menos abstrato.</a:t>
            </a:r>
          </a:p>
        </p:txBody>
      </p:sp>
    </p:spTree>
    <p:extLst>
      <p:ext uri="{BB962C8B-B14F-4D97-AF65-F5344CB8AC3E}">
        <p14:creationId xmlns:p14="http://schemas.microsoft.com/office/powerpoint/2010/main" val="3269823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15</a:t>
            </a:fld>
            <a:endParaRPr lang="pt-BR">
              <a:latin typeface="Times New Roman" panose="02020603050405020304" pitchFamily="18" charset="0"/>
              <a:cs typeface="Times New Roman" panose="02020603050405020304" pitchFamily="18" charset="0"/>
            </a:endParaRPr>
          </a:p>
        </p:txBody>
      </p:sp>
      <p:sp>
        <p:nvSpPr>
          <p:cNvPr id="10" name="Retângulo 9">
            <a:extLst>
              <a:ext uri="{FF2B5EF4-FFF2-40B4-BE49-F238E27FC236}">
                <a16:creationId xmlns:a16="http://schemas.microsoft.com/office/drawing/2014/main" id="{C8E03CEC-65B1-40E4-9A3B-E499E5E6FBF8}"/>
              </a:ext>
            </a:extLst>
          </p:cNvPr>
          <p:cNvSpPr/>
          <p:nvPr/>
        </p:nvSpPr>
        <p:spPr>
          <a:xfrm>
            <a:off x="398306" y="4554"/>
            <a:ext cx="6979235" cy="400110"/>
          </a:xfrm>
          <a:prstGeom prst="rect">
            <a:avLst/>
          </a:prstGeom>
        </p:spPr>
        <p:txBody>
          <a:bodyPr wrap="square">
            <a:spAutoFit/>
          </a:bodyPr>
          <a:lstStyle/>
          <a:p>
            <a:pPr algn="just"/>
            <a:r>
              <a:rPr lang="pt-BR" sz="2000" b="1" dirty="0"/>
              <a:t>Modelagem CONCEITUAL (alto nível)</a:t>
            </a:r>
            <a:endParaRPr lang="pt-BR" sz="2000" dirty="0">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0C0F9BC5-122F-48AB-A32C-AC752955EEA4}"/>
              </a:ext>
            </a:extLst>
          </p:cNvPr>
          <p:cNvSpPr/>
          <p:nvPr/>
        </p:nvSpPr>
        <p:spPr>
          <a:xfrm>
            <a:off x="398306" y="692696"/>
            <a:ext cx="7886700" cy="3737946"/>
          </a:xfrm>
          <a:prstGeom prst="rect">
            <a:avLst/>
          </a:prstGeom>
        </p:spPr>
        <p:txBody>
          <a:bodyPr wrap="square">
            <a:spAutoFit/>
          </a:bodyPr>
          <a:lstStyle/>
          <a:p>
            <a:pPr algn="just">
              <a:lnSpc>
                <a:spcPct val="150000"/>
              </a:lnSpc>
            </a:pPr>
            <a:r>
              <a:rPr lang="pt-BR" sz="2000" dirty="0"/>
              <a:t>No projeto de banco de dados, normalmente </a:t>
            </a:r>
            <a:r>
              <a:rPr lang="pt-BR" sz="2000" dirty="0" err="1"/>
              <a:t>são</a:t>
            </a:r>
            <a:r>
              <a:rPr lang="pt-BR" sz="2000" dirty="0"/>
              <a:t> considerados dois </a:t>
            </a:r>
            <a:r>
              <a:rPr lang="pt-BR" sz="2000" dirty="0" err="1"/>
              <a:t>níveis</a:t>
            </a:r>
            <a:r>
              <a:rPr lang="pt-BR" sz="2000" dirty="0"/>
              <a:t> de </a:t>
            </a:r>
            <a:r>
              <a:rPr lang="pt-BR" sz="2000" dirty="0" err="1"/>
              <a:t>abstração</a:t>
            </a:r>
            <a:r>
              <a:rPr lang="pt-BR" sz="2000" dirty="0"/>
              <a:t> de modelo de dados, o do modelo conceitual e o do modelo </a:t>
            </a:r>
            <a:r>
              <a:rPr lang="pt-BR" sz="2000" dirty="0" err="1"/>
              <a:t>lógico</a:t>
            </a:r>
            <a:r>
              <a:rPr lang="pt-BR" sz="2000" dirty="0"/>
              <a:t>.</a:t>
            </a:r>
          </a:p>
          <a:p>
            <a:pPr algn="just">
              <a:lnSpc>
                <a:spcPct val="150000"/>
              </a:lnSpc>
            </a:pPr>
            <a:r>
              <a:rPr lang="pt-BR" sz="2000" dirty="0"/>
              <a:t>Um modelo conceitual é uma </a:t>
            </a:r>
            <a:r>
              <a:rPr lang="pt-BR" sz="2000" dirty="0" err="1"/>
              <a:t>descrição</a:t>
            </a:r>
            <a:r>
              <a:rPr lang="pt-BR" sz="2000" dirty="0"/>
              <a:t> do banco de dados de forma </a:t>
            </a:r>
            <a:r>
              <a:rPr lang="pt-BR" sz="2000" dirty="0" err="1"/>
              <a:t>inde</a:t>
            </a:r>
            <a:r>
              <a:rPr lang="pt-BR" sz="2000" dirty="0"/>
              <a:t> pendente de </a:t>
            </a:r>
            <a:r>
              <a:rPr lang="pt-BR" sz="2000" dirty="0" err="1"/>
              <a:t>implementação</a:t>
            </a:r>
            <a:r>
              <a:rPr lang="pt-BR" sz="2000" dirty="0"/>
              <a:t> em um SGBD. O modelo conceitual registra que dados podem aparecer no banco de dados, mas </a:t>
            </a:r>
            <a:r>
              <a:rPr lang="pt-BR" sz="2000" dirty="0" err="1"/>
              <a:t>não</a:t>
            </a:r>
            <a:r>
              <a:rPr lang="pt-BR" sz="2000" dirty="0"/>
              <a:t> registra como estes dados </a:t>
            </a:r>
            <a:r>
              <a:rPr lang="pt-BR" sz="2000" dirty="0" err="1"/>
              <a:t>estão</a:t>
            </a:r>
            <a:r>
              <a:rPr lang="pt-BR" sz="2000" dirty="0"/>
              <a:t> armazenados a </a:t>
            </a:r>
            <a:r>
              <a:rPr lang="pt-BR" sz="2000" dirty="0" err="1"/>
              <a:t>nível</a:t>
            </a:r>
            <a:r>
              <a:rPr lang="pt-BR" sz="2000" dirty="0"/>
              <a:t> de SGBD.</a:t>
            </a:r>
          </a:p>
          <a:p>
            <a:pPr algn="just">
              <a:lnSpc>
                <a:spcPct val="150000"/>
              </a:lnSpc>
            </a:pPr>
            <a:endParaRPr lang="pt-BR" sz="2000" dirty="0"/>
          </a:p>
        </p:txBody>
      </p:sp>
      <p:pic>
        <p:nvPicPr>
          <p:cNvPr id="6" name="Imagem 5">
            <a:extLst>
              <a:ext uri="{FF2B5EF4-FFF2-40B4-BE49-F238E27FC236}">
                <a16:creationId xmlns:a16="http://schemas.microsoft.com/office/drawing/2014/main" id="{8CA22A87-2756-4A27-A145-97A8E2A9CFAB}"/>
              </a:ext>
            </a:extLst>
          </p:cNvPr>
          <p:cNvPicPr>
            <a:picLocks noChangeAspect="1"/>
          </p:cNvPicPr>
          <p:nvPr/>
        </p:nvPicPr>
        <p:blipFill rotWithShape="1">
          <a:blip r:embed="rId2"/>
          <a:srcRect l="42125" t="54202" r="17713" b="27589"/>
          <a:stretch/>
        </p:blipFill>
        <p:spPr>
          <a:xfrm>
            <a:off x="1187624" y="4221088"/>
            <a:ext cx="6946455" cy="1770667"/>
          </a:xfrm>
          <a:prstGeom prst="rect">
            <a:avLst/>
          </a:prstGeom>
        </p:spPr>
      </p:pic>
    </p:spTree>
    <p:extLst>
      <p:ext uri="{BB962C8B-B14F-4D97-AF65-F5344CB8AC3E}">
        <p14:creationId xmlns:p14="http://schemas.microsoft.com/office/powerpoint/2010/main" val="3987358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16</a:t>
            </a:fld>
            <a:endParaRPr lang="pt-BR">
              <a:latin typeface="Times New Roman" panose="02020603050405020304" pitchFamily="18" charset="0"/>
              <a:cs typeface="Times New Roman" panose="02020603050405020304" pitchFamily="18" charset="0"/>
            </a:endParaRPr>
          </a:p>
        </p:txBody>
      </p:sp>
      <p:sp>
        <p:nvSpPr>
          <p:cNvPr id="10" name="Retângulo 9">
            <a:extLst>
              <a:ext uri="{FF2B5EF4-FFF2-40B4-BE49-F238E27FC236}">
                <a16:creationId xmlns:a16="http://schemas.microsoft.com/office/drawing/2014/main" id="{C8E03CEC-65B1-40E4-9A3B-E499E5E6FBF8}"/>
              </a:ext>
            </a:extLst>
          </p:cNvPr>
          <p:cNvSpPr/>
          <p:nvPr/>
        </p:nvSpPr>
        <p:spPr>
          <a:xfrm>
            <a:off x="398306" y="4554"/>
            <a:ext cx="6979235" cy="400110"/>
          </a:xfrm>
          <a:prstGeom prst="rect">
            <a:avLst/>
          </a:prstGeom>
        </p:spPr>
        <p:txBody>
          <a:bodyPr wrap="square">
            <a:spAutoFit/>
          </a:bodyPr>
          <a:lstStyle/>
          <a:p>
            <a:pPr algn="just"/>
            <a:r>
              <a:rPr lang="pt-BR" sz="2000" b="1" dirty="0"/>
              <a:t>Modelagem CONCEITUAL (alto nível)</a:t>
            </a:r>
            <a:endParaRPr lang="pt-BR" sz="2000" dirty="0">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0C0F9BC5-122F-48AB-A32C-AC752955EEA4}"/>
              </a:ext>
            </a:extLst>
          </p:cNvPr>
          <p:cNvSpPr/>
          <p:nvPr/>
        </p:nvSpPr>
        <p:spPr>
          <a:xfrm>
            <a:off x="398306" y="692696"/>
            <a:ext cx="7886700" cy="2814617"/>
          </a:xfrm>
          <a:prstGeom prst="rect">
            <a:avLst/>
          </a:prstGeom>
        </p:spPr>
        <p:txBody>
          <a:bodyPr wrap="square">
            <a:spAutoFit/>
          </a:bodyPr>
          <a:lstStyle/>
          <a:p>
            <a:pPr algn="just">
              <a:lnSpc>
                <a:spcPct val="150000"/>
              </a:lnSpc>
            </a:pPr>
            <a:r>
              <a:rPr lang="pt-BR" sz="2000" dirty="0"/>
              <a:t>	A </a:t>
            </a:r>
            <a:r>
              <a:rPr lang="pt-BR" sz="2000" dirty="0" err="1"/>
              <a:t>técnica</a:t>
            </a:r>
            <a:r>
              <a:rPr lang="pt-BR" sz="2000" dirty="0"/>
              <a:t> de modelagem conceitual mais difundida é a abordagem entidade-relacionamento (ER). Nesta </a:t>
            </a:r>
            <a:r>
              <a:rPr lang="pt-BR" sz="2000" dirty="0" err="1"/>
              <a:t>técnica</a:t>
            </a:r>
            <a:r>
              <a:rPr lang="pt-BR" sz="2000" dirty="0"/>
              <a:t>, um modelo conceitual é usualmente representado </a:t>
            </a:r>
            <a:r>
              <a:rPr lang="pt-BR" sz="2000" dirty="0" err="1"/>
              <a:t>através</a:t>
            </a:r>
            <a:r>
              <a:rPr lang="pt-BR" sz="2000" dirty="0"/>
              <a:t> de um diagrama, chamado diagrama entidade-relacionamento (DER). A Figura 1.3 apresenta um DER parcial para o problema da </a:t>
            </a:r>
            <a:r>
              <a:rPr lang="pt-BR" sz="2000" dirty="0" err="1"/>
              <a:t>fábrica</a:t>
            </a:r>
            <a:r>
              <a:rPr lang="pt-BR" sz="2000" dirty="0"/>
              <a:t>.</a:t>
            </a:r>
          </a:p>
          <a:p>
            <a:pPr algn="just">
              <a:lnSpc>
                <a:spcPct val="150000"/>
              </a:lnSpc>
            </a:pPr>
            <a:endParaRPr lang="pt-BR" sz="2000" dirty="0"/>
          </a:p>
        </p:txBody>
      </p:sp>
      <p:pic>
        <p:nvPicPr>
          <p:cNvPr id="7" name="Imagem 6">
            <a:extLst>
              <a:ext uri="{FF2B5EF4-FFF2-40B4-BE49-F238E27FC236}">
                <a16:creationId xmlns:a16="http://schemas.microsoft.com/office/drawing/2014/main" id="{20943A55-3C07-4CC6-B14C-955F60D9F83F}"/>
              </a:ext>
            </a:extLst>
          </p:cNvPr>
          <p:cNvPicPr>
            <a:picLocks noChangeAspect="1"/>
          </p:cNvPicPr>
          <p:nvPr/>
        </p:nvPicPr>
        <p:blipFill rotWithShape="1">
          <a:blip r:embed="rId2"/>
          <a:srcRect l="40550" t="40196" r="15351" b="31791"/>
          <a:stretch/>
        </p:blipFill>
        <p:spPr>
          <a:xfrm>
            <a:off x="972985" y="3068960"/>
            <a:ext cx="7198029" cy="2570726"/>
          </a:xfrm>
          <a:prstGeom prst="rect">
            <a:avLst/>
          </a:prstGeom>
        </p:spPr>
      </p:pic>
    </p:spTree>
    <p:extLst>
      <p:ext uri="{BB962C8B-B14F-4D97-AF65-F5344CB8AC3E}">
        <p14:creationId xmlns:p14="http://schemas.microsoft.com/office/powerpoint/2010/main" val="1928071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17</a:t>
            </a:fld>
            <a:endParaRPr lang="pt-BR">
              <a:latin typeface="Times New Roman" panose="02020603050405020304" pitchFamily="18" charset="0"/>
              <a:cs typeface="Times New Roman" panose="02020603050405020304" pitchFamily="18" charset="0"/>
            </a:endParaRPr>
          </a:p>
        </p:txBody>
      </p:sp>
      <p:sp>
        <p:nvSpPr>
          <p:cNvPr id="10" name="Retângulo 9">
            <a:extLst>
              <a:ext uri="{FF2B5EF4-FFF2-40B4-BE49-F238E27FC236}">
                <a16:creationId xmlns:a16="http://schemas.microsoft.com/office/drawing/2014/main" id="{C8E03CEC-65B1-40E4-9A3B-E499E5E6FBF8}"/>
              </a:ext>
            </a:extLst>
          </p:cNvPr>
          <p:cNvSpPr/>
          <p:nvPr/>
        </p:nvSpPr>
        <p:spPr>
          <a:xfrm>
            <a:off x="398306" y="4554"/>
            <a:ext cx="6979235" cy="400110"/>
          </a:xfrm>
          <a:prstGeom prst="rect">
            <a:avLst/>
          </a:prstGeom>
        </p:spPr>
        <p:txBody>
          <a:bodyPr wrap="square">
            <a:spAutoFit/>
          </a:bodyPr>
          <a:lstStyle/>
          <a:p>
            <a:pPr algn="just"/>
            <a:r>
              <a:rPr lang="pt-BR" sz="2000" b="1" dirty="0"/>
              <a:t>Modelagem CONCEITUAL (alto nível)</a:t>
            </a:r>
            <a:endParaRPr lang="pt-BR" sz="2000" dirty="0">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0C0F9BC5-122F-48AB-A32C-AC752955EEA4}"/>
              </a:ext>
            </a:extLst>
          </p:cNvPr>
          <p:cNvSpPr/>
          <p:nvPr/>
        </p:nvSpPr>
        <p:spPr>
          <a:xfrm>
            <a:off x="398306" y="692696"/>
            <a:ext cx="8350158" cy="2814617"/>
          </a:xfrm>
          <a:prstGeom prst="rect">
            <a:avLst/>
          </a:prstGeom>
        </p:spPr>
        <p:txBody>
          <a:bodyPr wrap="square">
            <a:spAutoFit/>
          </a:bodyPr>
          <a:lstStyle/>
          <a:p>
            <a:pPr algn="just">
              <a:lnSpc>
                <a:spcPct val="150000"/>
              </a:lnSpc>
            </a:pPr>
            <a:r>
              <a:rPr lang="pt-BR" sz="2000" dirty="0"/>
              <a:t>Entre outras coisas, este modelo informa que o banco de dados </a:t>
            </a:r>
            <a:r>
              <a:rPr lang="pt-BR" sz="2000" dirty="0" err="1"/>
              <a:t>contém</a:t>
            </a:r>
            <a:r>
              <a:rPr lang="pt-BR" sz="2000" dirty="0"/>
              <a:t> dados sobre produtos e sobre tipos de produtos. Para cada produto, o banco de dados armazena o </a:t>
            </a:r>
            <a:r>
              <a:rPr lang="pt-BR" sz="2000" dirty="0" err="1"/>
              <a:t>código</a:t>
            </a:r>
            <a:r>
              <a:rPr lang="pt-BR" sz="2000" dirty="0"/>
              <a:t>, a </a:t>
            </a:r>
            <a:r>
              <a:rPr lang="pt-BR" sz="2000" dirty="0" err="1"/>
              <a:t>descrição</a:t>
            </a:r>
            <a:r>
              <a:rPr lang="pt-BR" sz="2000" dirty="0"/>
              <a:t>, o </a:t>
            </a:r>
            <a:r>
              <a:rPr lang="pt-BR" sz="2000" dirty="0" err="1"/>
              <a:t>preço</a:t>
            </a:r>
            <a:r>
              <a:rPr lang="pt-BR" sz="2000" dirty="0"/>
              <a:t>, bem como o tipo de produto ao qual está associado. Para cada tipo de produto, o banco de dados armazena o </a:t>
            </a:r>
            <a:r>
              <a:rPr lang="pt-BR" sz="2000" dirty="0" err="1"/>
              <a:t>código</a:t>
            </a:r>
            <a:r>
              <a:rPr lang="pt-BR" sz="2000" dirty="0"/>
              <a:t>, a </a:t>
            </a:r>
            <a:r>
              <a:rPr lang="pt-BR" sz="2000" dirty="0" err="1"/>
              <a:t>descrição</a:t>
            </a:r>
            <a:r>
              <a:rPr lang="pt-BR" sz="2000" dirty="0"/>
              <a:t>, bem como os produtos daquele tipo.</a:t>
            </a:r>
          </a:p>
          <a:p>
            <a:pPr algn="just">
              <a:lnSpc>
                <a:spcPct val="150000"/>
              </a:lnSpc>
            </a:pPr>
            <a:endParaRPr lang="pt-BR" sz="2000" dirty="0"/>
          </a:p>
        </p:txBody>
      </p:sp>
      <p:pic>
        <p:nvPicPr>
          <p:cNvPr id="7" name="Imagem 6">
            <a:extLst>
              <a:ext uri="{FF2B5EF4-FFF2-40B4-BE49-F238E27FC236}">
                <a16:creationId xmlns:a16="http://schemas.microsoft.com/office/drawing/2014/main" id="{20943A55-3C07-4CC6-B14C-955F60D9F83F}"/>
              </a:ext>
            </a:extLst>
          </p:cNvPr>
          <p:cNvPicPr>
            <a:picLocks noChangeAspect="1"/>
          </p:cNvPicPr>
          <p:nvPr/>
        </p:nvPicPr>
        <p:blipFill rotWithShape="1">
          <a:blip r:embed="rId2"/>
          <a:srcRect l="40550" t="40196" r="15351" b="31791"/>
          <a:stretch/>
        </p:blipFill>
        <p:spPr>
          <a:xfrm>
            <a:off x="972985" y="3068960"/>
            <a:ext cx="7198029" cy="2570726"/>
          </a:xfrm>
          <a:prstGeom prst="rect">
            <a:avLst/>
          </a:prstGeom>
        </p:spPr>
      </p:pic>
    </p:spTree>
    <p:extLst>
      <p:ext uri="{BB962C8B-B14F-4D97-AF65-F5344CB8AC3E}">
        <p14:creationId xmlns:p14="http://schemas.microsoft.com/office/powerpoint/2010/main" val="1026206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18</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10" name="Retângulo 9">
            <a:extLst>
              <a:ext uri="{FF2B5EF4-FFF2-40B4-BE49-F238E27FC236}">
                <a16:creationId xmlns:a16="http://schemas.microsoft.com/office/drawing/2014/main" id="{C8E03CEC-65B1-40E4-9A3B-E499E5E6FBF8}"/>
              </a:ext>
            </a:extLst>
          </p:cNvPr>
          <p:cNvSpPr/>
          <p:nvPr/>
        </p:nvSpPr>
        <p:spPr>
          <a:xfrm>
            <a:off x="147422" y="590411"/>
            <a:ext cx="8367928" cy="461665"/>
          </a:xfrm>
          <a:prstGeom prst="rect">
            <a:avLst/>
          </a:prstGeom>
        </p:spPr>
        <p:txBody>
          <a:bodyPr wrap="square">
            <a:spAutoFit/>
          </a:bodyPr>
          <a:lstStyle/>
          <a:p>
            <a:pPr algn="just"/>
            <a:r>
              <a:rPr lang="pt-BR" sz="2400" b="1" dirty="0"/>
              <a:t>Modelagem lógica (representativa ou de implementação)</a:t>
            </a:r>
            <a:endParaRPr lang="pt-BR" sz="2400" dirty="0">
              <a:latin typeface="Times New Roman" panose="02020603050405020304" pitchFamily="18" charset="0"/>
              <a:cs typeface="Times New Roman" panose="02020603050405020304" pitchFamily="18" charset="0"/>
            </a:endParaRPr>
          </a:p>
        </p:txBody>
      </p:sp>
      <p:sp>
        <p:nvSpPr>
          <p:cNvPr id="8" name="Retângulo 7">
            <a:extLst>
              <a:ext uri="{FF2B5EF4-FFF2-40B4-BE49-F238E27FC236}">
                <a16:creationId xmlns:a16="http://schemas.microsoft.com/office/drawing/2014/main" id="{E90F4F7E-EFEF-4107-868D-95654040C0C8}"/>
              </a:ext>
            </a:extLst>
          </p:cNvPr>
          <p:cNvSpPr/>
          <p:nvPr/>
        </p:nvSpPr>
        <p:spPr>
          <a:xfrm>
            <a:off x="545093" y="1346821"/>
            <a:ext cx="6979235" cy="1477328"/>
          </a:xfrm>
          <a:prstGeom prst="rect">
            <a:avLst/>
          </a:prstGeom>
        </p:spPr>
        <p:txBody>
          <a:bodyPr wrap="square">
            <a:spAutoFit/>
          </a:bodyPr>
          <a:lstStyle/>
          <a:p>
            <a:pPr algn="just"/>
            <a:r>
              <a:rPr lang="pt-BR" dirty="0">
                <a:solidFill>
                  <a:srgbClr val="000000"/>
                </a:solidFill>
                <a:latin typeface="Times New Roman" panose="02020603050405020304" pitchFamily="18" charset="0"/>
                <a:cs typeface="Times New Roman" panose="02020603050405020304" pitchFamily="18" charset="0"/>
              </a:rPr>
              <a:t>	</a:t>
            </a:r>
            <a:r>
              <a:rPr lang="pt-BR" dirty="0">
                <a:latin typeface="Times New Roman" panose="02020603050405020304" pitchFamily="18" charset="0"/>
                <a:cs typeface="Times New Roman" panose="02020603050405020304" pitchFamily="18" charset="0"/>
              </a:rPr>
              <a:t>O modelo lógico só deve ser inicializado após a conclusão do modelo conceitual.</a:t>
            </a:r>
          </a:p>
          <a:p>
            <a:pPr algn="just"/>
            <a:endParaRPr lang="pt-BR" dirty="0">
              <a:latin typeface="Times New Roman" panose="02020603050405020304" pitchFamily="18" charset="0"/>
              <a:cs typeface="Times New Roman" panose="02020603050405020304" pitchFamily="18" charset="0"/>
            </a:endParaRPr>
          </a:p>
          <a:p>
            <a:pPr algn="just"/>
            <a:r>
              <a:rPr lang="pt-BR" dirty="0">
                <a:latin typeface="Times New Roman" panose="02020603050405020304" pitchFamily="18" charset="0"/>
                <a:cs typeface="Times New Roman" panose="02020603050405020304" pitchFamily="18" charset="0"/>
              </a:rPr>
              <a:t>	O modelo lógico será criado com base em um tipo de banco de dados, como SQL Server, Oracle, MySQL, dentre outros.</a:t>
            </a:r>
          </a:p>
        </p:txBody>
      </p:sp>
    </p:spTree>
    <p:extLst>
      <p:ext uri="{BB962C8B-B14F-4D97-AF65-F5344CB8AC3E}">
        <p14:creationId xmlns:p14="http://schemas.microsoft.com/office/powerpoint/2010/main" val="4168877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19</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10" name="Retângulo 9">
            <a:extLst>
              <a:ext uri="{FF2B5EF4-FFF2-40B4-BE49-F238E27FC236}">
                <a16:creationId xmlns:a16="http://schemas.microsoft.com/office/drawing/2014/main" id="{C8E03CEC-65B1-40E4-9A3B-E499E5E6FBF8}"/>
              </a:ext>
            </a:extLst>
          </p:cNvPr>
          <p:cNvSpPr/>
          <p:nvPr/>
        </p:nvSpPr>
        <p:spPr>
          <a:xfrm>
            <a:off x="251519" y="539244"/>
            <a:ext cx="8263831" cy="461665"/>
          </a:xfrm>
          <a:prstGeom prst="rect">
            <a:avLst/>
          </a:prstGeom>
        </p:spPr>
        <p:txBody>
          <a:bodyPr wrap="square">
            <a:spAutoFit/>
          </a:bodyPr>
          <a:lstStyle/>
          <a:p>
            <a:pPr algn="just"/>
            <a:r>
              <a:rPr lang="pt-BR" sz="2400" b="1" dirty="0"/>
              <a:t>Modelagem lógica (representativa ou de implementação)</a:t>
            </a:r>
            <a:endParaRPr lang="pt-BR" sz="2400" dirty="0">
              <a:latin typeface="Times New Roman" panose="02020603050405020304" pitchFamily="18" charset="0"/>
              <a:cs typeface="Times New Roman" panose="02020603050405020304" pitchFamily="18" charset="0"/>
            </a:endParaRPr>
          </a:p>
        </p:txBody>
      </p:sp>
      <p:sp>
        <p:nvSpPr>
          <p:cNvPr id="8" name="Retângulo 7">
            <a:extLst>
              <a:ext uri="{FF2B5EF4-FFF2-40B4-BE49-F238E27FC236}">
                <a16:creationId xmlns:a16="http://schemas.microsoft.com/office/drawing/2014/main" id="{E90F4F7E-EFEF-4107-868D-95654040C0C8}"/>
              </a:ext>
            </a:extLst>
          </p:cNvPr>
          <p:cNvSpPr/>
          <p:nvPr/>
        </p:nvSpPr>
        <p:spPr>
          <a:xfrm>
            <a:off x="251519" y="1271058"/>
            <a:ext cx="8352929" cy="3139321"/>
          </a:xfrm>
          <a:prstGeom prst="rect">
            <a:avLst/>
          </a:prstGeom>
        </p:spPr>
        <p:txBody>
          <a:bodyPr wrap="square">
            <a:spAutoFit/>
          </a:bodyPr>
          <a:lstStyle/>
          <a:p>
            <a:pPr algn="just"/>
            <a:r>
              <a:rPr lang="pt-BR" sz="2200" dirty="0">
                <a:solidFill>
                  <a:srgbClr val="000000"/>
                </a:solidFill>
                <a:latin typeface="Times New Roman" panose="02020603050405020304" pitchFamily="18" charset="0"/>
                <a:cs typeface="Times New Roman" panose="02020603050405020304" pitchFamily="18" charset="0"/>
              </a:rPr>
              <a:t>	O</a:t>
            </a:r>
            <a:r>
              <a:rPr lang="pt-BR" sz="2200" dirty="0">
                <a:latin typeface="Times New Roman" panose="02020603050405020304" pitchFamily="18" charset="0"/>
                <a:cs typeface="Times New Roman" panose="02020603050405020304" pitchFamily="18" charset="0"/>
              </a:rPr>
              <a:t> modelo lógico descreve e mapeia as estruturas que estarão presentes no banco de dados, de acordo com as características da abordagem. Evitam-se:</a:t>
            </a:r>
          </a:p>
          <a:p>
            <a:pPr algn="just"/>
            <a:endParaRPr lang="pt-BR" sz="2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pt-BR" sz="2200" dirty="0">
                <a:latin typeface="Times New Roman" panose="02020603050405020304" pitchFamily="18" charset="0"/>
                <a:cs typeface="Times New Roman" panose="02020603050405020304" pitchFamily="18" charset="0"/>
              </a:rPr>
              <a:t>muitas tabelas;</a:t>
            </a:r>
          </a:p>
          <a:p>
            <a:pPr marL="285750" indent="-285750" algn="just">
              <a:buFont typeface="Arial" panose="020B0604020202020204" pitchFamily="34" charset="0"/>
              <a:buChar char="•"/>
            </a:pPr>
            <a:r>
              <a:rPr lang="pt-BR" sz="2200" dirty="0">
                <a:latin typeface="Times New Roman" panose="02020603050405020304" pitchFamily="18" charset="0"/>
                <a:cs typeface="Times New Roman" panose="02020603050405020304" pitchFamily="18" charset="0"/>
              </a:rPr>
              <a:t>tempo longo de resposta nas consultas e atualizações de dados;</a:t>
            </a:r>
          </a:p>
          <a:p>
            <a:pPr marL="285750" indent="-285750" algn="just">
              <a:buFont typeface="Arial" panose="020B0604020202020204" pitchFamily="34" charset="0"/>
              <a:buChar char="•"/>
            </a:pPr>
            <a:r>
              <a:rPr lang="pt-BR" sz="2200" dirty="0">
                <a:latin typeface="Times New Roman" panose="02020603050405020304" pitchFamily="18" charset="0"/>
                <a:cs typeface="Times New Roman" panose="02020603050405020304" pitchFamily="18" charset="0"/>
              </a:rPr>
              <a:t>desperdício de espaço;</a:t>
            </a:r>
          </a:p>
          <a:p>
            <a:pPr marL="285750" indent="-285750" algn="just">
              <a:buFont typeface="Arial" panose="020B0604020202020204" pitchFamily="34" charset="0"/>
              <a:buChar char="•"/>
            </a:pPr>
            <a:r>
              <a:rPr lang="pt-BR" sz="2200" dirty="0">
                <a:latin typeface="Times New Roman" panose="02020603050405020304" pitchFamily="18" charset="0"/>
                <a:cs typeface="Times New Roman" panose="02020603050405020304" pitchFamily="18" charset="0"/>
              </a:rPr>
              <a:t>muitos controles de integridade no banco de dados; e</a:t>
            </a:r>
          </a:p>
          <a:p>
            <a:pPr marL="285750" indent="-285750" algn="just">
              <a:buFont typeface="Arial" panose="020B0604020202020204" pitchFamily="34" charset="0"/>
              <a:buChar char="•"/>
            </a:pPr>
            <a:r>
              <a:rPr lang="pt-BR" sz="2200" dirty="0">
                <a:latin typeface="Times New Roman" panose="02020603050405020304" pitchFamily="18" charset="0"/>
                <a:cs typeface="Times New Roman" panose="02020603050405020304" pitchFamily="18" charset="0"/>
              </a:rPr>
              <a:t>muitas dependências entre dados.</a:t>
            </a:r>
          </a:p>
        </p:txBody>
      </p:sp>
    </p:spTree>
    <p:extLst>
      <p:ext uri="{BB962C8B-B14F-4D97-AF65-F5344CB8AC3E}">
        <p14:creationId xmlns:p14="http://schemas.microsoft.com/office/powerpoint/2010/main" val="84699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20</a:t>
            </a:fld>
            <a:endParaRPr lang="pt-BR">
              <a:latin typeface="Times New Roman" panose="02020603050405020304" pitchFamily="18" charset="0"/>
              <a:cs typeface="Times New Roman" panose="02020603050405020304" pitchFamily="18" charset="0"/>
            </a:endParaRPr>
          </a:p>
        </p:txBody>
      </p:sp>
      <p:sp>
        <p:nvSpPr>
          <p:cNvPr id="10" name="Retângulo 9">
            <a:extLst>
              <a:ext uri="{FF2B5EF4-FFF2-40B4-BE49-F238E27FC236}">
                <a16:creationId xmlns:a16="http://schemas.microsoft.com/office/drawing/2014/main" id="{C8E03CEC-65B1-40E4-9A3B-E499E5E6FBF8}"/>
              </a:ext>
            </a:extLst>
          </p:cNvPr>
          <p:cNvSpPr/>
          <p:nvPr/>
        </p:nvSpPr>
        <p:spPr>
          <a:xfrm>
            <a:off x="395536" y="154822"/>
            <a:ext cx="6979235" cy="400110"/>
          </a:xfrm>
          <a:prstGeom prst="rect">
            <a:avLst/>
          </a:prstGeom>
        </p:spPr>
        <p:txBody>
          <a:bodyPr wrap="square">
            <a:spAutoFit/>
          </a:bodyPr>
          <a:lstStyle/>
          <a:p>
            <a:pPr algn="just"/>
            <a:r>
              <a:rPr lang="pt-BR" sz="2000" b="1" dirty="0"/>
              <a:t>Modelagem LÓGICA</a:t>
            </a:r>
            <a:endParaRPr lang="pt-BR" sz="2000" dirty="0">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78D659A8-6925-489B-986A-AED35B93862D}"/>
              </a:ext>
            </a:extLst>
          </p:cNvPr>
          <p:cNvSpPr/>
          <p:nvPr/>
        </p:nvSpPr>
        <p:spPr>
          <a:xfrm>
            <a:off x="162422" y="580993"/>
            <a:ext cx="8352928" cy="1429622"/>
          </a:xfrm>
          <a:prstGeom prst="rect">
            <a:avLst/>
          </a:prstGeom>
        </p:spPr>
        <p:txBody>
          <a:bodyPr wrap="square">
            <a:spAutoFit/>
          </a:bodyPr>
          <a:lstStyle/>
          <a:p>
            <a:pPr algn="just">
              <a:lnSpc>
                <a:spcPct val="150000"/>
              </a:lnSpc>
            </a:pPr>
            <a:r>
              <a:rPr lang="pt-BR" sz="2000" dirty="0"/>
              <a:t>	Um modelo </a:t>
            </a:r>
            <a:r>
              <a:rPr lang="pt-BR" sz="2000" dirty="0" err="1"/>
              <a:t>lógico</a:t>
            </a:r>
            <a:r>
              <a:rPr lang="pt-BR" sz="2000" dirty="0"/>
              <a:t> é uma </a:t>
            </a:r>
            <a:r>
              <a:rPr lang="pt-BR" sz="2000" dirty="0" err="1"/>
              <a:t>descrição</a:t>
            </a:r>
            <a:r>
              <a:rPr lang="pt-BR" sz="2000" dirty="0"/>
              <a:t> de um banco de dados no </a:t>
            </a:r>
            <a:r>
              <a:rPr lang="pt-BR" sz="2000" dirty="0" err="1"/>
              <a:t>nível</a:t>
            </a:r>
            <a:r>
              <a:rPr lang="pt-BR" sz="2000" dirty="0"/>
              <a:t> de </a:t>
            </a:r>
            <a:r>
              <a:rPr lang="pt-BR" sz="2000" dirty="0" err="1"/>
              <a:t>abstração</a:t>
            </a:r>
            <a:r>
              <a:rPr lang="pt-BR" sz="2000" dirty="0"/>
              <a:t> visto pelo </a:t>
            </a:r>
            <a:r>
              <a:rPr lang="pt-BR" sz="2000" dirty="0" err="1"/>
              <a:t>usuário</a:t>
            </a:r>
            <a:r>
              <a:rPr lang="pt-BR" sz="2000" dirty="0"/>
              <a:t> do SGBD. Assim, o modelo </a:t>
            </a:r>
            <a:r>
              <a:rPr lang="pt-BR" sz="2000" dirty="0" err="1"/>
              <a:t>lógico</a:t>
            </a:r>
            <a:r>
              <a:rPr lang="pt-BR" sz="2000" dirty="0"/>
              <a:t> é dependente do tipo de SGBD que está sendo usado.</a:t>
            </a:r>
          </a:p>
        </p:txBody>
      </p:sp>
      <p:pic>
        <p:nvPicPr>
          <p:cNvPr id="6" name="Imagem 5">
            <a:extLst>
              <a:ext uri="{FF2B5EF4-FFF2-40B4-BE49-F238E27FC236}">
                <a16:creationId xmlns:a16="http://schemas.microsoft.com/office/drawing/2014/main" id="{A55A7A86-D37F-4BA1-8E3B-C58E885C0507}"/>
              </a:ext>
            </a:extLst>
          </p:cNvPr>
          <p:cNvPicPr>
            <a:picLocks noChangeAspect="1"/>
          </p:cNvPicPr>
          <p:nvPr/>
        </p:nvPicPr>
        <p:blipFill rotWithShape="1">
          <a:blip r:embed="rId2"/>
          <a:srcRect l="43700" t="34593" r="15351" b="47199"/>
          <a:stretch/>
        </p:blipFill>
        <p:spPr>
          <a:xfrm>
            <a:off x="628650" y="2484333"/>
            <a:ext cx="7557324" cy="1889333"/>
          </a:xfrm>
          <a:prstGeom prst="rect">
            <a:avLst/>
          </a:prstGeom>
        </p:spPr>
      </p:pic>
    </p:spTree>
    <p:extLst>
      <p:ext uri="{BB962C8B-B14F-4D97-AF65-F5344CB8AC3E}">
        <p14:creationId xmlns:p14="http://schemas.microsoft.com/office/powerpoint/2010/main" val="4205020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21</a:t>
            </a:fld>
            <a:endParaRPr lang="pt-BR">
              <a:latin typeface="Times New Roman" panose="02020603050405020304" pitchFamily="18" charset="0"/>
              <a:cs typeface="Times New Roman" panose="02020603050405020304" pitchFamily="18" charset="0"/>
            </a:endParaRPr>
          </a:p>
        </p:txBody>
      </p:sp>
      <p:sp>
        <p:nvSpPr>
          <p:cNvPr id="10" name="Retângulo 9">
            <a:extLst>
              <a:ext uri="{FF2B5EF4-FFF2-40B4-BE49-F238E27FC236}">
                <a16:creationId xmlns:a16="http://schemas.microsoft.com/office/drawing/2014/main" id="{C8E03CEC-65B1-40E4-9A3B-E499E5E6FBF8}"/>
              </a:ext>
            </a:extLst>
          </p:cNvPr>
          <p:cNvSpPr/>
          <p:nvPr/>
        </p:nvSpPr>
        <p:spPr>
          <a:xfrm>
            <a:off x="395536" y="154822"/>
            <a:ext cx="6979235" cy="400110"/>
          </a:xfrm>
          <a:prstGeom prst="rect">
            <a:avLst/>
          </a:prstGeom>
        </p:spPr>
        <p:txBody>
          <a:bodyPr wrap="square">
            <a:spAutoFit/>
          </a:bodyPr>
          <a:lstStyle/>
          <a:p>
            <a:pPr algn="just"/>
            <a:r>
              <a:rPr lang="pt-BR" sz="2000" b="1" dirty="0"/>
              <a:t>Modelagem LÓGICA</a:t>
            </a:r>
            <a:endParaRPr lang="pt-BR" sz="2000" dirty="0">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78D659A8-6925-489B-986A-AED35B93862D}"/>
              </a:ext>
            </a:extLst>
          </p:cNvPr>
          <p:cNvSpPr/>
          <p:nvPr/>
        </p:nvSpPr>
        <p:spPr>
          <a:xfrm>
            <a:off x="162422" y="580993"/>
            <a:ext cx="8352928" cy="1429622"/>
          </a:xfrm>
          <a:prstGeom prst="rect">
            <a:avLst/>
          </a:prstGeom>
        </p:spPr>
        <p:txBody>
          <a:bodyPr wrap="square">
            <a:spAutoFit/>
          </a:bodyPr>
          <a:lstStyle/>
          <a:p>
            <a:pPr algn="just">
              <a:lnSpc>
                <a:spcPct val="150000"/>
              </a:lnSpc>
            </a:pPr>
            <a:r>
              <a:rPr lang="pt-BR" sz="2000" dirty="0"/>
              <a:t>	Um modelo </a:t>
            </a:r>
            <a:r>
              <a:rPr lang="pt-BR" sz="2000" dirty="0" err="1"/>
              <a:t>lógico</a:t>
            </a:r>
            <a:r>
              <a:rPr lang="pt-BR" sz="2000" dirty="0"/>
              <a:t> de um BD relacional deve definir quais as tabelas que o banco </a:t>
            </a:r>
            <a:r>
              <a:rPr lang="pt-BR" sz="2000" dirty="0" err="1"/>
              <a:t>contém</a:t>
            </a:r>
            <a:r>
              <a:rPr lang="pt-BR" sz="2000" dirty="0"/>
              <a:t> e, para cada tabela, quais os nomes das colunas. O modelo </a:t>
            </a:r>
            <a:r>
              <a:rPr lang="pt-BR" sz="2000" dirty="0" err="1"/>
              <a:t>lógico</a:t>
            </a:r>
            <a:r>
              <a:rPr lang="pt-BR" sz="2000" dirty="0"/>
              <a:t> para o BD em </a:t>
            </a:r>
            <a:r>
              <a:rPr lang="pt-BR" sz="2000" dirty="0" err="1"/>
              <a:t>questão</a:t>
            </a:r>
            <a:r>
              <a:rPr lang="pt-BR" sz="2000" dirty="0"/>
              <a:t> é o seguinte:</a:t>
            </a:r>
          </a:p>
        </p:txBody>
      </p:sp>
      <p:pic>
        <p:nvPicPr>
          <p:cNvPr id="7" name="Imagem 6">
            <a:extLst>
              <a:ext uri="{FF2B5EF4-FFF2-40B4-BE49-F238E27FC236}">
                <a16:creationId xmlns:a16="http://schemas.microsoft.com/office/drawing/2014/main" id="{D2662C39-AB35-4F71-9C14-33E57FDA4E32}"/>
              </a:ext>
            </a:extLst>
          </p:cNvPr>
          <p:cNvPicPr>
            <a:picLocks noChangeAspect="1"/>
          </p:cNvPicPr>
          <p:nvPr/>
        </p:nvPicPr>
        <p:blipFill rotWithShape="1">
          <a:blip r:embed="rId2"/>
          <a:srcRect l="37400" t="40196" r="25588" b="47198"/>
          <a:stretch/>
        </p:blipFill>
        <p:spPr>
          <a:xfrm>
            <a:off x="597059" y="2714189"/>
            <a:ext cx="7465792" cy="1429622"/>
          </a:xfrm>
          <a:prstGeom prst="rect">
            <a:avLst/>
          </a:prstGeom>
        </p:spPr>
      </p:pic>
    </p:spTree>
    <p:extLst>
      <p:ext uri="{BB962C8B-B14F-4D97-AF65-F5344CB8AC3E}">
        <p14:creationId xmlns:p14="http://schemas.microsoft.com/office/powerpoint/2010/main" val="2522596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22</a:t>
            </a:fld>
            <a:endParaRPr lang="pt-BR">
              <a:latin typeface="Times New Roman" panose="02020603050405020304" pitchFamily="18" charset="0"/>
              <a:cs typeface="Times New Roman" panose="02020603050405020304" pitchFamily="18" charset="0"/>
            </a:endParaRPr>
          </a:p>
        </p:txBody>
      </p:sp>
      <p:sp>
        <p:nvSpPr>
          <p:cNvPr id="10" name="Retângulo 9">
            <a:extLst>
              <a:ext uri="{FF2B5EF4-FFF2-40B4-BE49-F238E27FC236}">
                <a16:creationId xmlns:a16="http://schemas.microsoft.com/office/drawing/2014/main" id="{C8E03CEC-65B1-40E4-9A3B-E499E5E6FBF8}"/>
              </a:ext>
            </a:extLst>
          </p:cNvPr>
          <p:cNvSpPr/>
          <p:nvPr/>
        </p:nvSpPr>
        <p:spPr>
          <a:xfrm>
            <a:off x="395536" y="154822"/>
            <a:ext cx="6979235" cy="400110"/>
          </a:xfrm>
          <a:prstGeom prst="rect">
            <a:avLst/>
          </a:prstGeom>
        </p:spPr>
        <p:txBody>
          <a:bodyPr wrap="square">
            <a:spAutoFit/>
          </a:bodyPr>
          <a:lstStyle/>
          <a:p>
            <a:pPr algn="just"/>
            <a:r>
              <a:rPr lang="pt-BR" sz="2000" b="1" dirty="0"/>
              <a:t>Modelagem LÓGICA</a:t>
            </a:r>
            <a:endParaRPr lang="pt-BR" sz="2000" dirty="0">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78D659A8-6925-489B-986A-AED35B93862D}"/>
              </a:ext>
            </a:extLst>
          </p:cNvPr>
          <p:cNvSpPr/>
          <p:nvPr/>
        </p:nvSpPr>
        <p:spPr>
          <a:xfrm>
            <a:off x="162422" y="580993"/>
            <a:ext cx="8352928" cy="3276282"/>
          </a:xfrm>
          <a:prstGeom prst="rect">
            <a:avLst/>
          </a:prstGeom>
        </p:spPr>
        <p:txBody>
          <a:bodyPr wrap="square">
            <a:spAutoFit/>
          </a:bodyPr>
          <a:lstStyle/>
          <a:p>
            <a:pPr algn="just">
              <a:lnSpc>
                <a:spcPct val="150000"/>
              </a:lnSpc>
            </a:pPr>
            <a:r>
              <a:rPr lang="pt-BR" sz="2000" dirty="0"/>
              <a:t>	O modelo </a:t>
            </a:r>
            <a:r>
              <a:rPr lang="pt-BR" sz="2000" dirty="0" err="1"/>
              <a:t>lógico</a:t>
            </a:r>
            <a:r>
              <a:rPr lang="pt-BR" sz="2000" dirty="0"/>
              <a:t> descreve a estrutura do banco de dados, conforme </a:t>
            </a:r>
            <a:r>
              <a:rPr lang="pt-BR" sz="2000" dirty="0">
                <a:highlight>
                  <a:srgbClr val="00FF00"/>
                </a:highlight>
              </a:rPr>
              <a:t>vista pelo </a:t>
            </a:r>
            <a:r>
              <a:rPr lang="pt-BR" sz="2000" dirty="0" err="1">
                <a:highlight>
                  <a:srgbClr val="00FF00"/>
                </a:highlight>
              </a:rPr>
              <a:t>usuário</a:t>
            </a:r>
            <a:r>
              <a:rPr lang="pt-BR" sz="2000" dirty="0">
                <a:highlight>
                  <a:srgbClr val="00FF00"/>
                </a:highlight>
              </a:rPr>
              <a:t> do SGBD</a:t>
            </a:r>
            <a:r>
              <a:rPr lang="pt-BR" sz="2000" dirty="0"/>
              <a:t>. Detalhes de armazenamento interno de </a:t>
            </a:r>
            <a:r>
              <a:rPr lang="pt-BR" sz="2000" dirty="0" err="1"/>
              <a:t>informações</a:t>
            </a:r>
            <a:r>
              <a:rPr lang="pt-BR" sz="2000" dirty="0"/>
              <a:t>, que </a:t>
            </a:r>
            <a:r>
              <a:rPr lang="pt-BR" sz="2000" dirty="0" err="1"/>
              <a:t>não</a:t>
            </a:r>
            <a:r>
              <a:rPr lang="pt-BR" sz="2000" dirty="0"/>
              <a:t> </a:t>
            </a:r>
            <a:r>
              <a:rPr lang="pt-BR" sz="2000" dirty="0" err="1"/>
              <a:t>têm</a:t>
            </a:r>
            <a:r>
              <a:rPr lang="pt-BR" sz="2000" dirty="0"/>
              <a:t> </a:t>
            </a:r>
            <a:r>
              <a:rPr lang="pt-BR" sz="2000" dirty="0" err="1"/>
              <a:t>influência</a:t>
            </a:r>
            <a:r>
              <a:rPr lang="pt-BR" sz="2000" dirty="0"/>
              <a:t> sobre a </a:t>
            </a:r>
            <a:r>
              <a:rPr lang="pt-BR" sz="2000" dirty="0" err="1"/>
              <a:t>programação</a:t>
            </a:r>
            <a:r>
              <a:rPr lang="pt-BR" sz="2000" dirty="0"/>
              <a:t> de </a:t>
            </a:r>
            <a:r>
              <a:rPr lang="pt-BR" sz="2000" dirty="0" err="1"/>
              <a:t>aplicações</a:t>
            </a:r>
            <a:r>
              <a:rPr lang="pt-BR" sz="2000" dirty="0"/>
              <a:t> no SGBD, mas podem afetar o desempenho da </a:t>
            </a:r>
            <a:r>
              <a:rPr lang="pt-BR" sz="2000" dirty="0" err="1"/>
              <a:t>aplicações</a:t>
            </a:r>
            <a:r>
              <a:rPr lang="pt-BR" sz="2000" dirty="0"/>
              <a:t> (por exemplo, as estruturas de arquivos usadas no acesso </a:t>
            </a:r>
            <a:r>
              <a:rPr lang="pt-BR" sz="2000" dirty="0" err="1"/>
              <a:t>às</a:t>
            </a:r>
            <a:r>
              <a:rPr lang="pt-BR" sz="2000" dirty="0"/>
              <a:t> </a:t>
            </a:r>
            <a:r>
              <a:rPr lang="pt-BR" sz="2000" dirty="0" err="1"/>
              <a:t>informações</a:t>
            </a:r>
            <a:r>
              <a:rPr lang="pt-BR" sz="2000" dirty="0"/>
              <a:t>) </a:t>
            </a:r>
            <a:r>
              <a:rPr lang="pt-BR" sz="2000" dirty="0" err="1"/>
              <a:t>não</a:t>
            </a:r>
            <a:r>
              <a:rPr lang="pt-BR" sz="2000" dirty="0"/>
              <a:t> fazem parte do modelo </a:t>
            </a:r>
            <a:r>
              <a:rPr lang="pt-BR" sz="2000" dirty="0" err="1"/>
              <a:t>lógico</a:t>
            </a:r>
            <a:r>
              <a:rPr lang="pt-BR" sz="2000" dirty="0"/>
              <a:t>. </a:t>
            </a:r>
          </a:p>
          <a:p>
            <a:pPr algn="just">
              <a:lnSpc>
                <a:spcPct val="150000"/>
              </a:lnSpc>
            </a:pPr>
            <a:r>
              <a:rPr lang="pt-BR" sz="2000" dirty="0"/>
              <a:t>Estes detalhes </a:t>
            </a:r>
            <a:r>
              <a:rPr lang="pt-BR" sz="2000" dirty="0" err="1"/>
              <a:t>são</a:t>
            </a:r>
            <a:r>
              <a:rPr lang="pt-BR" sz="2000" dirty="0"/>
              <a:t> representados no modelo </a:t>
            </a:r>
            <a:r>
              <a:rPr lang="pt-BR" sz="2000" dirty="0" err="1"/>
              <a:t>físico</a:t>
            </a:r>
            <a:r>
              <a:rPr lang="pt-BR" sz="2000" dirty="0"/>
              <a:t>. </a:t>
            </a:r>
          </a:p>
        </p:txBody>
      </p:sp>
    </p:spTree>
    <p:extLst>
      <p:ext uri="{BB962C8B-B14F-4D97-AF65-F5344CB8AC3E}">
        <p14:creationId xmlns:p14="http://schemas.microsoft.com/office/powerpoint/2010/main" val="2405960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23</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10" name="Retângulo 9">
            <a:extLst>
              <a:ext uri="{FF2B5EF4-FFF2-40B4-BE49-F238E27FC236}">
                <a16:creationId xmlns:a16="http://schemas.microsoft.com/office/drawing/2014/main" id="{C8E03CEC-65B1-40E4-9A3B-E499E5E6FBF8}"/>
              </a:ext>
            </a:extLst>
          </p:cNvPr>
          <p:cNvSpPr/>
          <p:nvPr/>
        </p:nvSpPr>
        <p:spPr>
          <a:xfrm>
            <a:off x="398306" y="541909"/>
            <a:ext cx="6979235" cy="461665"/>
          </a:xfrm>
          <a:prstGeom prst="rect">
            <a:avLst/>
          </a:prstGeom>
        </p:spPr>
        <p:txBody>
          <a:bodyPr wrap="square">
            <a:spAutoFit/>
          </a:bodyPr>
          <a:lstStyle/>
          <a:p>
            <a:pPr algn="just"/>
            <a:r>
              <a:rPr lang="pt-BR" sz="2000" b="1" dirty="0"/>
              <a:t>Modelagem </a:t>
            </a:r>
            <a:r>
              <a:rPr lang="pt-BR" sz="2400" b="1" dirty="0">
                <a:highlight>
                  <a:srgbClr val="00FF00"/>
                </a:highlight>
              </a:rPr>
              <a:t>FÍSICA</a:t>
            </a:r>
            <a:r>
              <a:rPr lang="pt-BR" sz="2000" b="1" dirty="0"/>
              <a:t> (baixo nível) </a:t>
            </a:r>
            <a:endParaRPr lang="pt-BR" sz="2000" dirty="0">
              <a:latin typeface="Times New Roman" panose="02020603050405020304" pitchFamily="18" charset="0"/>
              <a:cs typeface="Times New Roman" panose="02020603050405020304" pitchFamily="18" charset="0"/>
            </a:endParaRPr>
          </a:p>
        </p:txBody>
      </p:sp>
      <p:sp>
        <p:nvSpPr>
          <p:cNvPr id="8" name="Retângulo 7">
            <a:extLst>
              <a:ext uri="{FF2B5EF4-FFF2-40B4-BE49-F238E27FC236}">
                <a16:creationId xmlns:a16="http://schemas.microsoft.com/office/drawing/2014/main" id="{E90F4F7E-EFEF-4107-868D-95654040C0C8}"/>
              </a:ext>
            </a:extLst>
          </p:cNvPr>
          <p:cNvSpPr/>
          <p:nvPr/>
        </p:nvSpPr>
        <p:spPr>
          <a:xfrm>
            <a:off x="251520" y="1225783"/>
            <a:ext cx="8424936" cy="3139321"/>
          </a:xfrm>
          <a:prstGeom prst="rect">
            <a:avLst/>
          </a:prstGeom>
        </p:spPr>
        <p:txBody>
          <a:bodyPr wrap="square">
            <a:spAutoFit/>
          </a:bodyPr>
          <a:lstStyle/>
          <a:p>
            <a:pPr marL="285750" indent="-285750" algn="just">
              <a:buFont typeface="Arial" panose="020B0604020202020204" pitchFamily="34" charset="0"/>
              <a:buChar char="•"/>
            </a:pPr>
            <a:r>
              <a:rPr lang="pt-BR" sz="2200" dirty="0">
                <a:latin typeface="Times New Roman" panose="02020603050405020304" pitchFamily="18" charset="0"/>
                <a:cs typeface="Times New Roman" panose="02020603050405020304" pitchFamily="18" charset="0"/>
              </a:rPr>
              <a:t>é concebido por meio do modelo lógico;</a:t>
            </a:r>
          </a:p>
          <a:p>
            <a:pPr marL="285750" indent="-285750" algn="just">
              <a:buFont typeface="Arial" panose="020B0604020202020204" pitchFamily="34" charset="0"/>
              <a:buChar char="•"/>
            </a:pPr>
            <a:r>
              <a:rPr lang="pt-BR" sz="2200" dirty="0">
                <a:latin typeface="Times New Roman" panose="02020603050405020304" pitchFamily="18" charset="0"/>
                <a:cs typeface="Times New Roman" panose="02020603050405020304" pitchFamily="18" charset="0"/>
              </a:rPr>
              <a:t>serão definidos os tipos de dados que serão armazenados;</a:t>
            </a:r>
          </a:p>
          <a:p>
            <a:pPr marL="285750" indent="-285750" algn="just">
              <a:buFont typeface="Arial" panose="020B0604020202020204" pitchFamily="34" charset="0"/>
              <a:buChar char="•"/>
            </a:pPr>
            <a:r>
              <a:rPr lang="pt-BR" sz="2200" dirty="0">
                <a:latin typeface="Times New Roman" panose="02020603050405020304" pitchFamily="18" charset="0"/>
                <a:cs typeface="Times New Roman" panose="02020603050405020304" pitchFamily="18" charset="0"/>
              </a:rPr>
              <a:t>e ocorre a implementação da estrutura lógica em um sistema gerenciador de banco de dados (SGBD); </a:t>
            </a:r>
          </a:p>
          <a:p>
            <a:pPr marL="285750" indent="-285750" algn="just">
              <a:buFont typeface="Arial" panose="020B0604020202020204" pitchFamily="34" charset="0"/>
              <a:buChar char="•"/>
            </a:pPr>
            <a:r>
              <a:rPr lang="pt-BR" sz="2200" dirty="0">
                <a:latin typeface="Times New Roman" panose="02020603050405020304" pitchFamily="18" charset="0"/>
                <a:cs typeface="Times New Roman" panose="02020603050405020304" pitchFamily="18" charset="0"/>
              </a:rPr>
              <a:t>Nessa fase, há a geração das instruções em código SQL, que vão criar a base de dados do sistema.</a:t>
            </a:r>
          </a:p>
          <a:p>
            <a:pPr marL="285750" indent="-285750" algn="just">
              <a:buFont typeface="Arial" panose="020B0604020202020204" pitchFamily="34" charset="0"/>
              <a:buChar char="•"/>
            </a:pPr>
            <a:r>
              <a:rPr lang="pt-BR" sz="2200" dirty="0">
                <a:latin typeface="Times New Roman" panose="02020603050405020304" pitchFamily="18" charset="0"/>
                <a:cs typeface="Times New Roman" panose="02020603050405020304" pitchFamily="18" charset="0"/>
              </a:rPr>
              <a:t>Entram em cena os detalhes técnicos do projeto, atendendo à necessidade do cliente e já implantando a política de cópia e segurança.</a:t>
            </a:r>
          </a:p>
        </p:txBody>
      </p:sp>
    </p:spTree>
    <p:extLst>
      <p:ext uri="{BB962C8B-B14F-4D97-AF65-F5344CB8AC3E}">
        <p14:creationId xmlns:p14="http://schemas.microsoft.com/office/powerpoint/2010/main" val="2461659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24</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256348" y="1613682"/>
            <a:ext cx="8420107" cy="1323439"/>
          </a:xfrm>
          <a:prstGeom prst="rect">
            <a:avLst/>
          </a:prstGeom>
        </p:spPr>
        <p:txBody>
          <a:bodyPr wrap="square">
            <a:spAutoFit/>
          </a:bodyPr>
          <a:lstStyle/>
          <a:p>
            <a:pPr algn="just"/>
            <a:r>
              <a:rPr lang="pt-BR" sz="2000" dirty="0">
                <a:solidFill>
                  <a:srgbClr val="000000"/>
                </a:solidFill>
                <a:latin typeface="Calibri" panose="020F0502020204030204" pitchFamily="34" charset="0"/>
              </a:rPr>
              <a:t>Mas, por que o modelo conceitual é o primeiro a ser criado? Justamente porque ele tem por obrigação demonstrar ao usuário final, que nem sempre terá um conhecimento de banco de dados, quais são a estrutura e as regras de negócios que serão implementadas no banco. </a:t>
            </a:r>
            <a:endParaRPr lang="pt-BR" sz="2000" dirty="0"/>
          </a:p>
        </p:txBody>
      </p:sp>
      <p:pic>
        <p:nvPicPr>
          <p:cNvPr id="11" name="Imagem 10">
            <a:extLst>
              <a:ext uri="{FF2B5EF4-FFF2-40B4-BE49-F238E27FC236}">
                <a16:creationId xmlns:a16="http://schemas.microsoft.com/office/drawing/2014/main" id="{36A31CEC-9260-4225-9B58-1D9A25FF6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767" y="3351873"/>
            <a:ext cx="6258917" cy="1892445"/>
          </a:xfrm>
          <a:prstGeom prst="rect">
            <a:avLst/>
          </a:prstGeom>
        </p:spPr>
      </p:pic>
    </p:spTree>
    <p:extLst>
      <p:ext uri="{BB962C8B-B14F-4D97-AF65-F5344CB8AC3E}">
        <p14:creationId xmlns:p14="http://schemas.microsoft.com/office/powerpoint/2010/main" val="1800518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25</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256348" y="1613682"/>
            <a:ext cx="8564123" cy="1323439"/>
          </a:xfrm>
          <a:prstGeom prst="rect">
            <a:avLst/>
          </a:prstGeom>
        </p:spPr>
        <p:txBody>
          <a:bodyPr wrap="square">
            <a:spAutoFit/>
          </a:bodyPr>
          <a:lstStyle/>
          <a:p>
            <a:pPr algn="just"/>
            <a:r>
              <a:rPr lang="pt-BR" sz="2000" dirty="0">
                <a:solidFill>
                  <a:srgbClr val="000000"/>
                </a:solidFill>
                <a:latin typeface="Calibri" panose="020F0502020204030204" pitchFamily="34" charset="0"/>
              </a:rPr>
              <a:t>independentemente do tipo de representação do modelo, faz-se necessário o entendimento de alguns conceitos referentes aos componentes, como: </a:t>
            </a:r>
            <a:r>
              <a:rPr lang="pt-BR" sz="2000" b="1" dirty="0">
                <a:solidFill>
                  <a:srgbClr val="000000"/>
                </a:solidFill>
                <a:latin typeface="Calibri" panose="020F0502020204030204" pitchFamily="34" charset="0"/>
              </a:rPr>
              <a:t>entidade</a:t>
            </a:r>
            <a:r>
              <a:rPr lang="pt-BR" sz="2000" dirty="0">
                <a:solidFill>
                  <a:srgbClr val="000000"/>
                </a:solidFill>
                <a:latin typeface="Calibri" panose="020F0502020204030204" pitchFamily="34" charset="0"/>
              </a:rPr>
              <a:t>, </a:t>
            </a:r>
            <a:r>
              <a:rPr lang="pt-BR" sz="2000" b="1" dirty="0">
                <a:solidFill>
                  <a:srgbClr val="000000"/>
                </a:solidFill>
                <a:latin typeface="Calibri" panose="020F0502020204030204" pitchFamily="34" charset="0"/>
              </a:rPr>
              <a:t>atributos</a:t>
            </a:r>
            <a:r>
              <a:rPr lang="pt-BR" sz="2000" dirty="0">
                <a:solidFill>
                  <a:srgbClr val="000000"/>
                </a:solidFill>
                <a:latin typeface="Calibri" panose="020F0502020204030204" pitchFamily="34" charset="0"/>
              </a:rPr>
              <a:t>, </a:t>
            </a:r>
            <a:r>
              <a:rPr lang="pt-BR" sz="2000" b="1" dirty="0">
                <a:solidFill>
                  <a:srgbClr val="000000"/>
                </a:solidFill>
                <a:latin typeface="Calibri" panose="020F0502020204030204" pitchFamily="34" charset="0"/>
              </a:rPr>
              <a:t>relacionamento</a:t>
            </a:r>
            <a:r>
              <a:rPr lang="pt-BR" sz="2000" dirty="0">
                <a:solidFill>
                  <a:srgbClr val="000000"/>
                </a:solidFill>
                <a:latin typeface="Calibri" panose="020F0502020204030204" pitchFamily="34" charset="0"/>
              </a:rPr>
              <a:t>, </a:t>
            </a:r>
            <a:r>
              <a:rPr lang="pt-BR" sz="2000" b="1" dirty="0">
                <a:solidFill>
                  <a:srgbClr val="000000"/>
                </a:solidFill>
                <a:latin typeface="Calibri" panose="020F0502020204030204" pitchFamily="34" charset="0"/>
              </a:rPr>
              <a:t>cardinalidades</a:t>
            </a:r>
            <a:r>
              <a:rPr lang="pt-BR" sz="2000" dirty="0">
                <a:solidFill>
                  <a:srgbClr val="000000"/>
                </a:solidFill>
                <a:latin typeface="Calibri" panose="020F0502020204030204" pitchFamily="34" charset="0"/>
              </a:rPr>
              <a:t>, entre outros. A Figura 2 demonstra de forma gráfica a criação de um modelo conceitual utilizando um DER.</a:t>
            </a:r>
            <a:endParaRPr lang="pt-BR" sz="2000" dirty="0"/>
          </a:p>
        </p:txBody>
      </p:sp>
      <p:pic>
        <p:nvPicPr>
          <p:cNvPr id="8" name="Imagem 7">
            <a:extLst>
              <a:ext uri="{FF2B5EF4-FFF2-40B4-BE49-F238E27FC236}">
                <a16:creationId xmlns:a16="http://schemas.microsoft.com/office/drawing/2014/main" id="{4600F6DF-215D-4A3B-B6F1-1089F654E2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4724" y="3133792"/>
            <a:ext cx="5486400" cy="2435703"/>
          </a:xfrm>
          <a:prstGeom prst="rect">
            <a:avLst/>
          </a:prstGeom>
        </p:spPr>
      </p:pic>
      <p:sp>
        <p:nvSpPr>
          <p:cNvPr id="10" name="Retângulo 9">
            <a:extLst>
              <a:ext uri="{FF2B5EF4-FFF2-40B4-BE49-F238E27FC236}">
                <a16:creationId xmlns:a16="http://schemas.microsoft.com/office/drawing/2014/main" id="{38ACC2C3-8E5B-4A8A-9F06-7290F21063EF}"/>
              </a:ext>
            </a:extLst>
          </p:cNvPr>
          <p:cNvSpPr/>
          <p:nvPr/>
        </p:nvSpPr>
        <p:spPr>
          <a:xfrm>
            <a:off x="1763688" y="5634754"/>
            <a:ext cx="3627147" cy="369332"/>
          </a:xfrm>
          <a:prstGeom prst="rect">
            <a:avLst/>
          </a:prstGeom>
        </p:spPr>
        <p:txBody>
          <a:bodyPr wrap="none">
            <a:spAutoFit/>
          </a:bodyPr>
          <a:lstStyle/>
          <a:p>
            <a:r>
              <a:rPr lang="pt-BR" dirty="0"/>
              <a:t>https://www.draw.io/index.html</a:t>
            </a:r>
          </a:p>
        </p:txBody>
      </p:sp>
    </p:spTree>
    <p:extLst>
      <p:ext uri="{BB962C8B-B14F-4D97-AF65-F5344CB8AC3E}">
        <p14:creationId xmlns:p14="http://schemas.microsoft.com/office/powerpoint/2010/main" val="1840345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26</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256349" y="1613682"/>
            <a:ext cx="6984776" cy="369332"/>
          </a:xfrm>
          <a:prstGeom prst="rect">
            <a:avLst/>
          </a:prstGeom>
        </p:spPr>
        <p:txBody>
          <a:bodyPr wrap="square">
            <a:spAutoFit/>
          </a:bodyPr>
          <a:lstStyle/>
          <a:p>
            <a:pPr algn="just"/>
            <a:r>
              <a:rPr lang="pt-BR" b="1" dirty="0"/>
              <a:t>Entidades </a:t>
            </a:r>
            <a:endParaRPr lang="pt-BR" sz="2000" dirty="0"/>
          </a:p>
        </p:txBody>
      </p:sp>
      <p:sp>
        <p:nvSpPr>
          <p:cNvPr id="10" name="Retângulo 9">
            <a:extLst>
              <a:ext uri="{FF2B5EF4-FFF2-40B4-BE49-F238E27FC236}">
                <a16:creationId xmlns:a16="http://schemas.microsoft.com/office/drawing/2014/main" id="{DDE58EA7-03C8-4FF4-BD87-563E0F6693CA}"/>
              </a:ext>
            </a:extLst>
          </p:cNvPr>
          <p:cNvSpPr/>
          <p:nvPr/>
        </p:nvSpPr>
        <p:spPr>
          <a:xfrm>
            <a:off x="275362" y="2121945"/>
            <a:ext cx="8473102" cy="3139321"/>
          </a:xfrm>
          <a:prstGeom prst="rect">
            <a:avLst/>
          </a:prstGeom>
        </p:spPr>
        <p:txBody>
          <a:bodyPr wrap="square">
            <a:spAutoFit/>
          </a:bodyPr>
          <a:lstStyle/>
          <a:p>
            <a:r>
              <a:rPr lang="pt-BR" dirty="0">
                <a:solidFill>
                  <a:srgbClr val="000000"/>
                </a:solidFill>
                <a:latin typeface="Times New Roman" panose="02020603050405020304" pitchFamily="18" charset="0"/>
                <a:cs typeface="Times New Roman" panose="02020603050405020304" pitchFamily="18" charset="0"/>
              </a:rPr>
              <a:t>A entidade, também conhecida como tabela, é uma representação gráfica de um conjunto ou objeto de informações;</a:t>
            </a:r>
          </a:p>
          <a:p>
            <a:endParaRPr lang="pt-BR" dirty="0">
              <a:solidFill>
                <a:srgbClr val="000000"/>
              </a:solidFill>
              <a:latin typeface="Times New Roman" panose="02020603050405020304" pitchFamily="18" charset="0"/>
              <a:cs typeface="Times New Roman" panose="02020603050405020304" pitchFamily="18" charset="0"/>
            </a:endParaRPr>
          </a:p>
          <a:p>
            <a:r>
              <a:rPr lang="pt-BR" dirty="0">
                <a:latin typeface="Times New Roman" panose="02020603050405020304" pitchFamily="18" charset="0"/>
                <a:cs typeface="Times New Roman" panose="02020603050405020304" pitchFamily="18" charset="0"/>
              </a:rPr>
              <a:t>Dessa forma, o banco de dados é separado por entidades (tabelas). Para identificarmos uma entidade, devemos considerar os objetos, as coisas ou algo que seja relevante no levantamento de dados.</a:t>
            </a:r>
          </a:p>
          <a:p>
            <a:endParaRPr lang="pt-BR" dirty="0">
              <a:latin typeface="Times New Roman" panose="02020603050405020304" pitchFamily="18" charset="0"/>
              <a:cs typeface="Times New Roman" panose="02020603050405020304" pitchFamily="18" charset="0"/>
            </a:endParaRPr>
          </a:p>
          <a:p>
            <a:r>
              <a:rPr lang="pt-BR" dirty="0">
                <a:latin typeface="Times New Roman" panose="02020603050405020304" pitchFamily="18" charset="0"/>
                <a:cs typeface="Times New Roman" panose="02020603050405020304" pitchFamily="18" charset="0"/>
              </a:rPr>
              <a:t>Uma entidade é representada em um modelo conceitual por meio de um retângulo, com o nome da tabela ao centro dele. Essa entidade terá uma ou várias informações. Cada ocorrência dessas informações é chamada de instância e vai representar um conjunto exclusivo dos dados. Veja a seguir algumas definições.</a:t>
            </a:r>
          </a:p>
        </p:txBody>
      </p:sp>
    </p:spTree>
    <p:extLst>
      <p:ext uri="{BB962C8B-B14F-4D97-AF65-F5344CB8AC3E}">
        <p14:creationId xmlns:p14="http://schemas.microsoft.com/office/powerpoint/2010/main" val="21495851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27</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249435" y="1427203"/>
            <a:ext cx="6984776" cy="369332"/>
          </a:xfrm>
          <a:prstGeom prst="rect">
            <a:avLst/>
          </a:prstGeom>
        </p:spPr>
        <p:txBody>
          <a:bodyPr wrap="square">
            <a:spAutoFit/>
          </a:bodyPr>
          <a:lstStyle/>
          <a:p>
            <a:pPr algn="just"/>
            <a:r>
              <a:rPr lang="pt-BR" b="1" dirty="0"/>
              <a:t>Entidades </a:t>
            </a:r>
            <a:endParaRPr lang="pt-BR" sz="2000" dirty="0"/>
          </a:p>
        </p:txBody>
      </p:sp>
      <p:sp>
        <p:nvSpPr>
          <p:cNvPr id="10" name="Retângulo 9">
            <a:extLst>
              <a:ext uri="{FF2B5EF4-FFF2-40B4-BE49-F238E27FC236}">
                <a16:creationId xmlns:a16="http://schemas.microsoft.com/office/drawing/2014/main" id="{DDE58EA7-03C8-4FF4-BD87-563E0F6693CA}"/>
              </a:ext>
            </a:extLst>
          </p:cNvPr>
          <p:cNvSpPr/>
          <p:nvPr/>
        </p:nvSpPr>
        <p:spPr>
          <a:xfrm>
            <a:off x="275362" y="1844824"/>
            <a:ext cx="8239988" cy="1754326"/>
          </a:xfrm>
          <a:prstGeom prst="rect">
            <a:avLst/>
          </a:prstGeom>
        </p:spPr>
        <p:txBody>
          <a:bodyPr wrap="square">
            <a:spAutoFit/>
          </a:bodyPr>
          <a:lstStyle/>
          <a:p>
            <a:pPr algn="just"/>
            <a:r>
              <a:rPr lang="pt-BR" b="1" dirty="0">
                <a:solidFill>
                  <a:srgbClr val="000000"/>
                </a:solidFill>
                <a:latin typeface="Times New Roman" panose="02020603050405020304" pitchFamily="18" charset="0"/>
                <a:cs typeface="Times New Roman" panose="02020603050405020304" pitchFamily="18" charset="0"/>
              </a:rPr>
              <a:t>Entidade forte</a:t>
            </a:r>
            <a:r>
              <a:rPr lang="pt-BR" dirty="0">
                <a:solidFill>
                  <a:srgbClr val="000000"/>
                </a:solidFill>
                <a:latin typeface="Times New Roman" panose="02020603050405020304" pitchFamily="18" charset="0"/>
                <a:cs typeface="Times New Roman" panose="02020603050405020304" pitchFamily="18" charset="0"/>
              </a:rPr>
              <a:t>: são aquelas cuja existência não depende de outras entidades, ou seja, elas já possuem total sentido de existir. Em um sistema de notas, a entidade Alunos, por exemplo, independe de quaisquer outras para existir.</a:t>
            </a:r>
          </a:p>
          <a:p>
            <a:pPr algn="just"/>
            <a:endParaRPr lang="pt-BR" dirty="0">
              <a:solidFill>
                <a:srgbClr val="000000"/>
              </a:solidFill>
              <a:latin typeface="Times New Roman" panose="02020603050405020304" pitchFamily="18" charset="0"/>
              <a:cs typeface="Times New Roman" panose="02020603050405020304" pitchFamily="18" charset="0"/>
            </a:endParaRPr>
          </a:p>
          <a:p>
            <a:pPr algn="just"/>
            <a:r>
              <a:rPr lang="pt-BR" b="1" dirty="0">
                <a:solidFill>
                  <a:srgbClr val="000000"/>
                </a:solidFill>
                <a:latin typeface="Times New Roman" panose="02020603050405020304" pitchFamily="18" charset="0"/>
                <a:cs typeface="Times New Roman" panose="02020603050405020304" pitchFamily="18" charset="0"/>
              </a:rPr>
              <a:t>Entidade fraca</a:t>
            </a:r>
            <a:r>
              <a:rPr lang="pt-BR" dirty="0">
                <a:solidFill>
                  <a:srgbClr val="000000"/>
                </a:solidFill>
                <a:latin typeface="Times New Roman" panose="02020603050405020304" pitchFamily="18" charset="0"/>
                <a:cs typeface="Times New Roman" panose="02020603050405020304" pitchFamily="18" charset="0"/>
              </a:rPr>
              <a:t>: ao contrário das entidades fortes, as fracas são aquelas que dependem de outras entidades para existirem, pois individualmente elas não fazem sentido.</a:t>
            </a:r>
            <a:endParaRPr lang="pt-B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5492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28</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249435" y="1427203"/>
            <a:ext cx="6984776" cy="369332"/>
          </a:xfrm>
          <a:prstGeom prst="rect">
            <a:avLst/>
          </a:prstGeom>
        </p:spPr>
        <p:txBody>
          <a:bodyPr wrap="square">
            <a:spAutoFit/>
          </a:bodyPr>
          <a:lstStyle/>
          <a:p>
            <a:pPr algn="just"/>
            <a:r>
              <a:rPr lang="pt-BR" b="1" dirty="0"/>
              <a:t>Entidades </a:t>
            </a:r>
            <a:endParaRPr lang="pt-BR" sz="2000" dirty="0"/>
          </a:p>
        </p:txBody>
      </p:sp>
      <p:pic>
        <p:nvPicPr>
          <p:cNvPr id="2050" name="Picture 2" descr="Diagrama Entidade-Relacionamento – DER - ppt carregar">
            <a:extLst>
              <a:ext uri="{FF2B5EF4-FFF2-40B4-BE49-F238E27FC236}">
                <a16:creationId xmlns:a16="http://schemas.microsoft.com/office/drawing/2014/main" id="{A6F096E3-D931-4041-A94B-1EC123C436F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249435" y="1298377"/>
            <a:ext cx="6259475" cy="4132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867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29</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249435" y="1427203"/>
            <a:ext cx="6984776" cy="461665"/>
          </a:xfrm>
          <a:prstGeom prst="rect">
            <a:avLst/>
          </a:prstGeom>
        </p:spPr>
        <p:txBody>
          <a:bodyPr wrap="square">
            <a:spAutoFit/>
          </a:bodyPr>
          <a:lstStyle/>
          <a:p>
            <a:pPr algn="just"/>
            <a:r>
              <a:rPr lang="pt-BR" sz="2400" b="1" dirty="0"/>
              <a:t>Atributos  </a:t>
            </a:r>
            <a:endParaRPr lang="pt-BR" sz="2800" dirty="0"/>
          </a:p>
        </p:txBody>
      </p:sp>
      <p:sp>
        <p:nvSpPr>
          <p:cNvPr id="8" name="Retângulo 7">
            <a:extLst>
              <a:ext uri="{FF2B5EF4-FFF2-40B4-BE49-F238E27FC236}">
                <a16:creationId xmlns:a16="http://schemas.microsoft.com/office/drawing/2014/main" id="{98E528BA-F7CB-42FC-8636-241FB7AF9009}"/>
              </a:ext>
            </a:extLst>
          </p:cNvPr>
          <p:cNvSpPr/>
          <p:nvPr/>
        </p:nvSpPr>
        <p:spPr>
          <a:xfrm>
            <a:off x="332768" y="2130079"/>
            <a:ext cx="8182581" cy="2308324"/>
          </a:xfrm>
          <a:prstGeom prst="rect">
            <a:avLst/>
          </a:prstGeom>
        </p:spPr>
        <p:txBody>
          <a:bodyPr wrap="square">
            <a:spAutoFit/>
          </a:bodyPr>
          <a:lstStyle/>
          <a:p>
            <a:pPr algn="just"/>
            <a:r>
              <a:rPr lang="pt-BR" dirty="0">
                <a:solidFill>
                  <a:srgbClr val="000000"/>
                </a:solidFill>
                <a:latin typeface="Times New Roman" panose="02020603050405020304" pitchFamily="18" charset="0"/>
                <a:cs typeface="Times New Roman" panose="02020603050405020304" pitchFamily="18" charset="0"/>
              </a:rPr>
              <a:t>Podemos definir atributos como informações ou descrições das entidades.</a:t>
            </a:r>
          </a:p>
          <a:p>
            <a:pPr algn="just"/>
            <a:r>
              <a:rPr lang="pt-BR" dirty="0">
                <a:solidFill>
                  <a:srgbClr val="000000"/>
                </a:solidFill>
                <a:latin typeface="Times New Roman" panose="02020603050405020304" pitchFamily="18" charset="0"/>
                <a:cs typeface="Times New Roman" panose="02020603050405020304" pitchFamily="18" charset="0"/>
              </a:rPr>
              <a:t>Podemos classificar os atributos como simples, multivalorados e compostos ;</a:t>
            </a:r>
          </a:p>
          <a:p>
            <a:pPr algn="just"/>
            <a:endParaRPr lang="pt-BR" dirty="0">
              <a:solidFill>
                <a:srgbClr val="000000"/>
              </a:solidFill>
              <a:latin typeface="Times New Roman" panose="02020603050405020304" pitchFamily="18" charset="0"/>
              <a:cs typeface="Times New Roman" panose="02020603050405020304" pitchFamily="18" charset="0"/>
            </a:endParaRPr>
          </a:p>
          <a:p>
            <a:pPr algn="just"/>
            <a:r>
              <a:rPr lang="pt-BR" dirty="0">
                <a:latin typeface="Times New Roman" panose="02020603050405020304" pitchFamily="18" charset="0"/>
                <a:cs typeface="Times New Roman" panose="02020603050405020304" pitchFamily="18" charset="0"/>
              </a:rPr>
              <a:t>Os atributos multivalorados (Figura 3b) são aqueles que suportam vários registros. Eles são a solução do problema quando, por exemplo, têm-se vários telefones para um aluno. Já os atributos compostos (Figura 3c) nos permitem indicar um atributo que pode ser dividido em outros. Por exemplo, no caso de um endereço, pode-se dividi-lo em rua, cidade, estado e CEP.</a:t>
            </a:r>
          </a:p>
        </p:txBody>
      </p:sp>
    </p:spTree>
    <p:extLst>
      <p:ext uri="{BB962C8B-B14F-4D97-AF65-F5344CB8AC3E}">
        <p14:creationId xmlns:p14="http://schemas.microsoft.com/office/powerpoint/2010/main" val="694929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30</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249435" y="1427203"/>
            <a:ext cx="6984776" cy="461665"/>
          </a:xfrm>
          <a:prstGeom prst="rect">
            <a:avLst/>
          </a:prstGeom>
        </p:spPr>
        <p:txBody>
          <a:bodyPr wrap="square">
            <a:spAutoFit/>
          </a:bodyPr>
          <a:lstStyle/>
          <a:p>
            <a:pPr algn="just"/>
            <a:r>
              <a:rPr lang="pt-BR" sz="2400" b="1" dirty="0"/>
              <a:t>Atributos  </a:t>
            </a:r>
            <a:endParaRPr lang="pt-BR" sz="2800" dirty="0"/>
          </a:p>
        </p:txBody>
      </p:sp>
      <p:pic>
        <p:nvPicPr>
          <p:cNvPr id="10" name="Imagem 9">
            <a:extLst>
              <a:ext uri="{FF2B5EF4-FFF2-40B4-BE49-F238E27FC236}">
                <a16:creationId xmlns:a16="http://schemas.microsoft.com/office/drawing/2014/main" id="{D8FED2A7-1FB0-4E95-8170-084E3620AD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4051" y="1427203"/>
            <a:ext cx="3782617" cy="4396545"/>
          </a:xfrm>
          <a:prstGeom prst="rect">
            <a:avLst/>
          </a:prstGeom>
        </p:spPr>
      </p:pic>
    </p:spTree>
    <p:extLst>
      <p:ext uri="{BB962C8B-B14F-4D97-AF65-F5344CB8AC3E}">
        <p14:creationId xmlns:p14="http://schemas.microsoft.com/office/powerpoint/2010/main" val="7621951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31</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249435" y="1427203"/>
            <a:ext cx="6984776" cy="461665"/>
          </a:xfrm>
          <a:prstGeom prst="rect">
            <a:avLst/>
          </a:prstGeom>
        </p:spPr>
        <p:txBody>
          <a:bodyPr wrap="square">
            <a:spAutoFit/>
          </a:bodyPr>
          <a:lstStyle/>
          <a:p>
            <a:pPr algn="just"/>
            <a:r>
              <a:rPr lang="pt-BR" sz="2400" b="1" dirty="0"/>
              <a:t>Atributos  </a:t>
            </a:r>
            <a:endParaRPr lang="pt-BR" sz="2800" dirty="0"/>
          </a:p>
        </p:txBody>
      </p:sp>
      <p:sp>
        <p:nvSpPr>
          <p:cNvPr id="8" name="Retângulo 7">
            <a:extLst>
              <a:ext uri="{FF2B5EF4-FFF2-40B4-BE49-F238E27FC236}">
                <a16:creationId xmlns:a16="http://schemas.microsoft.com/office/drawing/2014/main" id="{C5867D51-4C3E-4EDD-9D03-378E346AC78A}"/>
              </a:ext>
            </a:extLst>
          </p:cNvPr>
          <p:cNvSpPr/>
          <p:nvPr/>
        </p:nvSpPr>
        <p:spPr>
          <a:xfrm>
            <a:off x="532057" y="2136339"/>
            <a:ext cx="8144399" cy="2814617"/>
          </a:xfrm>
          <a:prstGeom prst="rect">
            <a:avLst/>
          </a:prstGeom>
        </p:spPr>
        <p:txBody>
          <a:bodyPr wrap="square">
            <a:spAutoFit/>
          </a:bodyPr>
          <a:lstStyle/>
          <a:p>
            <a:pPr algn="just">
              <a:lnSpc>
                <a:spcPct val="150000"/>
              </a:lnSpc>
            </a:pPr>
            <a:r>
              <a:rPr lang="pt-BR" sz="2000" dirty="0">
                <a:solidFill>
                  <a:srgbClr val="000000"/>
                </a:solidFill>
                <a:latin typeface="Calibri" panose="020F0502020204030204" pitchFamily="34" charset="0"/>
              </a:rPr>
              <a:t>	Um atributo-chave (Figura 3d) ocorre quando, entre os atributos, faz-se necessário informar qual será o atributo de identificação, sendo este único em toda a tabela e nunca nulo — isto é, com preenchimento vazio. Como exemplo, pode-se dizer que a informação Matrícula é um atributo-chave. A representação gráfica de cada um dos tipos de atributos é apresentada na Figura 3 </a:t>
            </a:r>
            <a:endParaRPr lang="pt-BR" sz="2000" dirty="0"/>
          </a:p>
        </p:txBody>
      </p:sp>
    </p:spTree>
    <p:extLst>
      <p:ext uri="{BB962C8B-B14F-4D97-AF65-F5344CB8AC3E}">
        <p14:creationId xmlns:p14="http://schemas.microsoft.com/office/powerpoint/2010/main" val="7710867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32</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8" y="1427203"/>
            <a:ext cx="6984776" cy="461665"/>
          </a:xfrm>
          <a:prstGeom prst="rect">
            <a:avLst/>
          </a:prstGeom>
        </p:spPr>
        <p:txBody>
          <a:bodyPr wrap="square">
            <a:spAutoFit/>
          </a:bodyPr>
          <a:lstStyle/>
          <a:p>
            <a:pPr algn="just"/>
            <a:r>
              <a:rPr lang="pt-BR" sz="2400" b="1" dirty="0"/>
              <a:t>Atributos  </a:t>
            </a:r>
            <a:endParaRPr lang="pt-BR" sz="2800" dirty="0"/>
          </a:p>
        </p:txBody>
      </p:sp>
      <p:pic>
        <p:nvPicPr>
          <p:cNvPr id="3074" name="Picture 2" descr="Diagrama Entidade-Relacionamento – DER - ppt carregar">
            <a:extLst>
              <a:ext uri="{FF2B5EF4-FFF2-40B4-BE49-F238E27FC236}">
                <a16:creationId xmlns:a16="http://schemas.microsoft.com/office/drawing/2014/main" id="{9E440688-A709-4536-82EE-7ED928E99CB6}"/>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2018781" y="1526568"/>
            <a:ext cx="5289523" cy="3956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47914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33</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8" y="1427203"/>
            <a:ext cx="6984776" cy="461665"/>
          </a:xfrm>
          <a:prstGeom prst="rect">
            <a:avLst/>
          </a:prstGeom>
        </p:spPr>
        <p:txBody>
          <a:bodyPr wrap="square">
            <a:spAutoFit/>
          </a:bodyPr>
          <a:lstStyle/>
          <a:p>
            <a:pPr algn="just"/>
            <a:r>
              <a:rPr lang="pt-BR" sz="2400" b="1" dirty="0"/>
              <a:t>Atributos  </a:t>
            </a:r>
            <a:endParaRPr lang="pt-BR" sz="2800" dirty="0"/>
          </a:p>
        </p:txBody>
      </p:sp>
      <p:sp>
        <p:nvSpPr>
          <p:cNvPr id="8" name="Retângulo 7">
            <a:extLst>
              <a:ext uri="{FF2B5EF4-FFF2-40B4-BE49-F238E27FC236}">
                <a16:creationId xmlns:a16="http://schemas.microsoft.com/office/drawing/2014/main" id="{513BF831-D604-44C2-B87D-7472BFA784C7}"/>
              </a:ext>
            </a:extLst>
          </p:cNvPr>
          <p:cNvSpPr/>
          <p:nvPr/>
        </p:nvSpPr>
        <p:spPr>
          <a:xfrm>
            <a:off x="120492" y="2144678"/>
            <a:ext cx="8555964" cy="1891287"/>
          </a:xfrm>
          <a:prstGeom prst="rect">
            <a:avLst/>
          </a:prstGeom>
        </p:spPr>
        <p:txBody>
          <a:bodyPr wrap="square">
            <a:spAutoFit/>
          </a:bodyPr>
          <a:lstStyle/>
          <a:p>
            <a:pPr algn="just">
              <a:lnSpc>
                <a:spcPct val="150000"/>
              </a:lnSpc>
            </a:pPr>
            <a:r>
              <a:rPr lang="pt-BR" sz="2000" dirty="0">
                <a:solidFill>
                  <a:srgbClr val="000000"/>
                </a:solidFill>
                <a:latin typeface="Calibri" panose="020F0502020204030204" pitchFamily="34" charset="0"/>
              </a:rPr>
              <a:t>	Além do atributo-chave, é necessário entender os conceitos relacionados aos atributos que se tornam chaves estrangeiras (do inglês </a:t>
            </a:r>
            <a:r>
              <a:rPr lang="pt-BR" sz="2000" dirty="0" err="1">
                <a:solidFill>
                  <a:srgbClr val="000000"/>
                </a:solidFill>
                <a:latin typeface="Calibri" panose="020F0502020204030204" pitchFamily="34" charset="0"/>
              </a:rPr>
              <a:t>foreign</a:t>
            </a:r>
            <a:r>
              <a:rPr lang="pt-BR" sz="2000" dirty="0">
                <a:solidFill>
                  <a:srgbClr val="000000"/>
                </a:solidFill>
                <a:latin typeface="Calibri" panose="020F0502020204030204" pitchFamily="34" charset="0"/>
              </a:rPr>
              <a:t> </a:t>
            </a:r>
            <a:r>
              <a:rPr lang="pt-BR" sz="2000" dirty="0" err="1">
                <a:solidFill>
                  <a:srgbClr val="000000"/>
                </a:solidFill>
                <a:latin typeface="Calibri" panose="020F0502020204030204" pitchFamily="34" charset="0"/>
              </a:rPr>
              <a:t>key</a:t>
            </a:r>
            <a:r>
              <a:rPr lang="pt-BR" sz="2000" dirty="0">
                <a:solidFill>
                  <a:srgbClr val="000000"/>
                </a:solidFill>
                <a:latin typeface="Calibri" panose="020F0502020204030204" pitchFamily="34" charset="0"/>
              </a:rPr>
              <a:t>). Essa chave consiste em um campo que aponta para a chave primária (atributo-chave, ou </a:t>
            </a:r>
            <a:r>
              <a:rPr lang="pt-BR" sz="2000" dirty="0" err="1">
                <a:solidFill>
                  <a:srgbClr val="000000"/>
                </a:solidFill>
                <a:latin typeface="Calibri" panose="020F0502020204030204" pitchFamily="34" charset="0"/>
              </a:rPr>
              <a:t>primary</a:t>
            </a:r>
            <a:r>
              <a:rPr lang="pt-BR" sz="2000" dirty="0">
                <a:solidFill>
                  <a:srgbClr val="000000"/>
                </a:solidFill>
                <a:latin typeface="Calibri" panose="020F0502020204030204" pitchFamily="34" charset="0"/>
              </a:rPr>
              <a:t> </a:t>
            </a:r>
            <a:r>
              <a:rPr lang="pt-BR" sz="2000" dirty="0" err="1">
                <a:solidFill>
                  <a:srgbClr val="000000"/>
                </a:solidFill>
                <a:latin typeface="Calibri" panose="020F0502020204030204" pitchFamily="34" charset="0"/>
              </a:rPr>
              <a:t>key</a:t>
            </a:r>
            <a:r>
              <a:rPr lang="pt-BR" sz="2000" dirty="0">
                <a:solidFill>
                  <a:srgbClr val="000000"/>
                </a:solidFill>
                <a:latin typeface="Calibri" panose="020F0502020204030204" pitchFamily="34" charset="0"/>
              </a:rPr>
              <a:t>) de outra tabela. </a:t>
            </a:r>
            <a:endParaRPr lang="pt-BR" sz="2000" dirty="0"/>
          </a:p>
        </p:txBody>
      </p:sp>
    </p:spTree>
    <p:extLst>
      <p:ext uri="{BB962C8B-B14F-4D97-AF65-F5344CB8AC3E}">
        <p14:creationId xmlns:p14="http://schemas.microsoft.com/office/powerpoint/2010/main" val="21659394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34</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8" y="1427203"/>
            <a:ext cx="6984776" cy="461665"/>
          </a:xfrm>
          <a:prstGeom prst="rect">
            <a:avLst/>
          </a:prstGeom>
        </p:spPr>
        <p:txBody>
          <a:bodyPr wrap="square">
            <a:spAutoFit/>
          </a:bodyPr>
          <a:lstStyle/>
          <a:p>
            <a:pPr algn="just"/>
            <a:r>
              <a:rPr lang="pt-BR" sz="2400" b="1" dirty="0"/>
              <a:t>Atributos  </a:t>
            </a:r>
            <a:endParaRPr lang="pt-BR" sz="2800" dirty="0"/>
          </a:p>
        </p:txBody>
      </p:sp>
      <p:sp>
        <p:nvSpPr>
          <p:cNvPr id="8" name="Retângulo 7">
            <a:extLst>
              <a:ext uri="{FF2B5EF4-FFF2-40B4-BE49-F238E27FC236}">
                <a16:creationId xmlns:a16="http://schemas.microsoft.com/office/drawing/2014/main" id="{513BF831-D604-44C2-B87D-7472BFA784C7}"/>
              </a:ext>
            </a:extLst>
          </p:cNvPr>
          <p:cNvSpPr/>
          <p:nvPr/>
        </p:nvSpPr>
        <p:spPr>
          <a:xfrm>
            <a:off x="120492" y="2144678"/>
            <a:ext cx="8555964" cy="1429622"/>
          </a:xfrm>
          <a:prstGeom prst="rect">
            <a:avLst/>
          </a:prstGeom>
        </p:spPr>
        <p:txBody>
          <a:bodyPr wrap="square">
            <a:spAutoFit/>
          </a:bodyPr>
          <a:lstStyle/>
          <a:p>
            <a:pPr algn="just">
              <a:lnSpc>
                <a:spcPct val="150000"/>
              </a:lnSpc>
            </a:pPr>
            <a:r>
              <a:rPr lang="pt-BR" sz="2000" dirty="0">
                <a:solidFill>
                  <a:srgbClr val="000000"/>
                </a:solidFill>
                <a:latin typeface="Calibri" panose="020F0502020204030204" pitchFamily="34" charset="0"/>
              </a:rPr>
              <a:t>	No entanto, nessa relação entre linhas de duas entidades, o objetivo da chave estrangeira é garantir a integridade dos dados referenciais, pois, nesses casos, serão permitidos valores que vão aparecer na base de dados.</a:t>
            </a:r>
            <a:endParaRPr lang="pt-BR" sz="2000" dirty="0"/>
          </a:p>
        </p:txBody>
      </p:sp>
    </p:spTree>
    <p:extLst>
      <p:ext uri="{BB962C8B-B14F-4D97-AF65-F5344CB8AC3E}">
        <p14:creationId xmlns:p14="http://schemas.microsoft.com/office/powerpoint/2010/main" val="19423851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35</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19452" y="578891"/>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7" y="1085344"/>
            <a:ext cx="6984776" cy="461665"/>
          </a:xfrm>
          <a:prstGeom prst="rect">
            <a:avLst/>
          </a:prstGeom>
        </p:spPr>
        <p:txBody>
          <a:bodyPr wrap="square">
            <a:spAutoFit/>
          </a:bodyPr>
          <a:lstStyle/>
          <a:p>
            <a:pPr algn="just"/>
            <a:r>
              <a:rPr lang="pt-BR" sz="2400" b="1" dirty="0"/>
              <a:t>Atributos  </a:t>
            </a:r>
            <a:endParaRPr lang="pt-BR" sz="2800" dirty="0"/>
          </a:p>
        </p:txBody>
      </p:sp>
      <p:sp>
        <p:nvSpPr>
          <p:cNvPr id="8" name="Retângulo 7">
            <a:extLst>
              <a:ext uri="{FF2B5EF4-FFF2-40B4-BE49-F238E27FC236}">
                <a16:creationId xmlns:a16="http://schemas.microsoft.com/office/drawing/2014/main" id="{513BF831-D604-44C2-B87D-7472BFA784C7}"/>
              </a:ext>
            </a:extLst>
          </p:cNvPr>
          <p:cNvSpPr/>
          <p:nvPr/>
        </p:nvSpPr>
        <p:spPr>
          <a:xfrm>
            <a:off x="120491" y="1547009"/>
            <a:ext cx="7390847" cy="1015663"/>
          </a:xfrm>
          <a:prstGeom prst="rect">
            <a:avLst/>
          </a:prstGeom>
        </p:spPr>
        <p:txBody>
          <a:bodyPr wrap="square">
            <a:spAutoFit/>
          </a:bodyPr>
          <a:lstStyle/>
          <a:p>
            <a:pPr algn="just"/>
            <a:r>
              <a:rPr lang="pt-BR" sz="2000" dirty="0">
                <a:solidFill>
                  <a:srgbClr val="000000"/>
                </a:solidFill>
                <a:latin typeface="Calibri" panose="020F0502020204030204" pitchFamily="34" charset="0"/>
              </a:rPr>
              <a:t>	A Figura 4 ilustra um exemplo da aplicação de uma chave estrangeira entre duas tabelas. Podemos notar que o campo </a:t>
            </a:r>
            <a:r>
              <a:rPr lang="pt-BR" sz="2000" dirty="0" err="1">
                <a:solidFill>
                  <a:srgbClr val="000000"/>
                </a:solidFill>
                <a:latin typeface="Calibri" panose="020F0502020204030204" pitchFamily="34" charset="0"/>
              </a:rPr>
              <a:t>Aluno_Curso</a:t>
            </a:r>
            <a:r>
              <a:rPr lang="pt-BR" sz="2000" dirty="0">
                <a:solidFill>
                  <a:srgbClr val="000000"/>
                </a:solidFill>
                <a:latin typeface="Calibri" panose="020F0502020204030204" pitchFamily="34" charset="0"/>
              </a:rPr>
              <a:t> é a chave estrangeira na tabela Aluno.</a:t>
            </a:r>
            <a:endParaRPr lang="pt-BR" sz="2000" dirty="0"/>
          </a:p>
        </p:txBody>
      </p:sp>
      <p:pic>
        <p:nvPicPr>
          <p:cNvPr id="10" name="Imagem 9">
            <a:extLst>
              <a:ext uri="{FF2B5EF4-FFF2-40B4-BE49-F238E27FC236}">
                <a16:creationId xmlns:a16="http://schemas.microsoft.com/office/drawing/2014/main" id="{2DE5D6F8-D652-41B3-9E1F-A27BD78CDE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3709" y="2492896"/>
            <a:ext cx="5388429" cy="3414839"/>
          </a:xfrm>
          <a:prstGeom prst="rect">
            <a:avLst/>
          </a:prstGeom>
        </p:spPr>
      </p:pic>
    </p:spTree>
    <p:extLst>
      <p:ext uri="{BB962C8B-B14F-4D97-AF65-F5344CB8AC3E}">
        <p14:creationId xmlns:p14="http://schemas.microsoft.com/office/powerpoint/2010/main" val="25446670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36</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19452" y="578891"/>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7" y="1085344"/>
            <a:ext cx="6984776" cy="461665"/>
          </a:xfrm>
          <a:prstGeom prst="rect">
            <a:avLst/>
          </a:prstGeom>
        </p:spPr>
        <p:txBody>
          <a:bodyPr wrap="square">
            <a:spAutoFit/>
          </a:bodyPr>
          <a:lstStyle/>
          <a:p>
            <a:pPr algn="just"/>
            <a:r>
              <a:rPr lang="pt-BR" sz="2400" b="1" dirty="0"/>
              <a:t>Relacionamentos  </a:t>
            </a:r>
            <a:endParaRPr lang="pt-BR" sz="2800" dirty="0"/>
          </a:p>
        </p:txBody>
      </p:sp>
      <p:sp>
        <p:nvSpPr>
          <p:cNvPr id="8" name="Retângulo 7">
            <a:extLst>
              <a:ext uri="{FF2B5EF4-FFF2-40B4-BE49-F238E27FC236}">
                <a16:creationId xmlns:a16="http://schemas.microsoft.com/office/drawing/2014/main" id="{513BF831-D604-44C2-B87D-7472BFA784C7}"/>
              </a:ext>
            </a:extLst>
          </p:cNvPr>
          <p:cNvSpPr/>
          <p:nvPr/>
        </p:nvSpPr>
        <p:spPr>
          <a:xfrm>
            <a:off x="120491" y="1547009"/>
            <a:ext cx="7390847" cy="2554545"/>
          </a:xfrm>
          <a:prstGeom prst="rect">
            <a:avLst/>
          </a:prstGeom>
        </p:spPr>
        <p:txBody>
          <a:bodyPr wrap="square">
            <a:spAutoFit/>
          </a:bodyPr>
          <a:lstStyle/>
          <a:p>
            <a:pPr algn="just"/>
            <a:r>
              <a:rPr lang="pt-BR" sz="2000" dirty="0">
                <a:solidFill>
                  <a:srgbClr val="000000"/>
                </a:solidFill>
                <a:latin typeface="Calibri" panose="020F0502020204030204" pitchFamily="34" charset="0"/>
              </a:rPr>
              <a:t>	Resgatando-se os conceitos do modelo relacional, nota-se que as entidades não podem ficar isoladas, uma vez que as informações serão organizadas para o acesso de forma integrada. Assim, para que essa organização não tenha perda de conteúdo, as entidades precisam estar integradas entre si.</a:t>
            </a:r>
          </a:p>
          <a:p>
            <a:pPr algn="just"/>
            <a:endParaRPr lang="pt-BR" sz="2000" dirty="0">
              <a:solidFill>
                <a:srgbClr val="000000"/>
              </a:solidFill>
              <a:latin typeface="Calibri" panose="020F0502020204030204" pitchFamily="34" charset="0"/>
            </a:endParaRPr>
          </a:p>
          <a:p>
            <a:pPr algn="just"/>
            <a:r>
              <a:rPr lang="pt-BR" sz="2000" dirty="0"/>
              <a:t>	A forma de ligação entre as entidades é por meio de relacionamentos.</a:t>
            </a:r>
          </a:p>
        </p:txBody>
      </p:sp>
    </p:spTree>
    <p:extLst>
      <p:ext uri="{BB962C8B-B14F-4D97-AF65-F5344CB8AC3E}">
        <p14:creationId xmlns:p14="http://schemas.microsoft.com/office/powerpoint/2010/main" val="28782037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37</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19452" y="578891"/>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7" y="1085344"/>
            <a:ext cx="6984776" cy="461665"/>
          </a:xfrm>
          <a:prstGeom prst="rect">
            <a:avLst/>
          </a:prstGeom>
        </p:spPr>
        <p:txBody>
          <a:bodyPr wrap="square">
            <a:spAutoFit/>
          </a:bodyPr>
          <a:lstStyle/>
          <a:p>
            <a:pPr algn="just"/>
            <a:r>
              <a:rPr lang="pt-BR" sz="2400" b="1" dirty="0"/>
              <a:t>Relacionamentos  </a:t>
            </a:r>
            <a:endParaRPr lang="pt-BR" sz="2800" dirty="0"/>
          </a:p>
        </p:txBody>
      </p:sp>
      <p:sp>
        <p:nvSpPr>
          <p:cNvPr id="8" name="Retângulo 7">
            <a:extLst>
              <a:ext uri="{FF2B5EF4-FFF2-40B4-BE49-F238E27FC236}">
                <a16:creationId xmlns:a16="http://schemas.microsoft.com/office/drawing/2014/main" id="{513BF831-D604-44C2-B87D-7472BFA784C7}"/>
              </a:ext>
            </a:extLst>
          </p:cNvPr>
          <p:cNvSpPr/>
          <p:nvPr/>
        </p:nvSpPr>
        <p:spPr>
          <a:xfrm>
            <a:off x="159346" y="1983552"/>
            <a:ext cx="7390847" cy="2677656"/>
          </a:xfrm>
          <a:prstGeom prst="rect">
            <a:avLst/>
          </a:prstGeom>
        </p:spPr>
        <p:txBody>
          <a:bodyPr wrap="square">
            <a:spAutoFit/>
          </a:bodyPr>
          <a:lstStyle/>
          <a:p>
            <a:pPr algn="just"/>
            <a:r>
              <a:rPr lang="pt-BR" sz="2400" dirty="0">
                <a:solidFill>
                  <a:srgbClr val="000000"/>
                </a:solidFill>
                <a:latin typeface="Times New Roman" panose="02020603050405020304" pitchFamily="18" charset="0"/>
                <a:cs typeface="Times New Roman" panose="02020603050405020304" pitchFamily="18" charset="0"/>
              </a:rPr>
              <a:t>	Podemos encontrar vários tipos de relacionamentos na literatura;</a:t>
            </a:r>
          </a:p>
          <a:p>
            <a:pPr algn="just"/>
            <a:endParaRPr lang="pt-BR" sz="2400" dirty="0">
              <a:solidFill>
                <a:srgbClr val="000000"/>
              </a:solidFill>
              <a:latin typeface="Times New Roman" panose="02020603050405020304" pitchFamily="18" charset="0"/>
              <a:cs typeface="Times New Roman" panose="02020603050405020304" pitchFamily="18" charset="0"/>
            </a:endParaRPr>
          </a:p>
          <a:p>
            <a:pPr algn="just"/>
            <a:r>
              <a:rPr lang="pt-BR" sz="2400" dirty="0">
                <a:latin typeface="Times New Roman" panose="02020603050405020304" pitchFamily="18" charset="0"/>
                <a:cs typeface="Times New Roman" panose="02020603050405020304" pitchFamily="18" charset="0"/>
              </a:rPr>
              <a:t>	Os tipos de relacionamentos existentes são, segundo </a:t>
            </a:r>
            <a:r>
              <a:rPr lang="pt-BR" sz="2400" dirty="0" err="1">
                <a:latin typeface="Times New Roman" panose="02020603050405020304" pitchFamily="18" charset="0"/>
                <a:cs typeface="Times New Roman" panose="02020603050405020304" pitchFamily="18" charset="0"/>
              </a:rPr>
              <a:t>Heuser</a:t>
            </a:r>
            <a:r>
              <a:rPr lang="pt-BR" sz="2400" dirty="0">
                <a:latin typeface="Times New Roman" panose="02020603050405020304" pitchFamily="18" charset="0"/>
                <a:cs typeface="Times New Roman" panose="02020603050405020304" pitchFamily="18" charset="0"/>
              </a:rPr>
              <a:t> (2009): </a:t>
            </a:r>
            <a:r>
              <a:rPr lang="pt-BR" sz="2400" dirty="0" err="1">
                <a:latin typeface="Times New Roman" panose="02020603050405020304" pitchFamily="18" charset="0"/>
                <a:cs typeface="Times New Roman" panose="02020603050405020304" pitchFamily="18" charset="0"/>
              </a:rPr>
              <a:t>autorrelacionamentos</a:t>
            </a:r>
            <a:r>
              <a:rPr lang="pt-BR" sz="2400" dirty="0">
                <a:latin typeface="Times New Roman" panose="02020603050405020304" pitchFamily="18" charset="0"/>
                <a:cs typeface="Times New Roman" panose="02020603050405020304" pitchFamily="18" charset="0"/>
              </a:rPr>
              <a:t>, relacionamento binário e relacionamento ternário e relacionamento contendo um atributo.</a:t>
            </a:r>
          </a:p>
        </p:txBody>
      </p:sp>
    </p:spTree>
    <p:extLst>
      <p:ext uri="{BB962C8B-B14F-4D97-AF65-F5344CB8AC3E}">
        <p14:creationId xmlns:p14="http://schemas.microsoft.com/office/powerpoint/2010/main" val="14988780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38</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19452" y="578891"/>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7" y="1085344"/>
            <a:ext cx="6984776" cy="461665"/>
          </a:xfrm>
          <a:prstGeom prst="rect">
            <a:avLst/>
          </a:prstGeom>
        </p:spPr>
        <p:txBody>
          <a:bodyPr wrap="square">
            <a:spAutoFit/>
          </a:bodyPr>
          <a:lstStyle/>
          <a:p>
            <a:pPr algn="just"/>
            <a:r>
              <a:rPr lang="pt-BR" sz="2400" b="1" dirty="0"/>
              <a:t>Relacionamentos  </a:t>
            </a:r>
            <a:endParaRPr lang="pt-BR" sz="2800" dirty="0"/>
          </a:p>
        </p:txBody>
      </p:sp>
      <p:sp>
        <p:nvSpPr>
          <p:cNvPr id="8" name="Retângulo 7">
            <a:extLst>
              <a:ext uri="{FF2B5EF4-FFF2-40B4-BE49-F238E27FC236}">
                <a16:creationId xmlns:a16="http://schemas.microsoft.com/office/drawing/2014/main" id="{513BF831-D604-44C2-B87D-7472BFA784C7}"/>
              </a:ext>
            </a:extLst>
          </p:cNvPr>
          <p:cNvSpPr/>
          <p:nvPr/>
        </p:nvSpPr>
        <p:spPr>
          <a:xfrm>
            <a:off x="192500" y="1537525"/>
            <a:ext cx="7390847" cy="3139321"/>
          </a:xfrm>
          <a:prstGeom prst="rect">
            <a:avLst/>
          </a:prstGeom>
        </p:spPr>
        <p:txBody>
          <a:bodyPr wrap="square">
            <a:spAutoFit/>
          </a:bodyPr>
          <a:lstStyle/>
          <a:p>
            <a:pPr algn="just"/>
            <a:r>
              <a:rPr lang="pt-BR" sz="2400" dirty="0">
                <a:solidFill>
                  <a:srgbClr val="000000"/>
                </a:solidFill>
                <a:latin typeface="Times New Roman" panose="02020603050405020304" pitchFamily="18" charset="0"/>
                <a:cs typeface="Times New Roman" panose="02020603050405020304" pitchFamily="18" charset="0"/>
              </a:rPr>
              <a:t>	</a:t>
            </a:r>
            <a:r>
              <a:rPr lang="pt-BR" dirty="0">
                <a:latin typeface="Times New Roman" panose="02020603050405020304" pitchFamily="18" charset="0"/>
                <a:cs typeface="Times New Roman" panose="02020603050405020304" pitchFamily="18" charset="0"/>
              </a:rPr>
              <a:t> O </a:t>
            </a:r>
            <a:r>
              <a:rPr lang="pt-BR" dirty="0" err="1">
                <a:latin typeface="Times New Roman" panose="02020603050405020304" pitchFamily="18" charset="0"/>
                <a:cs typeface="Times New Roman" panose="02020603050405020304" pitchFamily="18" charset="0"/>
              </a:rPr>
              <a:t>autorrelacionamento</a:t>
            </a:r>
            <a:r>
              <a:rPr lang="pt-BR" dirty="0">
                <a:latin typeface="Times New Roman" panose="02020603050405020304" pitchFamily="18" charset="0"/>
                <a:cs typeface="Times New Roman" panose="02020603050405020304" pitchFamily="18" charset="0"/>
              </a:rPr>
              <a:t> (Figura 5a), também denominado de relacionamento recursivo, refere-se a um relacionamento composto de apenas uma entidade. </a:t>
            </a:r>
          </a:p>
          <a:p>
            <a:pPr algn="just"/>
            <a:endParaRPr lang="pt-BR" sz="2400" dirty="0">
              <a:latin typeface="Times New Roman" panose="02020603050405020304" pitchFamily="18" charset="0"/>
              <a:cs typeface="Times New Roman" panose="02020603050405020304" pitchFamily="18" charset="0"/>
            </a:endParaRPr>
          </a:p>
          <a:p>
            <a:pPr algn="just"/>
            <a:r>
              <a:rPr lang="pt-BR" dirty="0"/>
              <a:t>	O relacionamento binário (Figura 5b) é definido como de grau dois, devido a este ter duas entidades.</a:t>
            </a:r>
          </a:p>
          <a:p>
            <a:pPr algn="just"/>
            <a:endParaRPr lang="pt-BR" sz="2400" dirty="0">
              <a:latin typeface="Times New Roman" panose="02020603050405020304" pitchFamily="18" charset="0"/>
              <a:cs typeface="Times New Roman" panose="02020603050405020304" pitchFamily="18" charset="0"/>
            </a:endParaRPr>
          </a:p>
          <a:p>
            <a:pPr algn="just"/>
            <a:r>
              <a:rPr lang="pt-BR" dirty="0"/>
              <a:t>	Já o relacionamento ternário (Figura 5c) é chamado relacionamento de grau três, pois apresenta três entidades associadas no relacionamento.</a:t>
            </a:r>
            <a:endParaRPr lang="pt-B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08855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39</a:t>
            </a:fld>
            <a:endParaRPr lang="pt-BR">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19452" y="578891"/>
            <a:ext cx="6259475" cy="461665"/>
          </a:xfrm>
          <a:prstGeom prst="rect">
            <a:avLst/>
          </a:prstGeom>
        </p:spPr>
        <p:txBody>
          <a:bodyPr wrap="square">
            <a:spAutoFit/>
          </a:bodyPr>
          <a:lstStyle/>
          <a:p>
            <a:r>
              <a:rPr lang="pt-BR" sz="2400" b="1" dirty="0"/>
              <a:t>2 Modelo entidade-relacionamento </a:t>
            </a:r>
            <a:endParaRPr lang="pt-BR" sz="3200" dirty="0"/>
          </a:p>
        </p:txBody>
      </p:sp>
      <p:pic>
        <p:nvPicPr>
          <p:cNvPr id="10" name="Imagem 9">
            <a:extLst>
              <a:ext uri="{FF2B5EF4-FFF2-40B4-BE49-F238E27FC236}">
                <a16:creationId xmlns:a16="http://schemas.microsoft.com/office/drawing/2014/main" id="{EC0C4F2A-5681-49F1-9432-011159A507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6487" y="1547008"/>
            <a:ext cx="4455035" cy="4387611"/>
          </a:xfrm>
          <a:prstGeom prst="rect">
            <a:avLst/>
          </a:prstGeom>
        </p:spPr>
      </p:pic>
      <p:sp>
        <p:nvSpPr>
          <p:cNvPr id="6" name="Retângulo 5">
            <a:extLst>
              <a:ext uri="{FF2B5EF4-FFF2-40B4-BE49-F238E27FC236}">
                <a16:creationId xmlns:a16="http://schemas.microsoft.com/office/drawing/2014/main" id="{388BC350-90EA-4CD4-B75C-1BDA52C75C83}"/>
              </a:ext>
            </a:extLst>
          </p:cNvPr>
          <p:cNvSpPr/>
          <p:nvPr/>
        </p:nvSpPr>
        <p:spPr>
          <a:xfrm>
            <a:off x="323527" y="1085344"/>
            <a:ext cx="6984776" cy="461665"/>
          </a:xfrm>
          <a:prstGeom prst="rect">
            <a:avLst/>
          </a:prstGeom>
        </p:spPr>
        <p:txBody>
          <a:bodyPr wrap="square">
            <a:spAutoFit/>
          </a:bodyPr>
          <a:lstStyle/>
          <a:p>
            <a:pPr algn="just"/>
            <a:r>
              <a:rPr lang="pt-BR" sz="2400" b="1" dirty="0"/>
              <a:t>Relacionamentos  </a:t>
            </a:r>
            <a:endParaRPr lang="pt-BR" sz="2800" dirty="0"/>
          </a:p>
        </p:txBody>
      </p:sp>
      <p:sp>
        <p:nvSpPr>
          <p:cNvPr id="11" name="Retângulo 10">
            <a:extLst>
              <a:ext uri="{FF2B5EF4-FFF2-40B4-BE49-F238E27FC236}">
                <a16:creationId xmlns:a16="http://schemas.microsoft.com/office/drawing/2014/main" id="{2BA5214B-A129-4D06-BCE2-46D71AB9054D}"/>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Projeto de banco de dados: modelos conceitual, lógico e físico</a:t>
            </a:r>
          </a:p>
        </p:txBody>
      </p:sp>
    </p:spTree>
    <p:extLst>
      <p:ext uri="{BB962C8B-B14F-4D97-AF65-F5344CB8AC3E}">
        <p14:creationId xmlns:p14="http://schemas.microsoft.com/office/powerpoint/2010/main" val="7924494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40</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r>
              <a:rPr lang="pt-BR" sz="2800" dirty="0">
                <a:latin typeface="Times New Roman" panose="02020603050405020304" pitchFamily="18" charset="0"/>
                <a:cs typeface="Times New Roman" panose="02020603050405020304" pitchFamily="18" charset="0"/>
              </a:rPr>
              <a:t>Modelagem de Dados</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19452" y="578891"/>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7" y="1085344"/>
            <a:ext cx="6984776" cy="461665"/>
          </a:xfrm>
          <a:prstGeom prst="rect">
            <a:avLst/>
          </a:prstGeom>
        </p:spPr>
        <p:txBody>
          <a:bodyPr wrap="square">
            <a:spAutoFit/>
          </a:bodyPr>
          <a:lstStyle/>
          <a:p>
            <a:pPr algn="just"/>
            <a:r>
              <a:rPr lang="pt-BR" sz="2400" b="1" dirty="0"/>
              <a:t>Relacionamentos  </a:t>
            </a:r>
            <a:endParaRPr lang="pt-BR" sz="2800" dirty="0"/>
          </a:p>
        </p:txBody>
      </p:sp>
      <p:pic>
        <p:nvPicPr>
          <p:cNvPr id="8" name="Imagem 7">
            <a:extLst>
              <a:ext uri="{FF2B5EF4-FFF2-40B4-BE49-F238E27FC236}">
                <a16:creationId xmlns:a16="http://schemas.microsoft.com/office/drawing/2014/main" id="{C4CFB7DE-CDF2-412E-9FCE-2E513590D6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136" y="1802819"/>
            <a:ext cx="6165398" cy="1982385"/>
          </a:xfrm>
          <a:prstGeom prst="rect">
            <a:avLst/>
          </a:prstGeom>
        </p:spPr>
      </p:pic>
    </p:spTree>
    <p:extLst>
      <p:ext uri="{BB962C8B-B14F-4D97-AF65-F5344CB8AC3E}">
        <p14:creationId xmlns:p14="http://schemas.microsoft.com/office/powerpoint/2010/main" val="9091385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41</a:t>
            </a:fld>
            <a:endParaRPr lang="pt-BR">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19452" y="578891"/>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7" y="1085344"/>
            <a:ext cx="6984776" cy="461665"/>
          </a:xfrm>
          <a:prstGeom prst="rect">
            <a:avLst/>
          </a:prstGeom>
        </p:spPr>
        <p:txBody>
          <a:bodyPr wrap="square">
            <a:spAutoFit/>
          </a:bodyPr>
          <a:lstStyle/>
          <a:p>
            <a:pPr algn="just"/>
            <a:r>
              <a:rPr lang="pt-BR" sz="2400" b="1" dirty="0"/>
              <a:t>Relacionamentos  </a:t>
            </a:r>
            <a:endParaRPr lang="pt-BR" sz="2800" dirty="0"/>
          </a:p>
        </p:txBody>
      </p:sp>
      <p:sp>
        <p:nvSpPr>
          <p:cNvPr id="10" name="Retângulo 9">
            <a:extLst>
              <a:ext uri="{FF2B5EF4-FFF2-40B4-BE49-F238E27FC236}">
                <a16:creationId xmlns:a16="http://schemas.microsoft.com/office/drawing/2014/main" id="{61E89345-A6A3-4842-9A7E-76F40BBC6610}"/>
              </a:ext>
            </a:extLst>
          </p:cNvPr>
          <p:cNvSpPr/>
          <p:nvPr/>
        </p:nvSpPr>
        <p:spPr>
          <a:xfrm>
            <a:off x="323526" y="1412776"/>
            <a:ext cx="8191823" cy="2246769"/>
          </a:xfrm>
          <a:prstGeom prst="rect">
            <a:avLst/>
          </a:prstGeom>
        </p:spPr>
        <p:txBody>
          <a:bodyPr wrap="square">
            <a:spAutoFit/>
          </a:bodyPr>
          <a:lstStyle/>
          <a:p>
            <a:pPr algn="just"/>
            <a:r>
              <a:rPr lang="pt-BR" sz="2000" dirty="0">
                <a:solidFill>
                  <a:srgbClr val="000000"/>
                </a:solidFill>
                <a:latin typeface="Calibri" panose="020F0502020204030204" pitchFamily="34" charset="0"/>
              </a:rPr>
              <a:t>	Outra particularidade de um relacionamento é que este pode conter atributos (Figura 5d). Estes não fazem parte obrigatória das propriedades das entidades; porém, quando é inserido um atributo, este é associado a um relacionamento e deve ser comum às duas entidades. Assim, notamos que, na Figura 5d, o atributo Horário é parte comum às entidades associadas no relacionamento e informa em que horário o professor ministra a referida disciplina. </a:t>
            </a:r>
            <a:endParaRPr lang="pt-BR" sz="2000" dirty="0"/>
          </a:p>
        </p:txBody>
      </p:sp>
      <p:pic>
        <p:nvPicPr>
          <p:cNvPr id="11" name="Imagem 10">
            <a:extLst>
              <a:ext uri="{FF2B5EF4-FFF2-40B4-BE49-F238E27FC236}">
                <a16:creationId xmlns:a16="http://schemas.microsoft.com/office/drawing/2014/main" id="{3FC4A327-309F-484A-9013-D3B107E1A0E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198" t="59367"/>
          <a:stretch/>
        </p:blipFill>
        <p:spPr>
          <a:xfrm>
            <a:off x="2630471" y="3653238"/>
            <a:ext cx="2733617" cy="2466109"/>
          </a:xfrm>
          <a:prstGeom prst="rect">
            <a:avLst/>
          </a:prstGeom>
        </p:spPr>
      </p:pic>
      <p:sp>
        <p:nvSpPr>
          <p:cNvPr id="12" name="Retângulo 11">
            <a:extLst>
              <a:ext uri="{FF2B5EF4-FFF2-40B4-BE49-F238E27FC236}">
                <a16:creationId xmlns:a16="http://schemas.microsoft.com/office/drawing/2014/main" id="{52FADF52-BDB8-41D1-96FB-81D65C302637}"/>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Projeto de banco de dados: modelos conceitual, lógico e físico</a:t>
            </a:r>
          </a:p>
        </p:txBody>
      </p:sp>
    </p:spTree>
    <p:extLst>
      <p:ext uri="{BB962C8B-B14F-4D97-AF65-F5344CB8AC3E}">
        <p14:creationId xmlns:p14="http://schemas.microsoft.com/office/powerpoint/2010/main" val="30152483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42</a:t>
            </a:fld>
            <a:endParaRPr lang="pt-BR">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19452" y="578891"/>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7" y="1085344"/>
            <a:ext cx="6984776" cy="461665"/>
          </a:xfrm>
          <a:prstGeom prst="rect">
            <a:avLst/>
          </a:prstGeom>
        </p:spPr>
        <p:txBody>
          <a:bodyPr wrap="square">
            <a:spAutoFit/>
          </a:bodyPr>
          <a:lstStyle/>
          <a:p>
            <a:pPr algn="just"/>
            <a:r>
              <a:rPr lang="pt-BR" sz="2400" b="1" dirty="0"/>
              <a:t>Cardinalidades  </a:t>
            </a:r>
            <a:endParaRPr lang="pt-BR" sz="2800" dirty="0"/>
          </a:p>
        </p:txBody>
      </p:sp>
      <p:sp>
        <p:nvSpPr>
          <p:cNvPr id="10" name="Retângulo 9">
            <a:extLst>
              <a:ext uri="{FF2B5EF4-FFF2-40B4-BE49-F238E27FC236}">
                <a16:creationId xmlns:a16="http://schemas.microsoft.com/office/drawing/2014/main" id="{61E89345-A6A3-4842-9A7E-76F40BBC6610}"/>
              </a:ext>
            </a:extLst>
          </p:cNvPr>
          <p:cNvSpPr/>
          <p:nvPr/>
        </p:nvSpPr>
        <p:spPr>
          <a:xfrm>
            <a:off x="323526" y="1632079"/>
            <a:ext cx="8352929" cy="2299156"/>
          </a:xfrm>
          <a:prstGeom prst="rect">
            <a:avLst/>
          </a:prstGeom>
        </p:spPr>
        <p:txBody>
          <a:bodyPr wrap="square">
            <a:spAutoFit/>
          </a:bodyPr>
          <a:lstStyle/>
          <a:p>
            <a:pPr algn="just">
              <a:lnSpc>
                <a:spcPct val="150000"/>
              </a:lnSpc>
            </a:pPr>
            <a:r>
              <a:rPr lang="pt-BR" sz="2000" dirty="0">
                <a:solidFill>
                  <a:srgbClr val="000000"/>
                </a:solidFill>
                <a:latin typeface="Times New Roman" panose="02020603050405020304" pitchFamily="18" charset="0"/>
                <a:cs typeface="Times New Roman" panose="02020603050405020304" pitchFamily="18" charset="0"/>
              </a:rPr>
              <a:t>	</a:t>
            </a:r>
            <a:r>
              <a:rPr lang="pt-BR" dirty="0">
                <a:latin typeface="Times New Roman" panose="02020603050405020304" pitchFamily="18" charset="0"/>
                <a:cs typeface="Times New Roman" panose="02020603050405020304" pitchFamily="18" charset="0"/>
              </a:rPr>
              <a:t> Por meio da cardinalidade, é possível expressar o número de ocorrências com que uma entidade pode tomar parte em um relacionamento. </a:t>
            </a:r>
          </a:p>
          <a:p>
            <a:pPr algn="just">
              <a:lnSpc>
                <a:spcPct val="150000"/>
              </a:lnSpc>
            </a:pPr>
            <a:endParaRPr lang="pt-BR" sz="2000" dirty="0">
              <a:latin typeface="Times New Roman" panose="02020603050405020304" pitchFamily="18" charset="0"/>
              <a:cs typeface="Times New Roman" panose="02020603050405020304" pitchFamily="18" charset="0"/>
            </a:endParaRPr>
          </a:p>
          <a:p>
            <a:pPr algn="just">
              <a:lnSpc>
                <a:spcPct val="150000"/>
              </a:lnSpc>
            </a:pPr>
            <a:r>
              <a:rPr lang="pt-BR" sz="2000" dirty="0">
                <a:latin typeface="Times New Roman" panose="02020603050405020304" pitchFamily="18" charset="0"/>
                <a:cs typeface="Times New Roman" panose="02020603050405020304" pitchFamily="18" charset="0"/>
              </a:rPr>
              <a:t>Essa propriedade é denominada de cardinalidade de uma entidade, podendo ser classificada de duas formas: cardinalidade mínima e cardinalidade máxima.</a:t>
            </a:r>
          </a:p>
        </p:txBody>
      </p:sp>
      <p:sp>
        <p:nvSpPr>
          <p:cNvPr id="11" name="Retângulo 10">
            <a:extLst>
              <a:ext uri="{FF2B5EF4-FFF2-40B4-BE49-F238E27FC236}">
                <a16:creationId xmlns:a16="http://schemas.microsoft.com/office/drawing/2014/main" id="{275CA4F2-94D9-461E-AD78-91994A6019C7}"/>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Projeto de banco de dados: modelos conceitual, lógico e físico</a:t>
            </a:r>
          </a:p>
        </p:txBody>
      </p:sp>
    </p:spTree>
    <p:extLst>
      <p:ext uri="{BB962C8B-B14F-4D97-AF65-F5344CB8AC3E}">
        <p14:creationId xmlns:p14="http://schemas.microsoft.com/office/powerpoint/2010/main" val="42642085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43</a:t>
            </a:fld>
            <a:endParaRPr lang="pt-BR">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19452" y="578891"/>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7" y="1085344"/>
            <a:ext cx="6984776" cy="461665"/>
          </a:xfrm>
          <a:prstGeom prst="rect">
            <a:avLst/>
          </a:prstGeom>
        </p:spPr>
        <p:txBody>
          <a:bodyPr wrap="square">
            <a:spAutoFit/>
          </a:bodyPr>
          <a:lstStyle/>
          <a:p>
            <a:pPr algn="just"/>
            <a:r>
              <a:rPr lang="pt-BR" sz="2400" b="1" dirty="0"/>
              <a:t>Cardinalidades  </a:t>
            </a:r>
            <a:endParaRPr lang="pt-BR" sz="2800" dirty="0"/>
          </a:p>
        </p:txBody>
      </p:sp>
      <p:pic>
        <p:nvPicPr>
          <p:cNvPr id="8" name="Imagem 7">
            <a:extLst>
              <a:ext uri="{FF2B5EF4-FFF2-40B4-BE49-F238E27FC236}">
                <a16:creationId xmlns:a16="http://schemas.microsoft.com/office/drawing/2014/main" id="{6B4002AA-B458-4344-A343-1E5D38FBD8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7207" y="1782215"/>
            <a:ext cx="4862747" cy="3697073"/>
          </a:xfrm>
          <a:prstGeom prst="rect">
            <a:avLst/>
          </a:prstGeom>
        </p:spPr>
      </p:pic>
      <p:sp>
        <p:nvSpPr>
          <p:cNvPr id="10" name="Retângulo 9">
            <a:extLst>
              <a:ext uri="{FF2B5EF4-FFF2-40B4-BE49-F238E27FC236}">
                <a16:creationId xmlns:a16="http://schemas.microsoft.com/office/drawing/2014/main" id="{AB943215-1FA7-4919-A89E-8F22E4F985DD}"/>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Projeto de banco de dados: modelos conceitual, lógico e físico</a:t>
            </a:r>
          </a:p>
        </p:txBody>
      </p:sp>
    </p:spTree>
    <p:extLst>
      <p:ext uri="{BB962C8B-B14F-4D97-AF65-F5344CB8AC3E}">
        <p14:creationId xmlns:p14="http://schemas.microsoft.com/office/powerpoint/2010/main" val="4216238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44</a:t>
            </a:fld>
            <a:endParaRPr lang="pt-BR">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19452" y="578891"/>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7" y="1085344"/>
            <a:ext cx="6984776" cy="461665"/>
          </a:xfrm>
          <a:prstGeom prst="rect">
            <a:avLst/>
          </a:prstGeom>
        </p:spPr>
        <p:txBody>
          <a:bodyPr wrap="square">
            <a:spAutoFit/>
          </a:bodyPr>
          <a:lstStyle/>
          <a:p>
            <a:pPr algn="just"/>
            <a:r>
              <a:rPr lang="pt-BR" sz="2400" b="1" dirty="0"/>
              <a:t>Cardinalidades  </a:t>
            </a:r>
            <a:endParaRPr lang="pt-BR" sz="2800" dirty="0"/>
          </a:p>
        </p:txBody>
      </p:sp>
      <p:sp>
        <p:nvSpPr>
          <p:cNvPr id="10" name="Retângulo 9">
            <a:extLst>
              <a:ext uri="{FF2B5EF4-FFF2-40B4-BE49-F238E27FC236}">
                <a16:creationId xmlns:a16="http://schemas.microsoft.com/office/drawing/2014/main" id="{834ADC52-E77C-46B3-8A64-9053F456B9A2}"/>
              </a:ext>
            </a:extLst>
          </p:cNvPr>
          <p:cNvSpPr/>
          <p:nvPr/>
        </p:nvSpPr>
        <p:spPr>
          <a:xfrm>
            <a:off x="539552" y="2551837"/>
            <a:ext cx="6318448" cy="2246769"/>
          </a:xfrm>
          <a:prstGeom prst="rect">
            <a:avLst/>
          </a:prstGeom>
        </p:spPr>
        <p:txBody>
          <a:bodyPr wrap="square">
            <a:spAutoFit/>
          </a:bodyPr>
          <a:lstStyle/>
          <a:p>
            <a:pPr algn="just"/>
            <a:r>
              <a:rPr lang="pt-BR" sz="2000" dirty="0">
                <a:solidFill>
                  <a:srgbClr val="000000"/>
                </a:solidFill>
                <a:latin typeface="Calibri" panose="020F0502020204030204" pitchFamily="34" charset="0"/>
              </a:rPr>
              <a:t>A cardinalidade máxima aborda o limite máximo de ocorrências de uma entidade em relação à outra, da seguinte forma: </a:t>
            </a:r>
          </a:p>
          <a:p>
            <a:pPr algn="just"/>
            <a:endParaRPr lang="pt-BR" sz="2000" dirty="0">
              <a:solidFill>
                <a:srgbClr val="000000"/>
              </a:solidFill>
              <a:latin typeface="Calibri" panose="020F0502020204030204" pitchFamily="34" charset="0"/>
            </a:endParaRPr>
          </a:p>
          <a:p>
            <a:pPr marL="342900" indent="-342900" algn="just">
              <a:buFont typeface="Arial" panose="020B0604020202020204" pitchFamily="34" charset="0"/>
              <a:buChar char="•"/>
            </a:pPr>
            <a:r>
              <a:rPr lang="pt-BR" sz="2000" dirty="0">
                <a:solidFill>
                  <a:srgbClr val="000000"/>
                </a:solidFill>
                <a:latin typeface="Calibri" panose="020F0502020204030204" pitchFamily="34" charset="0"/>
              </a:rPr>
              <a:t>um para um (1:1); </a:t>
            </a:r>
          </a:p>
          <a:p>
            <a:pPr marL="342900" indent="-342900" algn="just">
              <a:buFont typeface="Arial" panose="020B0604020202020204" pitchFamily="34" charset="0"/>
              <a:buChar char="•"/>
            </a:pPr>
            <a:r>
              <a:rPr lang="pt-BR" sz="2000" dirty="0">
                <a:solidFill>
                  <a:srgbClr val="000000"/>
                </a:solidFill>
                <a:latin typeface="Calibri" panose="020F0502020204030204" pitchFamily="34" charset="0"/>
              </a:rPr>
              <a:t>um para muitos (1:N); </a:t>
            </a:r>
          </a:p>
          <a:p>
            <a:pPr marL="342900" indent="-342900" algn="just">
              <a:buFont typeface="Arial" panose="020B0604020202020204" pitchFamily="34" charset="0"/>
              <a:buChar char="•"/>
            </a:pPr>
            <a:r>
              <a:rPr lang="pt-BR" sz="2000" dirty="0">
                <a:solidFill>
                  <a:srgbClr val="000000"/>
                </a:solidFill>
                <a:latin typeface="Calibri" panose="020F0502020204030204" pitchFamily="34" charset="0"/>
              </a:rPr>
              <a:t>muitos para muitos (N:N ou N:M). </a:t>
            </a:r>
            <a:endParaRPr lang="pt-BR" sz="2000" dirty="0"/>
          </a:p>
        </p:txBody>
      </p:sp>
      <p:sp>
        <p:nvSpPr>
          <p:cNvPr id="11" name="Retângulo 10">
            <a:extLst>
              <a:ext uri="{FF2B5EF4-FFF2-40B4-BE49-F238E27FC236}">
                <a16:creationId xmlns:a16="http://schemas.microsoft.com/office/drawing/2014/main" id="{CFF066DB-D98E-4CE6-A1BC-F9828C4305F6}"/>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Projeto de banco de dados: modelos conceitual, lógico e físico</a:t>
            </a:r>
          </a:p>
        </p:txBody>
      </p:sp>
    </p:spTree>
    <p:extLst>
      <p:ext uri="{BB962C8B-B14F-4D97-AF65-F5344CB8AC3E}">
        <p14:creationId xmlns:p14="http://schemas.microsoft.com/office/powerpoint/2010/main" val="39138484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45</a:t>
            </a:fld>
            <a:endParaRPr lang="pt-BR">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19452" y="578891"/>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7" y="1085344"/>
            <a:ext cx="6984776" cy="461665"/>
          </a:xfrm>
          <a:prstGeom prst="rect">
            <a:avLst/>
          </a:prstGeom>
        </p:spPr>
        <p:txBody>
          <a:bodyPr wrap="square">
            <a:spAutoFit/>
          </a:bodyPr>
          <a:lstStyle/>
          <a:p>
            <a:pPr algn="just"/>
            <a:r>
              <a:rPr lang="pt-BR" sz="2400" b="1" dirty="0"/>
              <a:t>Cardinalidades  </a:t>
            </a:r>
            <a:endParaRPr lang="pt-BR" sz="2800" dirty="0"/>
          </a:p>
        </p:txBody>
      </p:sp>
      <p:sp>
        <p:nvSpPr>
          <p:cNvPr id="10" name="Retângulo 9">
            <a:extLst>
              <a:ext uri="{FF2B5EF4-FFF2-40B4-BE49-F238E27FC236}">
                <a16:creationId xmlns:a16="http://schemas.microsoft.com/office/drawing/2014/main" id="{834ADC52-E77C-46B3-8A64-9053F456B9A2}"/>
              </a:ext>
            </a:extLst>
          </p:cNvPr>
          <p:cNvSpPr/>
          <p:nvPr/>
        </p:nvSpPr>
        <p:spPr>
          <a:xfrm>
            <a:off x="460478" y="1685940"/>
            <a:ext cx="7927946" cy="1891287"/>
          </a:xfrm>
          <a:prstGeom prst="rect">
            <a:avLst/>
          </a:prstGeom>
        </p:spPr>
        <p:txBody>
          <a:bodyPr wrap="square">
            <a:spAutoFit/>
          </a:bodyPr>
          <a:lstStyle/>
          <a:p>
            <a:pPr algn="just">
              <a:lnSpc>
                <a:spcPct val="150000"/>
              </a:lnSpc>
            </a:pPr>
            <a:r>
              <a:rPr lang="pt-BR" sz="2000" dirty="0">
                <a:solidFill>
                  <a:srgbClr val="000000"/>
                </a:solidFill>
                <a:latin typeface="Calibri" panose="020F0502020204030204" pitchFamily="34" charset="0"/>
              </a:rPr>
              <a:t>No exemplo da Figura 7d, notamos que a regra de negócio, na cardinalidade mínima, marcada como zero, significa que o cliente não é obrigatório no momento da venda do produto e que o produto é comprado por, no máximo, um cliente.</a:t>
            </a:r>
            <a:endParaRPr lang="pt-BR" sz="2000" dirty="0"/>
          </a:p>
        </p:txBody>
      </p:sp>
      <p:sp>
        <p:nvSpPr>
          <p:cNvPr id="11" name="Retângulo 10">
            <a:extLst>
              <a:ext uri="{FF2B5EF4-FFF2-40B4-BE49-F238E27FC236}">
                <a16:creationId xmlns:a16="http://schemas.microsoft.com/office/drawing/2014/main" id="{0D87F6A2-F1E4-42CE-A6AF-84C2FA37C3C4}"/>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Projeto de banco de dados: modelos conceitual, lógico e físico</a:t>
            </a:r>
          </a:p>
        </p:txBody>
      </p:sp>
    </p:spTree>
    <p:extLst>
      <p:ext uri="{BB962C8B-B14F-4D97-AF65-F5344CB8AC3E}">
        <p14:creationId xmlns:p14="http://schemas.microsoft.com/office/powerpoint/2010/main" val="11933709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46</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Projeto de banco de dados: modelos conceitual, lógico e físico</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2 Modelo entidade-relacionamento </a:t>
            </a:r>
            <a:endParaRPr lang="pt-BR" sz="2800" dirty="0"/>
          </a:p>
        </p:txBody>
      </p:sp>
      <p:sp>
        <p:nvSpPr>
          <p:cNvPr id="6" name="Retângulo 5">
            <a:extLst>
              <a:ext uri="{FF2B5EF4-FFF2-40B4-BE49-F238E27FC236}">
                <a16:creationId xmlns:a16="http://schemas.microsoft.com/office/drawing/2014/main" id="{388BC350-90EA-4CD4-B75C-1BDA52C75C83}"/>
              </a:ext>
            </a:extLst>
          </p:cNvPr>
          <p:cNvSpPr/>
          <p:nvPr/>
        </p:nvSpPr>
        <p:spPr>
          <a:xfrm>
            <a:off x="107504" y="692696"/>
            <a:ext cx="6984776" cy="400110"/>
          </a:xfrm>
          <a:prstGeom prst="rect">
            <a:avLst/>
          </a:prstGeom>
        </p:spPr>
        <p:txBody>
          <a:bodyPr wrap="square">
            <a:spAutoFit/>
          </a:bodyPr>
          <a:lstStyle/>
          <a:p>
            <a:pPr algn="just"/>
            <a:r>
              <a:rPr lang="pt-BR" sz="2000" b="1" dirty="0"/>
              <a:t>Cardinalidades  </a:t>
            </a:r>
            <a:endParaRPr lang="pt-BR" sz="2400" dirty="0"/>
          </a:p>
        </p:txBody>
      </p:sp>
      <p:sp>
        <p:nvSpPr>
          <p:cNvPr id="10" name="Retângulo 9">
            <a:extLst>
              <a:ext uri="{FF2B5EF4-FFF2-40B4-BE49-F238E27FC236}">
                <a16:creationId xmlns:a16="http://schemas.microsoft.com/office/drawing/2014/main" id="{834ADC52-E77C-46B3-8A64-9053F456B9A2}"/>
              </a:ext>
            </a:extLst>
          </p:cNvPr>
          <p:cNvSpPr/>
          <p:nvPr/>
        </p:nvSpPr>
        <p:spPr>
          <a:xfrm>
            <a:off x="460478" y="1685940"/>
            <a:ext cx="7063849" cy="1323439"/>
          </a:xfrm>
          <a:prstGeom prst="rect">
            <a:avLst/>
          </a:prstGeom>
        </p:spPr>
        <p:txBody>
          <a:bodyPr wrap="square">
            <a:spAutoFit/>
          </a:bodyPr>
          <a:lstStyle/>
          <a:p>
            <a:pPr algn="just"/>
            <a:r>
              <a:rPr lang="pt-BR" sz="2000" dirty="0">
                <a:solidFill>
                  <a:srgbClr val="000000"/>
                </a:solidFill>
                <a:latin typeface="Calibri" panose="020F0502020204030204" pitchFamily="34" charset="0"/>
              </a:rPr>
              <a:t>No exemplo da Figura 7d, notamos que a regra de negócio, na cardinalidade mínima, marcada como zero, significa que o cliente não é obrigatório no momento da venda do produto e que o produto é comprado por, no máximo, um cliente.</a:t>
            </a:r>
            <a:endParaRPr lang="pt-BR" sz="2000" dirty="0"/>
          </a:p>
        </p:txBody>
      </p:sp>
      <p:pic>
        <p:nvPicPr>
          <p:cNvPr id="8" name="Imagem 7">
            <a:extLst>
              <a:ext uri="{FF2B5EF4-FFF2-40B4-BE49-F238E27FC236}">
                <a16:creationId xmlns:a16="http://schemas.microsoft.com/office/drawing/2014/main" id="{BE5F3B95-938F-4269-A64B-BC601540F83A}"/>
              </a:ext>
            </a:extLst>
          </p:cNvPr>
          <p:cNvPicPr>
            <a:picLocks noChangeAspect="1"/>
          </p:cNvPicPr>
          <p:nvPr/>
        </p:nvPicPr>
        <p:blipFill rotWithShape="1">
          <a:blip r:embed="rId2"/>
          <a:srcRect l="22749" t="8517" r="25865" b="16095"/>
          <a:stretch/>
        </p:blipFill>
        <p:spPr>
          <a:xfrm>
            <a:off x="323527" y="1547009"/>
            <a:ext cx="7272808" cy="4131505"/>
          </a:xfrm>
          <a:prstGeom prst="rect">
            <a:avLst/>
          </a:prstGeom>
        </p:spPr>
      </p:pic>
    </p:spTree>
    <p:extLst>
      <p:ext uri="{BB962C8B-B14F-4D97-AF65-F5344CB8AC3E}">
        <p14:creationId xmlns:p14="http://schemas.microsoft.com/office/powerpoint/2010/main" val="13786642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47</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Projeto de banco de dados: modelos conceitual, lógico e físico</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2 Modelo entidade-relacionamento </a:t>
            </a:r>
            <a:endParaRPr lang="pt-BR" sz="2800" dirty="0"/>
          </a:p>
        </p:txBody>
      </p:sp>
      <p:sp>
        <p:nvSpPr>
          <p:cNvPr id="6" name="Retângulo 5">
            <a:extLst>
              <a:ext uri="{FF2B5EF4-FFF2-40B4-BE49-F238E27FC236}">
                <a16:creationId xmlns:a16="http://schemas.microsoft.com/office/drawing/2014/main" id="{388BC350-90EA-4CD4-B75C-1BDA52C75C83}"/>
              </a:ext>
            </a:extLst>
          </p:cNvPr>
          <p:cNvSpPr/>
          <p:nvPr/>
        </p:nvSpPr>
        <p:spPr>
          <a:xfrm>
            <a:off x="107504" y="692696"/>
            <a:ext cx="6984776" cy="400110"/>
          </a:xfrm>
          <a:prstGeom prst="rect">
            <a:avLst/>
          </a:prstGeom>
        </p:spPr>
        <p:txBody>
          <a:bodyPr wrap="square">
            <a:spAutoFit/>
          </a:bodyPr>
          <a:lstStyle/>
          <a:p>
            <a:pPr algn="just"/>
            <a:r>
              <a:rPr lang="pt-BR" sz="2000" b="1" dirty="0"/>
              <a:t>Cardinalidades  </a:t>
            </a:r>
            <a:endParaRPr lang="pt-BR" sz="2400" dirty="0"/>
          </a:p>
        </p:txBody>
      </p:sp>
      <p:sp>
        <p:nvSpPr>
          <p:cNvPr id="10" name="Retângulo 9">
            <a:extLst>
              <a:ext uri="{FF2B5EF4-FFF2-40B4-BE49-F238E27FC236}">
                <a16:creationId xmlns:a16="http://schemas.microsoft.com/office/drawing/2014/main" id="{834ADC52-E77C-46B3-8A64-9053F456B9A2}"/>
              </a:ext>
            </a:extLst>
          </p:cNvPr>
          <p:cNvSpPr/>
          <p:nvPr/>
        </p:nvSpPr>
        <p:spPr>
          <a:xfrm>
            <a:off x="355999" y="1622072"/>
            <a:ext cx="8392465" cy="1429622"/>
          </a:xfrm>
          <a:prstGeom prst="rect">
            <a:avLst/>
          </a:prstGeom>
        </p:spPr>
        <p:txBody>
          <a:bodyPr wrap="square">
            <a:spAutoFit/>
          </a:bodyPr>
          <a:lstStyle/>
          <a:p>
            <a:pPr algn="just">
              <a:lnSpc>
                <a:spcPct val="150000"/>
              </a:lnSpc>
            </a:pPr>
            <a:r>
              <a:rPr lang="pt-BR" sz="2000" dirty="0">
                <a:solidFill>
                  <a:srgbClr val="000000"/>
                </a:solidFill>
                <a:latin typeface="Calibri" panose="020F0502020204030204" pitchFamily="34" charset="0"/>
              </a:rPr>
              <a:t>A Figura 8 ilustra um exemplo de generalização/ especialização, em que podemos encontrar todas as propriedades da </a:t>
            </a:r>
            <a:r>
              <a:rPr lang="pt-BR" sz="2000" dirty="0" err="1">
                <a:solidFill>
                  <a:srgbClr val="000000"/>
                </a:solidFill>
                <a:latin typeface="Calibri" panose="020F0502020204030204" pitchFamily="34" charset="0"/>
              </a:rPr>
              <a:t>ocorrên-cia</a:t>
            </a:r>
            <a:r>
              <a:rPr lang="pt-BR" sz="2000" dirty="0">
                <a:solidFill>
                  <a:srgbClr val="000000"/>
                </a:solidFill>
                <a:latin typeface="Calibri" panose="020F0502020204030204" pitchFamily="34" charset="0"/>
              </a:rPr>
              <a:t> da entidade CLIENTE correspondentes às entidades PESSOA FÍSICA e PESSOA JURÍDICA. </a:t>
            </a:r>
            <a:endParaRPr lang="pt-BR" sz="2000" dirty="0"/>
          </a:p>
        </p:txBody>
      </p:sp>
    </p:spTree>
    <p:extLst>
      <p:ext uri="{BB962C8B-B14F-4D97-AF65-F5344CB8AC3E}">
        <p14:creationId xmlns:p14="http://schemas.microsoft.com/office/powerpoint/2010/main" val="8070352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48</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Projeto de banco de dados: modelos conceitual, lógico e físico</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2 Modelo entidade-relacionamento </a:t>
            </a:r>
            <a:endParaRPr lang="pt-BR" sz="2800" dirty="0"/>
          </a:p>
        </p:txBody>
      </p:sp>
      <p:sp>
        <p:nvSpPr>
          <p:cNvPr id="6" name="Retângulo 5">
            <a:extLst>
              <a:ext uri="{FF2B5EF4-FFF2-40B4-BE49-F238E27FC236}">
                <a16:creationId xmlns:a16="http://schemas.microsoft.com/office/drawing/2014/main" id="{388BC350-90EA-4CD4-B75C-1BDA52C75C83}"/>
              </a:ext>
            </a:extLst>
          </p:cNvPr>
          <p:cNvSpPr/>
          <p:nvPr/>
        </p:nvSpPr>
        <p:spPr>
          <a:xfrm>
            <a:off x="107504" y="692696"/>
            <a:ext cx="6984776" cy="400110"/>
          </a:xfrm>
          <a:prstGeom prst="rect">
            <a:avLst/>
          </a:prstGeom>
        </p:spPr>
        <p:txBody>
          <a:bodyPr wrap="square">
            <a:spAutoFit/>
          </a:bodyPr>
          <a:lstStyle/>
          <a:p>
            <a:pPr algn="just"/>
            <a:r>
              <a:rPr lang="pt-BR" sz="2000" b="1" dirty="0"/>
              <a:t>Cardinalidades  </a:t>
            </a:r>
            <a:endParaRPr lang="pt-BR" sz="2400" dirty="0"/>
          </a:p>
        </p:txBody>
      </p:sp>
      <p:pic>
        <p:nvPicPr>
          <p:cNvPr id="8" name="Imagem 7">
            <a:extLst>
              <a:ext uri="{FF2B5EF4-FFF2-40B4-BE49-F238E27FC236}">
                <a16:creationId xmlns:a16="http://schemas.microsoft.com/office/drawing/2014/main" id="{62A7F34F-F348-4BF8-BC2E-FC96BD7248A4}"/>
              </a:ext>
            </a:extLst>
          </p:cNvPr>
          <p:cNvPicPr>
            <a:picLocks noChangeAspect="1"/>
          </p:cNvPicPr>
          <p:nvPr/>
        </p:nvPicPr>
        <p:blipFill rotWithShape="1">
          <a:blip r:embed="rId2"/>
          <a:srcRect l="25588" t="21987" r="25727" b="13231"/>
          <a:stretch/>
        </p:blipFill>
        <p:spPr>
          <a:xfrm>
            <a:off x="1037326" y="1404879"/>
            <a:ext cx="5910937" cy="4422080"/>
          </a:xfrm>
          <a:prstGeom prst="rect">
            <a:avLst/>
          </a:prstGeom>
        </p:spPr>
      </p:pic>
    </p:spTree>
    <p:extLst>
      <p:ext uri="{BB962C8B-B14F-4D97-AF65-F5344CB8AC3E}">
        <p14:creationId xmlns:p14="http://schemas.microsoft.com/office/powerpoint/2010/main" val="9474524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49</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Projeto de banco de dados: modelos conceitual, lógico e físico</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2 Modelo entidade-relacionamento </a:t>
            </a:r>
            <a:endParaRPr lang="pt-BR" sz="2800" dirty="0"/>
          </a:p>
        </p:txBody>
      </p:sp>
      <p:sp>
        <p:nvSpPr>
          <p:cNvPr id="6" name="Retângulo 5">
            <a:extLst>
              <a:ext uri="{FF2B5EF4-FFF2-40B4-BE49-F238E27FC236}">
                <a16:creationId xmlns:a16="http://schemas.microsoft.com/office/drawing/2014/main" id="{388BC350-90EA-4CD4-B75C-1BDA52C75C83}"/>
              </a:ext>
            </a:extLst>
          </p:cNvPr>
          <p:cNvSpPr/>
          <p:nvPr/>
        </p:nvSpPr>
        <p:spPr>
          <a:xfrm>
            <a:off x="107504" y="692696"/>
            <a:ext cx="6984776" cy="400110"/>
          </a:xfrm>
          <a:prstGeom prst="rect">
            <a:avLst/>
          </a:prstGeom>
        </p:spPr>
        <p:txBody>
          <a:bodyPr wrap="square">
            <a:spAutoFit/>
          </a:bodyPr>
          <a:lstStyle/>
          <a:p>
            <a:pPr algn="just"/>
            <a:r>
              <a:rPr lang="pt-BR" sz="2000" b="1" dirty="0"/>
              <a:t>Cardinalidades  </a:t>
            </a:r>
            <a:endParaRPr lang="pt-BR" sz="2400" dirty="0"/>
          </a:p>
        </p:txBody>
      </p:sp>
      <p:sp>
        <p:nvSpPr>
          <p:cNvPr id="10" name="Retângulo 9">
            <a:extLst>
              <a:ext uri="{FF2B5EF4-FFF2-40B4-BE49-F238E27FC236}">
                <a16:creationId xmlns:a16="http://schemas.microsoft.com/office/drawing/2014/main" id="{2B035061-B496-4220-9099-A095C178080D}"/>
              </a:ext>
            </a:extLst>
          </p:cNvPr>
          <p:cNvSpPr/>
          <p:nvPr/>
        </p:nvSpPr>
        <p:spPr>
          <a:xfrm>
            <a:off x="107504" y="1137379"/>
            <a:ext cx="7205380" cy="707886"/>
          </a:xfrm>
          <a:prstGeom prst="rect">
            <a:avLst/>
          </a:prstGeom>
        </p:spPr>
        <p:txBody>
          <a:bodyPr wrap="square">
            <a:spAutoFit/>
          </a:bodyPr>
          <a:lstStyle/>
          <a:p>
            <a:pPr algn="just"/>
            <a:r>
              <a:rPr lang="pt-BR" sz="2000" dirty="0"/>
              <a:t>No entanto, ao utilizarmos generalização/especialização, precisamos identificar se esta é parcial ou total.</a:t>
            </a:r>
          </a:p>
        </p:txBody>
      </p:sp>
      <p:pic>
        <p:nvPicPr>
          <p:cNvPr id="11" name="Imagem 10">
            <a:extLst>
              <a:ext uri="{FF2B5EF4-FFF2-40B4-BE49-F238E27FC236}">
                <a16:creationId xmlns:a16="http://schemas.microsoft.com/office/drawing/2014/main" id="{1E756266-6513-47EC-A9EB-E6C77551D331}"/>
              </a:ext>
            </a:extLst>
          </p:cNvPr>
          <p:cNvPicPr>
            <a:picLocks noChangeAspect="1"/>
          </p:cNvPicPr>
          <p:nvPr/>
        </p:nvPicPr>
        <p:blipFill rotWithShape="1">
          <a:blip r:embed="rId2"/>
          <a:srcRect l="24013" t="21896" r="27162" b="19461"/>
          <a:stretch/>
        </p:blipFill>
        <p:spPr>
          <a:xfrm>
            <a:off x="744671" y="1845265"/>
            <a:ext cx="6347609" cy="4286442"/>
          </a:xfrm>
          <a:prstGeom prst="rect">
            <a:avLst/>
          </a:prstGeom>
        </p:spPr>
      </p:pic>
    </p:spTree>
    <p:extLst>
      <p:ext uri="{BB962C8B-B14F-4D97-AF65-F5344CB8AC3E}">
        <p14:creationId xmlns:p14="http://schemas.microsoft.com/office/powerpoint/2010/main" val="22375530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50</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Projeto de banco de dados: modelos conceitual, lógico e físico</a:t>
            </a: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2 Modelo entidade-relacionamento </a:t>
            </a:r>
            <a:endParaRPr lang="pt-BR" sz="2800" dirty="0"/>
          </a:p>
        </p:txBody>
      </p:sp>
      <p:sp>
        <p:nvSpPr>
          <p:cNvPr id="6" name="Retângulo 5">
            <a:extLst>
              <a:ext uri="{FF2B5EF4-FFF2-40B4-BE49-F238E27FC236}">
                <a16:creationId xmlns:a16="http://schemas.microsoft.com/office/drawing/2014/main" id="{388BC350-90EA-4CD4-B75C-1BDA52C75C83}"/>
              </a:ext>
            </a:extLst>
          </p:cNvPr>
          <p:cNvSpPr/>
          <p:nvPr/>
        </p:nvSpPr>
        <p:spPr>
          <a:xfrm>
            <a:off x="107504" y="796642"/>
            <a:ext cx="6984776" cy="400110"/>
          </a:xfrm>
          <a:prstGeom prst="rect">
            <a:avLst/>
          </a:prstGeom>
        </p:spPr>
        <p:txBody>
          <a:bodyPr wrap="square">
            <a:spAutoFit/>
          </a:bodyPr>
          <a:lstStyle/>
          <a:p>
            <a:pPr algn="just"/>
            <a:r>
              <a:rPr lang="pt-BR" sz="2000" b="1" dirty="0"/>
              <a:t>Entidade associativa</a:t>
            </a:r>
            <a:endParaRPr lang="pt-BR" sz="2400" dirty="0"/>
          </a:p>
        </p:txBody>
      </p:sp>
      <p:sp>
        <p:nvSpPr>
          <p:cNvPr id="8" name="Retângulo 7">
            <a:extLst>
              <a:ext uri="{FF2B5EF4-FFF2-40B4-BE49-F238E27FC236}">
                <a16:creationId xmlns:a16="http://schemas.microsoft.com/office/drawing/2014/main" id="{9919892A-4B54-42CC-BAEA-F5B0FC5CC15E}"/>
              </a:ext>
            </a:extLst>
          </p:cNvPr>
          <p:cNvSpPr/>
          <p:nvPr/>
        </p:nvSpPr>
        <p:spPr>
          <a:xfrm>
            <a:off x="323528" y="1419159"/>
            <a:ext cx="7128792" cy="923330"/>
          </a:xfrm>
          <a:prstGeom prst="rect">
            <a:avLst/>
          </a:prstGeom>
        </p:spPr>
        <p:txBody>
          <a:bodyPr wrap="square">
            <a:spAutoFit/>
          </a:bodyPr>
          <a:lstStyle/>
          <a:p>
            <a:r>
              <a:rPr lang="pt-BR" dirty="0"/>
              <a:t>Na modelagem entidade-relacionamento, não foi prevista a possibilidade de associar uma entidade com um relacionamento ou de associar dois relacionamentos entre si. </a:t>
            </a:r>
          </a:p>
        </p:txBody>
      </p:sp>
      <p:pic>
        <p:nvPicPr>
          <p:cNvPr id="12" name="Imagem 11">
            <a:extLst>
              <a:ext uri="{FF2B5EF4-FFF2-40B4-BE49-F238E27FC236}">
                <a16:creationId xmlns:a16="http://schemas.microsoft.com/office/drawing/2014/main" id="{34E63EBB-6E8D-4CE4-B95D-1F416B2751E6}"/>
              </a:ext>
            </a:extLst>
          </p:cNvPr>
          <p:cNvPicPr>
            <a:picLocks noChangeAspect="1"/>
          </p:cNvPicPr>
          <p:nvPr/>
        </p:nvPicPr>
        <p:blipFill rotWithShape="1">
          <a:blip r:embed="rId2"/>
          <a:srcRect l="32673" t="24690" r="35039" b="48697"/>
          <a:stretch/>
        </p:blipFill>
        <p:spPr>
          <a:xfrm>
            <a:off x="1538234" y="2598299"/>
            <a:ext cx="4557809" cy="2112157"/>
          </a:xfrm>
          <a:prstGeom prst="rect">
            <a:avLst/>
          </a:prstGeom>
        </p:spPr>
      </p:pic>
    </p:spTree>
    <p:extLst>
      <p:ext uri="{BB962C8B-B14F-4D97-AF65-F5344CB8AC3E}">
        <p14:creationId xmlns:p14="http://schemas.microsoft.com/office/powerpoint/2010/main" val="16711662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51</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2 Modelo entidade-relacionamento </a:t>
            </a:r>
            <a:endParaRPr lang="pt-BR" sz="2800" dirty="0"/>
          </a:p>
        </p:txBody>
      </p:sp>
      <p:sp>
        <p:nvSpPr>
          <p:cNvPr id="6" name="Retângulo 5">
            <a:extLst>
              <a:ext uri="{FF2B5EF4-FFF2-40B4-BE49-F238E27FC236}">
                <a16:creationId xmlns:a16="http://schemas.microsoft.com/office/drawing/2014/main" id="{388BC350-90EA-4CD4-B75C-1BDA52C75C83}"/>
              </a:ext>
            </a:extLst>
          </p:cNvPr>
          <p:cNvSpPr/>
          <p:nvPr/>
        </p:nvSpPr>
        <p:spPr>
          <a:xfrm>
            <a:off x="107504" y="796642"/>
            <a:ext cx="6984776" cy="400110"/>
          </a:xfrm>
          <a:prstGeom prst="rect">
            <a:avLst/>
          </a:prstGeom>
        </p:spPr>
        <p:txBody>
          <a:bodyPr wrap="square">
            <a:spAutoFit/>
          </a:bodyPr>
          <a:lstStyle/>
          <a:p>
            <a:pPr algn="just"/>
            <a:r>
              <a:rPr lang="pt-BR" sz="2000" b="1" dirty="0"/>
              <a:t>Entidade associativa</a:t>
            </a:r>
            <a:endParaRPr lang="pt-BR" sz="2400" dirty="0"/>
          </a:p>
        </p:txBody>
      </p:sp>
      <p:sp>
        <p:nvSpPr>
          <p:cNvPr id="8" name="Retângulo 7">
            <a:extLst>
              <a:ext uri="{FF2B5EF4-FFF2-40B4-BE49-F238E27FC236}">
                <a16:creationId xmlns:a16="http://schemas.microsoft.com/office/drawing/2014/main" id="{9919892A-4B54-42CC-BAEA-F5B0FC5CC15E}"/>
              </a:ext>
            </a:extLst>
          </p:cNvPr>
          <p:cNvSpPr/>
          <p:nvPr/>
        </p:nvSpPr>
        <p:spPr>
          <a:xfrm>
            <a:off x="323528" y="1419159"/>
            <a:ext cx="7128792" cy="923330"/>
          </a:xfrm>
          <a:prstGeom prst="rect">
            <a:avLst/>
          </a:prstGeom>
        </p:spPr>
        <p:txBody>
          <a:bodyPr wrap="square">
            <a:spAutoFit/>
          </a:bodyPr>
          <a:lstStyle/>
          <a:p>
            <a:r>
              <a:rPr lang="pt-BR" dirty="0"/>
              <a:t>Na modelagem entidade-relacionamento, não foi prevista a possibilidade de associar uma entidade com um relacionamento ou de associar dois relacionamentos entre si. </a:t>
            </a:r>
          </a:p>
        </p:txBody>
      </p:sp>
      <p:pic>
        <p:nvPicPr>
          <p:cNvPr id="10" name="Imagem 9">
            <a:extLst>
              <a:ext uri="{FF2B5EF4-FFF2-40B4-BE49-F238E27FC236}">
                <a16:creationId xmlns:a16="http://schemas.microsoft.com/office/drawing/2014/main" id="{5A7F1AA9-169C-4C2F-B65A-668B435AAF70}"/>
              </a:ext>
            </a:extLst>
          </p:cNvPr>
          <p:cNvPicPr>
            <a:picLocks noChangeAspect="1"/>
          </p:cNvPicPr>
          <p:nvPr/>
        </p:nvPicPr>
        <p:blipFill rotWithShape="1">
          <a:blip r:embed="rId2"/>
          <a:srcRect l="34250" t="52801" r="35825" b="10906"/>
          <a:stretch/>
        </p:blipFill>
        <p:spPr>
          <a:xfrm>
            <a:off x="1546011" y="2481420"/>
            <a:ext cx="4846945" cy="3305024"/>
          </a:xfrm>
          <a:prstGeom prst="rect">
            <a:avLst/>
          </a:prstGeom>
        </p:spPr>
      </p:pic>
    </p:spTree>
    <p:extLst>
      <p:ext uri="{BB962C8B-B14F-4D97-AF65-F5344CB8AC3E}">
        <p14:creationId xmlns:p14="http://schemas.microsoft.com/office/powerpoint/2010/main" val="19774692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52</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2 Modelo entidade-relacionamento </a:t>
            </a:r>
            <a:endParaRPr lang="pt-BR" sz="2800" dirty="0"/>
          </a:p>
        </p:txBody>
      </p:sp>
      <p:sp>
        <p:nvSpPr>
          <p:cNvPr id="6" name="Retângulo 5">
            <a:extLst>
              <a:ext uri="{FF2B5EF4-FFF2-40B4-BE49-F238E27FC236}">
                <a16:creationId xmlns:a16="http://schemas.microsoft.com/office/drawing/2014/main" id="{388BC350-90EA-4CD4-B75C-1BDA52C75C83}"/>
              </a:ext>
            </a:extLst>
          </p:cNvPr>
          <p:cNvSpPr/>
          <p:nvPr/>
        </p:nvSpPr>
        <p:spPr>
          <a:xfrm>
            <a:off x="107504" y="796642"/>
            <a:ext cx="6984776" cy="400110"/>
          </a:xfrm>
          <a:prstGeom prst="rect">
            <a:avLst/>
          </a:prstGeom>
        </p:spPr>
        <p:txBody>
          <a:bodyPr wrap="square">
            <a:spAutoFit/>
          </a:bodyPr>
          <a:lstStyle/>
          <a:p>
            <a:pPr algn="just"/>
            <a:r>
              <a:rPr lang="pt-BR" sz="2000" b="1" dirty="0"/>
              <a:t>Entidade associativa</a:t>
            </a:r>
            <a:endParaRPr lang="pt-BR" sz="2400" dirty="0"/>
          </a:p>
        </p:txBody>
      </p:sp>
      <p:pic>
        <p:nvPicPr>
          <p:cNvPr id="9" name="Imagem 8">
            <a:extLst>
              <a:ext uri="{FF2B5EF4-FFF2-40B4-BE49-F238E27FC236}">
                <a16:creationId xmlns:a16="http://schemas.microsoft.com/office/drawing/2014/main" id="{8ADC0C52-EF1D-47F5-A897-A49D292686AA}"/>
              </a:ext>
            </a:extLst>
          </p:cNvPr>
          <p:cNvPicPr>
            <a:picLocks noChangeAspect="1"/>
          </p:cNvPicPr>
          <p:nvPr/>
        </p:nvPicPr>
        <p:blipFill rotWithShape="1">
          <a:blip r:embed="rId2"/>
          <a:srcRect l="35825" t="31791" r="37401" b="21987"/>
          <a:stretch/>
        </p:blipFill>
        <p:spPr>
          <a:xfrm>
            <a:off x="1730888" y="1390045"/>
            <a:ext cx="4693158" cy="4555126"/>
          </a:xfrm>
          <a:prstGeom prst="rect">
            <a:avLst/>
          </a:prstGeom>
        </p:spPr>
      </p:pic>
    </p:spTree>
    <p:extLst>
      <p:ext uri="{BB962C8B-B14F-4D97-AF65-F5344CB8AC3E}">
        <p14:creationId xmlns:p14="http://schemas.microsoft.com/office/powerpoint/2010/main" val="14219453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089DFFF-6767-4A78-A1FB-06DB9CD2B572}" type="datetimeFigureOut">
              <a:rPr lang="pt-BR" smtClean="0">
                <a:latin typeface="Times New Roman" panose="02020603050405020304" pitchFamily="18" charset="0"/>
                <a:cs typeface="Times New Roman" panose="02020603050405020304" pitchFamily="18" charset="0"/>
              </a:rPr>
              <a:pPr/>
              <a:t>06/04/2026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dirty="0">
                <a:latin typeface="Times New Roman" panose="02020603050405020304" pitchFamily="18" charset="0"/>
                <a:cs typeface="Times New Roman" panose="02020603050405020304" pitchFamily="18" charset="0"/>
              </a:rPr>
              <a:t>Professor Me.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53</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88BC350-90EA-4CD4-B75C-1BDA52C75C83}"/>
              </a:ext>
            </a:extLst>
          </p:cNvPr>
          <p:cNvSpPr/>
          <p:nvPr/>
        </p:nvSpPr>
        <p:spPr>
          <a:xfrm>
            <a:off x="755576" y="796642"/>
            <a:ext cx="7416824" cy="3693319"/>
          </a:xfrm>
          <a:prstGeom prst="rect">
            <a:avLst/>
          </a:prstGeom>
        </p:spPr>
        <p:txBody>
          <a:bodyPr wrap="square">
            <a:spAutoFit/>
          </a:bodyPr>
          <a:lstStyle/>
          <a:p>
            <a:pPr algn="just"/>
            <a:r>
              <a:rPr lang="pt-BR" b="1" dirty="0"/>
              <a:t>Referências</a:t>
            </a:r>
          </a:p>
          <a:p>
            <a:pPr algn="just"/>
            <a:endParaRPr lang="pt-BR" b="1" dirty="0"/>
          </a:p>
          <a:p>
            <a:pPr algn="just"/>
            <a:r>
              <a:rPr lang="pt-BR" b="1" dirty="0"/>
              <a:t>Projeto de Banco de dados:</a:t>
            </a:r>
          </a:p>
          <a:p>
            <a:pPr algn="just"/>
            <a:r>
              <a:rPr lang="pt-BR" dirty="0"/>
              <a:t>HEUSER, Carlos A. Projeto de banco de dados - UFRGS. V.4. Porto Alegre: Grupo A, 2011. E-book. ISBN 9788577804528. Disponível em: https://integrada.minhabiblioteca.com.br/#/books/9788577804528/. Acesso em: 25 ago. 2024.</a:t>
            </a:r>
          </a:p>
          <a:p>
            <a:pPr algn="just"/>
            <a:endParaRPr lang="pt-BR" dirty="0"/>
          </a:p>
          <a:p>
            <a:pPr algn="just"/>
            <a:r>
              <a:rPr lang="pt-BR" dirty="0"/>
              <a:t>PICHETTI, Roni F.; VIDA, </a:t>
            </a:r>
            <a:r>
              <a:rPr lang="pt-BR" dirty="0" err="1"/>
              <a:t>Edinilson</a:t>
            </a:r>
            <a:r>
              <a:rPr lang="pt-BR" dirty="0"/>
              <a:t> S.; CORTES, Vanessa S. M P. Banco de dados. Porto Alegre: Grupo A, 2021. E-book. ISBN 9786556900186. Disponível em: https://integrada.minhabiblioteca.com.br/#/books/9786556900186/. Acesso em: 12 ago. 2024.</a:t>
            </a:r>
          </a:p>
          <a:p>
            <a:pPr algn="just"/>
            <a:endParaRPr lang="pt-BR" dirty="0"/>
          </a:p>
        </p:txBody>
      </p:sp>
    </p:spTree>
    <p:extLst>
      <p:ext uri="{BB962C8B-B14F-4D97-AF65-F5344CB8AC3E}">
        <p14:creationId xmlns:p14="http://schemas.microsoft.com/office/powerpoint/2010/main" val="33346927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CaixaDeTexto 4">
            <a:extLst>
              <a:ext uri="{FF2B5EF4-FFF2-40B4-BE49-F238E27FC236}">
                <a16:creationId xmlns:a16="http://schemas.microsoft.com/office/drawing/2014/main" id="{54C4AB5A-639F-7A67-F15E-42C337E83D88}"/>
              </a:ext>
            </a:extLst>
          </p:cNvPr>
          <p:cNvSpPr txBox="1"/>
          <p:nvPr/>
        </p:nvSpPr>
        <p:spPr>
          <a:xfrm>
            <a:off x="628650" y="1825625"/>
            <a:ext cx="4168866" cy="4351338"/>
          </a:xfrm>
          <a:prstGeom prst="rect">
            <a:avLst/>
          </a:prstGeom>
        </p:spPr>
        <p:txBody>
          <a:bodyPr vert="horz" lIns="91440" tIns="45720" rIns="91440" bIns="45720" rtlCol="0">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indent="-228600" defTabSz="914400">
              <a:lnSpc>
                <a:spcPct val="90000"/>
              </a:lnSpc>
              <a:spcAft>
                <a:spcPts val="600"/>
              </a:spcAft>
              <a:buFont typeface="Arial" panose="020B0604020202020204" pitchFamily="34" charset="0"/>
              <a:buChar char="•"/>
            </a:pPr>
            <a:r>
              <a:rPr lang="en-US">
                <a:effectLst/>
              </a:rPr>
              <a:t>Referência:</a:t>
            </a:r>
          </a:p>
          <a:p>
            <a:pPr indent="-228600" defTabSz="914400">
              <a:lnSpc>
                <a:spcPct val="90000"/>
              </a:lnSpc>
              <a:spcAft>
                <a:spcPts val="600"/>
              </a:spcAft>
              <a:buFont typeface="Arial" panose="020B0604020202020204" pitchFamily="34" charset="0"/>
              <a:buChar char="•"/>
            </a:pPr>
            <a:endParaRPr lang="en-US">
              <a:effectLst/>
            </a:endParaRPr>
          </a:p>
          <a:p>
            <a:pPr indent="-228600" defTabSz="914400">
              <a:lnSpc>
                <a:spcPct val="90000"/>
              </a:lnSpc>
              <a:spcAft>
                <a:spcPts val="600"/>
              </a:spcAft>
              <a:buFont typeface="Arial" panose="020B0604020202020204" pitchFamily="34" charset="0"/>
              <a:buChar char="•"/>
            </a:pPr>
            <a:r>
              <a:rPr lang="en-US">
                <a:effectLst/>
              </a:rPr>
              <a:t>(Informada na ementa e disponível na biblioteca digital)</a:t>
            </a:r>
          </a:p>
          <a:p>
            <a:pPr indent="-228600" defTabSz="914400">
              <a:lnSpc>
                <a:spcPct val="90000"/>
              </a:lnSpc>
              <a:spcAft>
                <a:spcPts val="600"/>
              </a:spcAft>
              <a:buFont typeface="Arial" panose="020B0604020202020204" pitchFamily="34" charset="0"/>
              <a:buChar char="•"/>
            </a:pPr>
            <a:endParaRPr lang="en-US">
              <a:effectLst/>
            </a:endParaRPr>
          </a:p>
          <a:p>
            <a:pPr indent="-228600" defTabSz="914400">
              <a:lnSpc>
                <a:spcPct val="90000"/>
              </a:lnSpc>
              <a:spcAft>
                <a:spcPts val="600"/>
              </a:spcAft>
              <a:buFont typeface="Arial" panose="020B0604020202020204" pitchFamily="34" charset="0"/>
              <a:buChar char="•"/>
            </a:pPr>
            <a:r>
              <a:rPr lang="en-US">
                <a:effectLst/>
              </a:rPr>
              <a:t>PICHETTI, Roni F.; VIDA, Edinilson S.; CORTES, Vanessa S. M P. Banco de dados. Porto Alegre: Grupo A, 2021. E-book. ISBN 9786556900186. </a:t>
            </a:r>
          </a:p>
          <a:p>
            <a:pPr indent="-228600" defTabSz="914400">
              <a:lnSpc>
                <a:spcPct val="90000"/>
              </a:lnSpc>
              <a:spcAft>
                <a:spcPts val="600"/>
              </a:spcAft>
              <a:buFont typeface="Arial" panose="020B0604020202020204" pitchFamily="34" charset="0"/>
              <a:buChar char="•"/>
            </a:pPr>
            <a:endParaRPr lang="en-US"/>
          </a:p>
          <a:p>
            <a:pPr indent="-228600" defTabSz="914400">
              <a:lnSpc>
                <a:spcPct val="90000"/>
              </a:lnSpc>
              <a:spcAft>
                <a:spcPts val="600"/>
              </a:spcAft>
              <a:buFont typeface="Arial" panose="020B0604020202020204" pitchFamily="34" charset="0"/>
              <a:buChar char="•"/>
            </a:pPr>
            <a:r>
              <a:rPr lang="en-US">
                <a:effectLst/>
              </a:rPr>
              <a:t>Disponível em: </a:t>
            </a:r>
          </a:p>
          <a:p>
            <a:pPr indent="-228600" defTabSz="914400">
              <a:lnSpc>
                <a:spcPct val="90000"/>
              </a:lnSpc>
              <a:spcAft>
                <a:spcPts val="600"/>
              </a:spcAft>
              <a:buFont typeface="Arial" panose="020B0604020202020204" pitchFamily="34" charset="0"/>
              <a:buChar char="•"/>
            </a:pPr>
            <a:r>
              <a:rPr lang="en-US">
                <a:effectLst/>
              </a:rPr>
              <a:t>https://integrada.minhabiblioteca.com.br/#/books/9786556900186/. </a:t>
            </a:r>
          </a:p>
        </p:txBody>
      </p:sp>
      <p:sp>
        <p:nvSpPr>
          <p:cNvPr id="13" name="Oval 12">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Block Arc 14">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Shape 16">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9" name="Straight Connector 18">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 name="Espaço Reservado para Data 1">
            <a:extLst>
              <a:ext uri="{FF2B5EF4-FFF2-40B4-BE49-F238E27FC236}">
                <a16:creationId xmlns:a16="http://schemas.microsoft.com/office/drawing/2014/main" id="{49F81BB9-547F-7FC5-581A-7871710B6EF4}"/>
              </a:ext>
            </a:extLst>
          </p:cNvPr>
          <p:cNvSpPr>
            <a:spLocks noGrp="1"/>
          </p:cNvSpPr>
          <p:nvPr>
            <p:ph type="dt" sz="half" idx="10"/>
          </p:nvPr>
        </p:nvSpPr>
        <p:spPr>
          <a:xfrm>
            <a:off x="628650" y="6356350"/>
            <a:ext cx="1279662" cy="365125"/>
          </a:xfrm>
        </p:spPr>
        <p:txBody>
          <a:bodyPr vert="horz" lIns="91440" tIns="45720" rIns="91440" bIns="45720" rtlCol="0" anchor="ctr">
            <a:normAutofit/>
          </a:bodyPr>
          <a:lstStyle/>
          <a:p>
            <a:pPr>
              <a:spcAft>
                <a:spcPts val="600"/>
              </a:spcAft>
            </a:pPr>
            <a:fld id="{ACBE582E-C295-43AD-85C6-1F5231E0F264}" type="datetime1">
              <a:rPr lang="en-US" sz="1200" smtClean="0"/>
              <a:pPr>
                <a:spcAft>
                  <a:spcPts val="600"/>
                </a:spcAft>
              </a:pPr>
              <a:t>4/6/2026</a:t>
            </a:fld>
            <a:endParaRPr lang="en-US" sz="1200"/>
          </a:p>
        </p:txBody>
      </p:sp>
      <p:sp>
        <p:nvSpPr>
          <p:cNvPr id="3" name="Espaço Reservado para Número de Slide 2">
            <a:extLst>
              <a:ext uri="{FF2B5EF4-FFF2-40B4-BE49-F238E27FC236}">
                <a16:creationId xmlns:a16="http://schemas.microsoft.com/office/drawing/2014/main" id="{A91DAC55-A3E1-58DC-FCAA-CA94C8EEBCBC}"/>
              </a:ext>
            </a:extLst>
          </p:cNvPr>
          <p:cNvSpPr>
            <a:spLocks noGrp="1"/>
          </p:cNvSpPr>
          <p:nvPr>
            <p:ph type="sldNum" sz="quarter" idx="12"/>
          </p:nvPr>
        </p:nvSpPr>
        <p:spPr>
          <a:xfrm>
            <a:off x="7335078" y="6356350"/>
            <a:ext cx="1180272" cy="365125"/>
          </a:xfrm>
        </p:spPr>
        <p:txBody>
          <a:bodyPr vert="horz" lIns="91440" tIns="45720" rIns="91440" bIns="45720" rtlCol="0" anchor="ctr">
            <a:normAutofit/>
          </a:bodyPr>
          <a:lstStyle/>
          <a:p>
            <a:pPr>
              <a:spcAft>
                <a:spcPts val="600"/>
              </a:spcAft>
            </a:pPr>
            <a:fld id="{7C77B986-2480-449B-886E-7A027CF271D4}" type="slidenum">
              <a:rPr lang="en-US" sz="1200" smtClean="0"/>
              <a:pPr>
                <a:spcAft>
                  <a:spcPts val="600"/>
                </a:spcAft>
              </a:pPr>
              <a:t>54</a:t>
            </a:fld>
            <a:endParaRPr lang="en-US" sz="1200"/>
          </a:p>
        </p:txBody>
      </p:sp>
      <p:sp>
        <p:nvSpPr>
          <p:cNvPr id="23" name="Arc 22">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8508095"/>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18530</TotalTime>
  <Words>4756</Words>
  <Application>Microsoft Office PowerPoint</Application>
  <PresentationFormat>Apresentação na tela (4:3)</PresentationFormat>
  <Paragraphs>433</Paragraphs>
  <Slides>54</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54</vt:i4>
      </vt:variant>
    </vt:vector>
  </HeadingPairs>
  <TitlesOfParts>
    <vt:vector size="59" baseType="lpstr">
      <vt:lpstr>Arial</vt:lpstr>
      <vt:lpstr>Calibri</vt:lpstr>
      <vt:lpstr>Calibri Light</vt:lpstr>
      <vt:lpstr>Times New Roman</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Exagerado</dc:creator>
  <cp:lastModifiedBy>Elionai Magalhaes 487017 - Professor MULTIVIX</cp:lastModifiedBy>
  <cp:revision>942</cp:revision>
  <dcterms:created xsi:type="dcterms:W3CDTF">2019-04-29T13:17:28Z</dcterms:created>
  <dcterms:modified xsi:type="dcterms:W3CDTF">2026-04-06T12:40:17Z</dcterms:modified>
</cp:coreProperties>
</file>