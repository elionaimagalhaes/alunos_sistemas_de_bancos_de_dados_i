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6"/>
  </p:notesMasterIdLst>
  <p:handoutMasterIdLst>
    <p:handoutMasterId r:id="rId17"/>
  </p:handoutMasterIdLst>
  <p:sldIdLst>
    <p:sldId id="513" r:id="rId2"/>
    <p:sldId id="514" r:id="rId3"/>
    <p:sldId id="515" r:id="rId4"/>
    <p:sldId id="516" r:id="rId5"/>
    <p:sldId id="517" r:id="rId6"/>
    <p:sldId id="518" r:id="rId7"/>
    <p:sldId id="519" r:id="rId8"/>
    <p:sldId id="520" r:id="rId9"/>
    <p:sldId id="521" r:id="rId10"/>
    <p:sldId id="522" r:id="rId11"/>
    <p:sldId id="523" r:id="rId12"/>
    <p:sldId id="524" r:id="rId13"/>
    <p:sldId id="525" r:id="rId14"/>
    <p:sldId id="526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B2"/>
    <a:srgbClr val="7EC234"/>
    <a:srgbClr val="008000"/>
    <a:srgbClr val="EECD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99104" autoAdjust="0"/>
  </p:normalViewPr>
  <p:slideViewPr>
    <p:cSldViewPr>
      <p:cViewPr varScale="1">
        <p:scale>
          <a:sx n="82" d="100"/>
          <a:sy n="82" d="100"/>
        </p:scale>
        <p:origin x="13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686C5-9FC3-4ECF-B0E5-F803BBF7867B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78A3F-4B77-4156-875B-A64AE335C5C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80A45-D736-45A4-B247-1A59E06B267F}" type="datetimeFigureOut">
              <a:rPr lang="pt-BR" smtClean="0"/>
              <a:pPr/>
              <a:t>28/02/2026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5DF64-329D-4CCC-BB41-12FF3AB451D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50DF9-7D9F-459B-9FFC-4F2827764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819A93-B14E-42B6-8FC5-160083A54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3CE30B-4C5E-4857-B421-2BD23971F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FFE42-BCA1-4792-B888-1974D621B971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D90EF-28DC-45EE-86D7-EC294B22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0875E-78AB-414C-B362-11BB47C5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9991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4EFCA-8653-4D6C-AF9E-767733BE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F1E570-F325-4C0F-9D01-2D14B2658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819C85-9A82-4512-8869-3A496E26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53580-4301-4E96-BF9C-7203CD09A3B3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5D47E2-1987-4DB3-8E2B-4A3F9110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8AE7D3-0DA8-4E5A-9ECD-08831F9E0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855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9BED6-A874-45D9-844B-C1E1751C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6551A6-D2D0-44AD-9915-BC9981B87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87C2BB-70D3-47A4-B45D-8237D7BE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F93D-FBF5-4949-BA6C-30F4B9048FD6}" type="datetime1">
              <a:rPr lang="pt-BR" smtClean="0"/>
              <a:t>28/02/2026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B74924-E736-477E-993A-56D5FC9B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B31208-D674-4729-B9D0-3AAC6956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44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CE239-30DA-4411-BCD5-62ED5830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3BDBBD-DD31-4BA0-A0FE-9B9EBD4C5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D1DE87-6B1C-4C49-B03D-45D87EAB7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EEC256-0368-4817-A681-43B6FFCA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010FA-1F2D-4591-8B72-24E902507D56}" type="datetime1">
              <a:rPr lang="pt-BR" smtClean="0"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B3294D-3E18-425C-9465-682EAEE0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F2E520-2748-4D78-866C-046671BF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567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589DF-0A30-40F3-AB99-D60C432C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A67762-A936-438D-9B5F-581B0E15C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8A4022-1E6E-4AAD-AB12-3A39C8A49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E04501-52B4-4320-AADA-9F330DD69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D74088-9976-46DB-82EC-1F67B684A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ABD2CC-EE63-4389-BC9A-EF83C35E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EAB5-1A8B-46B6-BB79-3C9E62E8C851}" type="datetime1">
              <a:rPr lang="pt-BR" smtClean="0"/>
              <a:t>28/02/2026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771B07-F0A4-431E-8E0C-CAA3A70E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BCAF75-7FEF-44E5-ABE0-AB67A69B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4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1C452-B5DF-433D-8F28-95A9F4E5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EDC9B1-A4B1-4729-A8BF-60559DBC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4DA1-56F7-4AEB-A848-0B8B9FE091DE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31EA89-D894-490B-942B-538615BC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5BF259-E26B-42DC-B8CE-5B4E20E4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641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AE81CE5-CECC-42F1-96E1-B3AEFD66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76E6E-9FB3-4E4E-A99A-837BEC0FF80E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6E527CB-781A-463A-9F1A-10D2B67E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3DA7D7-6F8E-4D32-98B8-7BA41FFB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7554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2231D-04BA-4FF8-9BB5-30C1EECC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CFEC1-93E7-4C5A-9B93-7C2E6C6D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1C410A-A631-4EE9-AA36-A35F5C8BD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7E2B55-6ABC-463E-B83B-D6C7E388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7848-7DA9-4154-854F-EC311149BE30}" type="datetime1">
              <a:rPr lang="pt-BR" smtClean="0"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7570CF-3B42-4264-97D4-DFC0B435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11E8F5-4438-4550-ABFE-B3FE13C5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79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E9A58-89CB-4250-AA9D-5DCA3FC4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ED8142-1288-4110-9D6C-A8C073DE1F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5F1485-5FB9-49B2-9FDC-84A0C73FC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C02030-A6E3-4E96-B12F-648E741C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1246D-15D2-4032-9A98-FCAE5B177B97}" type="datetime1">
              <a:rPr lang="pt-BR" smtClean="0"/>
              <a:t>28/02/2026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4C9FB4-94DA-4837-9D41-D932C821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548FFF-7420-450E-B641-6491F6F0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76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EB205-2ABD-4951-9194-6DC026A2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C7071F-AC30-43B1-8E05-9CA0B7E19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EA90B2-77EB-46B2-B0A1-94371098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E201-082C-4ADD-BB91-197F5952331B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CD4844-5316-46A3-957E-B9C9AC0C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A1294F-087B-4990-B56B-51D4B836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141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CA03B7-13C8-4EB6-BBBC-CBE4F5CC3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197B7F-8376-4F96-AC5F-A089468DA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E8C371-9D77-4662-A914-9533FD07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C4E02-8806-4F6E-A703-7E6E61C2A7D2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04DC2-DD53-47DA-B183-A6138E2A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DAF549-7359-4BE7-8D39-062D0A3A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77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B7A7037-C570-40EB-AD6D-290C703E1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97AD53-B718-4815-A297-CADAF290B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F5DA0C-79DD-4940-8D68-239AF6AC8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2C8F-4074-4261-8079-19D44966F8C8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CAF63B-0E4E-4102-BECD-C0FEA6687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Professor MSc. Elionai Magalhães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272BA0-F731-426F-9455-20EC79EDE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7B986-2480-449B-886E-7A027CF271D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559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671CE3A-380E-40AB-8063-B4BA7E428B70}"/>
              </a:ext>
            </a:extLst>
          </p:cNvPr>
          <p:cNvSpPr/>
          <p:nvPr/>
        </p:nvSpPr>
        <p:spPr>
          <a:xfrm>
            <a:off x="628650" y="460912"/>
            <a:ext cx="7886700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Projeto Físico de Banco de Dados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Implementar Esquemas Lógicos em Bancos de Dados Físicos e Compreender Aspectos de Armazenamento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pt-B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Criação de Tabelas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implementação do esquema lógico de um banco de dados envolve a criação de tabelas físicas. Isso inclui a definição de colunas, tipos de dados e restrições. Vamos utilizar o exemplo do sistema de biblioteca para ilustrar:</a:t>
            </a: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82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D3CB-07DE-08E0-1CD3-BE945969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4E38CC-0325-008A-839D-D1B84570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8812E5-3FA4-40A3-85A9-A3460E46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796183B-7E8E-F245-6FA3-1BC25E43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0CF996C-AC81-6752-CFA8-A5EB897D594A}"/>
              </a:ext>
            </a:extLst>
          </p:cNvPr>
          <p:cNvSpPr/>
          <p:nvPr/>
        </p:nvSpPr>
        <p:spPr>
          <a:xfrm>
            <a:off x="628650" y="460912"/>
            <a:ext cx="78867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Criação da Tabela de Livros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 </a:t>
            </a:r>
          </a:p>
          <a:p>
            <a:r>
              <a:rPr lang="pt-BR" dirty="0"/>
              <a:t>CREATE TABLE Livros (</a:t>
            </a:r>
          </a:p>
          <a:p>
            <a:r>
              <a:rPr lang="pt-BR" dirty="0"/>
              <a:t>  </a:t>
            </a:r>
            <a:r>
              <a:rPr lang="en-US" dirty="0"/>
              <a:t>ISBN VARCHAR(13) PRIMARY KEY,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Titulo</a:t>
            </a:r>
            <a:r>
              <a:rPr lang="en-US" dirty="0"/>
              <a:t> VARCHAR(255) NOT NULL,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 err="1"/>
              <a:t>Ano_Publicacao</a:t>
            </a:r>
            <a:r>
              <a:rPr lang="pt-BR" dirty="0"/>
              <a:t> INT,</a:t>
            </a:r>
          </a:p>
          <a:p>
            <a:r>
              <a:rPr lang="pt-BR" dirty="0"/>
              <a:t>  </a:t>
            </a:r>
            <a:r>
              <a:rPr lang="pt-BR" dirty="0" err="1"/>
              <a:t>Genero</a:t>
            </a:r>
            <a:r>
              <a:rPr lang="pt-BR" dirty="0"/>
              <a:t> VARCHAR(50)</a:t>
            </a:r>
          </a:p>
          <a:p>
            <a:r>
              <a:rPr lang="pt-BR" dirty="0"/>
              <a:t>);</a:t>
            </a:r>
          </a:p>
          <a:p>
            <a:endParaRPr lang="pt-BR" dirty="0"/>
          </a:p>
          <a:p>
            <a:pPr lvl="0"/>
            <a:r>
              <a:rPr lang="pt-BR" b="1" dirty="0"/>
              <a:t>Criação da Tabela de Autores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 </a:t>
            </a:r>
          </a:p>
          <a:p>
            <a:r>
              <a:rPr lang="pt-BR" dirty="0"/>
              <a:t>CREATE TABLE Autores (</a:t>
            </a:r>
          </a:p>
          <a:p>
            <a:r>
              <a:rPr lang="pt-BR" dirty="0"/>
              <a:t>  </a:t>
            </a:r>
            <a:r>
              <a:rPr lang="en-US" dirty="0" err="1"/>
              <a:t>ID_Autor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Nome VARCHAR(255) NOT NULL,</a:t>
            </a:r>
          </a:p>
          <a:p>
            <a:r>
              <a:rPr lang="pt-BR" dirty="0"/>
              <a:t>  </a:t>
            </a:r>
            <a:r>
              <a:rPr lang="pt-BR" dirty="0" err="1"/>
              <a:t>Data_Nascimento</a:t>
            </a:r>
            <a:r>
              <a:rPr lang="pt-BR" dirty="0"/>
              <a:t> DATE</a:t>
            </a:r>
          </a:p>
          <a:p>
            <a:r>
              <a:rPr lang="pt-BR" dirty="0"/>
              <a:t>);</a:t>
            </a: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73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6ABE-A059-140A-38FF-1BC571CB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2FEE969-55B9-3CB7-1563-EF2DCA2A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2794BF-8022-0491-DE98-32343C9B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CF13E8A-6D6A-A0AE-E403-BB73D8E7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ABACBC-3AEE-A558-85EB-37385196A269}"/>
              </a:ext>
            </a:extLst>
          </p:cNvPr>
          <p:cNvSpPr/>
          <p:nvPr/>
        </p:nvSpPr>
        <p:spPr>
          <a:xfrm>
            <a:off x="628650" y="460912"/>
            <a:ext cx="78867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Criação da Tabela de Usuários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en-US" dirty="0"/>
              <a:t> </a:t>
            </a:r>
            <a:endParaRPr lang="pt-BR" dirty="0"/>
          </a:p>
          <a:p>
            <a:r>
              <a:rPr lang="en-US" dirty="0"/>
              <a:t>CREATE TABLE </a:t>
            </a:r>
            <a:r>
              <a:rPr lang="en-US" dirty="0" err="1"/>
              <a:t>Usuarios</a:t>
            </a:r>
            <a:r>
              <a:rPr lang="en-US" dirty="0"/>
              <a:t> (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ID_Usuario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Nome VARCHAR(255) NOT NULL,</a:t>
            </a:r>
          </a:p>
          <a:p>
            <a:r>
              <a:rPr lang="pt-BR" dirty="0"/>
              <a:t>  </a:t>
            </a:r>
            <a:r>
              <a:rPr lang="pt-BR" dirty="0" err="1"/>
              <a:t>Endereco</a:t>
            </a:r>
            <a:r>
              <a:rPr lang="pt-BR" dirty="0"/>
              <a:t> VARCHAR(255)</a:t>
            </a:r>
          </a:p>
          <a:p>
            <a:r>
              <a:rPr lang="pt-BR" dirty="0"/>
              <a:t>);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Criação da Tabela de Empréstimos</a:t>
            </a:r>
            <a:r>
              <a:rPr lang="pt-BR" dirty="0"/>
              <a:t>: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CREATE TABLE </a:t>
            </a:r>
            <a:r>
              <a:rPr lang="pt-BR" dirty="0" err="1"/>
              <a:t>Emprestimos</a:t>
            </a:r>
            <a:r>
              <a:rPr lang="pt-BR" dirty="0"/>
              <a:t> (</a:t>
            </a:r>
          </a:p>
          <a:p>
            <a:r>
              <a:rPr lang="pt-BR" dirty="0"/>
              <a:t>  </a:t>
            </a:r>
            <a:r>
              <a:rPr lang="en-US" dirty="0" err="1"/>
              <a:t>ID_Emprestimo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 err="1"/>
              <a:t>Data_Emprestimo</a:t>
            </a:r>
            <a:r>
              <a:rPr lang="pt-BR" dirty="0"/>
              <a:t> DATE,</a:t>
            </a:r>
          </a:p>
          <a:p>
            <a:r>
              <a:rPr lang="pt-BR" dirty="0"/>
              <a:t>  </a:t>
            </a:r>
            <a:r>
              <a:rPr lang="pt-BR" dirty="0" err="1"/>
              <a:t>Data_Devolucao</a:t>
            </a:r>
            <a:r>
              <a:rPr lang="pt-BR" dirty="0"/>
              <a:t> DATE,</a:t>
            </a:r>
          </a:p>
          <a:p>
            <a:r>
              <a:rPr lang="pt-BR" dirty="0"/>
              <a:t>  </a:t>
            </a:r>
            <a:r>
              <a:rPr lang="en-US" dirty="0"/>
              <a:t>ISBN VARCHAR(13),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ID_Usuario</a:t>
            </a:r>
            <a:r>
              <a:rPr lang="en-US" dirty="0"/>
              <a:t> INT,</a:t>
            </a:r>
            <a:endParaRPr lang="pt-BR" dirty="0"/>
          </a:p>
          <a:p>
            <a:r>
              <a:rPr lang="en-US" dirty="0"/>
              <a:t>  FOREIGN KEY (ISBN) REFERENCES </a:t>
            </a:r>
            <a:r>
              <a:rPr lang="en-US" dirty="0" err="1"/>
              <a:t>Livros</a:t>
            </a:r>
            <a:r>
              <a:rPr lang="en-US" dirty="0"/>
              <a:t>(ISBN),</a:t>
            </a:r>
            <a:endParaRPr lang="pt-BR" dirty="0"/>
          </a:p>
          <a:p>
            <a:r>
              <a:rPr lang="en-US" dirty="0"/>
              <a:t>  FOREIGN KEY (</a:t>
            </a:r>
            <a:r>
              <a:rPr lang="en-US" dirty="0" err="1"/>
              <a:t>ID_Usuario</a:t>
            </a:r>
            <a:r>
              <a:rPr lang="en-US" dirty="0"/>
              <a:t>) REFERENCES </a:t>
            </a:r>
            <a:r>
              <a:rPr lang="en-US" dirty="0" err="1"/>
              <a:t>Usuarios</a:t>
            </a:r>
            <a:r>
              <a:rPr lang="en-US" dirty="0"/>
              <a:t>(</a:t>
            </a:r>
            <a:r>
              <a:rPr lang="en-US" dirty="0" err="1"/>
              <a:t>ID_Usuario</a:t>
            </a:r>
            <a:r>
              <a:rPr lang="en-US" dirty="0"/>
              <a:t>)</a:t>
            </a:r>
            <a:endParaRPr lang="pt-BR" dirty="0"/>
          </a:p>
          <a:p>
            <a:r>
              <a:rPr lang="pt-BR" dirty="0"/>
              <a:t>);</a:t>
            </a:r>
          </a:p>
          <a:p>
            <a:pPr lvl="0"/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84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9D0CF-F904-15D4-5BDB-5C9CF3C3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0A0284-E84D-A9C6-5080-BE45C303D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393289-1861-947F-3F12-19A6C03E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190E717-E5C1-4962-E487-88B7D711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D796963-8CEA-A5C0-A848-E1D773D5E77D}"/>
              </a:ext>
            </a:extLst>
          </p:cNvPr>
          <p:cNvSpPr/>
          <p:nvPr/>
        </p:nvSpPr>
        <p:spPr>
          <a:xfrm>
            <a:off x="628650" y="460912"/>
            <a:ext cx="7886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Criação da Tabela Intermediária </a:t>
            </a:r>
            <a:r>
              <a:rPr lang="pt-BR" b="1" dirty="0" err="1"/>
              <a:t>Livros_Autores</a:t>
            </a:r>
            <a:r>
              <a:rPr lang="pt-BR" dirty="0"/>
              <a:t>: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CREATE TABLE </a:t>
            </a:r>
            <a:r>
              <a:rPr lang="pt-BR" dirty="0" err="1"/>
              <a:t>Livros_Autores</a:t>
            </a:r>
            <a:r>
              <a:rPr lang="pt-BR" dirty="0"/>
              <a:t> (</a:t>
            </a:r>
          </a:p>
          <a:p>
            <a:r>
              <a:rPr lang="pt-BR" dirty="0"/>
              <a:t>  </a:t>
            </a:r>
            <a:r>
              <a:rPr lang="en-US" dirty="0"/>
              <a:t>ISBN VARCHAR(13),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ID_Autor</a:t>
            </a:r>
            <a:r>
              <a:rPr lang="en-US" dirty="0"/>
              <a:t> INT,</a:t>
            </a:r>
            <a:endParaRPr lang="pt-BR" dirty="0"/>
          </a:p>
          <a:p>
            <a:r>
              <a:rPr lang="en-US" dirty="0"/>
              <a:t>  PRIMARY KEY (ISBN, </a:t>
            </a:r>
            <a:r>
              <a:rPr lang="en-US" dirty="0" err="1"/>
              <a:t>ID_Autor</a:t>
            </a:r>
            <a:r>
              <a:rPr lang="en-US" dirty="0"/>
              <a:t>),</a:t>
            </a:r>
            <a:endParaRPr lang="pt-BR" dirty="0"/>
          </a:p>
          <a:p>
            <a:r>
              <a:rPr lang="en-US" dirty="0"/>
              <a:t>  FOREIGN KEY (ISBN) REFERENCES </a:t>
            </a:r>
            <a:r>
              <a:rPr lang="en-US" dirty="0" err="1"/>
              <a:t>Livros</a:t>
            </a:r>
            <a:r>
              <a:rPr lang="en-US" dirty="0"/>
              <a:t>(ISBN),</a:t>
            </a:r>
            <a:endParaRPr lang="pt-BR" dirty="0"/>
          </a:p>
          <a:p>
            <a:r>
              <a:rPr lang="en-US" dirty="0"/>
              <a:t>  FOREIGN KEY (</a:t>
            </a:r>
            <a:r>
              <a:rPr lang="en-US" dirty="0" err="1"/>
              <a:t>ID_Autor</a:t>
            </a:r>
            <a:r>
              <a:rPr lang="en-US" dirty="0"/>
              <a:t>) REFERENCES </a:t>
            </a:r>
            <a:r>
              <a:rPr lang="en-US" dirty="0" err="1"/>
              <a:t>Autores</a:t>
            </a:r>
            <a:r>
              <a:rPr lang="en-US" dirty="0"/>
              <a:t>(</a:t>
            </a:r>
            <a:r>
              <a:rPr lang="en-US" dirty="0" err="1"/>
              <a:t>ID_Autor</a:t>
            </a:r>
            <a:r>
              <a:rPr lang="en-US" dirty="0"/>
              <a:t>)</a:t>
            </a:r>
            <a:endParaRPr lang="pt-BR" dirty="0"/>
          </a:p>
          <a:p>
            <a:r>
              <a:rPr lang="pt-BR" dirty="0"/>
              <a:t>);</a:t>
            </a:r>
          </a:p>
          <a:p>
            <a:pPr lvl="0"/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13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5C43-73EF-AAC7-86EA-33AA32F4F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52CB1F-E7A8-4643-D25B-166C35E25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6E0C97E-60D7-A3FA-D721-8726E80B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F084BFA-C0B1-A389-45E0-E7847506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8B00201-A233-BA21-7C8C-8F014BE0F794}"/>
              </a:ext>
            </a:extLst>
          </p:cNvPr>
          <p:cNvSpPr/>
          <p:nvPr/>
        </p:nvSpPr>
        <p:spPr>
          <a:xfrm>
            <a:off x="628650" y="460912"/>
            <a:ext cx="7886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Índices</a:t>
            </a:r>
            <a:endParaRPr lang="pt-BR" dirty="0"/>
          </a:p>
          <a:p>
            <a:pPr algn="just"/>
            <a:r>
              <a:rPr lang="pt-BR" dirty="0"/>
              <a:t>Índices são estruturas de dados que melhoram a velocidade de recuperação de registros em uma tabela ao custo de espaço adicional e manutenção. Eles são especialmente úteis para colunas usadas em consultas frequentes e operações de junção.</a:t>
            </a:r>
          </a:p>
          <a:p>
            <a:endParaRPr lang="pt-BR" dirty="0"/>
          </a:p>
          <a:p>
            <a:pPr lvl="0"/>
            <a:r>
              <a:rPr lang="pt-BR" b="1" dirty="0"/>
              <a:t>Criação de Índices</a:t>
            </a:r>
            <a:r>
              <a:rPr lang="pt-BR" dirty="0"/>
              <a:t>: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CREATE INDEX </a:t>
            </a:r>
            <a:r>
              <a:rPr lang="pt-BR" dirty="0" err="1"/>
              <a:t>idx_titulo</a:t>
            </a:r>
            <a:r>
              <a:rPr lang="pt-BR" dirty="0"/>
              <a:t> ON Livros(Titulo);</a:t>
            </a:r>
          </a:p>
          <a:p>
            <a:r>
              <a:rPr lang="pt-BR" dirty="0"/>
              <a:t>CREATE INDEX </a:t>
            </a:r>
            <a:r>
              <a:rPr lang="pt-BR" dirty="0" err="1"/>
              <a:t>idx_autor_nome</a:t>
            </a:r>
            <a:r>
              <a:rPr lang="pt-BR" dirty="0"/>
              <a:t> ON Autores(Nome);</a:t>
            </a:r>
          </a:p>
          <a:p>
            <a:r>
              <a:rPr lang="pt-BR" dirty="0"/>
              <a:t>CREATE INDEX </a:t>
            </a:r>
            <a:r>
              <a:rPr lang="pt-BR" dirty="0" err="1"/>
              <a:t>idx_usuario_nome</a:t>
            </a:r>
            <a:r>
              <a:rPr lang="pt-BR" dirty="0"/>
              <a:t> ON </a:t>
            </a:r>
            <a:r>
              <a:rPr lang="pt-BR" dirty="0" err="1"/>
              <a:t>Usuarios</a:t>
            </a:r>
            <a:r>
              <a:rPr lang="pt-BR" dirty="0"/>
              <a:t>(Nome);</a:t>
            </a: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2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040D-5798-1062-8A7B-DFFC1274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5F71732-24BE-7610-CFD3-E2E75ED3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6BC884-4DAE-79A3-5822-D09FB373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7056A1-845D-7B59-916D-93CECB7F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672F0E8-4C1E-ED31-B469-C62C498524AC}"/>
              </a:ext>
            </a:extLst>
          </p:cNvPr>
          <p:cNvSpPr/>
          <p:nvPr/>
        </p:nvSpPr>
        <p:spPr>
          <a:xfrm>
            <a:off x="628650" y="460912"/>
            <a:ext cx="78867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Otimização de Armazenamento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otimização de armazenamento é crucial para o desempenho de um banco de dados. Isso inclui a escolha apropriada dos tipos de dados, a normalização de tabelas e a implementação de práticas de indexação eficazes.</a:t>
            </a:r>
          </a:p>
          <a:p>
            <a:pPr algn="just"/>
            <a:endParaRPr lang="pt-BR" dirty="0"/>
          </a:p>
          <a:p>
            <a:pPr lvl="0" algn="just"/>
            <a:r>
              <a:rPr lang="pt-BR" b="1" dirty="0"/>
              <a:t>Escolha de Tipos de Dados</a:t>
            </a:r>
            <a:r>
              <a:rPr lang="pt-BR" dirty="0"/>
              <a:t>:</a:t>
            </a:r>
          </a:p>
          <a:p>
            <a:pPr lvl="0" algn="just"/>
            <a:endParaRPr lang="pt-BR" dirty="0"/>
          </a:p>
          <a:p>
            <a:pPr lvl="1" algn="just"/>
            <a:r>
              <a:rPr lang="pt-BR" b="1" dirty="0"/>
              <a:t>Tipos Numéricos</a:t>
            </a:r>
            <a:r>
              <a:rPr lang="pt-BR" dirty="0"/>
              <a:t>: Use tipos inteiros (</a:t>
            </a:r>
            <a:r>
              <a:rPr lang="pt-BR" sz="1200" dirty="0"/>
              <a:t>INT</a:t>
            </a:r>
            <a:r>
              <a:rPr lang="pt-BR" dirty="0"/>
              <a:t>, </a:t>
            </a:r>
            <a:r>
              <a:rPr lang="pt-BR" sz="1200" dirty="0"/>
              <a:t>BIGINT</a:t>
            </a:r>
            <a:r>
              <a:rPr lang="pt-BR" dirty="0"/>
              <a:t>) para números inteiros e tipos de ponto flutuante (</a:t>
            </a:r>
            <a:r>
              <a:rPr lang="pt-BR" sz="1200" dirty="0"/>
              <a:t>FLOAT</a:t>
            </a:r>
            <a:r>
              <a:rPr lang="pt-BR" dirty="0"/>
              <a:t>, </a:t>
            </a:r>
            <a:r>
              <a:rPr lang="pt-BR" sz="1200" dirty="0"/>
              <a:t>DOUBLE</a:t>
            </a:r>
            <a:r>
              <a:rPr lang="pt-BR" dirty="0"/>
              <a:t>) para números decimais.</a:t>
            </a:r>
          </a:p>
          <a:p>
            <a:pPr lvl="1" algn="just"/>
            <a:r>
              <a:rPr lang="pt-BR" b="1" dirty="0"/>
              <a:t>Tipos de Cadeia de Caracteres</a:t>
            </a:r>
            <a:r>
              <a:rPr lang="pt-BR" dirty="0"/>
              <a:t>: Use </a:t>
            </a:r>
            <a:r>
              <a:rPr lang="pt-BR" sz="1200" dirty="0"/>
              <a:t>VARCHAR</a:t>
            </a:r>
            <a:r>
              <a:rPr lang="pt-BR" dirty="0"/>
              <a:t> para cadeias de caracteres de comprimento variável e </a:t>
            </a:r>
            <a:r>
              <a:rPr lang="pt-BR" sz="1200" dirty="0"/>
              <a:t>CHAR</a:t>
            </a:r>
            <a:r>
              <a:rPr lang="pt-BR" dirty="0"/>
              <a:t> para cadeias de comprimento fixo.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Tipos de Data e Hora</a:t>
            </a:r>
            <a:r>
              <a:rPr lang="pt-BR" dirty="0"/>
              <a:t>: Use </a:t>
            </a:r>
            <a:r>
              <a:rPr lang="pt-BR" sz="1200" dirty="0"/>
              <a:t>DATE</a:t>
            </a:r>
            <a:r>
              <a:rPr lang="pt-BR" dirty="0"/>
              <a:t>, </a:t>
            </a:r>
            <a:r>
              <a:rPr lang="pt-BR" sz="1200" dirty="0"/>
              <a:t>TIME</a:t>
            </a:r>
            <a:r>
              <a:rPr lang="pt-BR" dirty="0"/>
              <a:t>, </a:t>
            </a:r>
            <a:r>
              <a:rPr lang="pt-BR" sz="1200" dirty="0"/>
              <a:t>DATETIME</a:t>
            </a:r>
            <a:r>
              <a:rPr lang="pt-BR" dirty="0"/>
              <a:t> para armazenar valores de data e hora.</a:t>
            </a: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809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4C65-00C4-87BA-1927-74349207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A5D82A5-2DBF-3466-B9A6-22C57EB9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75ADEA-8401-A411-825D-1F9FCD94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B63CC03-A90D-99A4-4183-2C864737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AE2388A-F945-BE5B-F79C-89A3BDD2A51F}"/>
              </a:ext>
            </a:extLst>
          </p:cNvPr>
          <p:cNvSpPr/>
          <p:nvPr/>
        </p:nvSpPr>
        <p:spPr>
          <a:xfrm>
            <a:off x="628650" y="460912"/>
            <a:ext cx="78867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b="1" dirty="0"/>
              <a:t>Normalização</a:t>
            </a:r>
            <a:r>
              <a:rPr lang="pt-BR" dirty="0"/>
              <a:t>:</a:t>
            </a:r>
          </a:p>
          <a:p>
            <a:pPr lvl="0" algn="just"/>
            <a:endParaRPr lang="pt-BR" dirty="0"/>
          </a:p>
          <a:p>
            <a:pPr lvl="1" algn="just"/>
            <a:r>
              <a:rPr lang="pt-BR" b="1" dirty="0"/>
              <a:t>Primeira Forma Normal (1NF)</a:t>
            </a:r>
            <a:r>
              <a:rPr lang="pt-BR" dirty="0"/>
              <a:t>: Elimine grupos repetitivos de dados criando tabelas separadas para cada conjunto de dados relacionados.</a:t>
            </a:r>
          </a:p>
          <a:p>
            <a:pPr lvl="1" algn="just"/>
            <a:r>
              <a:rPr lang="pt-BR" b="1" dirty="0"/>
              <a:t>Segunda Forma Normal (2NF)</a:t>
            </a:r>
            <a:r>
              <a:rPr lang="pt-BR" dirty="0"/>
              <a:t>: Remova dependências parciais, assegurando que os atributos não primários dependam totalmente da chave primária.</a:t>
            </a:r>
          </a:p>
          <a:p>
            <a:pPr lvl="1" algn="just"/>
            <a:r>
              <a:rPr lang="pt-BR" b="1" dirty="0"/>
              <a:t>Terceira Forma Normal (3NF)</a:t>
            </a:r>
            <a:r>
              <a:rPr lang="pt-BR" dirty="0"/>
              <a:t>: Remova dependências transitivas, assegurando que atributos não primários não dependam de outros atributos não primários.</a:t>
            </a:r>
          </a:p>
          <a:p>
            <a:pPr lvl="1" algn="just"/>
            <a:endParaRPr lang="pt-BR" dirty="0"/>
          </a:p>
          <a:p>
            <a:pPr lvl="0" algn="just"/>
            <a:r>
              <a:rPr lang="pt-BR" b="1" dirty="0"/>
              <a:t>Particionamento de Tabelas</a:t>
            </a:r>
            <a:r>
              <a:rPr lang="pt-BR" dirty="0"/>
              <a:t>:</a:t>
            </a:r>
          </a:p>
          <a:p>
            <a:pPr lvl="0" algn="just"/>
            <a:endParaRPr lang="pt-BR" dirty="0"/>
          </a:p>
          <a:p>
            <a:pPr lvl="1" algn="just"/>
            <a:r>
              <a:rPr lang="pt-BR" dirty="0"/>
              <a:t>Divida tabelas grandes em partes menores para melhorar o desempenho e a capacidade de gerenciamento.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Exemplo</a:t>
            </a:r>
            <a:r>
              <a:rPr lang="pt-BR" dirty="0"/>
              <a:t>: Particionamento por intervalo de datas, onde os dados são armazenados em diferentes tabelas ou partições com base em intervalos de datas.</a:t>
            </a: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43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8D8EE-195F-A24F-84A6-B29FD85E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FEB9F7-7542-0EE3-46E0-75F68C52F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834DC2-83C8-25A8-9571-A46A0747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67F83F3-A96B-A31F-607B-52628A3A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0817C6-8A94-C78C-8A86-714D667C7AA2}"/>
              </a:ext>
            </a:extLst>
          </p:cNvPr>
          <p:cNvSpPr/>
          <p:nvPr/>
        </p:nvSpPr>
        <p:spPr>
          <a:xfrm>
            <a:off x="628650" y="460912"/>
            <a:ext cx="78867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Tipos de Dados Físicos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Escolher os tipos de dados corretos é fundamental para o desempenho e a eficiência do banco de dados. Aqui estão alguns exemplos:</a:t>
            </a:r>
          </a:p>
          <a:p>
            <a:pPr algn="just"/>
            <a:endParaRPr lang="pt-BR" dirty="0"/>
          </a:p>
          <a:p>
            <a:pPr lvl="0" algn="just"/>
            <a:r>
              <a:rPr lang="pt-BR" b="1" dirty="0"/>
              <a:t>Tipos Numéricos</a:t>
            </a:r>
            <a:r>
              <a:rPr lang="pt-BR" dirty="0"/>
              <a:t>:</a:t>
            </a:r>
          </a:p>
          <a:p>
            <a:pPr lvl="1" algn="just"/>
            <a:r>
              <a:rPr lang="pt-BR" sz="1200" dirty="0"/>
              <a:t>TINYINT</a:t>
            </a:r>
            <a:r>
              <a:rPr lang="pt-BR" dirty="0"/>
              <a:t>: Pequenos inteiros (1 byte).</a:t>
            </a:r>
          </a:p>
          <a:p>
            <a:pPr lvl="1" algn="just"/>
            <a:r>
              <a:rPr lang="pt-BR" sz="1200" dirty="0"/>
              <a:t>SMALLINT</a:t>
            </a:r>
            <a:r>
              <a:rPr lang="pt-BR" dirty="0"/>
              <a:t>: Inteiros pequenos (2 bytes).</a:t>
            </a:r>
          </a:p>
          <a:p>
            <a:pPr lvl="1" algn="just"/>
            <a:r>
              <a:rPr lang="pt-BR" sz="1200" dirty="0"/>
              <a:t>INT</a:t>
            </a:r>
            <a:r>
              <a:rPr lang="pt-BR" dirty="0"/>
              <a:t>: Inteiros padrão (4 bytes).</a:t>
            </a:r>
          </a:p>
          <a:p>
            <a:pPr lvl="1" algn="just"/>
            <a:r>
              <a:rPr lang="pt-BR" sz="1200" dirty="0"/>
              <a:t>BIGINT</a:t>
            </a:r>
            <a:r>
              <a:rPr lang="pt-BR" dirty="0"/>
              <a:t>: Grandes inteiros (8 bytes).</a:t>
            </a:r>
          </a:p>
          <a:p>
            <a:pPr lvl="1" algn="just"/>
            <a:endParaRPr lang="pt-BR" dirty="0"/>
          </a:p>
          <a:p>
            <a:pPr lvl="0" algn="just"/>
            <a:r>
              <a:rPr lang="pt-BR" b="1" dirty="0"/>
              <a:t>Tipos de Cadeia de Caracteres</a:t>
            </a:r>
            <a:r>
              <a:rPr lang="pt-BR" dirty="0"/>
              <a:t>:</a:t>
            </a:r>
          </a:p>
          <a:p>
            <a:pPr lvl="1" algn="just"/>
            <a:r>
              <a:rPr lang="pt-BR" sz="1200" dirty="0"/>
              <a:t>CHAR(n)</a:t>
            </a:r>
            <a:r>
              <a:rPr lang="pt-BR" dirty="0"/>
              <a:t>: Cadeia de caracteres de comprimento fixo.</a:t>
            </a:r>
          </a:p>
          <a:p>
            <a:pPr lvl="1" algn="just"/>
            <a:r>
              <a:rPr lang="pt-BR" sz="1200" dirty="0"/>
              <a:t>VARCHAR(n)</a:t>
            </a:r>
            <a:r>
              <a:rPr lang="pt-BR" dirty="0"/>
              <a:t>: Cadeia de caracteres de comprimento variável.</a:t>
            </a:r>
          </a:p>
          <a:p>
            <a:pPr lvl="1" algn="just"/>
            <a:r>
              <a:rPr lang="pt-BR" sz="1200" dirty="0"/>
              <a:t>TEXT</a:t>
            </a:r>
            <a:r>
              <a:rPr lang="pt-BR" dirty="0"/>
              <a:t>: Cadeia de caracteres de comprimento variável de até 65,535 caracteres.</a:t>
            </a: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24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E833-30DD-2A3C-EF7E-1FDC09EE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D94E7F-96FF-A6CE-E683-D76D4801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D78534-88D9-5086-0CAD-1A782B6F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28A1C99-01D0-DC2B-8AFC-BC742215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82E5C6-355B-3D81-B19B-E3228E067CE7}"/>
              </a:ext>
            </a:extLst>
          </p:cNvPr>
          <p:cNvSpPr/>
          <p:nvPr/>
        </p:nvSpPr>
        <p:spPr>
          <a:xfrm>
            <a:off x="628650" y="460912"/>
            <a:ext cx="78867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b="1" dirty="0"/>
              <a:t>Tipos de Data e Hora</a:t>
            </a:r>
            <a:r>
              <a:rPr lang="pt-BR" dirty="0"/>
              <a:t>:</a:t>
            </a:r>
          </a:p>
          <a:p>
            <a:pPr lvl="1"/>
            <a:r>
              <a:rPr lang="pt-BR" sz="1200" dirty="0"/>
              <a:t>DATE</a:t>
            </a:r>
            <a:r>
              <a:rPr lang="pt-BR" dirty="0"/>
              <a:t>: Data no formato </a:t>
            </a:r>
            <a:r>
              <a:rPr lang="pt-BR" sz="1200" dirty="0"/>
              <a:t>YYYY-MM-DD</a:t>
            </a:r>
            <a:r>
              <a:rPr lang="pt-BR" dirty="0"/>
              <a:t>.</a:t>
            </a:r>
          </a:p>
          <a:p>
            <a:pPr lvl="1"/>
            <a:r>
              <a:rPr lang="pt-BR" sz="1200" dirty="0"/>
              <a:t>TIME</a:t>
            </a:r>
            <a:r>
              <a:rPr lang="pt-BR" dirty="0"/>
              <a:t>: Hora no formato </a:t>
            </a:r>
            <a:r>
              <a:rPr lang="pt-BR" sz="1200" dirty="0"/>
              <a:t>HH:MM:SS</a:t>
            </a:r>
            <a:r>
              <a:rPr lang="pt-BR" dirty="0"/>
              <a:t>.</a:t>
            </a:r>
          </a:p>
          <a:p>
            <a:pPr lvl="1"/>
            <a:r>
              <a:rPr lang="pt-BR" sz="1200" dirty="0"/>
              <a:t>DATETIME</a:t>
            </a:r>
            <a:r>
              <a:rPr lang="pt-BR" dirty="0"/>
              <a:t>: Combinação de data e hora no formato </a:t>
            </a:r>
            <a:r>
              <a:rPr lang="pt-BR" sz="1200" dirty="0"/>
              <a:t>YYYY-MM-DD HH:MM:SS</a:t>
            </a:r>
            <a:r>
              <a:rPr lang="pt-BR" dirty="0"/>
              <a:t>.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Tipos Binários</a:t>
            </a:r>
            <a:r>
              <a:rPr lang="pt-BR" dirty="0"/>
              <a:t>:</a:t>
            </a:r>
          </a:p>
          <a:p>
            <a:pPr lvl="1"/>
            <a:r>
              <a:rPr lang="pt-BR" sz="1200" dirty="0"/>
              <a:t>BINARY(n)</a:t>
            </a:r>
            <a:r>
              <a:rPr lang="pt-BR" dirty="0"/>
              <a:t>: Dados binários de comprimento fixo.</a:t>
            </a:r>
          </a:p>
          <a:p>
            <a:pPr lvl="1"/>
            <a:r>
              <a:rPr lang="pt-BR" sz="1200" dirty="0"/>
              <a:t>VARBINARY(n)</a:t>
            </a:r>
            <a:r>
              <a:rPr lang="pt-BR" dirty="0"/>
              <a:t>: Dados binários de comprimento variável.</a:t>
            </a:r>
          </a:p>
          <a:p>
            <a:pPr lvl="1"/>
            <a:r>
              <a:rPr lang="pt-BR" sz="1200" dirty="0"/>
              <a:t>BLOB</a:t>
            </a:r>
            <a:r>
              <a:rPr lang="pt-BR" dirty="0"/>
              <a:t>: Dados binários de grandes objetos (</a:t>
            </a:r>
            <a:r>
              <a:rPr lang="pt-BR" dirty="0" err="1"/>
              <a:t>Binary</a:t>
            </a:r>
            <a:r>
              <a:rPr lang="pt-BR" dirty="0"/>
              <a:t> Large </a:t>
            </a:r>
            <a:r>
              <a:rPr lang="pt-BR" dirty="0" err="1"/>
              <a:t>Object</a:t>
            </a:r>
            <a:r>
              <a:rPr lang="pt-BR" dirty="0"/>
              <a:t>).</a:t>
            </a:r>
          </a:p>
          <a:p>
            <a:pPr algn="just"/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93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0162C-C213-AAAC-A995-DF6B2FC1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809DE5-C3D9-810C-AADA-58E5B912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FD57C7-809C-977A-03AE-CD6B6AD0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79C0C5E-790C-50BB-D474-F2DB2C7A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C5EEB2-1EB5-D96D-0097-E1C9CE6650AC}"/>
              </a:ext>
            </a:extLst>
          </p:cNvPr>
          <p:cNvSpPr/>
          <p:nvPr/>
        </p:nvSpPr>
        <p:spPr>
          <a:xfrm>
            <a:off x="628650" y="460912"/>
            <a:ext cx="78867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Exemplo de Implementação</a:t>
            </a:r>
          </a:p>
          <a:p>
            <a:endParaRPr lang="pt-BR" dirty="0"/>
          </a:p>
          <a:p>
            <a:pPr algn="just"/>
            <a:r>
              <a:rPr lang="pt-BR" dirty="0"/>
              <a:t>Abaixo está um exemplo completo de um script SQL que cria as tabelas físicas, define os índices e otimiza o armazenamento para o sistema de biblioteca:</a:t>
            </a:r>
          </a:p>
          <a:p>
            <a:endParaRPr lang="pt-BR" dirty="0"/>
          </a:p>
          <a:p>
            <a:r>
              <a:rPr lang="pt-BR" dirty="0"/>
              <a:t> </a:t>
            </a:r>
            <a:r>
              <a:rPr lang="en-US" dirty="0"/>
              <a:t>CREATE TABLE </a:t>
            </a:r>
            <a:r>
              <a:rPr lang="en-US" dirty="0" err="1"/>
              <a:t>Livros</a:t>
            </a:r>
            <a:r>
              <a:rPr lang="en-US" dirty="0"/>
              <a:t> (</a:t>
            </a:r>
            <a:endParaRPr lang="pt-BR" dirty="0"/>
          </a:p>
          <a:p>
            <a:r>
              <a:rPr lang="en-US" dirty="0"/>
              <a:t>  ISBN VARCHAR(13)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Titulo VARCHAR(255) NOT NULL,</a:t>
            </a:r>
          </a:p>
          <a:p>
            <a:r>
              <a:rPr lang="pt-BR" dirty="0"/>
              <a:t>  </a:t>
            </a:r>
            <a:r>
              <a:rPr lang="pt-BR" dirty="0" err="1"/>
              <a:t>Ano_Publicacao</a:t>
            </a:r>
            <a:r>
              <a:rPr lang="pt-BR" dirty="0"/>
              <a:t> INT,</a:t>
            </a:r>
          </a:p>
          <a:p>
            <a:r>
              <a:rPr lang="pt-BR" dirty="0"/>
              <a:t>  </a:t>
            </a:r>
            <a:r>
              <a:rPr lang="en-US" dirty="0"/>
              <a:t>Genero VARCHAR(50)</a:t>
            </a:r>
            <a:endParaRPr lang="pt-BR" dirty="0"/>
          </a:p>
          <a:p>
            <a:r>
              <a:rPr lang="en-US" dirty="0"/>
              <a:t>);</a:t>
            </a:r>
            <a:endParaRPr lang="pt-BR" dirty="0"/>
          </a:p>
          <a:p>
            <a:r>
              <a:rPr lang="en-US" dirty="0"/>
              <a:t> </a:t>
            </a:r>
            <a:endParaRPr lang="pt-BR" dirty="0"/>
          </a:p>
          <a:p>
            <a:r>
              <a:rPr lang="en-US" dirty="0"/>
              <a:t>CREATE TABLE </a:t>
            </a:r>
            <a:r>
              <a:rPr lang="en-US" dirty="0" err="1"/>
              <a:t>Autores</a:t>
            </a:r>
            <a:r>
              <a:rPr lang="en-US" dirty="0"/>
              <a:t> (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ID_Autor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Nome VARCHAR(255) NOT NULL,</a:t>
            </a:r>
          </a:p>
          <a:p>
            <a:r>
              <a:rPr lang="pt-BR" dirty="0"/>
              <a:t>  </a:t>
            </a:r>
            <a:r>
              <a:rPr lang="pt-BR" dirty="0" err="1"/>
              <a:t>Data_Nascimento</a:t>
            </a:r>
            <a:r>
              <a:rPr lang="pt-BR" dirty="0"/>
              <a:t> DATE</a:t>
            </a:r>
          </a:p>
          <a:p>
            <a:r>
              <a:rPr lang="en-US" dirty="0"/>
              <a:t>);</a:t>
            </a:r>
            <a:endParaRPr lang="pt-BR" dirty="0"/>
          </a:p>
          <a:p>
            <a:pPr algn="just"/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732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0334B-2148-6B6C-47B9-8DD38815F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95EBD49-70B4-ADD5-C590-307A4322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A14BF3-4FF6-A4B9-316B-D8C60E1D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467B8703-7CD3-158B-64FD-DAB1493C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40178C-0D58-0BD5-B65C-48A1880EA03B}"/>
              </a:ext>
            </a:extLst>
          </p:cNvPr>
          <p:cNvSpPr/>
          <p:nvPr/>
        </p:nvSpPr>
        <p:spPr>
          <a:xfrm>
            <a:off x="628650" y="460912"/>
            <a:ext cx="78867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CREATE TABLE </a:t>
            </a:r>
            <a:r>
              <a:rPr lang="en-US" dirty="0" err="1"/>
              <a:t>Usuarios</a:t>
            </a:r>
            <a:r>
              <a:rPr lang="en-US" dirty="0"/>
              <a:t> (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ID_Usuario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/>
              <a:t>Nome VARCHAR(255) NOT NULL,</a:t>
            </a:r>
          </a:p>
          <a:p>
            <a:r>
              <a:rPr lang="pt-BR" dirty="0"/>
              <a:t>  </a:t>
            </a:r>
            <a:r>
              <a:rPr lang="pt-BR" dirty="0" err="1"/>
              <a:t>Endereco</a:t>
            </a:r>
            <a:r>
              <a:rPr lang="pt-BR" dirty="0"/>
              <a:t> VARCHAR(255)</a:t>
            </a:r>
          </a:p>
          <a:p>
            <a:r>
              <a:rPr lang="pt-BR" dirty="0"/>
              <a:t>);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CREATE TABLE </a:t>
            </a:r>
            <a:r>
              <a:rPr lang="pt-BR" dirty="0" err="1"/>
              <a:t>Emprestimos</a:t>
            </a:r>
            <a:r>
              <a:rPr lang="pt-BR" dirty="0"/>
              <a:t> (</a:t>
            </a:r>
          </a:p>
          <a:p>
            <a:r>
              <a:rPr lang="pt-BR" dirty="0"/>
              <a:t>  </a:t>
            </a:r>
            <a:r>
              <a:rPr lang="en-US" dirty="0" err="1"/>
              <a:t>ID_Emprestimo</a:t>
            </a:r>
            <a:r>
              <a:rPr lang="en-US" dirty="0"/>
              <a:t> INT PRIMARY KEY,</a:t>
            </a:r>
            <a:endParaRPr lang="pt-BR" dirty="0"/>
          </a:p>
          <a:p>
            <a:r>
              <a:rPr lang="en-US" dirty="0"/>
              <a:t>  </a:t>
            </a:r>
            <a:r>
              <a:rPr lang="pt-BR" dirty="0" err="1"/>
              <a:t>Data_Emprestimo</a:t>
            </a:r>
            <a:r>
              <a:rPr lang="pt-BR" dirty="0"/>
              <a:t> DATE,</a:t>
            </a:r>
          </a:p>
          <a:p>
            <a:r>
              <a:rPr lang="pt-BR" dirty="0"/>
              <a:t>  </a:t>
            </a:r>
            <a:r>
              <a:rPr lang="pt-BR" dirty="0" err="1"/>
              <a:t>Data_Devolucao</a:t>
            </a:r>
            <a:r>
              <a:rPr lang="pt-BR" dirty="0"/>
              <a:t> DATE,</a:t>
            </a:r>
          </a:p>
          <a:p>
            <a:r>
              <a:rPr lang="pt-BR" dirty="0"/>
              <a:t>  ISBN VARCHAR(13),</a:t>
            </a:r>
          </a:p>
          <a:p>
            <a:r>
              <a:rPr lang="pt-BR" dirty="0"/>
              <a:t>  </a:t>
            </a:r>
            <a:r>
              <a:rPr lang="en-US" dirty="0" err="1"/>
              <a:t>ID_Usuario</a:t>
            </a:r>
            <a:r>
              <a:rPr lang="en-US" dirty="0"/>
              <a:t> INT,</a:t>
            </a:r>
            <a:endParaRPr lang="pt-BR" dirty="0"/>
          </a:p>
          <a:p>
            <a:r>
              <a:rPr lang="en-US" dirty="0"/>
              <a:t>  FOREIGN KEY (ISBN) REFERENCES </a:t>
            </a:r>
            <a:r>
              <a:rPr lang="en-US" dirty="0" err="1"/>
              <a:t>Livros</a:t>
            </a:r>
            <a:r>
              <a:rPr lang="en-US" dirty="0"/>
              <a:t>(ISBN),</a:t>
            </a:r>
            <a:endParaRPr lang="pt-BR" dirty="0"/>
          </a:p>
          <a:p>
            <a:r>
              <a:rPr lang="en-US" dirty="0"/>
              <a:t>  FOREIGN KEY (</a:t>
            </a:r>
            <a:r>
              <a:rPr lang="en-US" dirty="0" err="1"/>
              <a:t>ID_Usuario</a:t>
            </a:r>
            <a:r>
              <a:rPr lang="en-US" dirty="0"/>
              <a:t>) REFERENCES </a:t>
            </a:r>
            <a:r>
              <a:rPr lang="en-US" dirty="0" err="1"/>
              <a:t>Usuarios</a:t>
            </a:r>
            <a:r>
              <a:rPr lang="en-US" dirty="0"/>
              <a:t>(</a:t>
            </a:r>
            <a:r>
              <a:rPr lang="en-US" dirty="0" err="1"/>
              <a:t>ID_Usuario</a:t>
            </a:r>
            <a:r>
              <a:rPr lang="en-US" dirty="0"/>
              <a:t>)</a:t>
            </a:r>
            <a:endParaRPr lang="pt-BR" dirty="0"/>
          </a:p>
          <a:p>
            <a:r>
              <a:rPr lang="en-US" dirty="0"/>
              <a:t>);</a:t>
            </a:r>
            <a:endParaRPr lang="pt-BR" dirty="0"/>
          </a:p>
          <a:p>
            <a:pPr algn="just"/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807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E3AA-065D-9024-FA5E-EAF1DC5F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9B4010-63D9-BCF7-EB67-E0805B448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92CB6F-48CB-DA6A-7B10-9AA0A378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088AC08-05E5-D4C0-85F1-C9285D63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C7BA600-57C2-96C7-5EB4-6F63613136CF}"/>
              </a:ext>
            </a:extLst>
          </p:cNvPr>
          <p:cNvSpPr/>
          <p:nvPr/>
        </p:nvSpPr>
        <p:spPr>
          <a:xfrm>
            <a:off x="628650" y="460912"/>
            <a:ext cx="78867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CREATE TABLE </a:t>
            </a:r>
            <a:r>
              <a:rPr lang="en-US" dirty="0" err="1"/>
              <a:t>Livros_Autores</a:t>
            </a:r>
            <a:r>
              <a:rPr lang="en-US" dirty="0"/>
              <a:t> (</a:t>
            </a:r>
            <a:endParaRPr lang="pt-BR" dirty="0"/>
          </a:p>
          <a:p>
            <a:r>
              <a:rPr lang="en-US" dirty="0"/>
              <a:t>  ISBN VARCHAR(13),</a:t>
            </a:r>
            <a:endParaRPr lang="pt-BR" dirty="0"/>
          </a:p>
          <a:p>
            <a:r>
              <a:rPr lang="en-US" dirty="0"/>
              <a:t>  </a:t>
            </a:r>
            <a:r>
              <a:rPr lang="en-US" dirty="0" err="1"/>
              <a:t>ID_Autor</a:t>
            </a:r>
            <a:r>
              <a:rPr lang="en-US" dirty="0"/>
              <a:t> INT,</a:t>
            </a:r>
            <a:endParaRPr lang="pt-BR" dirty="0"/>
          </a:p>
          <a:p>
            <a:r>
              <a:rPr lang="en-US" dirty="0"/>
              <a:t>  PRIMARY KEY (ISBN, </a:t>
            </a:r>
            <a:r>
              <a:rPr lang="en-US" dirty="0" err="1"/>
              <a:t>ID_Autor</a:t>
            </a:r>
            <a:r>
              <a:rPr lang="en-US" dirty="0"/>
              <a:t>),</a:t>
            </a:r>
            <a:endParaRPr lang="pt-BR" dirty="0"/>
          </a:p>
          <a:p>
            <a:r>
              <a:rPr lang="en-US" dirty="0"/>
              <a:t>  FOREIGN KEY (ISBN) REFERENCES </a:t>
            </a:r>
            <a:r>
              <a:rPr lang="en-US" dirty="0" err="1"/>
              <a:t>Livros</a:t>
            </a:r>
            <a:r>
              <a:rPr lang="en-US" dirty="0"/>
              <a:t>(ISBN),</a:t>
            </a:r>
            <a:endParaRPr lang="pt-BR" dirty="0"/>
          </a:p>
          <a:p>
            <a:r>
              <a:rPr lang="en-US" dirty="0"/>
              <a:t>  FOREIGN KEY (</a:t>
            </a:r>
            <a:r>
              <a:rPr lang="en-US" dirty="0" err="1"/>
              <a:t>ID_Autor</a:t>
            </a:r>
            <a:r>
              <a:rPr lang="en-US" dirty="0"/>
              <a:t>) REFERENCES </a:t>
            </a:r>
            <a:r>
              <a:rPr lang="en-US" dirty="0" err="1"/>
              <a:t>Autores</a:t>
            </a:r>
            <a:r>
              <a:rPr lang="en-US" dirty="0"/>
              <a:t>(</a:t>
            </a:r>
            <a:r>
              <a:rPr lang="en-US" dirty="0" err="1"/>
              <a:t>ID_Autor</a:t>
            </a:r>
            <a:r>
              <a:rPr lang="en-US" dirty="0"/>
              <a:t>)</a:t>
            </a:r>
            <a:endParaRPr lang="pt-BR" dirty="0"/>
          </a:p>
          <a:p>
            <a:r>
              <a:rPr lang="pt-BR" dirty="0"/>
              <a:t>);</a:t>
            </a:r>
          </a:p>
          <a:p>
            <a:r>
              <a:rPr lang="pt-BR" dirty="0"/>
              <a:t> </a:t>
            </a:r>
          </a:p>
          <a:p>
            <a:endParaRPr lang="pt-BR" dirty="0"/>
          </a:p>
          <a:p>
            <a:r>
              <a:rPr lang="pt-BR" dirty="0"/>
              <a:t>-- Criação de índices</a:t>
            </a:r>
          </a:p>
          <a:p>
            <a:r>
              <a:rPr lang="pt-BR" dirty="0"/>
              <a:t>CREATE INDEX </a:t>
            </a:r>
            <a:r>
              <a:rPr lang="pt-BR" dirty="0" err="1"/>
              <a:t>idx_titulo</a:t>
            </a:r>
            <a:r>
              <a:rPr lang="pt-BR" dirty="0"/>
              <a:t> ON Livros(Titulo);</a:t>
            </a:r>
          </a:p>
          <a:p>
            <a:r>
              <a:rPr lang="pt-BR" dirty="0"/>
              <a:t>CREATE INDEX </a:t>
            </a:r>
            <a:r>
              <a:rPr lang="pt-BR" dirty="0" err="1"/>
              <a:t>idx_autor_nome</a:t>
            </a:r>
            <a:r>
              <a:rPr lang="pt-BR" dirty="0"/>
              <a:t> ON Autores(Nome);</a:t>
            </a:r>
          </a:p>
          <a:p>
            <a:r>
              <a:rPr lang="pt-BR" dirty="0"/>
              <a:t>CREATE INDEX </a:t>
            </a:r>
            <a:r>
              <a:rPr lang="pt-BR" dirty="0" err="1"/>
              <a:t>idx_usuario_nome</a:t>
            </a:r>
            <a:r>
              <a:rPr lang="pt-BR" dirty="0"/>
              <a:t> ON </a:t>
            </a:r>
            <a:r>
              <a:rPr lang="pt-BR" dirty="0" err="1"/>
              <a:t>Usuarios</a:t>
            </a:r>
            <a:r>
              <a:rPr lang="pt-BR" dirty="0"/>
              <a:t>(Nome);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-- Otimização de armazenamento e escolha de tipos de dados apropriados</a:t>
            </a:r>
          </a:p>
          <a:p>
            <a:pPr algn="just"/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02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8B61C-AECF-F1FC-ADA9-8D4208FF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7B78F1-12B4-61C8-4F1B-0BD01926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88BD2-5ACC-4223-B829-1A5615D0D9E1}" type="datetime1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28/02/2026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DABD42-1F72-C52F-8269-53129671D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Professor MSc. Elionai Magalhães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4C03F90-8CC9-BF29-E602-F76EFFEE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BA48852-3E04-A275-352A-09EEC91E3726}"/>
              </a:ext>
            </a:extLst>
          </p:cNvPr>
          <p:cNvSpPr/>
          <p:nvPr/>
        </p:nvSpPr>
        <p:spPr>
          <a:xfrm>
            <a:off x="628650" y="460912"/>
            <a:ext cx="7886700" cy="378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/>
              <a:t>Conclusão</a:t>
            </a:r>
          </a:p>
          <a:p>
            <a:pPr>
              <a:lnSpc>
                <a:spcPct val="150000"/>
              </a:lnSpc>
            </a:pPr>
            <a:endParaRPr lang="pt-BR" dirty="0"/>
          </a:p>
          <a:p>
            <a:pPr algn="just">
              <a:lnSpc>
                <a:spcPct val="150000"/>
              </a:lnSpc>
            </a:pPr>
            <a:r>
              <a:rPr lang="pt-BR" dirty="0"/>
              <a:t>Implementar esquemas lógicos em bancos de dados físicos é uma etapa crucial no desenvolvimento de sistemas de banco de dados eficientes e eficazes. Isso envolve a criação de tabelas, definição de índices, otimização de armazenamento e escolha adequada dos tipos de dados. Compreender esses aspectos garante que o banco de dados funcione de maneira rápida, segura e escalável, atendendo às necessidades específicas das aplicações e usuários finais.</a:t>
            </a:r>
          </a:p>
          <a:p>
            <a:pPr algn="just">
              <a:lnSpc>
                <a:spcPct val="150000"/>
              </a:lnSpc>
            </a:pPr>
            <a:endParaRPr lang="pt-BR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615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343604E-84C7-18EF-DBE5-63A52A3AC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76E6E-9FB3-4E4E-A99A-837BEC0FF80E}" type="datetime1">
              <a:rPr lang="pt-BR" smtClean="0"/>
              <a:t>28/02/2026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98D498-D767-C2DA-8E35-92C6CC9A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Professor MSc. Elionai Magalhães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22A3EC-3004-EB7F-56B8-4862D017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7B986-2480-449B-886E-7A027CF271D4}" type="slidenum">
              <a:rPr lang="pt-BR" smtClean="0"/>
              <a:pPr/>
              <a:t>14</a:t>
            </a:fld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C4AB5A-639F-7A67-F15E-42C337E83D88}"/>
              </a:ext>
            </a:extLst>
          </p:cNvPr>
          <p:cNvSpPr txBox="1"/>
          <p:nvPr/>
        </p:nvSpPr>
        <p:spPr>
          <a:xfrm>
            <a:off x="503548" y="2136338"/>
            <a:ext cx="81369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Referência: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(Informada na ementa e disponível na biblioteca digital)</a:t>
            </a:r>
          </a:p>
          <a:p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PICHETTI, Roni F.; VIDA,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Edinilson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S.; CORTES, Vanessa S. M P. Banco de dados. Porto Alegre: Grupo A, 2021. E-book. ISBN 9786556900186. 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Disponível em: </a:t>
            </a: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https://integrada.minhabiblioteca.com.br/#/books/9786556900186/. </a:t>
            </a:r>
          </a:p>
        </p:txBody>
      </p:sp>
    </p:spTree>
    <p:extLst>
      <p:ext uri="{BB962C8B-B14F-4D97-AF65-F5344CB8AC3E}">
        <p14:creationId xmlns:p14="http://schemas.microsoft.com/office/powerpoint/2010/main" val="14577079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18162</TotalTime>
  <Words>1327</Words>
  <Application>Microsoft Office PowerPoint</Application>
  <PresentationFormat>Apresentação na tela (4:3)</PresentationFormat>
  <Paragraphs>202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Exagerado</dc:creator>
  <cp:lastModifiedBy>Elionai Magalhaes 487017 - Professor MULTIVIX</cp:lastModifiedBy>
  <cp:revision>943</cp:revision>
  <dcterms:created xsi:type="dcterms:W3CDTF">2019-04-29T13:17:28Z</dcterms:created>
  <dcterms:modified xsi:type="dcterms:W3CDTF">2026-02-28T20:21:40Z</dcterms:modified>
</cp:coreProperties>
</file>