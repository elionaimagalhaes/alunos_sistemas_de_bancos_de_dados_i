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D7506-B83D-482A-098C-77C149B8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FEB2CA-F2E4-8138-9BF5-065596CD4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F24F97-BC8B-606A-11D8-26C09E55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C0612E-7002-DA2C-45BA-CB4C33A0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AE87E6-87D1-80F2-99DA-C0E76E65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69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E4F3B-98D9-F372-574F-9B78799C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77436-4C89-F949-434B-AA5C2CA6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B19FC0-6073-CAF6-3173-3C96BA7E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1B2D47-BB9B-391C-4234-223F478E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397C9B-D791-13EB-4FE0-74CDB030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23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68056-3348-E00C-69BC-AF33FD368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5C59F7-1626-02FE-9B29-B7E85991F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00FF90-99D4-EB03-2FCF-E5ED6279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876161-A882-A501-85B9-3F7D90A3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319D7C-3970-4DD4-DE1F-102C2C87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95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A45D5-09C8-DF36-A499-93BAEF31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65759F-6BBF-912E-8B3E-430BF2866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A5C340-1570-CE52-FC2D-020F7E035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E9874B-1D1A-9667-8638-4E0A4B80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B599E9-1515-1266-031B-FF4EC3A0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A02055-BCF7-1CC8-D65D-C577FD85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9BB14-5140-1EFE-B3D3-40E827FE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529E70-673F-2D8C-B2A1-44E10C4FA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A7C855-4197-B467-575E-5F820EF2B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F31B0E-1AE7-EAEA-E306-6D12703AE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54E5BF-711B-86EA-B204-9C3009F01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F2CB35-A8A2-3EDC-5F21-2FD34CE2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9A3F27C-EEDB-D5CD-4877-C40BAE28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8E9A2AA-76A3-FF11-A084-8FAD078C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55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A5536-91CD-D9F0-9E90-B4D3C0C2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7529B0-A095-8FCB-4A81-B6A77264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4CFBDC-AB2C-CB84-FAFF-3D1BD664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4BFA12-1C52-5B54-F7FB-63813CD8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46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AFAB96-5416-4FD3-DA37-B127BEB8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775D1A8-E499-D5CF-75E6-ECAACC35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2AF21F-4C94-33CD-021A-E6553EFC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70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DF668-AF57-A785-2CAB-9A080C6D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6E71BB-81CB-D475-3C0B-D2FCEC47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72FA3B-F947-794B-71FA-4CFFF0ACA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EFD0B1-699A-5C17-19EF-4E0C00C1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7FE0D8-E4BF-98D7-216D-6192C424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11D949-0BF9-8808-27CD-E5360CC2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26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B1A32-3B3B-3A1F-7BF6-5BC821D3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5A93C7E-BA60-5050-2291-191E67B01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121BF3-73CE-6993-8239-7CCC20EA3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2094A2-ED62-9C32-2FF0-AF6B4DC0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4473DD-AB4F-E78E-9C46-17E7D501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71D9A5-AFD9-8EAB-5E8F-1A92C46E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3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F7778-4017-6D6D-5D2A-013BDE57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4C9DAC-FE6A-8C33-32B0-3CD897F21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7D7C08-CBF2-69F0-318E-C43D2A4E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A43B3D-6A59-67EC-1F40-DD1329502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77368C-0F0C-CFC2-BB31-E85761E9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68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6290BF-4E96-59A5-DDF4-8BDB1069B4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04FBD3-6575-0E89-A24A-0D2D82712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841960-D177-F11B-EF57-5DFAC0C3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E251C9-D3C0-4229-8054-01F85C8D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2D32D4-7A4F-0A68-9F93-5759D61F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56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995A4A-9156-8BC1-0A59-B24ACF64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0C2823-70A1-44A3-E9AC-0F42A1DFA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DE238C-27F0-4F43-D9CC-FA4DCF616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15314-32E1-454B-AF74-A9485592357B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4D1830-D16E-845B-5886-37371D37C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A20241-E8B3-83E0-3325-AF06352EB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A337E-E215-4A10-93BC-9068EB4D2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8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B0598-9ED9-6B85-AD52-522D1F9B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962247"/>
          </a:xfrm>
        </p:spPr>
        <p:txBody>
          <a:bodyPr>
            <a:normAutofit/>
          </a:bodyPr>
          <a:lstStyle/>
          <a:p>
            <a:r>
              <a:rPr lang="pt-BR" dirty="0"/>
              <a:t>Conceitos do modelo relacional: tabelas, chaves, restrições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AC8FB0-A507-3701-7015-687528E42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27374"/>
            <a:ext cx="10311581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dirty="0">
                <a:latin typeface="Arial" panose="020B0604020202020204" pitchFamily="34" charset="0"/>
              </a:rPr>
              <a:t>SQL é a linguagem padrão para trabalhar com bancos de dados relacionais.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dirty="0">
                <a:latin typeface="Arial" panose="020B0604020202020204" pitchFamily="34" charset="0"/>
              </a:rPr>
              <a:t>Dentro dela, o DDL (Data </a:t>
            </a:r>
            <a:r>
              <a:rPr lang="pt-BR" altLang="pt-BR" sz="2400" dirty="0" err="1">
                <a:latin typeface="Arial" panose="020B0604020202020204" pitchFamily="34" charset="0"/>
              </a:rPr>
              <a:t>Definition</a:t>
            </a:r>
            <a:r>
              <a:rPr lang="pt-BR" altLang="pt-BR" sz="2400" dirty="0">
                <a:latin typeface="Arial" panose="020B0604020202020204" pitchFamily="34" charset="0"/>
              </a:rPr>
              <a:t> </a:t>
            </a:r>
            <a:r>
              <a:rPr lang="pt-BR" altLang="pt-BR" sz="2400" dirty="0" err="1">
                <a:latin typeface="Arial" panose="020B0604020202020204" pitchFamily="34" charset="0"/>
              </a:rPr>
              <a:t>Language</a:t>
            </a:r>
            <a:r>
              <a:rPr lang="pt-BR" altLang="pt-BR" sz="2400" dirty="0">
                <a:latin typeface="Arial" panose="020B0604020202020204" pitchFamily="34" charset="0"/>
              </a:rPr>
              <a:t>) é usado para </a:t>
            </a:r>
            <a:r>
              <a:rPr lang="pt-BR" altLang="pt-BR" sz="2400" b="1" dirty="0">
                <a:latin typeface="Arial" panose="020B0604020202020204" pitchFamily="34" charset="0"/>
              </a:rPr>
              <a:t>criar, modificar e excluir estruturas de banco de dados</a:t>
            </a:r>
            <a:r>
              <a:rPr lang="pt-BR" altLang="pt-BR" sz="2400" dirty="0">
                <a:latin typeface="Arial" panose="020B0604020202020204" pitchFamily="34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dirty="0">
                <a:latin typeface="Arial" panose="020B0604020202020204" pitchFamily="34" charset="0"/>
              </a:rPr>
              <a:t>Neste material, vamos aprender como criar tabelas e entender os principais comandos relacionados.</a:t>
            </a:r>
          </a:p>
        </p:txBody>
      </p:sp>
    </p:spTree>
    <p:extLst>
      <p:ext uri="{BB962C8B-B14F-4D97-AF65-F5344CB8AC3E}">
        <p14:creationId xmlns:p14="http://schemas.microsoft.com/office/powerpoint/2010/main" val="14539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F341-D8C0-37F8-C735-1E36C7E5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F4722-A817-2F08-8931-CFCA9267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SQL?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3A7CDDE-9132-7360-EEEC-47803189B5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8597"/>
            <a:ext cx="10105103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SQL significa </a:t>
            </a:r>
            <a:r>
              <a:rPr lang="pt-BR" altLang="pt-BR" sz="2000" b="1" dirty="0" err="1">
                <a:latin typeface="Arial" panose="020B0604020202020204" pitchFamily="34" charset="0"/>
              </a:rPr>
              <a:t>Structured</a:t>
            </a:r>
            <a:r>
              <a:rPr lang="pt-BR" altLang="pt-BR" sz="2000" b="1" dirty="0">
                <a:latin typeface="Arial" panose="020B0604020202020204" pitchFamily="34" charset="0"/>
              </a:rPr>
              <a:t> Query </a:t>
            </a:r>
            <a:r>
              <a:rPr lang="pt-BR" altLang="pt-BR" sz="2000" b="1" dirty="0" err="1">
                <a:latin typeface="Arial" panose="020B0604020202020204" pitchFamily="34" charset="0"/>
              </a:rPr>
              <a:t>Language</a:t>
            </a:r>
            <a:r>
              <a:rPr lang="pt-BR" altLang="pt-BR" sz="2000" dirty="0">
                <a:latin typeface="Arial" panose="020B0604020202020204" pitchFamily="34" charset="0"/>
              </a:rPr>
              <a:t> (Linguagem de Consulta Estruturada).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É usada para </a:t>
            </a:r>
            <a:r>
              <a:rPr lang="pt-BR" altLang="pt-BR" sz="2000" b="1" dirty="0">
                <a:latin typeface="Arial" panose="020B0604020202020204" pitchFamily="34" charset="0"/>
              </a:rPr>
              <a:t>definir, manipular e consultar</a:t>
            </a:r>
            <a:r>
              <a:rPr lang="pt-BR" altLang="pt-BR" sz="2000" dirty="0">
                <a:latin typeface="Arial" panose="020B0604020202020204" pitchFamily="34" charset="0"/>
              </a:rPr>
              <a:t> dados em bancos de dados relacionais.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Possui diferentes subconjuntos de comandos, como: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latin typeface="Arial" panose="020B0604020202020204" pitchFamily="34" charset="0"/>
              </a:rPr>
              <a:t>DDL</a:t>
            </a:r>
            <a:r>
              <a:rPr lang="pt-BR" altLang="pt-BR" sz="2000" dirty="0">
                <a:latin typeface="Arial" panose="020B0604020202020204" pitchFamily="34" charset="0"/>
              </a:rPr>
              <a:t> (Data </a:t>
            </a:r>
            <a:r>
              <a:rPr lang="pt-BR" altLang="pt-BR" sz="2000" dirty="0" err="1">
                <a:latin typeface="Arial" panose="020B0604020202020204" pitchFamily="34" charset="0"/>
              </a:rPr>
              <a:t>Definition</a:t>
            </a:r>
            <a:r>
              <a:rPr lang="pt-BR" altLang="pt-BR" sz="2000" dirty="0">
                <a:latin typeface="Arial" panose="020B0604020202020204" pitchFamily="34" charset="0"/>
              </a:rPr>
              <a:t> </a:t>
            </a:r>
            <a:r>
              <a:rPr lang="pt-BR" altLang="pt-BR" sz="2000" dirty="0" err="1">
                <a:latin typeface="Arial" panose="020B0604020202020204" pitchFamily="34" charset="0"/>
              </a:rPr>
              <a:t>Language</a:t>
            </a:r>
            <a:r>
              <a:rPr lang="pt-BR" altLang="pt-BR" sz="2000" dirty="0">
                <a:latin typeface="Arial" panose="020B0604020202020204" pitchFamily="34" charset="0"/>
              </a:rPr>
              <a:t>) – definição da estrutura.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latin typeface="Arial" panose="020B0604020202020204" pitchFamily="34" charset="0"/>
              </a:rPr>
              <a:t>DML</a:t>
            </a:r>
            <a:r>
              <a:rPr lang="pt-BR" altLang="pt-BR" sz="2000" dirty="0">
                <a:latin typeface="Arial" panose="020B0604020202020204" pitchFamily="34" charset="0"/>
              </a:rPr>
              <a:t> (Data </a:t>
            </a:r>
            <a:r>
              <a:rPr lang="pt-BR" altLang="pt-BR" sz="2000" dirty="0" err="1">
                <a:latin typeface="Arial" panose="020B0604020202020204" pitchFamily="34" charset="0"/>
              </a:rPr>
              <a:t>Manipulation</a:t>
            </a:r>
            <a:r>
              <a:rPr lang="pt-BR" altLang="pt-BR" sz="2000" dirty="0">
                <a:latin typeface="Arial" panose="020B0604020202020204" pitchFamily="34" charset="0"/>
              </a:rPr>
              <a:t> </a:t>
            </a:r>
            <a:r>
              <a:rPr lang="pt-BR" altLang="pt-BR" sz="2000" dirty="0" err="1">
                <a:latin typeface="Arial" panose="020B0604020202020204" pitchFamily="34" charset="0"/>
              </a:rPr>
              <a:t>Language</a:t>
            </a:r>
            <a:r>
              <a:rPr lang="pt-BR" altLang="pt-BR" sz="2000" dirty="0">
                <a:latin typeface="Arial" panose="020B0604020202020204" pitchFamily="34" charset="0"/>
              </a:rPr>
              <a:t>) – manipulação dos dados.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latin typeface="Arial" panose="020B0604020202020204" pitchFamily="34" charset="0"/>
              </a:rPr>
              <a:t>DCL</a:t>
            </a:r>
            <a:r>
              <a:rPr lang="pt-BR" altLang="pt-BR" sz="2000" dirty="0">
                <a:latin typeface="Arial" panose="020B0604020202020204" pitchFamily="34" charset="0"/>
              </a:rPr>
              <a:t> (Data </a:t>
            </a:r>
            <a:r>
              <a:rPr lang="pt-BR" altLang="pt-BR" sz="2000" dirty="0" err="1">
                <a:latin typeface="Arial" panose="020B0604020202020204" pitchFamily="34" charset="0"/>
              </a:rPr>
              <a:t>Control</a:t>
            </a:r>
            <a:r>
              <a:rPr lang="pt-BR" altLang="pt-BR" sz="2000" dirty="0">
                <a:latin typeface="Arial" panose="020B0604020202020204" pitchFamily="34" charset="0"/>
              </a:rPr>
              <a:t> </a:t>
            </a:r>
            <a:r>
              <a:rPr lang="pt-BR" altLang="pt-BR" sz="2000" dirty="0" err="1">
                <a:latin typeface="Arial" panose="020B0604020202020204" pitchFamily="34" charset="0"/>
              </a:rPr>
              <a:t>Language</a:t>
            </a:r>
            <a:r>
              <a:rPr lang="pt-BR" altLang="pt-BR" sz="2000" dirty="0">
                <a:latin typeface="Arial" panose="020B0604020202020204" pitchFamily="34" charset="0"/>
              </a:rPr>
              <a:t>) – controle de acesso.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47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B496-E548-560C-4537-AA137455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BBD18-0868-3724-6C8D-B86C547F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DDL?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2CF345-91F5-9F07-F03C-8DB7C06B1D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2817"/>
            <a:ext cx="10105103" cy="4278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DDL (Data </a:t>
            </a:r>
            <a:r>
              <a:rPr lang="pt-BR" b="1" dirty="0" err="1"/>
              <a:t>Definition</a:t>
            </a:r>
            <a:r>
              <a:rPr lang="pt-BR" b="1" dirty="0"/>
              <a:t>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  <a:r>
              <a:rPr lang="pt-BR" dirty="0"/>
              <a:t> é a parte do SQL que lida com a </a:t>
            </a:r>
            <a:r>
              <a:rPr lang="pt-BR" b="1" dirty="0"/>
              <a:t>estrutura do banco de dados</a:t>
            </a:r>
            <a:r>
              <a:rPr lang="pt-BR" dirty="0"/>
              <a:t>.</a:t>
            </a:r>
          </a:p>
          <a:p>
            <a:r>
              <a:rPr lang="pt-BR" dirty="0"/>
              <a:t>Permite </a:t>
            </a:r>
            <a:r>
              <a:rPr lang="pt-BR" b="1" dirty="0"/>
              <a:t>criar, alterar e excluir</a:t>
            </a:r>
            <a:r>
              <a:rPr lang="pt-BR" dirty="0"/>
              <a:t> objetos como:</a:t>
            </a:r>
          </a:p>
          <a:p>
            <a:pPr lvl="1"/>
            <a:r>
              <a:rPr lang="pt-BR" dirty="0"/>
              <a:t>Tabelas</a:t>
            </a:r>
          </a:p>
          <a:p>
            <a:pPr lvl="1"/>
            <a:r>
              <a:rPr lang="pt-BR" dirty="0"/>
              <a:t>Índices</a:t>
            </a:r>
          </a:p>
          <a:p>
            <a:pPr lvl="1"/>
            <a:r>
              <a:rPr lang="pt-BR" dirty="0"/>
              <a:t>Visões (</a:t>
            </a:r>
            <a:r>
              <a:rPr lang="pt-BR" dirty="0" err="1"/>
              <a:t>views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Esquemas</a:t>
            </a:r>
          </a:p>
          <a:p>
            <a:r>
              <a:rPr lang="pt-BR" dirty="0"/>
              <a:t>Foco principal: </a:t>
            </a:r>
            <a:r>
              <a:rPr lang="pt-BR" b="1" dirty="0"/>
              <a:t>definição da organização dos dados</a:t>
            </a:r>
            <a:r>
              <a:rPr lang="pt-BR" dirty="0"/>
              <a:t> antes do seu uso.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5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41E4-F043-A497-ED61-5FC30754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93DCF-63EF-4D60-D8BC-02AF56E8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comandos DDL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E790E4-EB9C-8BBA-D495-01608ACEE3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72555"/>
            <a:ext cx="10105103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" panose="020B0604020202020204" pitchFamily="34" charset="0"/>
              </a:rPr>
              <a:t>CREATE → usado para criar tabelas e outros objetos no banco.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" panose="020B0604020202020204" pitchFamily="34" charset="0"/>
              </a:rPr>
              <a:t>ALTER → usado para modificar tabelas existentes.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" panose="020B0604020202020204" pitchFamily="34" charset="0"/>
              </a:rPr>
              <a:t>DROP → usado para excluir tabelas ou objetos do banco.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" panose="020B0604020202020204" pitchFamily="34" charset="0"/>
              </a:rPr>
              <a:t>TRUNCATE → limpa todos os dados de uma tabela, mas mantém a estrutura.</a:t>
            </a:r>
          </a:p>
        </p:txBody>
      </p:sp>
    </p:spTree>
    <p:extLst>
      <p:ext uri="{BB962C8B-B14F-4D97-AF65-F5344CB8AC3E}">
        <p14:creationId xmlns:p14="http://schemas.microsoft.com/office/powerpoint/2010/main" val="426499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CD9D-54C5-F547-121C-D61DB2FD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554CF-00A3-CD50-36C7-D9BC13596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Tabela?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0D243A0-651F-77F9-C6D9-2031C456D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9756" y="1721576"/>
            <a:ext cx="10039928" cy="4480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É a </a:t>
            </a:r>
            <a:r>
              <a:rPr lang="pt-BR" altLang="pt-BR" sz="2200" b="1" dirty="0">
                <a:latin typeface="Arial" panose="020B0604020202020204" pitchFamily="34" charset="0"/>
              </a:rPr>
              <a:t>estrutura básica</a:t>
            </a:r>
            <a:r>
              <a:rPr lang="pt-BR" altLang="pt-BR" sz="2200" dirty="0">
                <a:latin typeface="Arial" panose="020B0604020202020204" pitchFamily="34" charset="0"/>
              </a:rPr>
              <a:t> de armazenamento de dados em um banco relacional.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Organiza os dados em </a:t>
            </a:r>
            <a:r>
              <a:rPr lang="pt-BR" altLang="pt-BR" sz="2200" b="1" dirty="0">
                <a:latin typeface="Arial" panose="020B0604020202020204" pitchFamily="34" charset="0"/>
              </a:rPr>
              <a:t>linhas (registros)</a:t>
            </a:r>
            <a:r>
              <a:rPr lang="pt-BR" altLang="pt-BR" sz="2200" dirty="0">
                <a:latin typeface="Arial" panose="020B0604020202020204" pitchFamily="34" charset="0"/>
              </a:rPr>
              <a:t> e </a:t>
            </a:r>
            <a:r>
              <a:rPr lang="pt-BR" altLang="pt-BR" sz="2200" b="1" dirty="0">
                <a:latin typeface="Arial" panose="020B0604020202020204" pitchFamily="34" charset="0"/>
              </a:rPr>
              <a:t>colunas (atributos)</a:t>
            </a:r>
            <a:r>
              <a:rPr lang="pt-BR" altLang="pt-BR" sz="2200" dirty="0">
                <a:latin typeface="Arial" panose="020B0604020202020204" pitchFamily="34" charset="0"/>
              </a:rPr>
              <a:t>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Cada tabela representa um </a:t>
            </a:r>
            <a:r>
              <a:rPr lang="pt-BR" altLang="pt-BR" sz="2200" b="1" dirty="0">
                <a:latin typeface="Arial" panose="020B0604020202020204" pitchFamily="34" charset="0"/>
              </a:rPr>
              <a:t>conjunto de informações</a:t>
            </a:r>
            <a:r>
              <a:rPr lang="pt-BR" altLang="pt-BR" sz="2200" dirty="0">
                <a:latin typeface="Arial" panose="020B0604020202020204" pitchFamily="34" charset="0"/>
              </a:rPr>
              <a:t> sobre um tema, como:</a:t>
            </a:r>
          </a:p>
          <a:p>
            <a:pPr marL="457200" lvl="1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>
                <a:latin typeface="Arial" panose="020B0604020202020204" pitchFamily="34" charset="0"/>
              </a:rPr>
              <a:t>Alunos</a:t>
            </a:r>
          </a:p>
          <a:p>
            <a:pPr marL="457200" lvl="1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>
                <a:latin typeface="Arial" panose="020B0604020202020204" pitchFamily="34" charset="0"/>
              </a:rPr>
              <a:t>Produtos</a:t>
            </a:r>
          </a:p>
          <a:p>
            <a:pPr marL="457200" lvl="1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>
                <a:latin typeface="Arial" panose="020B0604020202020204" pitchFamily="34" charset="0"/>
              </a:rPr>
              <a:t>Funcionários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44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AFC7-2BB3-2518-0B3E-4FA38A10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05B3D-D05E-B201-67EF-BE5DD640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uma Tabela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A5DEDB-E032-445F-02E0-8943912EE0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36661"/>
            <a:ext cx="9996948" cy="404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Colunas (campos):</a:t>
            </a:r>
            <a:r>
              <a:rPr lang="pt-BR" altLang="pt-BR" sz="2200" dirty="0">
                <a:latin typeface="Arial" panose="020B0604020202020204" pitchFamily="34" charset="0"/>
              </a:rPr>
              <a:t> definem os tipos de dados que serão armazenados.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Linhas (registros):</a:t>
            </a:r>
            <a:r>
              <a:rPr lang="pt-BR" altLang="pt-BR" sz="2200" dirty="0">
                <a:latin typeface="Arial" panose="020B0604020202020204" pitchFamily="34" charset="0"/>
              </a:rPr>
              <a:t> representam as instâncias reais dos dados.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Cada coluna possui um </a:t>
            </a:r>
            <a:r>
              <a:rPr lang="pt-BR" altLang="pt-BR" sz="2200" b="1" dirty="0">
                <a:latin typeface="Arial" panose="020B0604020202020204" pitchFamily="34" charset="0"/>
              </a:rPr>
              <a:t>nome</a:t>
            </a:r>
            <a:r>
              <a:rPr lang="pt-BR" altLang="pt-BR" sz="2200" dirty="0">
                <a:latin typeface="Arial" panose="020B0604020202020204" pitchFamily="34" charset="0"/>
              </a:rPr>
              <a:t> e um </a:t>
            </a:r>
            <a:r>
              <a:rPr lang="pt-BR" altLang="pt-BR" sz="2200" b="1" dirty="0">
                <a:latin typeface="Arial" panose="020B0604020202020204" pitchFamily="34" charset="0"/>
              </a:rPr>
              <a:t>tipo de dado</a:t>
            </a:r>
            <a:r>
              <a:rPr lang="pt-BR" altLang="pt-BR" sz="2200" dirty="0"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Exemplo simples: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>
                <a:latin typeface="Arial" panose="020B0604020202020204" pitchFamily="34" charset="0"/>
              </a:rPr>
              <a:t>Tabela </a:t>
            </a:r>
            <a:r>
              <a:rPr lang="pt-BR" altLang="pt-BR" sz="1800" b="1" dirty="0">
                <a:latin typeface="Arial" panose="020B0604020202020204" pitchFamily="34" charset="0"/>
              </a:rPr>
              <a:t>Aluno</a:t>
            </a:r>
            <a:r>
              <a:rPr lang="pt-BR" altLang="pt-BR" sz="1800" dirty="0">
                <a:latin typeface="Arial" panose="020B0604020202020204" pitchFamily="34" charset="0"/>
              </a:rPr>
              <a:t> com colunas: </a:t>
            </a:r>
            <a:r>
              <a:rPr lang="pt-BR" altLang="pt-BR" sz="1800" b="1" dirty="0">
                <a:latin typeface="Arial Unicode MS"/>
              </a:rPr>
              <a:t>id</a:t>
            </a:r>
            <a:r>
              <a:rPr lang="pt-BR" altLang="pt-BR" sz="1800" b="1" dirty="0"/>
              <a:t>, </a:t>
            </a:r>
            <a:r>
              <a:rPr lang="pt-BR" altLang="pt-BR" sz="1800" b="1" dirty="0">
                <a:latin typeface="Arial Unicode MS"/>
              </a:rPr>
              <a:t>nome</a:t>
            </a:r>
            <a:r>
              <a:rPr lang="pt-BR" altLang="pt-BR" sz="1800" b="1" dirty="0"/>
              <a:t>, </a:t>
            </a:r>
            <a:r>
              <a:rPr lang="pt-BR" altLang="pt-BR" sz="1800" b="1" dirty="0">
                <a:latin typeface="Arial Unicode MS"/>
              </a:rPr>
              <a:t>idade</a:t>
            </a:r>
            <a:r>
              <a:rPr lang="pt-BR" altLang="pt-BR" sz="1800" b="1" dirty="0"/>
              <a:t>, </a:t>
            </a:r>
            <a:r>
              <a:rPr lang="pt-BR" altLang="pt-BR" sz="1800" b="1" dirty="0">
                <a:latin typeface="Arial Unicode MS"/>
              </a:rPr>
              <a:t>curso</a:t>
            </a:r>
            <a:r>
              <a:rPr lang="pt-BR" altLang="pt-BR" sz="1800" dirty="0"/>
              <a:t>.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19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D21C-D258-FE43-3A96-CD9E960C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95088-432D-C581-3DB4-57F9C934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CREATE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26DB61-3929-4AA6-1D02-66F6D6DC1B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7158"/>
            <a:ext cx="4982497" cy="3383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Usado para </a:t>
            </a:r>
            <a:r>
              <a:rPr lang="pt-BR" altLang="pt-BR" sz="2200" b="1" dirty="0">
                <a:latin typeface="Arial" panose="020B0604020202020204" pitchFamily="34" charset="0"/>
              </a:rPr>
              <a:t>criar uma nova tabela</a:t>
            </a:r>
            <a:r>
              <a:rPr lang="pt-BR" altLang="pt-BR" sz="2200" dirty="0">
                <a:latin typeface="Arial" panose="020B0604020202020204" pitchFamily="34" charset="0"/>
              </a:rPr>
              <a:t> no banco de dados.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Estrutura básica: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Cada coluna deve ter um </a:t>
            </a:r>
            <a:r>
              <a:rPr lang="pt-BR" sz="2200" b="1" dirty="0"/>
              <a:t>nome</a:t>
            </a:r>
            <a:r>
              <a:rPr lang="pt-BR" sz="2200" dirty="0"/>
              <a:t> e um </a:t>
            </a:r>
            <a:r>
              <a:rPr lang="pt-BR" sz="2200" b="1" dirty="0"/>
              <a:t>tipo de dado</a:t>
            </a:r>
            <a:r>
              <a:rPr lang="pt-BR" sz="2200" dirty="0"/>
              <a:t>.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BAB340C-7BE9-A1E1-3E97-6702496F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07" y="1973826"/>
            <a:ext cx="4888907" cy="299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39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9BCB-91F4-AD92-C17E-507A0DCE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6791-1644-450C-4E81-FDDB4F4C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em SQL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7A4D0A-13A6-F0F1-C673-E16E7F6BE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5852" y="1955846"/>
            <a:ext cx="9672484" cy="36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200" dirty="0"/>
              <a:t>Definem o </a:t>
            </a:r>
            <a:r>
              <a:rPr lang="pt-BR" sz="2200" b="1" dirty="0"/>
              <a:t>formato</a:t>
            </a:r>
            <a:r>
              <a:rPr lang="pt-BR" sz="2200" dirty="0"/>
              <a:t> das informações em cada coluna.</a:t>
            </a:r>
          </a:p>
          <a:p>
            <a:r>
              <a:rPr lang="pt-BR" sz="2200" dirty="0"/>
              <a:t>Exemplos comuns:</a:t>
            </a:r>
          </a:p>
          <a:p>
            <a:pPr lvl="1"/>
            <a:r>
              <a:rPr lang="pt-BR" sz="2200" b="1" dirty="0"/>
              <a:t>INT</a:t>
            </a:r>
            <a:r>
              <a:rPr lang="pt-BR" sz="2200" dirty="0"/>
              <a:t> → números inteiros</a:t>
            </a:r>
          </a:p>
          <a:p>
            <a:pPr lvl="1"/>
            <a:r>
              <a:rPr lang="pt-BR" sz="2200" b="1" dirty="0"/>
              <a:t>DECIMAL</a:t>
            </a:r>
            <a:r>
              <a:rPr lang="pt-BR" sz="2200" dirty="0"/>
              <a:t> ou </a:t>
            </a:r>
            <a:r>
              <a:rPr lang="pt-BR" sz="2200" b="1" dirty="0"/>
              <a:t>NUMERIC</a:t>
            </a:r>
            <a:r>
              <a:rPr lang="pt-BR" sz="2200" dirty="0"/>
              <a:t> → números com casas decimais</a:t>
            </a:r>
          </a:p>
          <a:p>
            <a:pPr lvl="1"/>
            <a:r>
              <a:rPr lang="pt-BR" sz="2200" b="1" dirty="0"/>
              <a:t>CHAR(n)</a:t>
            </a:r>
            <a:r>
              <a:rPr lang="pt-BR" sz="2200" dirty="0"/>
              <a:t> → texto de tamanho fixo</a:t>
            </a:r>
          </a:p>
          <a:p>
            <a:pPr lvl="1"/>
            <a:r>
              <a:rPr lang="pt-BR" sz="2200" b="1" dirty="0"/>
              <a:t>VARCHAR(n)</a:t>
            </a:r>
            <a:r>
              <a:rPr lang="pt-BR" sz="2200" dirty="0"/>
              <a:t> → texto de tamanho variável</a:t>
            </a:r>
          </a:p>
          <a:p>
            <a:pPr lvl="1"/>
            <a:r>
              <a:rPr lang="pt-BR" sz="2200" b="1" dirty="0"/>
              <a:t>DATE</a:t>
            </a:r>
            <a:r>
              <a:rPr lang="pt-BR" sz="2200" dirty="0"/>
              <a:t> → datas</a:t>
            </a:r>
          </a:p>
          <a:p>
            <a:pPr lvl="1"/>
            <a:r>
              <a:rPr lang="pt-BR" sz="2200" b="1" dirty="0"/>
              <a:t>BOOLEAN</a:t>
            </a:r>
            <a:r>
              <a:rPr lang="pt-BR" sz="2200" dirty="0"/>
              <a:t> → valores verdadeiro ou falso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3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6B36A-3EAD-EA27-8E1D-D48DBA7A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C9CC9-5E66-CCEA-3975-255AFF89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Tabela Exemplo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906012-D2E2-E03A-4064-C23ACDDBE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6313" y="3501560"/>
            <a:ext cx="53556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000" dirty="0"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DC6ABE-3E99-69D2-33A8-9332B61EB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58" y="1867310"/>
            <a:ext cx="6614652" cy="2695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Exemplo de criação da tabela </a:t>
            </a:r>
            <a:r>
              <a:rPr lang="pt-BR" altLang="pt-BR" sz="2200" b="1" dirty="0">
                <a:latin typeface="Arial" panose="020B0604020202020204" pitchFamily="34" charset="0"/>
              </a:rPr>
              <a:t>Aluno</a:t>
            </a:r>
            <a:r>
              <a:rPr lang="pt-BR" altLang="pt-BR" sz="2200" dirty="0"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Essa tabela guard9a informações básicas de alunos.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Cada linha será um aluno cadastrado.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48008CD-AE38-BBC5-4466-D49D71CC9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958" y="1953843"/>
            <a:ext cx="4240500" cy="333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FE4C7-81EF-7778-34C5-9BA326FA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7FCCA-85FA-9828-523C-14BE7594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Chave Primária (PRIMARY KEY)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637E29-2884-86C6-9CAE-ADF0127B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32" y="1893230"/>
            <a:ext cx="6882581" cy="3383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A </a:t>
            </a:r>
            <a:r>
              <a:rPr lang="pt-BR" altLang="pt-BR" sz="2200" b="1" dirty="0">
                <a:latin typeface="Arial" panose="020B0604020202020204" pitchFamily="34" charset="0"/>
              </a:rPr>
              <a:t>chave primária</a:t>
            </a:r>
            <a:r>
              <a:rPr lang="pt-BR" altLang="pt-BR" sz="2200" dirty="0">
                <a:latin typeface="Arial" panose="020B0604020202020204" pitchFamily="34" charset="0"/>
              </a:rPr>
              <a:t> identifica de forma </a:t>
            </a:r>
            <a:r>
              <a:rPr lang="pt-BR" altLang="pt-BR" sz="2200" b="1" dirty="0">
                <a:latin typeface="Arial" panose="020B0604020202020204" pitchFamily="34" charset="0"/>
              </a:rPr>
              <a:t>única</a:t>
            </a:r>
            <a:r>
              <a:rPr lang="pt-BR" altLang="pt-BR" sz="2200" dirty="0">
                <a:latin typeface="Arial" panose="020B0604020202020204" pitchFamily="34" charset="0"/>
              </a:rPr>
              <a:t> cada registro da tabela.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Nenhum valor pode se repetir nessa coluna.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Exemplo com chave primária: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Aqui, o campo </a:t>
            </a:r>
            <a:r>
              <a:rPr lang="pt-BR" sz="2200" b="1" dirty="0"/>
              <a:t>id</a:t>
            </a:r>
            <a:r>
              <a:rPr lang="pt-BR" sz="2200" dirty="0"/>
              <a:t> garante que cada aluno seja único.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4BC1B06-11B6-8A06-68E5-DD2EF787A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814" y="2066793"/>
            <a:ext cx="4521295" cy="321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7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185D-53B7-6DC1-B9AD-DDB7B336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9CBC9-5B68-84A8-E565-40598812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em Tabelas (</a:t>
            </a:r>
            <a:r>
              <a:rPr lang="pt-BR" dirty="0" err="1"/>
              <a:t>Constraints</a:t>
            </a:r>
            <a:r>
              <a:rPr lang="pt-BR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55203D-861A-FE1D-2BC9-078D5CF2381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AA9FA1-55C6-8274-8A95-7F79DA6D6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7" y="1879663"/>
            <a:ext cx="9920748" cy="358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Restrições ajudam a </a:t>
            </a:r>
            <a:r>
              <a:rPr lang="pt-BR" altLang="pt-BR" sz="2200" b="1" dirty="0">
                <a:latin typeface="Arial" panose="020B0604020202020204" pitchFamily="34" charset="0"/>
              </a:rPr>
              <a:t>garantir a integridade</a:t>
            </a:r>
            <a:r>
              <a:rPr lang="pt-BR" altLang="pt-BR" sz="2200" dirty="0">
                <a:latin typeface="Arial" panose="020B0604020202020204" pitchFamily="34" charset="0"/>
              </a:rPr>
              <a:t> dos dados.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Tipos comuns: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NOT NULL</a:t>
            </a:r>
            <a:r>
              <a:rPr lang="pt-BR" altLang="pt-BR" sz="2200" dirty="0">
                <a:latin typeface="Arial" panose="020B0604020202020204" pitchFamily="34" charset="0"/>
              </a:rPr>
              <a:t> → não permite valores vazios.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UNIQUE</a:t>
            </a:r>
            <a:r>
              <a:rPr lang="pt-BR" altLang="pt-BR" sz="2200" dirty="0">
                <a:latin typeface="Arial" panose="020B0604020202020204" pitchFamily="34" charset="0"/>
              </a:rPr>
              <a:t> → garante que não haja valores repetidos.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DEFAULT</a:t>
            </a:r>
            <a:r>
              <a:rPr lang="pt-BR" altLang="pt-BR" sz="2200" dirty="0">
                <a:latin typeface="Arial" panose="020B0604020202020204" pitchFamily="34" charset="0"/>
              </a:rPr>
              <a:t> → define um valor padrão para a coluna.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CHECK</a:t>
            </a:r>
            <a:r>
              <a:rPr lang="pt-BR" altLang="pt-BR" sz="2200" dirty="0">
                <a:latin typeface="Arial" panose="020B0604020202020204" pitchFamily="34" charset="0"/>
              </a:rPr>
              <a:t> → impõe uma condição para os valores aceitos.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9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9AE8-16EC-29E5-CC1A-25577729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219E8-91E6-1646-D1E1-5B8F8EDB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 Restrições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F4706A-0B29-54DC-8DB9-EF4EFC4F829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509BDB0-897B-BDB0-ECAD-40041E59B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65" y="1980152"/>
            <a:ext cx="558472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Criação de tabela com diferentes restrições: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NOT NULL</a:t>
            </a:r>
            <a:r>
              <a:rPr lang="pt-BR" altLang="pt-BR" sz="2200" dirty="0">
                <a:latin typeface="Arial" panose="020B0604020202020204" pitchFamily="34" charset="0"/>
              </a:rPr>
              <a:t> → nome não pode ser vazio.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CHECK</a:t>
            </a:r>
            <a:r>
              <a:rPr lang="pt-BR" altLang="pt-BR" sz="2200" dirty="0">
                <a:latin typeface="Arial" panose="020B0604020202020204" pitchFamily="34" charset="0"/>
              </a:rPr>
              <a:t> → salário deve ser maior que zero.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200" b="1" dirty="0">
                <a:latin typeface="Arial" panose="020B0604020202020204" pitchFamily="34" charset="0"/>
              </a:rPr>
              <a:t>DEFAULT</a:t>
            </a:r>
            <a:r>
              <a:rPr lang="pt-BR" altLang="pt-BR" sz="2200" dirty="0">
                <a:latin typeface="Arial" panose="020B0604020202020204" pitchFamily="34" charset="0"/>
              </a:rPr>
              <a:t> → se não informar o departamento, assume "Não definido".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C78F729-0468-CFFB-246A-AE8505594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10" y="1994682"/>
            <a:ext cx="6017342" cy="297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33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8541B-9F77-5F35-EFB3-1AC2D298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Freeform: Shape 1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4DFCDF-6552-2038-6A6A-016DF702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/>
              <a:t>Criando Relacionamentos entre Tabelas</a:t>
            </a: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9948D7-5350-211C-2D87-7B5441A9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94" y="2718054"/>
            <a:ext cx="4455672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pt-BR" sz="2000" dirty="0" err="1"/>
              <a:t>Usamos</a:t>
            </a:r>
            <a:r>
              <a:rPr lang="en-US" altLang="pt-BR" sz="2000" dirty="0"/>
              <a:t> a </a:t>
            </a:r>
            <a:r>
              <a:rPr lang="en-US" altLang="pt-BR" sz="2000" b="1" dirty="0" err="1"/>
              <a:t>chave</a:t>
            </a:r>
            <a:r>
              <a:rPr lang="en-US" altLang="pt-BR" sz="2000" b="1" dirty="0"/>
              <a:t> </a:t>
            </a:r>
            <a:r>
              <a:rPr lang="en-US" altLang="pt-BR" sz="2000" b="1" dirty="0" err="1"/>
              <a:t>estrangeira</a:t>
            </a:r>
            <a:r>
              <a:rPr lang="en-US" altLang="pt-BR" sz="2000" b="1" dirty="0"/>
              <a:t> (FOREIGN KEY)</a:t>
            </a:r>
            <a:r>
              <a:rPr lang="en-US" altLang="pt-BR" sz="2000" dirty="0"/>
              <a:t> para </a:t>
            </a:r>
            <a:r>
              <a:rPr lang="en-US" altLang="pt-BR" sz="2000" dirty="0" err="1"/>
              <a:t>relacionar</a:t>
            </a:r>
            <a:r>
              <a:rPr lang="en-US" altLang="pt-BR" sz="2000" dirty="0"/>
              <a:t> </a:t>
            </a:r>
            <a:r>
              <a:rPr lang="en-US" altLang="pt-BR" sz="2000" dirty="0" err="1"/>
              <a:t>tabelas</a:t>
            </a:r>
            <a:r>
              <a:rPr lang="en-US" altLang="pt-BR" sz="2000" dirty="0"/>
              <a:t>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pt-BR" sz="2000" dirty="0" err="1"/>
              <a:t>Exemplo</a:t>
            </a:r>
            <a:r>
              <a:rPr lang="en-US" altLang="pt-BR" sz="2000" dirty="0"/>
              <a:t>: </a:t>
            </a:r>
            <a:r>
              <a:rPr lang="en-US" altLang="pt-BR" sz="2000" dirty="0" err="1"/>
              <a:t>cada</a:t>
            </a:r>
            <a:r>
              <a:rPr lang="en-US" altLang="pt-BR" sz="2000" dirty="0"/>
              <a:t> </a:t>
            </a:r>
            <a:r>
              <a:rPr lang="en-US" altLang="pt-BR" sz="2000" dirty="0" err="1"/>
              <a:t>aluno</a:t>
            </a:r>
            <a:r>
              <a:rPr lang="en-US" altLang="pt-BR" sz="2000" dirty="0"/>
              <a:t> </a:t>
            </a:r>
            <a:r>
              <a:rPr lang="en-US" altLang="pt-BR" sz="2000" dirty="0" err="1"/>
              <a:t>pertence</a:t>
            </a:r>
            <a:r>
              <a:rPr lang="en-US" altLang="pt-BR" sz="2000" dirty="0"/>
              <a:t> a um </a:t>
            </a:r>
            <a:r>
              <a:rPr lang="en-US" altLang="pt-BR" sz="2000" dirty="0" err="1"/>
              <a:t>curso</a:t>
            </a:r>
            <a:r>
              <a:rPr lang="en-US" altLang="pt-BR" sz="2000" dirty="0"/>
              <a:t>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pt-BR" sz="2000" dirty="0"/>
              <a:t>Aqui, </a:t>
            </a:r>
            <a:r>
              <a:rPr lang="en-US" altLang="pt-BR" sz="2000" dirty="0" err="1"/>
              <a:t>curso_id</a:t>
            </a:r>
            <a:r>
              <a:rPr lang="en-US" altLang="pt-BR" sz="2000" dirty="0"/>
              <a:t> </a:t>
            </a:r>
            <a:r>
              <a:rPr lang="en-US" altLang="pt-BR" sz="2000" dirty="0" err="1"/>
              <a:t>conecta</a:t>
            </a:r>
            <a:r>
              <a:rPr lang="en-US" altLang="pt-BR" sz="2000" dirty="0"/>
              <a:t> a </a:t>
            </a:r>
            <a:r>
              <a:rPr lang="en-US" altLang="pt-BR" sz="2000" dirty="0" err="1"/>
              <a:t>tabela</a:t>
            </a:r>
            <a:r>
              <a:rPr lang="en-US" altLang="pt-BR" sz="2000" dirty="0"/>
              <a:t> </a:t>
            </a:r>
            <a:r>
              <a:rPr lang="en-US" altLang="pt-BR" sz="2000" dirty="0" err="1"/>
              <a:t>Aluno</a:t>
            </a:r>
            <a:r>
              <a:rPr lang="en-US" altLang="pt-BR" sz="2000" dirty="0"/>
              <a:t> com a </a:t>
            </a:r>
            <a:r>
              <a:rPr lang="en-US" altLang="pt-BR" sz="2000" dirty="0" err="1"/>
              <a:t>tabela</a:t>
            </a:r>
            <a:r>
              <a:rPr lang="en-US" altLang="pt-BR" sz="2000" dirty="0"/>
              <a:t> </a:t>
            </a:r>
            <a:r>
              <a:rPr lang="en-US" altLang="pt-BR" sz="2000" dirty="0" err="1"/>
              <a:t>Curso</a:t>
            </a:r>
            <a:r>
              <a:rPr lang="en-US" altLang="pt-BR" sz="2000" dirty="0"/>
              <a:t>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pt-BR" sz="2000" dirty="0"/>
              <a:t>Um </a:t>
            </a:r>
            <a:r>
              <a:rPr lang="en-US" altLang="pt-BR" sz="2000" dirty="0" err="1"/>
              <a:t>curso</a:t>
            </a:r>
            <a:r>
              <a:rPr lang="en-US" altLang="pt-BR" sz="2000" dirty="0"/>
              <a:t> </a:t>
            </a:r>
            <a:r>
              <a:rPr lang="en-US" altLang="pt-BR" sz="2000" dirty="0" err="1"/>
              <a:t>tem</a:t>
            </a:r>
            <a:r>
              <a:rPr lang="en-US" altLang="pt-BR" sz="2000" dirty="0"/>
              <a:t> N </a:t>
            </a:r>
            <a:r>
              <a:rPr lang="en-US" altLang="pt-BR" sz="2000" dirty="0" err="1"/>
              <a:t>alunos</a:t>
            </a:r>
            <a:r>
              <a:rPr lang="en-US" altLang="pt-BR" sz="2000" dirty="0"/>
              <a:t>; 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pt-BR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39A4DA5-765C-A34C-56A3-78D3551E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574" y="841248"/>
            <a:ext cx="6837231" cy="527608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E844DCA-8CD5-949D-30D0-8323949DF3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30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A508-6C7C-A89E-D043-D3E3EE8C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398F5-5763-933A-DF2B-239A89F6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ALTER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FC2345-C96C-4940-BE39-98A07EBBA5D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C39EB33-E455-1E67-A34A-4C7EBD4A5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29" y="1208793"/>
            <a:ext cx="6823587" cy="308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Usado para modificar tabelas já existentes.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Permite: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Adicionar colunas novas.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Alterar o tipo de uma coluna.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Adicionar ou remover restrições.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Exemplo: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FF088D-9F56-5F04-5841-6A5CEE9B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81" y="4580663"/>
            <a:ext cx="905299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6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0E5F2-C4E6-0DAF-6429-6AF558D1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16B91-1B7A-39B7-FB00-4C665E92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DROP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369439-CBE4-0FBC-6D56-E35E21D99CD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EB267B-02A9-B531-A0EE-EF3E2E779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36773"/>
            <a:ext cx="9161206" cy="156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Usado para excluir uma tabela do banco de dados.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Remove a tabela e todos os seus dados permanentemente.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200" dirty="0"/>
              <a:t>Exemplo: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4EC244-2981-9D60-17B2-DC20398FF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62" y="3252896"/>
            <a:ext cx="7107795" cy="77375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1597835-A96E-A6A0-96EC-78DE87C35D07}"/>
              </a:ext>
            </a:extLst>
          </p:cNvPr>
          <p:cNvSpPr txBox="1"/>
          <p:nvPr/>
        </p:nvSpPr>
        <p:spPr>
          <a:xfrm>
            <a:off x="1071715" y="4517217"/>
            <a:ext cx="82689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Atenção: uma vez executado, os dados da tabela </a:t>
            </a:r>
            <a:r>
              <a:rPr lang="pt-BR" sz="2000" b="1" dirty="0"/>
              <a:t>não podem ser recuperados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1292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4B891-F975-AA84-6924-11F821D9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A843C-E6ED-95C8-6776-5A8CA473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👉 Comando TRUNCATE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844486-27D1-2249-8E77-AD551859AB8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6A4C7BD-6C96-B90D-F1E0-05E893E3D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42" y="1881831"/>
            <a:ext cx="9495503" cy="2071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Usado para remover todos os registros de uma tabela, mas mantendo sua estrutura.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Após o comando, a tabela fica vazia, pronta para novos dados.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dirty="0"/>
              <a:t>Exemplo: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FD6CE43-12E8-B585-311E-8DF75BB07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38" y="3948119"/>
            <a:ext cx="6618282" cy="701560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260B4BC4-CA41-0F16-50C3-198E703A6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4689708"/>
            <a:ext cx="8625840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Diferença em relação ao </a:t>
            </a:r>
            <a:r>
              <a:rPr lang="pt-BR" altLang="pt-BR" sz="2000" dirty="0">
                <a:latin typeface="Arial Unicode MS"/>
              </a:rPr>
              <a:t>DROP</a:t>
            </a:r>
            <a:r>
              <a:rPr lang="pt-BR" altLang="pt-BR" sz="2000" dirty="0"/>
              <a:t>:</a:t>
            </a:r>
            <a:endParaRPr lang="pt-BR" altLang="pt-BR" sz="20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latin typeface="Arial" panose="020B0604020202020204" pitchFamily="34" charset="0"/>
              </a:rPr>
              <a:t>TRUNCATE</a:t>
            </a:r>
            <a:r>
              <a:rPr lang="pt-BR" altLang="pt-BR" sz="2000" dirty="0">
                <a:latin typeface="Arial" panose="020B0604020202020204" pitchFamily="34" charset="0"/>
              </a:rPr>
              <a:t> → limpa os dados, mantém a tabela.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latin typeface="Arial" panose="020B0604020202020204" pitchFamily="34" charset="0"/>
              </a:rPr>
              <a:t>DROP</a:t>
            </a:r>
            <a:r>
              <a:rPr lang="pt-BR" altLang="pt-BR" sz="2000" dirty="0">
                <a:latin typeface="Arial" panose="020B0604020202020204" pitchFamily="34" charset="0"/>
              </a:rPr>
              <a:t> → apaga a tabela completamente.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altLang="pt-B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89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35827-CA11-BA8C-9A3B-64827440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1B300-77C7-A777-003B-E678238D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DDL e DML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C97504-9DDC-8544-3B4E-3B6703DBDE4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D3B12D-6D3E-74C3-5482-839A3E4D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67659"/>
            <a:ext cx="9495503" cy="461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200" b="1" dirty="0"/>
              <a:t>DDL (Data </a:t>
            </a:r>
            <a:r>
              <a:rPr lang="pt-BR" sz="2200" b="1" dirty="0" err="1"/>
              <a:t>Definition</a:t>
            </a:r>
            <a:r>
              <a:rPr lang="pt-BR" sz="2200" b="1" dirty="0"/>
              <a:t> </a:t>
            </a:r>
            <a:r>
              <a:rPr lang="pt-BR" sz="2200" b="1" dirty="0" err="1"/>
              <a:t>Language</a:t>
            </a:r>
            <a:r>
              <a:rPr lang="pt-BR" sz="2200" b="1" dirty="0"/>
              <a:t>):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200" dirty="0"/>
              <a:t>	Define a estrutura do banco (tabelas, restrições, esquemas).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200" dirty="0"/>
              <a:t>Exemplos: CREATE, ALTER, DROP.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sz="2200" dirty="0"/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2200" b="1" dirty="0"/>
              <a:t>DML (Data </a:t>
            </a:r>
            <a:r>
              <a:rPr lang="pt-BR" sz="2200" b="1" dirty="0" err="1"/>
              <a:t>Manipulation</a:t>
            </a:r>
            <a:r>
              <a:rPr lang="pt-BR" sz="2200" b="1" dirty="0"/>
              <a:t> </a:t>
            </a:r>
            <a:r>
              <a:rPr lang="pt-BR" sz="2200" b="1" dirty="0" err="1"/>
              <a:t>Language</a:t>
            </a:r>
            <a:r>
              <a:rPr lang="pt-BR" sz="2200" b="1" dirty="0"/>
              <a:t>):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200" dirty="0"/>
              <a:t>	Manipula os dados dentro das tabelas.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200" dirty="0"/>
              <a:t>Exemplos: INSERT, UPDATE, DELETE, SELECT.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sz="2200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200" dirty="0"/>
              <a:t>Resumindo: DDL cria a casa, DML organiza os móveis.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390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D02B-6654-08FC-73F2-6D22272F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68592-E9CB-6C11-1616-87FEC86C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 na Criação de Tabelas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2AF9EE-4641-D761-0E34-F6493388F1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B07783-9232-0A40-80E7-D11C01AD8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93311"/>
            <a:ext cx="9495503" cy="335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dirty="0"/>
              <a:t>Escolher nomes de tabelas e colunas de forma clara e significativa.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dirty="0"/>
              <a:t>Definir corretamente os tipos de dados para evitar desperdício de espaço.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dirty="0"/>
              <a:t>Sempre usar chaves primárias para identificar registros.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dirty="0"/>
              <a:t>Aplicar restrições (</a:t>
            </a:r>
            <a:r>
              <a:rPr lang="pt-BR" sz="2400" i="1" dirty="0" err="1"/>
              <a:t>constraints</a:t>
            </a:r>
            <a:r>
              <a:rPr lang="pt-BR" sz="2400" dirty="0"/>
              <a:t>) para garantir a integridade dos dados.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dirty="0"/>
              <a:t>Documentar a estrutura criada para facilitar manutenção futura.</a:t>
            </a:r>
            <a:endParaRPr lang="pt-BR" altLang="pt-B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847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3947-BB9F-0D8B-46A4-26BC1D12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EBD79-CBB0-DF73-5177-A918A2A1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Completo de Criação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8D8B65-5BFC-3FE5-0AA9-AF864FB7E07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ED36EC-F14A-F190-BE9F-D5251FC0A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2976373"/>
            <a:ext cx="5503606" cy="159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dirty="0"/>
              <a:t>Criação de duas tabelas relacionadas: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Curso guarda os cursos disponíveis.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Aluno guarda os alunos e o curso que frequentam</a:t>
            </a:r>
            <a:r>
              <a:rPr lang="pt-BR" altLang="pt-BR" sz="24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3229A1-C980-08BB-6499-6D6E6DF7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319" y="1675427"/>
            <a:ext cx="5603012" cy="419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52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F28B-86FA-D69B-9F8B-604279B5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6DE20-AFED-6379-A409-F32A7FCD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E6D13E-EB40-EEB0-5FD4-E5B10BC9C16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3232" y="2897863"/>
            <a:ext cx="3441291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2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7036E0-B96E-2322-321B-1677781E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77973"/>
            <a:ext cx="10193593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O SQL é a linguagem padrão para trabalhar com bancos relacionais.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O DDL é usado para definir a estrutura do banco: tabelas, chaves e restrições.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Comandos principais: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CREATE TABLE → cria tabelas.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ALTER TABLE → modifica tabelas.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DROP TABLE → exclui tabelas.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TRUNCATE TABLE → limpa dados de uma tabela.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Criar tabelas bem estruturadas garante organização, integridade e eficiência no uso do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1345422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54C4AB5A-639F-7A67-F15E-42C337E83D88}"/>
              </a:ext>
            </a:extLst>
          </p:cNvPr>
          <p:cNvSpPr txBox="1"/>
          <p:nvPr/>
        </p:nvSpPr>
        <p:spPr>
          <a:xfrm>
            <a:off x="2027548" y="2136338"/>
            <a:ext cx="8136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Referência: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(Informada na ementa e disponível na biblioteca digital)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PICHETTI, Roni F.; VIDA,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Edinilson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S.; CORTES, Vanessa S. M P. Banco de dados. Porto Alegre: Grupo A, 2021. E-book. ISBN 9786556900186. 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Disponível em: </a:t>
            </a: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https://integrada.minhabiblioteca.com.br/#/books/9786556900186/. </a:t>
            </a:r>
          </a:p>
        </p:txBody>
      </p:sp>
    </p:spTree>
    <p:extLst>
      <p:ext uri="{BB962C8B-B14F-4D97-AF65-F5344CB8AC3E}">
        <p14:creationId xmlns:p14="http://schemas.microsoft.com/office/powerpoint/2010/main" val="2453431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</TotalTime>
  <Words>1059</Words>
  <Application>Microsoft Office PowerPoint</Application>
  <PresentationFormat>Widescreen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Arial Unicode MS</vt:lpstr>
      <vt:lpstr>Calibri</vt:lpstr>
      <vt:lpstr>Tema do Office</vt:lpstr>
      <vt:lpstr>Conceitos do modelo relacional: tabelas, chaves, restrições</vt:lpstr>
      <vt:lpstr>O que é SQL?</vt:lpstr>
      <vt:lpstr>O que é DDL?</vt:lpstr>
      <vt:lpstr>Principais comandos DDL</vt:lpstr>
      <vt:lpstr>O que é uma Tabela?</vt:lpstr>
      <vt:lpstr>Estrutura de uma Tabela</vt:lpstr>
      <vt:lpstr>Comando CREATE TABLE</vt:lpstr>
      <vt:lpstr>Tipos de Dados em SQL</vt:lpstr>
      <vt:lpstr>Criando uma Tabela Exemplo</vt:lpstr>
      <vt:lpstr>Definindo Chave Primária (PRIMARY KEY)</vt:lpstr>
      <vt:lpstr>Restrições em Tabelas (Constraints)</vt:lpstr>
      <vt:lpstr>Exemplo com Restrições</vt:lpstr>
      <vt:lpstr>Criando Relacionamentos entre Tabelas</vt:lpstr>
      <vt:lpstr>Comando ALTER TABLE</vt:lpstr>
      <vt:lpstr>Comando DROP TABLE</vt:lpstr>
      <vt:lpstr>👉 Comando TRUNCATE TABLE</vt:lpstr>
      <vt:lpstr>Diferença entre DDL e DML</vt:lpstr>
      <vt:lpstr>Boas Práticas na Criação de Tabelas</vt:lpstr>
      <vt:lpstr>Exemplo Completo de Criação</vt:lpstr>
      <vt:lpstr>Conclusão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21</cp:revision>
  <dcterms:created xsi:type="dcterms:W3CDTF">2025-08-22T16:31:04Z</dcterms:created>
  <dcterms:modified xsi:type="dcterms:W3CDTF">2026-03-16T14:06:14Z</dcterms:modified>
</cp:coreProperties>
</file>