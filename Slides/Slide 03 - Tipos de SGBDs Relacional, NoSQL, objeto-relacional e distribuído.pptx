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43"/>
  </p:notesMasterIdLst>
  <p:handoutMasterIdLst>
    <p:handoutMasterId r:id="rId44"/>
  </p:handoutMasterIdLst>
  <p:sldIdLst>
    <p:sldId id="540" r:id="rId2"/>
    <p:sldId id="424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445" r:id="rId24"/>
    <p:sldId id="447" r:id="rId25"/>
    <p:sldId id="448" r:id="rId26"/>
    <p:sldId id="446" r:id="rId27"/>
    <p:sldId id="450" r:id="rId28"/>
    <p:sldId id="451" r:id="rId29"/>
    <p:sldId id="452" r:id="rId30"/>
    <p:sldId id="453" r:id="rId31"/>
    <p:sldId id="454" r:id="rId32"/>
    <p:sldId id="455" r:id="rId33"/>
    <p:sldId id="449" r:id="rId34"/>
    <p:sldId id="457" r:id="rId35"/>
    <p:sldId id="458" r:id="rId36"/>
    <p:sldId id="459" r:id="rId37"/>
    <p:sldId id="460" r:id="rId38"/>
    <p:sldId id="461" r:id="rId39"/>
    <p:sldId id="462" r:id="rId40"/>
    <p:sldId id="463" r:id="rId41"/>
    <p:sldId id="541" r:id="rId4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B2"/>
    <a:srgbClr val="7EC234"/>
    <a:srgbClr val="008000"/>
    <a:srgbClr val="EECD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9104" autoAdjust="0"/>
  </p:normalViewPr>
  <p:slideViewPr>
    <p:cSldViewPr>
      <p:cViewPr varScale="1">
        <p:scale>
          <a:sx n="82" d="100"/>
          <a:sy n="82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686C5-9FC3-4ECF-B0E5-F803BBF7867B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78A3F-4B77-4156-875B-A64AE335C5C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80A45-D736-45A4-B247-1A59E06B267F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DF64-329D-4CCC-BB41-12FF3AB451D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975F3-5BE6-448F-9A67-7A0592FB5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C61B44-B193-4458-A23C-030D87BBF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3C5AC7-8246-4435-A219-22262C29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75E003-6FF2-43B3-9C53-08AE5447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3E38A3-B86A-4476-AC50-6F640FF7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5731232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78EEC-7953-4878-9F04-4337DD8C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4B2B1-3886-4D85-8AE5-B5CE1BA4C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A6A249-4B6E-466F-A03E-281DCEF9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A339BF-EB78-4429-998E-82F2FDA3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8636AA-32DA-4DC3-8A1F-DF84E216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5968874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A750A-B729-43ED-BC65-93F1CF4A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C9BAA4-960F-47F8-A477-43A70C8B8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E9CC9C-39D0-4144-B011-61AA845B7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47991-49F3-47C9-A89C-C1FFA3C1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0EB37-A9BB-4F87-A348-6CBC8EA5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19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6D988-14BD-4A23-87ED-A16E3128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B4B73-11CF-4014-80FB-372807E87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C385B6-2E01-4D8E-8A5E-886292D26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CCA69D-1B99-44D6-BFCC-CD239246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325C9A-2D53-4162-841D-9132A3B7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8B3777-ED4E-47C8-A4EE-72133CB5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04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C4276-A325-4DBB-BABC-5316637C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BCB9F7-EC87-41B5-92B5-F6919AD11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5B8AEA-F259-4DAE-88C8-B8C763208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9F71B1-8D4D-4164-869B-EC75C8787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EF870F-1B68-4B03-9772-97DC16B41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3B47D5-CD87-4183-8732-D2F382B4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86297F-90E4-429B-8AF5-B2210E18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FAC9CA-C954-42C4-BB7E-C07F6C16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5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714E1-1ED6-4E7F-9BE1-A123EA2F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F0EC32-7812-4DD1-816F-BBC1B91B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8D74528-902C-48FD-AB64-A769B0D3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B0D74E-EC4D-43C3-AF53-D9615CCC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118837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C6F8766-CE50-4EA7-ACE5-E37ABA0C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4DE2AD-E93E-47B7-9807-E5425223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E0AB21-F577-456A-85DE-2D3176D2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6969961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D21C0-597C-44A9-A12E-1431708C7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4E060E-725C-4FA1-8FE4-20BB7FF5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009BF-4C36-45F4-812B-65760409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3C35F4-FA9F-4A15-B992-16DE82F2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829658-B6C4-438B-8F07-9769AF32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828761-2272-421D-9FCE-73B93744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2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DFA64-E263-4603-AA2F-3054EBC0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436230-8643-4AD8-8BEB-7DBBECA8F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73C77A-893F-4EF1-8E4A-92C234A2E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1C029B-2A70-4680-BF4A-7241E403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4B1F26-1072-4762-902D-66B02DF5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3D2BEE-EDC2-4F37-9A64-1EABF79C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09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88452-A180-42B1-8485-1BD959B7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C92BE9-8D26-44F1-81C1-DD3426D95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39A44-2ACE-46E1-9369-CB51DEAB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8A4A93-5A99-4641-97D8-935516F1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48E647-EF9E-45EB-8FD6-371721CC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2086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740AA-18AF-4517-A437-054842127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866A3B-9395-4D9A-A241-0B45449CF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6AE078-34A3-4D6D-8C70-653AA0E3F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DBC2A0-FA17-42C4-99E9-34C57844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BF5521-E569-43EC-8FB2-CC65EFA7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8922425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5747BCA-18BC-44ED-8ED7-444EAC5DD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479F82-04AF-46BC-B6DC-100578A18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455BFB-1A14-412B-B781-966CB0953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DFFF-6767-4A78-A1FB-06DB9CD2B572}" type="datetimeFigureOut">
              <a:rPr lang="pt-BR" smtClean="0"/>
              <a:pPr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5A4FC-9F5C-414D-8158-1721A01A6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EC844F-CC5B-4CC4-ABCF-1D2D07773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031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595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/>
              <a:t>Tipos de </a:t>
            </a:r>
            <a:r>
              <a:rPr lang="pt-BR" sz="2400" b="1" dirty="0" err="1"/>
              <a:t>SGBDs</a:t>
            </a:r>
            <a:r>
              <a:rPr lang="pt-BR" sz="2400" b="1" dirty="0"/>
              <a:t>: Relacional, </a:t>
            </a:r>
            <a:r>
              <a:rPr lang="pt-BR" sz="2400" b="1" dirty="0" err="1"/>
              <a:t>NoSQL</a:t>
            </a:r>
            <a:r>
              <a:rPr lang="pt-BR" sz="2400" b="1" dirty="0"/>
              <a:t>, objeto-relacional e distribuído</a:t>
            </a:r>
            <a:endParaRPr lang="pt-B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492329"/>
            <a:ext cx="8458419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 arquitetura de um banco de dados sofre grande influência da arquitetura ou do sistema de computadores no qual o SGBD está instalado. Os modelos arquiteturais mais comuns e que estão relacionados ao esquema do ambiente no qual o banco de dados é instalado são do tipo centralizados, cliente/servidor, paralelos e distribuídos (GARCIA-MOLINA; ULLMAN; WIDOM, 2001), conforme mostra a Figura 2.</a:t>
            </a:r>
          </a:p>
        </p:txBody>
      </p:sp>
    </p:spTree>
    <p:extLst>
      <p:ext uri="{BB962C8B-B14F-4D97-AF65-F5344CB8AC3E}">
        <p14:creationId xmlns:p14="http://schemas.microsoft.com/office/powerpoint/2010/main" val="149201034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8AA37F-6917-49C6-9C2E-3A49F8C7C18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6570" y="1060867"/>
            <a:ext cx="5002595" cy="481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5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052736"/>
            <a:ext cx="8225305" cy="404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Cada arquitetura contém um conjunto próprio de características, como pode ser observado a seguir (GARCIA-MOLINA; ULLMAN; WIDOM, 2001).</a:t>
            </a:r>
          </a:p>
          <a:p>
            <a:pPr algn="just"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Centralizada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Oferece processamento principal para todas as tarefas do sistema, incluindo os programas e aplicativos do usuário, o SGBD e o próprio banco de dados. O principal motivo para a utilização desse tipo de arquitetura ocorre por razão financeira, quando não existem recursos financeiros suficientes para a aquisição de um conjunto adequado de computadores com boa capacidade de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48148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8225305" cy="4171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Também conhecida como arquitetura em camadas, divide as responsabilidades do sistema entre as máquinas cliente e a(s) máquina(s) servidor. Assim, basta que outros computadores possuam uma interface para comunicação com o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está instalado no computador servidor. Os computadores que dão acesso ao banco de dados são chamados de clientes, o que origina o termo “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cliente/servidor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208686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7090267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arquitetura cliente/servidor ainda possibilita a exploração da capacidade de processamento dos computadores clientes para a realização de tarefas simples, o que reduz os custos de processamento dos computadores servidores.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97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51520" y="1052736"/>
            <a:ext cx="7272808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 uma arquitetura de três camadas, por exemplo: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servidor de banco de dados fica responsável pelo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pelo próprio banco de dados;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servidor de aplicação fica responsável pelas classes e códigos relacionados às regras de negócio da aplicação e pelo acesso ao SGBD para recuperação e, se necessário, pré-processamento dos dados, antes de entregá-los aos clientes; e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 máquinas clientes ficam responsáveis pelas classes de interface e pequenos processamentos pertinentes ao cliente.</a:t>
            </a:r>
          </a:p>
        </p:txBody>
      </p:sp>
    </p:spTree>
    <p:extLst>
      <p:ext uri="{BB962C8B-B14F-4D97-AF65-F5344CB8AC3E}">
        <p14:creationId xmlns:p14="http://schemas.microsoft.com/office/powerpoint/2010/main" val="2608498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72728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Paralela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Apresenta uma estrutura hierárquica, na qual um computador fica responsável pelo gerenciamento dos recursos, que são compartilhados por todos os dispositivos ligados à rede, ou seja, ligados em paralelo. Logicamente, assemelha-se à arquitetura centralizada; entretanto,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fisi-camente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há diversos computadores ligados em paralelo, compartilhando poder de processamento, entrada/saída, armazenamento e memória.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2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7272808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Distribuída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Os bancos de dados estão espalhados pela rede, assim como os componentes dos programas aplicativos que fazem uso de tais dados.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63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7272808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Diversas outras arquiteturas foram propostas, e os avanços da tecnologia permitem que novas possibilidades sejam vislumbradas. Além da arquitetura do sistema computacional, outro fator que pode influenciar na definição da estrutura arquitetural do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a estrutura organizacional. O ideal é implementar o esquema arquitetural que melhor se adeque às necessidades do cliente.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60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hierárquico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727280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banco de dados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hierárquico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primeiro tipo de banco de dados de que se tem notícia. Esse modelo foi desenvolvido por causa da consolidação dos discos endereçáveis; em função dessa característica, a organização de endereços físicos do disco é utilizada na sua estrutura (ALVES, 2013). A Figura 3 traz um exemplo de banco de dados hierárquico.</a:t>
            </a:r>
          </a:p>
        </p:txBody>
      </p:sp>
    </p:spTree>
    <p:extLst>
      <p:ext uri="{BB962C8B-B14F-4D97-AF65-F5344CB8AC3E}">
        <p14:creationId xmlns:p14="http://schemas.microsoft.com/office/powerpoint/2010/main" val="359769449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hierárquico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6CB59D-EC48-4DDA-84D0-3FD5F42584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378" y="1166966"/>
            <a:ext cx="6574894" cy="413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4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hierárquico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7272808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Segundo Alves (2013), em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banco de dados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hierárquicos, são encontrados dois conceitos fundamentais: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relacionamentos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pai-filho. O registro é uma coleção de valores que representam informações sobre uma dada entidade de um relacionamento. Quando se tem registros do mesmo tipo, denominam-se tipos de registros, similares às tabelas/relações do sistema relacional. Os registros que antecedem outros na hierarquia têm a denominação de pai, e os registros que os sucedem são chamados de filhos.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70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de Rede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Os sistemas de banco de dados de rede são conhecidos como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CODASYL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 sistemas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DBTG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pelo fato de terem sido definidos pelo grupo de tarefa de base de dados (data base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 comitê da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Conference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(Conferência sobre Linguagens de Sistemas de Dados). 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DBTG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publicou, em 1971, um relatório que “[...] descrevia o modelo e a linguagem para utilização em bases de dados, embora esse relatório não definisse a organização dos dados propriamente ditos” (ALVES, 2013, p. 22). A Figura 4 ilustra um exemplo de banco de dados de rede.</a:t>
            </a:r>
          </a:p>
        </p:txBody>
      </p:sp>
    </p:spTree>
    <p:extLst>
      <p:ext uri="{BB962C8B-B14F-4D97-AF65-F5344CB8AC3E}">
        <p14:creationId xmlns:p14="http://schemas.microsoft.com/office/powerpoint/2010/main" val="154972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de Rede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C124CA9-9B67-4D19-A313-CCB8194C94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617" y="1067794"/>
            <a:ext cx="7006687" cy="394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70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de Rede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Conforme leciona Alves (2013, p. 22):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[...] as duas estruturas fundamentais de um banco de dados de rede são os registros (recordes) e os conjuntos (sets). Os registros contêm dados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relacio-nados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são agrupados em tipos de registros que armazenam os mesmos tipos de informações (como ocorre no sistema hierárquico).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7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relacional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É a estrutura mais comum aos 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 os 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a adotam são também os mais utilizados. Temos como exemplos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MariaDB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O modelo de dados relacional foi criado em 1985 por 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Edgar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Codd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definiu que os bancos desse modelo devem apresentar a informação uma única vez, ou seja, devem possuir um identificador de cada informação para que não haja registros duplicados. </a:t>
            </a:r>
          </a:p>
        </p:txBody>
      </p:sp>
    </p:spTree>
    <p:extLst>
      <p:ext uri="{BB962C8B-B14F-4D97-AF65-F5344CB8AC3E}">
        <p14:creationId xmlns:p14="http://schemas.microsoft.com/office/powerpoint/2010/main" val="108706013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relacional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Além disso, os dados precisam estar dispostos em forma de tabela. Ao todo, foram estabelecidas premissas para 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das quais podemos destacar: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relações de integridade;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recursos para inserção, alteração e remoção de dado em alto nível;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acesso ao dado por meio da consulta de sua tabela.</a:t>
            </a:r>
          </a:p>
        </p:txBody>
      </p:sp>
    </p:spTree>
    <p:extLst>
      <p:ext uri="{BB962C8B-B14F-4D97-AF65-F5344CB8AC3E}">
        <p14:creationId xmlns:p14="http://schemas.microsoft.com/office/powerpoint/2010/main" val="3195168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relacional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arquitetura das tabelas é dada pelo estabelecimento de relações e pelo uso de “</a:t>
            </a:r>
            <a:r>
              <a:rPr lang="pt-BR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e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Portanto, nos bancos de dados do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relacional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os dados são sempre salvos em tabelas, que nada mais são do que uma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estrutura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linhas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colunas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2627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relacional</a:t>
            </a:r>
          </a:p>
        </p:txBody>
      </p:sp>
      <p:pic>
        <p:nvPicPr>
          <p:cNvPr id="1026" name="Picture 2" descr="Exemplo de banco de dados relacional">
            <a:extLst>
              <a:ext uri="{FF2B5EF4-FFF2-40B4-BE49-F238E27FC236}">
                <a16:creationId xmlns:a16="http://schemas.microsoft.com/office/drawing/2014/main" id="{1D6C7B4A-410C-4657-9711-3CE798E1E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662" y="1149276"/>
            <a:ext cx="6719291" cy="448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10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657251"/>
            <a:ext cx="694471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Quando falamos que as tabelas são relações, estamos dizendo que as lógicas entre os dados do banco são definições da tabela. Ao criar e modificar uma tabela, podemos estipular que determinados atributos se relacionam com dados de outra tabela. A construção dessas relações é fundamental para que quem precisar utilizar o banco possa executar consultas posteriores e compreender a lógica entre os dados.</a:t>
            </a:r>
          </a:p>
        </p:txBody>
      </p:sp>
    </p:spTree>
    <p:extLst>
      <p:ext uri="{BB962C8B-B14F-4D97-AF65-F5344CB8AC3E}">
        <p14:creationId xmlns:p14="http://schemas.microsoft.com/office/powerpoint/2010/main" val="340431003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435602" y="980728"/>
            <a:ext cx="6944710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Temos ainda os registros, também conhecidos como linhas ou “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tuplas</a:t>
            </a:r>
            <a:r>
              <a:rPr lang="pt-BR" sz="2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Todas as linhas de tabela são referências aos atributos definidos pelas colunas. É permitido que as linhas aceitem atributos com valores nulos, ou vazios, desde que isso tenha sido definido na estrutura da tabela, ou seja, que esteja especificado nos metadados.</a:t>
            </a:r>
          </a:p>
        </p:txBody>
      </p:sp>
      <p:pic>
        <p:nvPicPr>
          <p:cNvPr id="11" name="Picture 2" descr="Exemplo de banco de dados relacional">
            <a:extLst>
              <a:ext uri="{FF2B5EF4-FFF2-40B4-BE49-F238E27FC236}">
                <a16:creationId xmlns:a16="http://schemas.microsoft.com/office/drawing/2014/main" id="{95E418E9-AF31-4A69-B2F0-38A10A398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03648" y="3550662"/>
            <a:ext cx="4854958" cy="175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86673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17266" y="1128087"/>
            <a:ext cx="694471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Por último, temos as colunas ou atributos, que são as identificações dos dados. Os atributos são responsáveis por caracterizar os dados inseridos em determinada coluna.</a:t>
            </a:r>
          </a:p>
        </p:txBody>
      </p:sp>
      <p:pic>
        <p:nvPicPr>
          <p:cNvPr id="11" name="Picture 2" descr="Exemplo de banco de dados relacional">
            <a:extLst>
              <a:ext uri="{FF2B5EF4-FFF2-40B4-BE49-F238E27FC236}">
                <a16:creationId xmlns:a16="http://schemas.microsoft.com/office/drawing/2014/main" id="{4C26A607-5693-4EB9-9B60-17698DBD3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29210" y="2466933"/>
            <a:ext cx="4920822" cy="328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070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orientado a objetos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657251"/>
            <a:ext cx="694471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Quando falamos que as tabelas são relações, estamos dizendo que as lógicas entre os dados do banco são definições da tabela. Ao criar e modificar uma tabela, podemos estipular que determinados atributos se relacionam com dados de outra tabela. A construção dessas relações é fundamental para que quem precisar utilizar o banco possa executar consultas posteriores e compreender a lógica entre os dados.</a:t>
            </a:r>
          </a:p>
        </p:txBody>
      </p:sp>
    </p:spTree>
    <p:extLst>
      <p:ext uri="{BB962C8B-B14F-4D97-AF65-F5344CB8AC3E}">
        <p14:creationId xmlns:p14="http://schemas.microsoft.com/office/powerpoint/2010/main" val="421911189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orientado a objetos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657251"/>
            <a:ext cx="6944710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Os bancos de dados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trabalham com o armazenamento de dados na forma de objetos. Nesse caso, a definição de objetos é similar ao conceito utilizado nas linguagens de programação, como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Esse modelo é adotado quando os modelos de dados se tornam extremamente complexos para manipulação por meio de relações no modelo relacional.</a:t>
            </a:r>
          </a:p>
        </p:txBody>
      </p:sp>
    </p:spTree>
    <p:extLst>
      <p:ext uri="{BB962C8B-B14F-4D97-AF65-F5344CB8AC3E}">
        <p14:creationId xmlns:p14="http://schemas.microsoft.com/office/powerpoint/2010/main" val="319361028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orientado a objetos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657251"/>
            <a:ext cx="6944710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Assim, o armazenamento em objetos facilita o acesso e o uso dos dados quando o software trabalha com alguma linguagem orientada a objetos, evitando o consumo de tempo na conversão de </a:t>
            </a:r>
            <a:r>
              <a:rPr lang="pt-BR" sz="23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objetos, ao se utilizar um banco de dados relacional e uma linguagem orientada a objetos. Os dados ou objetos só podem ser acessados pelos métodos predefinidos para eles, e um objeto pode conter referências a outros objetos.</a:t>
            </a:r>
          </a:p>
        </p:txBody>
      </p:sp>
    </p:spTree>
    <p:extLst>
      <p:ext uri="{BB962C8B-B14F-4D97-AF65-F5344CB8AC3E}">
        <p14:creationId xmlns:p14="http://schemas.microsoft.com/office/powerpoint/2010/main" val="274030327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objeto-relacional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657251"/>
            <a:ext cx="694471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O modelo de dados objeto-relacional identifica 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mesclam as características do modelo relacional e do orientado a objetos. Em resumo, armazena os dados conforme o modelo relacional, com tabelas estruturadas, mas possibilita a conversão imediata das </a:t>
            </a:r>
            <a:r>
              <a:rPr lang="pt-BR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objetos. Também oferece a possibilidade da manipulação dos dados por meio da linguagem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20203299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banco de dados semiestruturado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340768"/>
            <a:ext cx="694471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Os bancos de dados desenvolvidos no modelo semiestruturado são pouco utilizados se comparados com as arquiteturas anteriores. Por não possuírem uma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estrutura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rígida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possibilitam perda da integridade dos dados. São aqueles que não utilizam o modelo relacional integralmente, mas contam com marcações para organização dos dados. Bancos de dados desse modelo não possuem linguagem de consulta padrão; por isso, deve ser observada a linguagem adequada para cada caso.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12311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Modelos de banco de dados </a:t>
            </a:r>
            <a:r>
              <a:rPr lang="pt-B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 não relacionais)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454581"/>
            <a:ext cx="694471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Em 1998, surgiu o termo </a:t>
            </a:r>
            <a:r>
              <a:rPr lang="pt-BR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partir de uma solução de banco de dados ainda baseada na arquitetura do modelo relacional e que não oferecia, para o seu usuário, uma interface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Posteriormente, o termo tornou-se uma abreviação para </a:t>
            </a:r>
            <a:r>
              <a:rPr lang="pt-BR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(“não apenas SQL”), oferecendo uma solução alternativa para os cenários em que o consagrado modelo relacional não apresentava o desempenho adequado. </a:t>
            </a:r>
          </a:p>
        </p:txBody>
      </p:sp>
    </p:spTree>
    <p:extLst>
      <p:ext uri="{BB962C8B-B14F-4D97-AF65-F5344CB8AC3E}">
        <p14:creationId xmlns:p14="http://schemas.microsoft.com/office/powerpoint/2010/main" val="2839457256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Modelos de banco de dados </a:t>
            </a:r>
            <a:r>
              <a:rPr lang="pt-B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 não relacionais)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454581"/>
            <a:ext cx="694471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O objetivo das soluções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fornecer uma solução com maior flexibilidade na estruturação de um banco de dados, quando houver essa necessidade. Portanto, seu propósito não é o de substituir o modelo relacional de dados.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Podemos categorizar os modelos de dados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pela estrutura com que trabalham: família de colunas, documentos, chave-valor e grafos, descritos a seguir.</a:t>
            </a:r>
          </a:p>
        </p:txBody>
      </p:sp>
    </p:spTree>
    <p:extLst>
      <p:ext uri="{BB962C8B-B14F-4D97-AF65-F5344CB8AC3E}">
        <p14:creationId xmlns:p14="http://schemas.microsoft.com/office/powerpoint/2010/main" val="3961711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Modelos de banco de dados </a:t>
            </a:r>
            <a:r>
              <a:rPr lang="pt-B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 não relacionais)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454581"/>
            <a:ext cx="6944710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Família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colunas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armazena dados mapeados por chaves, e os dados agrupados formam uma espécie de mapa.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BigTable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Cassandra.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armazena documentos como um valor, que possui uma chave para identificação, como no modelo por chave.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CouchDB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423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Modelos de banco de dados </a:t>
            </a:r>
            <a:r>
              <a:rPr lang="pt-B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 não relacionais)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454581"/>
            <a:ext cx="6944710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Chave-valor: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guarda uma informação ou valor e cria uma referência para acessá-lo, a chave.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Grafos: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trata-se da criação de nodos, ou entidades, ou nós. As arestas do grafo são as representações das relações.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InfoGrid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Neo4j..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226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Modelos de banco de dados </a:t>
            </a:r>
            <a:r>
              <a:rPr lang="pt-BR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 não relacionais)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632863"/>
            <a:ext cx="694471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Assim como os bancos de dados semiestruturados, os bancos de dados </a:t>
            </a:r>
            <a:r>
              <a:rPr lang="pt-BR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não apresentam linguagem de consulta padrão, até pelo fato de terem estruturas diferentes entre si.</a:t>
            </a:r>
          </a:p>
        </p:txBody>
      </p:sp>
    </p:spTree>
    <p:extLst>
      <p:ext uri="{BB962C8B-B14F-4D97-AF65-F5344CB8AC3E}">
        <p14:creationId xmlns:p14="http://schemas.microsoft.com/office/powerpoint/2010/main" val="879541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Podemos afirmar que, em um modelo de dados, um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uma descrição em uma linguagem formal da estrutura do banco de dados.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 acordo com Alves (2013, p. 32), “[...] para construção de um esquema, devem ser desprezadas todas as especificações dos campos das tabelas, listando apenas os seus nomes”.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podemos observar um exemplo de um diagrama para o esquema de um banco de dados. É possível notar a identificação das chaves primárias de cada tabela, observando o sublinhado que foi colocado no nome dos referidos campos.</a:t>
            </a:r>
          </a:p>
        </p:txBody>
      </p:sp>
    </p:spTree>
    <p:extLst>
      <p:ext uri="{BB962C8B-B14F-4D97-AF65-F5344CB8AC3E}">
        <p14:creationId xmlns:p14="http://schemas.microsoft.com/office/powerpoint/2010/main" val="180618454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 de dados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B17DCF-B2BE-4A2E-80A2-04C9F661F0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210" y="1282839"/>
            <a:ext cx="7287126" cy="394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4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196752"/>
            <a:ext cx="694471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 arquitetura de três esquemas é também conhecida como arquitetura ANSI/SPARC, em que ANSI se refere ao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SPARC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refere ao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Committee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Ela tem o objetivo de separar o usuário da aplicação do banco de dados físico, por meio de três diferentes níveis de esquemas (ELMASRI; NAVATHE, 2011), descritos a seguir.</a:t>
            </a:r>
          </a:p>
        </p:txBody>
      </p:sp>
    </p:spTree>
    <p:extLst>
      <p:ext uri="{BB962C8B-B14F-4D97-AF65-F5344CB8AC3E}">
        <p14:creationId xmlns:p14="http://schemas.microsoft.com/office/powerpoint/2010/main" val="1374658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280081"/>
            <a:ext cx="6944710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partir de um esquema interno, o nível interno descreve a estrutura de armazenamento físico do banco de dados. Assim, é possível descrever os detalhes complexos do armazenamento, bem como os caminhos de acesso ao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29679909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280081"/>
            <a:ext cx="6944710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Externo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Ao abranger os esquemas externos ou visões de usuários, no nível externo, o esquema externo descreve determinada parte do banco de dados que um dado grupo de usuários tenha interesse. Além disso,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oculta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restante do banco de dados desse grupo. Nesse nível, ao utilizar um modelo de dados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representacional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cada esquema externo é tipicamente implementado. Isso é feito, possivelmente, com base em um projeto de esquema externo em um modelo de dados de alto nível.</a:t>
            </a:r>
          </a:p>
        </p:txBody>
      </p:sp>
    </p:spTree>
    <p:extLst>
      <p:ext uri="{BB962C8B-B14F-4D97-AF65-F5344CB8AC3E}">
        <p14:creationId xmlns:p14="http://schemas.microsoft.com/office/powerpoint/2010/main" val="2835380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280081"/>
            <a:ext cx="6944710" cy="4847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Conceitual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por meio de um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esquema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conceitual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descreve a estrutura de todo o banco de dados para seus usuários. Por ele, são ocultados os detalhes das estruturas de armazenamento físico, concentrando-se na descrição de entidades, tipos de dados, conexões, operações de usuários e restrições. Quando o sistema de banco de dados é implementado, geralmente, um modelo de dados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representacional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usado para descrever o esquema conceitual. Dessa forma, é fundamentado em um projeto de esquema conceitual, em um modelo de dados de alto nível.</a:t>
            </a:r>
          </a:p>
          <a:p>
            <a:pPr algn="just">
              <a:spcAft>
                <a:spcPts val="600"/>
              </a:spcAft>
            </a:pPr>
            <a:endParaRPr lang="pt-B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5685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Tipos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280081"/>
            <a:ext cx="694471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Conceitual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Com o passar do tempo, surgiram novos tipos de dados, e, consequentemente, 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adaptaram para aceitá-los sem a necessidade de trabalhar com conversões o tempo todo. Atualmente, quanto aos tipos de dados, 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SGBDs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podem ser classificados em dados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clássicos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multimí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­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dados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geográficos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categorias descritas a seguir.</a:t>
            </a:r>
          </a:p>
        </p:txBody>
      </p:sp>
    </p:spTree>
    <p:extLst>
      <p:ext uri="{BB962C8B-B14F-4D97-AF65-F5344CB8AC3E}">
        <p14:creationId xmlns:p14="http://schemas.microsoft.com/office/powerpoint/2010/main" val="144693308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9DFFF-6767-4A78-A1FB-06DB9CD2B572}" type="datetimeFigureOut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Me. Elionai Magalhães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05A9B1-809A-4486-BA5C-94ACC1A2DD2F}"/>
              </a:ext>
            </a:extLst>
          </p:cNvPr>
          <p:cNvSpPr/>
          <p:nvPr/>
        </p:nvSpPr>
        <p:spPr>
          <a:xfrm>
            <a:off x="251520" y="6073551"/>
            <a:ext cx="7272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Pichetti, Roni, F. et al. Banco de dados. Disponível em: Minha Biblioteca, Grupo A, 2021.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A343-5CF0-4E7E-A7B8-E28E41C8015D}"/>
              </a:ext>
            </a:extLst>
          </p:cNvPr>
          <p:cNvSpPr/>
          <p:nvPr/>
        </p:nvSpPr>
        <p:spPr>
          <a:xfrm>
            <a:off x="144488" y="548680"/>
            <a:ext cx="70902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Tipos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C6C06A-D6A0-4186-A382-C0AB1A7958A1}"/>
              </a:ext>
            </a:extLst>
          </p:cNvPr>
          <p:cNvSpPr/>
          <p:nvPr/>
        </p:nvSpPr>
        <p:spPr>
          <a:xfrm>
            <a:off x="290045" y="1280081"/>
            <a:ext cx="694471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clássicos: 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comportam apenas valores numéricos e textuais. </a:t>
            </a:r>
          </a:p>
          <a:p>
            <a:pPr algn="just">
              <a:spcAft>
                <a:spcPts val="600"/>
              </a:spcAft>
            </a:pP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Textos/documentos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armazenam os dados em formato de texto ou documentos. Normalmente utilizam arquivos com a extensão XML.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multimídia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armazenam imagens, arquivos em PDF, entre outros.</a:t>
            </a:r>
          </a:p>
          <a:p>
            <a:pPr algn="just">
              <a:spcAft>
                <a:spcPts val="600"/>
              </a:spcAft>
            </a:pP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geográficos</a:t>
            </a:r>
            <a:r>
              <a:rPr lang="pt-B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reconhecem pontos, linhas e polígonos, que são utilizados para criar representações do espaço</a:t>
            </a:r>
          </a:p>
        </p:txBody>
      </p:sp>
    </p:spTree>
    <p:extLst>
      <p:ext uri="{BB962C8B-B14F-4D97-AF65-F5344CB8AC3E}">
        <p14:creationId xmlns:p14="http://schemas.microsoft.com/office/powerpoint/2010/main" val="83259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7068C8-FFF3-32B4-C2A9-EF6189DD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ED59-3AC4-46AE-942C-BFD4A0C7C2A1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98B2661-50A1-C74C-4F4A-0DE6B36F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41</a:t>
            </a:fld>
            <a:endParaRPr lang="pt-BR" dirty="0"/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54C4AB5A-639F-7A67-F15E-42C337E83D88}"/>
              </a:ext>
            </a:extLst>
          </p:cNvPr>
          <p:cNvSpPr txBox="1"/>
          <p:nvPr/>
        </p:nvSpPr>
        <p:spPr>
          <a:xfrm>
            <a:off x="503548" y="2136338"/>
            <a:ext cx="8136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Referência: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(Informada na ementa e disponível na biblioteca digital)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PICHETTI, Roni F.; VIDA,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Edinilson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S.; CORTES, Vanessa S. M P. Banco de dados. Porto Alegre: Grupo A, 2021. E-book. ISBN 9786556900186. 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Disponível em: </a:t>
            </a: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https://integrada.minhabiblioteca.com.br/#/books/9786556900186/. </a:t>
            </a:r>
          </a:p>
        </p:txBody>
      </p:sp>
    </p:spTree>
    <p:extLst>
      <p:ext uri="{BB962C8B-B14F-4D97-AF65-F5344CB8AC3E}">
        <p14:creationId xmlns:p14="http://schemas.microsoft.com/office/powerpoint/2010/main" val="26348078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18031</TotalTime>
  <Words>4018</Words>
  <Application>Microsoft Office PowerPoint</Application>
  <PresentationFormat>Apresentação na tela (4:3)</PresentationFormat>
  <Paragraphs>278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Exagerado</dc:creator>
  <cp:lastModifiedBy>Elionai Magalhaes 487017 - Professor MULTIVIX</cp:lastModifiedBy>
  <cp:revision>916</cp:revision>
  <dcterms:created xsi:type="dcterms:W3CDTF">2019-04-29T13:17:28Z</dcterms:created>
  <dcterms:modified xsi:type="dcterms:W3CDTF">2026-02-28T20:19:42Z</dcterms:modified>
</cp:coreProperties>
</file>